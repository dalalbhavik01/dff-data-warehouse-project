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61" r:id="rId1"/>
  </p:sldMasterIdLst>
  <p:notesMasterIdLst>
    <p:notesMasterId r:id="rId19"/>
  </p:notesMasterIdLst>
  <p:handoutMasterIdLst>
    <p:handoutMasterId r:id="rId20"/>
  </p:handoutMasterIdLst>
  <p:sldIdLst>
    <p:sldId id="256" r:id="rId2"/>
    <p:sldId id="338" r:id="rId3"/>
    <p:sldId id="262" r:id="rId4"/>
    <p:sldId id="263" r:id="rId5"/>
    <p:sldId id="326" r:id="rId6"/>
    <p:sldId id="268" r:id="rId7"/>
    <p:sldId id="264" r:id="rId8"/>
    <p:sldId id="267" r:id="rId9"/>
    <p:sldId id="322" r:id="rId10"/>
    <p:sldId id="323" r:id="rId11"/>
    <p:sldId id="325" r:id="rId12"/>
    <p:sldId id="328" r:id="rId13"/>
    <p:sldId id="339" r:id="rId14"/>
    <p:sldId id="330" r:id="rId15"/>
    <p:sldId id="329" r:id="rId16"/>
    <p:sldId id="331" r:id="rId17"/>
    <p:sldId id="340"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sen" initials="a" lastIdx="1"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102" d="100"/>
          <a:sy n="102" d="100"/>
        </p:scale>
        <p:origin x="954" y="31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commentAuthors" Target="commen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3C93F7C-9321-4EE7-9207-1360FA6988F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CE65E8CE-2FF7-4DB5-ACCD-31F9B146FEE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r>
              <a:rPr lang="en-US"/>
              <a:t>6/1/2021</a:t>
            </a:r>
          </a:p>
        </p:txBody>
      </p:sp>
      <p:sp>
        <p:nvSpPr>
          <p:cNvPr id="4" name="Footer Placeholder 3">
            <a:extLst>
              <a:ext uri="{FF2B5EF4-FFF2-40B4-BE49-F238E27FC236}">
                <a16:creationId xmlns:a16="http://schemas.microsoft.com/office/drawing/2014/main" id="{5600C2E8-8FC1-4081-9B10-60593EB27B5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F7F13FB-0351-4C97-B399-34DF6972245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CC4CABC-5F2D-4D27-8A5D-09800E473BCB}" type="slidenum">
              <a:rPr lang="en-US" smtClean="0"/>
              <a:t>‹#›</a:t>
            </a:fld>
            <a:endParaRPr lang="en-US"/>
          </a:p>
        </p:txBody>
      </p:sp>
    </p:spTree>
    <p:extLst>
      <p:ext uri="{BB962C8B-B14F-4D97-AF65-F5344CB8AC3E}">
        <p14:creationId xmlns:p14="http://schemas.microsoft.com/office/powerpoint/2010/main" val="2700590924"/>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r>
              <a:rPr lang="en-US"/>
              <a:t>6/1/2021</a:t>
            </a: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ABAD520-69ED-4815-A760-D3BDB7B68195}" type="slidenum">
              <a:rPr lang="en-US" smtClean="0"/>
              <a:t>‹#›</a:t>
            </a:fld>
            <a:endParaRPr lang="en-US"/>
          </a:p>
        </p:txBody>
      </p:sp>
    </p:spTree>
    <p:extLst>
      <p:ext uri="{BB962C8B-B14F-4D97-AF65-F5344CB8AC3E}">
        <p14:creationId xmlns:p14="http://schemas.microsoft.com/office/powerpoint/2010/main" val="2213853455"/>
      </p:ext>
    </p:extLst>
  </p:cSld>
  <p:clrMap bg1="lt1" tx1="dk1" bg2="lt2" tx2="dk2" accent1="accent1" accent2="accent2" accent3="accent3" accent4="accent4" accent5="accent5" accent6="accent6" hlink="hlink" folHlink="folHlink"/>
  <p:hf hdr="0" ftr="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Image Placeholder 1">
            <a:extLst>
              <a:ext uri="{FF2B5EF4-FFF2-40B4-BE49-F238E27FC236}">
                <a16:creationId xmlns:a16="http://schemas.microsoft.com/office/drawing/2014/main" id="{B2125181-E854-47BA-A0B1-18286C079117}"/>
              </a:ext>
            </a:extLst>
          </p:cNvPr>
          <p:cNvSpPr>
            <a:spLocks noGrp="1" noRot="1" noChangeAspect="1" noChangeArrowheads="1" noTextEdit="1"/>
          </p:cNvSpPr>
          <p:nvPr>
            <p:ph type="sldImg"/>
          </p:nvPr>
        </p:nvSpPr>
        <p:spPr>
          <a:ln/>
        </p:spPr>
      </p:sp>
      <p:sp>
        <p:nvSpPr>
          <p:cNvPr id="20483" name="Notes Placeholder 2">
            <a:extLst>
              <a:ext uri="{FF2B5EF4-FFF2-40B4-BE49-F238E27FC236}">
                <a16:creationId xmlns:a16="http://schemas.microsoft.com/office/drawing/2014/main" id="{A12E4856-D0AA-49A1-AB97-5F91F4CCB91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20484" name="Slide Number Placeholder 3">
            <a:extLst>
              <a:ext uri="{FF2B5EF4-FFF2-40B4-BE49-F238E27FC236}">
                <a16:creationId xmlns:a16="http://schemas.microsoft.com/office/drawing/2014/main" id="{99DF8F14-C187-46DF-AC65-3420C7A015BD}"/>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7D2DF04-5262-43A8-995B-AE764B2309D1}" type="slidenum">
              <a:rPr lang="en-US" altLang="en-US" smtClean="0"/>
              <a:pPr>
                <a:spcBef>
                  <a:spcPct val="0"/>
                </a:spcBef>
              </a:pPr>
              <a:t>3</a:t>
            </a:fld>
            <a:endParaRPr lang="en-US" altLang="en-US"/>
          </a:p>
        </p:txBody>
      </p:sp>
      <p:sp>
        <p:nvSpPr>
          <p:cNvPr id="2" name="Date Placeholder 1">
            <a:extLst>
              <a:ext uri="{FF2B5EF4-FFF2-40B4-BE49-F238E27FC236}">
                <a16:creationId xmlns:a16="http://schemas.microsoft.com/office/drawing/2014/main" id="{4E148AD6-B505-4E5E-93F4-9C4292E7D82D}"/>
              </a:ext>
            </a:extLst>
          </p:cNvPr>
          <p:cNvSpPr>
            <a:spLocks noGrp="1"/>
          </p:cNvSpPr>
          <p:nvPr>
            <p:ph type="dt" idx="1"/>
          </p:nvPr>
        </p:nvSpPr>
        <p:spPr/>
        <p:txBody>
          <a:bodyPr/>
          <a:lstStyle/>
          <a:p>
            <a:r>
              <a:rPr lang="en-US"/>
              <a:t>6/1/2021</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Image Placeholder 1">
            <a:extLst>
              <a:ext uri="{FF2B5EF4-FFF2-40B4-BE49-F238E27FC236}">
                <a16:creationId xmlns:a16="http://schemas.microsoft.com/office/drawing/2014/main" id="{B2125181-E854-47BA-A0B1-18286C079117}"/>
              </a:ext>
            </a:extLst>
          </p:cNvPr>
          <p:cNvSpPr>
            <a:spLocks noGrp="1" noRot="1" noChangeAspect="1" noChangeArrowheads="1" noTextEdit="1"/>
          </p:cNvSpPr>
          <p:nvPr>
            <p:ph type="sldImg"/>
          </p:nvPr>
        </p:nvSpPr>
        <p:spPr>
          <a:ln/>
        </p:spPr>
      </p:sp>
      <p:sp>
        <p:nvSpPr>
          <p:cNvPr id="20483" name="Notes Placeholder 2">
            <a:extLst>
              <a:ext uri="{FF2B5EF4-FFF2-40B4-BE49-F238E27FC236}">
                <a16:creationId xmlns:a16="http://schemas.microsoft.com/office/drawing/2014/main" id="{A12E4856-D0AA-49A1-AB97-5F91F4CCB91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20484" name="Slide Number Placeholder 3">
            <a:extLst>
              <a:ext uri="{FF2B5EF4-FFF2-40B4-BE49-F238E27FC236}">
                <a16:creationId xmlns:a16="http://schemas.microsoft.com/office/drawing/2014/main" id="{99DF8F14-C187-46DF-AC65-3420C7A015BD}"/>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7D2DF04-5262-43A8-995B-AE764B2309D1}" type="slidenum">
              <a:rPr lang="en-US" altLang="en-US" smtClean="0"/>
              <a:pPr>
                <a:spcBef>
                  <a:spcPct val="0"/>
                </a:spcBef>
              </a:pPr>
              <a:t>4</a:t>
            </a:fld>
            <a:endParaRPr lang="en-US" altLang="en-US"/>
          </a:p>
        </p:txBody>
      </p:sp>
      <p:sp>
        <p:nvSpPr>
          <p:cNvPr id="2" name="Date Placeholder 1">
            <a:extLst>
              <a:ext uri="{FF2B5EF4-FFF2-40B4-BE49-F238E27FC236}">
                <a16:creationId xmlns:a16="http://schemas.microsoft.com/office/drawing/2014/main" id="{1F9F7283-92AA-47C3-B54B-4E88B132F03E}"/>
              </a:ext>
            </a:extLst>
          </p:cNvPr>
          <p:cNvSpPr>
            <a:spLocks noGrp="1"/>
          </p:cNvSpPr>
          <p:nvPr>
            <p:ph type="dt" idx="1"/>
          </p:nvPr>
        </p:nvSpPr>
        <p:spPr/>
        <p:txBody>
          <a:bodyPr/>
          <a:lstStyle/>
          <a:p>
            <a:r>
              <a:rPr lang="en-US"/>
              <a:t>6/1/2021</a:t>
            </a:r>
          </a:p>
        </p:txBody>
      </p:sp>
    </p:spTree>
    <p:extLst>
      <p:ext uri="{BB962C8B-B14F-4D97-AF65-F5344CB8AC3E}">
        <p14:creationId xmlns:p14="http://schemas.microsoft.com/office/powerpoint/2010/main" val="13584350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a:extLst>
              <a:ext uri="{FF2B5EF4-FFF2-40B4-BE49-F238E27FC236}">
                <a16:creationId xmlns:a16="http://schemas.microsoft.com/office/drawing/2014/main" id="{15778D70-FC97-48DB-BED7-FA41B27FE113}"/>
              </a:ext>
            </a:extLst>
          </p:cNvPr>
          <p:cNvSpPr>
            <a:spLocks noGrp="1" noRot="1" noChangeAspect="1" noChangeArrowheads="1" noTextEdit="1"/>
          </p:cNvSpPr>
          <p:nvPr>
            <p:ph type="sldImg"/>
          </p:nvPr>
        </p:nvSpPr>
        <p:spPr>
          <a:ln/>
        </p:spPr>
      </p:sp>
      <p:sp>
        <p:nvSpPr>
          <p:cNvPr id="40963" name="Notes Placeholder 2">
            <a:extLst>
              <a:ext uri="{FF2B5EF4-FFF2-40B4-BE49-F238E27FC236}">
                <a16:creationId xmlns:a16="http://schemas.microsoft.com/office/drawing/2014/main" id="{68C4B9F8-4427-4617-B838-CF495F72865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40964" name="Slide Number Placeholder 3">
            <a:extLst>
              <a:ext uri="{FF2B5EF4-FFF2-40B4-BE49-F238E27FC236}">
                <a16:creationId xmlns:a16="http://schemas.microsoft.com/office/drawing/2014/main" id="{45339FA4-BD4C-474F-B84F-F18DDF860D94}"/>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D28B57EF-711D-439E-BBE7-34F91A07468D}" type="slidenum">
              <a:rPr lang="en-US" altLang="en-US" smtClean="0"/>
              <a:pPr>
                <a:spcBef>
                  <a:spcPct val="0"/>
                </a:spcBef>
              </a:pPr>
              <a:t>5</a:t>
            </a:fld>
            <a:endParaRPr lang="en-US" altLang="en-US"/>
          </a:p>
        </p:txBody>
      </p:sp>
      <p:sp>
        <p:nvSpPr>
          <p:cNvPr id="2" name="Date Placeholder 1">
            <a:extLst>
              <a:ext uri="{FF2B5EF4-FFF2-40B4-BE49-F238E27FC236}">
                <a16:creationId xmlns:a16="http://schemas.microsoft.com/office/drawing/2014/main" id="{592DAEA7-D30A-4ED9-8594-A73D1FF97950}"/>
              </a:ext>
            </a:extLst>
          </p:cNvPr>
          <p:cNvSpPr>
            <a:spLocks noGrp="1"/>
          </p:cNvSpPr>
          <p:nvPr>
            <p:ph type="dt" idx="1"/>
          </p:nvPr>
        </p:nvSpPr>
        <p:spPr/>
        <p:txBody>
          <a:bodyPr/>
          <a:lstStyle/>
          <a:p>
            <a:r>
              <a:rPr lang="en-US"/>
              <a:t>6/1/2021</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Image Placeholder 1">
            <a:extLst>
              <a:ext uri="{FF2B5EF4-FFF2-40B4-BE49-F238E27FC236}">
                <a16:creationId xmlns:a16="http://schemas.microsoft.com/office/drawing/2014/main" id="{B2125181-E854-47BA-A0B1-18286C079117}"/>
              </a:ext>
            </a:extLst>
          </p:cNvPr>
          <p:cNvSpPr>
            <a:spLocks noGrp="1" noRot="1" noChangeAspect="1" noChangeArrowheads="1" noTextEdit="1"/>
          </p:cNvSpPr>
          <p:nvPr>
            <p:ph type="sldImg"/>
          </p:nvPr>
        </p:nvSpPr>
        <p:spPr>
          <a:ln/>
        </p:spPr>
      </p:sp>
      <p:sp>
        <p:nvSpPr>
          <p:cNvPr id="20483" name="Notes Placeholder 2">
            <a:extLst>
              <a:ext uri="{FF2B5EF4-FFF2-40B4-BE49-F238E27FC236}">
                <a16:creationId xmlns:a16="http://schemas.microsoft.com/office/drawing/2014/main" id="{A12E4856-D0AA-49A1-AB97-5F91F4CCB91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20484" name="Slide Number Placeholder 3">
            <a:extLst>
              <a:ext uri="{FF2B5EF4-FFF2-40B4-BE49-F238E27FC236}">
                <a16:creationId xmlns:a16="http://schemas.microsoft.com/office/drawing/2014/main" id="{99DF8F14-C187-46DF-AC65-3420C7A015BD}"/>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7D2DF04-5262-43A8-995B-AE764B2309D1}" type="slidenum">
              <a:rPr lang="en-US" altLang="en-US" smtClean="0"/>
              <a:pPr>
                <a:spcBef>
                  <a:spcPct val="0"/>
                </a:spcBef>
              </a:pPr>
              <a:t>6</a:t>
            </a:fld>
            <a:endParaRPr lang="en-US" altLang="en-US"/>
          </a:p>
        </p:txBody>
      </p:sp>
      <p:sp>
        <p:nvSpPr>
          <p:cNvPr id="2" name="Date Placeholder 1">
            <a:extLst>
              <a:ext uri="{FF2B5EF4-FFF2-40B4-BE49-F238E27FC236}">
                <a16:creationId xmlns:a16="http://schemas.microsoft.com/office/drawing/2014/main" id="{03891935-E314-417F-B66C-99C830362DDB}"/>
              </a:ext>
            </a:extLst>
          </p:cNvPr>
          <p:cNvSpPr>
            <a:spLocks noGrp="1"/>
          </p:cNvSpPr>
          <p:nvPr>
            <p:ph type="dt" idx="1"/>
          </p:nvPr>
        </p:nvSpPr>
        <p:spPr/>
        <p:txBody>
          <a:bodyPr/>
          <a:lstStyle/>
          <a:p>
            <a:r>
              <a:rPr lang="en-US"/>
              <a:t>6/1/2021</a:t>
            </a:r>
          </a:p>
        </p:txBody>
      </p:sp>
    </p:spTree>
    <p:extLst>
      <p:ext uri="{BB962C8B-B14F-4D97-AF65-F5344CB8AC3E}">
        <p14:creationId xmlns:p14="http://schemas.microsoft.com/office/powerpoint/2010/main" val="10520473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Image Placeholder 1">
            <a:extLst>
              <a:ext uri="{FF2B5EF4-FFF2-40B4-BE49-F238E27FC236}">
                <a16:creationId xmlns:a16="http://schemas.microsoft.com/office/drawing/2014/main" id="{B2125181-E854-47BA-A0B1-18286C079117}"/>
              </a:ext>
            </a:extLst>
          </p:cNvPr>
          <p:cNvSpPr>
            <a:spLocks noGrp="1" noRot="1" noChangeAspect="1" noChangeArrowheads="1" noTextEdit="1"/>
          </p:cNvSpPr>
          <p:nvPr>
            <p:ph type="sldImg"/>
          </p:nvPr>
        </p:nvSpPr>
        <p:spPr>
          <a:ln/>
        </p:spPr>
      </p:sp>
      <p:sp>
        <p:nvSpPr>
          <p:cNvPr id="20483" name="Notes Placeholder 2">
            <a:extLst>
              <a:ext uri="{FF2B5EF4-FFF2-40B4-BE49-F238E27FC236}">
                <a16:creationId xmlns:a16="http://schemas.microsoft.com/office/drawing/2014/main" id="{A12E4856-D0AA-49A1-AB97-5F91F4CCB91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20484" name="Slide Number Placeholder 3">
            <a:extLst>
              <a:ext uri="{FF2B5EF4-FFF2-40B4-BE49-F238E27FC236}">
                <a16:creationId xmlns:a16="http://schemas.microsoft.com/office/drawing/2014/main" id="{99DF8F14-C187-46DF-AC65-3420C7A015BD}"/>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7D2DF04-5262-43A8-995B-AE764B2309D1}" type="slidenum">
              <a:rPr lang="en-US" altLang="en-US" smtClean="0"/>
              <a:pPr>
                <a:spcBef>
                  <a:spcPct val="0"/>
                </a:spcBef>
              </a:pPr>
              <a:t>7</a:t>
            </a:fld>
            <a:endParaRPr lang="en-US" altLang="en-US"/>
          </a:p>
        </p:txBody>
      </p:sp>
      <p:sp>
        <p:nvSpPr>
          <p:cNvPr id="2" name="Date Placeholder 1">
            <a:extLst>
              <a:ext uri="{FF2B5EF4-FFF2-40B4-BE49-F238E27FC236}">
                <a16:creationId xmlns:a16="http://schemas.microsoft.com/office/drawing/2014/main" id="{BA3F67CF-ACE3-48C5-9687-0D5B44F294E4}"/>
              </a:ext>
            </a:extLst>
          </p:cNvPr>
          <p:cNvSpPr>
            <a:spLocks noGrp="1"/>
          </p:cNvSpPr>
          <p:nvPr>
            <p:ph type="dt" idx="1"/>
          </p:nvPr>
        </p:nvSpPr>
        <p:spPr/>
        <p:txBody>
          <a:bodyPr/>
          <a:lstStyle/>
          <a:p>
            <a:r>
              <a:rPr lang="en-US"/>
              <a:t>6/1/2021</a:t>
            </a:r>
          </a:p>
        </p:txBody>
      </p:sp>
    </p:spTree>
    <p:extLst>
      <p:ext uri="{BB962C8B-B14F-4D97-AF65-F5344CB8AC3E}">
        <p14:creationId xmlns:p14="http://schemas.microsoft.com/office/powerpoint/2010/main" val="36347346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Image Placeholder 1">
            <a:extLst>
              <a:ext uri="{FF2B5EF4-FFF2-40B4-BE49-F238E27FC236}">
                <a16:creationId xmlns:a16="http://schemas.microsoft.com/office/drawing/2014/main" id="{B2125181-E854-47BA-A0B1-18286C079117}"/>
              </a:ext>
            </a:extLst>
          </p:cNvPr>
          <p:cNvSpPr>
            <a:spLocks noGrp="1" noRot="1" noChangeAspect="1" noChangeArrowheads="1" noTextEdit="1"/>
          </p:cNvSpPr>
          <p:nvPr>
            <p:ph type="sldImg"/>
          </p:nvPr>
        </p:nvSpPr>
        <p:spPr>
          <a:ln/>
        </p:spPr>
      </p:sp>
      <p:sp>
        <p:nvSpPr>
          <p:cNvPr id="20483" name="Notes Placeholder 2">
            <a:extLst>
              <a:ext uri="{FF2B5EF4-FFF2-40B4-BE49-F238E27FC236}">
                <a16:creationId xmlns:a16="http://schemas.microsoft.com/office/drawing/2014/main" id="{A12E4856-D0AA-49A1-AB97-5F91F4CCB91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20484" name="Slide Number Placeholder 3">
            <a:extLst>
              <a:ext uri="{FF2B5EF4-FFF2-40B4-BE49-F238E27FC236}">
                <a16:creationId xmlns:a16="http://schemas.microsoft.com/office/drawing/2014/main" id="{99DF8F14-C187-46DF-AC65-3420C7A015BD}"/>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7D2DF04-5262-43A8-995B-AE764B2309D1}" type="slidenum">
              <a:rPr lang="en-US" altLang="en-US" smtClean="0"/>
              <a:pPr>
                <a:spcBef>
                  <a:spcPct val="0"/>
                </a:spcBef>
              </a:pPr>
              <a:t>8</a:t>
            </a:fld>
            <a:endParaRPr lang="en-US" altLang="en-US"/>
          </a:p>
        </p:txBody>
      </p:sp>
      <p:sp>
        <p:nvSpPr>
          <p:cNvPr id="2" name="Date Placeholder 1">
            <a:extLst>
              <a:ext uri="{FF2B5EF4-FFF2-40B4-BE49-F238E27FC236}">
                <a16:creationId xmlns:a16="http://schemas.microsoft.com/office/drawing/2014/main" id="{35B7AC6F-5D53-4631-A713-5E4CBE976FB4}"/>
              </a:ext>
            </a:extLst>
          </p:cNvPr>
          <p:cNvSpPr>
            <a:spLocks noGrp="1"/>
          </p:cNvSpPr>
          <p:nvPr>
            <p:ph type="dt" idx="1"/>
          </p:nvPr>
        </p:nvSpPr>
        <p:spPr/>
        <p:txBody>
          <a:bodyPr/>
          <a:lstStyle/>
          <a:p>
            <a:r>
              <a:rPr lang="en-US"/>
              <a:t>6/1/2021</a:t>
            </a:r>
          </a:p>
        </p:txBody>
      </p:sp>
    </p:spTree>
    <p:extLst>
      <p:ext uri="{BB962C8B-B14F-4D97-AF65-F5344CB8AC3E}">
        <p14:creationId xmlns:p14="http://schemas.microsoft.com/office/powerpoint/2010/main" val="11013232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a:extLst>
              <a:ext uri="{FF2B5EF4-FFF2-40B4-BE49-F238E27FC236}">
                <a16:creationId xmlns:a16="http://schemas.microsoft.com/office/drawing/2014/main" id="{9D6AC6E4-9250-426C-814F-1C8BF69B5494}"/>
              </a:ext>
            </a:extLst>
          </p:cNvPr>
          <p:cNvSpPr>
            <a:spLocks noGrp="1" noRot="1" noChangeAspect="1" noChangeArrowheads="1" noTextEdit="1"/>
          </p:cNvSpPr>
          <p:nvPr>
            <p:ph type="sldImg"/>
          </p:nvPr>
        </p:nvSpPr>
        <p:spPr>
          <a:ln/>
        </p:spPr>
      </p:sp>
      <p:sp>
        <p:nvSpPr>
          <p:cNvPr id="32771" name="Notes Placeholder 2">
            <a:extLst>
              <a:ext uri="{FF2B5EF4-FFF2-40B4-BE49-F238E27FC236}">
                <a16:creationId xmlns:a16="http://schemas.microsoft.com/office/drawing/2014/main" id="{4152F7C9-61D9-4FE3-9BD6-D71DE78FD62D}"/>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32772" name="Slide Number Placeholder 3">
            <a:extLst>
              <a:ext uri="{FF2B5EF4-FFF2-40B4-BE49-F238E27FC236}">
                <a16:creationId xmlns:a16="http://schemas.microsoft.com/office/drawing/2014/main" id="{6448C0F1-4491-463A-A41C-314A1F377B74}"/>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1BB31A5D-E40C-4861-BF66-33338AF866F8}" type="slidenum">
              <a:rPr lang="en-US" altLang="en-US" smtClean="0"/>
              <a:pPr>
                <a:spcBef>
                  <a:spcPct val="0"/>
                </a:spcBef>
              </a:pPr>
              <a:t>9</a:t>
            </a:fld>
            <a:endParaRPr lang="en-US" altLang="en-US"/>
          </a:p>
        </p:txBody>
      </p:sp>
      <p:sp>
        <p:nvSpPr>
          <p:cNvPr id="2" name="Date Placeholder 1">
            <a:extLst>
              <a:ext uri="{FF2B5EF4-FFF2-40B4-BE49-F238E27FC236}">
                <a16:creationId xmlns:a16="http://schemas.microsoft.com/office/drawing/2014/main" id="{D9D370CA-0FD4-421B-A2DD-FC4EEA04415C}"/>
              </a:ext>
            </a:extLst>
          </p:cNvPr>
          <p:cNvSpPr>
            <a:spLocks noGrp="1"/>
          </p:cNvSpPr>
          <p:nvPr>
            <p:ph type="dt" idx="1"/>
          </p:nvPr>
        </p:nvSpPr>
        <p:spPr/>
        <p:txBody>
          <a:bodyPr/>
          <a:lstStyle/>
          <a:p>
            <a:r>
              <a:rPr lang="en-US"/>
              <a:t>6/1/2021</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a:extLst>
              <a:ext uri="{FF2B5EF4-FFF2-40B4-BE49-F238E27FC236}">
                <a16:creationId xmlns:a16="http://schemas.microsoft.com/office/drawing/2014/main" id="{6366405A-6F0B-46BF-AE3D-2F666F20B197}"/>
              </a:ext>
            </a:extLst>
          </p:cNvPr>
          <p:cNvSpPr>
            <a:spLocks noGrp="1" noRot="1" noChangeAspect="1" noChangeArrowheads="1" noTextEdit="1"/>
          </p:cNvSpPr>
          <p:nvPr>
            <p:ph type="sldImg"/>
          </p:nvPr>
        </p:nvSpPr>
        <p:spPr>
          <a:ln/>
        </p:spPr>
      </p:sp>
      <p:sp>
        <p:nvSpPr>
          <p:cNvPr id="34819" name="Notes Placeholder 2">
            <a:extLst>
              <a:ext uri="{FF2B5EF4-FFF2-40B4-BE49-F238E27FC236}">
                <a16:creationId xmlns:a16="http://schemas.microsoft.com/office/drawing/2014/main" id="{13F6C30C-D36A-4B38-8F57-3F75E05B5941}"/>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34820" name="Slide Number Placeholder 3">
            <a:extLst>
              <a:ext uri="{FF2B5EF4-FFF2-40B4-BE49-F238E27FC236}">
                <a16:creationId xmlns:a16="http://schemas.microsoft.com/office/drawing/2014/main" id="{DD297BF0-0234-41C2-BFF5-4414935DFAF8}"/>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74379842-EEC7-430C-8AFD-90FC0EAA28EF}" type="slidenum">
              <a:rPr lang="en-US" altLang="en-US" smtClean="0"/>
              <a:pPr>
                <a:spcBef>
                  <a:spcPct val="0"/>
                </a:spcBef>
              </a:pPr>
              <a:t>10</a:t>
            </a:fld>
            <a:endParaRPr lang="en-US" altLang="en-US"/>
          </a:p>
        </p:txBody>
      </p:sp>
      <p:sp>
        <p:nvSpPr>
          <p:cNvPr id="2" name="Date Placeholder 1">
            <a:extLst>
              <a:ext uri="{FF2B5EF4-FFF2-40B4-BE49-F238E27FC236}">
                <a16:creationId xmlns:a16="http://schemas.microsoft.com/office/drawing/2014/main" id="{6AB94D6E-6264-49BC-965E-62FCA218B26B}"/>
              </a:ext>
            </a:extLst>
          </p:cNvPr>
          <p:cNvSpPr>
            <a:spLocks noGrp="1"/>
          </p:cNvSpPr>
          <p:nvPr>
            <p:ph type="dt" idx="1"/>
          </p:nvPr>
        </p:nvSpPr>
        <p:spPr/>
        <p:txBody>
          <a:bodyPr/>
          <a:lstStyle/>
          <a:p>
            <a:r>
              <a:rPr lang="en-US"/>
              <a:t>6/1/2021</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a:extLst>
              <a:ext uri="{FF2B5EF4-FFF2-40B4-BE49-F238E27FC236}">
                <a16:creationId xmlns:a16="http://schemas.microsoft.com/office/drawing/2014/main" id="{8AC60EAD-45DB-4E37-AB04-71E4E25D1591}"/>
              </a:ext>
            </a:extLst>
          </p:cNvPr>
          <p:cNvSpPr>
            <a:spLocks noGrp="1" noRot="1" noChangeAspect="1" noChangeArrowheads="1" noTextEdit="1"/>
          </p:cNvSpPr>
          <p:nvPr>
            <p:ph type="sldImg"/>
          </p:nvPr>
        </p:nvSpPr>
        <p:spPr>
          <a:ln/>
        </p:spPr>
      </p:sp>
      <p:sp>
        <p:nvSpPr>
          <p:cNvPr id="38915" name="Notes Placeholder 2">
            <a:extLst>
              <a:ext uri="{FF2B5EF4-FFF2-40B4-BE49-F238E27FC236}">
                <a16:creationId xmlns:a16="http://schemas.microsoft.com/office/drawing/2014/main" id="{3D24D164-EE66-41FD-990C-1F517CE9A598}"/>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38916" name="Slide Number Placeholder 3">
            <a:extLst>
              <a:ext uri="{FF2B5EF4-FFF2-40B4-BE49-F238E27FC236}">
                <a16:creationId xmlns:a16="http://schemas.microsoft.com/office/drawing/2014/main" id="{529720D6-5C63-43E8-87A8-A735FD4AE76C}"/>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ADC508A5-5FC9-4FC0-B646-B8F1477BD428}" type="slidenum">
              <a:rPr lang="en-US" altLang="en-US" smtClean="0"/>
              <a:pPr>
                <a:spcBef>
                  <a:spcPct val="0"/>
                </a:spcBef>
              </a:pPr>
              <a:t>11</a:t>
            </a:fld>
            <a:endParaRPr lang="en-US" altLang="en-US"/>
          </a:p>
        </p:txBody>
      </p:sp>
      <p:sp>
        <p:nvSpPr>
          <p:cNvPr id="2" name="Date Placeholder 1">
            <a:extLst>
              <a:ext uri="{FF2B5EF4-FFF2-40B4-BE49-F238E27FC236}">
                <a16:creationId xmlns:a16="http://schemas.microsoft.com/office/drawing/2014/main" id="{D7AC47A0-6721-494B-B9B9-505A9357946B}"/>
              </a:ext>
            </a:extLst>
          </p:cNvPr>
          <p:cNvSpPr>
            <a:spLocks noGrp="1"/>
          </p:cNvSpPr>
          <p:nvPr>
            <p:ph type="dt" idx="1"/>
          </p:nvPr>
        </p:nvSpPr>
        <p:spPr/>
        <p:txBody>
          <a:bodyPr/>
          <a:lstStyle/>
          <a:p>
            <a:r>
              <a:rPr lang="en-US"/>
              <a:t>6/1/2021</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a:extLst>
              <a:ext uri="{FF2B5EF4-FFF2-40B4-BE49-F238E27FC236}">
                <a16:creationId xmlns:a16="http://schemas.microsoft.com/office/drawing/2014/main" id="{C9DF3743-7896-438F-983D-33B837DE37B9}"/>
              </a:ext>
            </a:extLst>
          </p:cNvPr>
          <p:cNvSpPr>
            <a:spLocks noGrp="1" noRot="1" noChangeAspect="1" noChangeArrowheads="1" noTextEdit="1"/>
          </p:cNvSpPr>
          <p:nvPr>
            <p:ph type="sldImg"/>
          </p:nvPr>
        </p:nvSpPr>
        <p:spPr>
          <a:ln/>
        </p:spPr>
      </p:sp>
      <p:sp>
        <p:nvSpPr>
          <p:cNvPr id="43011" name="Notes Placeholder 2">
            <a:extLst>
              <a:ext uri="{FF2B5EF4-FFF2-40B4-BE49-F238E27FC236}">
                <a16:creationId xmlns:a16="http://schemas.microsoft.com/office/drawing/2014/main" id="{A5EFA682-09AC-461C-9254-74E9F1AB5D28}"/>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43012" name="Slide Number Placeholder 3">
            <a:extLst>
              <a:ext uri="{FF2B5EF4-FFF2-40B4-BE49-F238E27FC236}">
                <a16:creationId xmlns:a16="http://schemas.microsoft.com/office/drawing/2014/main" id="{77B74C38-6CB3-492B-940F-9B8BB5A47129}"/>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9F0178AE-BFE9-4786-82F0-EDE137F39541}" type="slidenum">
              <a:rPr lang="en-US" altLang="en-US" smtClean="0"/>
              <a:pPr>
                <a:spcBef>
                  <a:spcPct val="0"/>
                </a:spcBef>
              </a:pPr>
              <a:t>12</a:t>
            </a:fld>
            <a:endParaRPr lang="en-US" altLang="en-US"/>
          </a:p>
        </p:txBody>
      </p:sp>
      <p:sp>
        <p:nvSpPr>
          <p:cNvPr id="2" name="Date Placeholder 1">
            <a:extLst>
              <a:ext uri="{FF2B5EF4-FFF2-40B4-BE49-F238E27FC236}">
                <a16:creationId xmlns:a16="http://schemas.microsoft.com/office/drawing/2014/main" id="{57D63929-69EE-4D90-8FC2-53503196006A}"/>
              </a:ext>
            </a:extLst>
          </p:cNvPr>
          <p:cNvSpPr>
            <a:spLocks noGrp="1"/>
          </p:cNvSpPr>
          <p:nvPr>
            <p:ph type="dt" idx="1"/>
          </p:nvPr>
        </p:nvSpPr>
        <p:spPr/>
        <p:txBody>
          <a:bodyPr/>
          <a:lstStyle/>
          <a:p>
            <a:r>
              <a:rPr lang="en-US"/>
              <a:t>6/1/2021</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09E7D2-2A36-5F1A-DBEB-5D57360A9B02}"/>
            </a:ext>
          </a:extLst>
        </p:cNvPr>
        <p:cNvGrpSpPr/>
        <p:nvPr/>
      </p:nvGrpSpPr>
      <p:grpSpPr>
        <a:xfrm>
          <a:off x="0" y="0"/>
          <a:ext cx="0" cy="0"/>
          <a:chOff x="0" y="0"/>
          <a:chExt cx="0" cy="0"/>
        </a:xfrm>
      </p:grpSpPr>
      <p:sp>
        <p:nvSpPr>
          <p:cNvPr id="43010" name="Slide Image Placeholder 1">
            <a:extLst>
              <a:ext uri="{FF2B5EF4-FFF2-40B4-BE49-F238E27FC236}">
                <a16:creationId xmlns:a16="http://schemas.microsoft.com/office/drawing/2014/main" id="{0CAD15E7-79D5-0159-55D4-EF7E370622D7}"/>
              </a:ext>
            </a:extLst>
          </p:cNvPr>
          <p:cNvSpPr>
            <a:spLocks noGrp="1" noRot="1" noChangeAspect="1" noChangeArrowheads="1" noTextEdit="1"/>
          </p:cNvSpPr>
          <p:nvPr>
            <p:ph type="sldImg"/>
          </p:nvPr>
        </p:nvSpPr>
        <p:spPr>
          <a:ln/>
        </p:spPr>
      </p:sp>
      <p:sp>
        <p:nvSpPr>
          <p:cNvPr id="43011" name="Notes Placeholder 2">
            <a:extLst>
              <a:ext uri="{FF2B5EF4-FFF2-40B4-BE49-F238E27FC236}">
                <a16:creationId xmlns:a16="http://schemas.microsoft.com/office/drawing/2014/main" id="{8920C778-942A-6245-4839-44CB329422D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43012" name="Slide Number Placeholder 3">
            <a:extLst>
              <a:ext uri="{FF2B5EF4-FFF2-40B4-BE49-F238E27FC236}">
                <a16:creationId xmlns:a16="http://schemas.microsoft.com/office/drawing/2014/main" id="{E042C092-E328-B5C0-A19A-F14EF80316C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9F0178AE-BFE9-4786-82F0-EDE137F39541}" type="slidenum">
              <a:rPr lang="en-US" altLang="en-US" smtClean="0"/>
              <a:pPr>
                <a:spcBef>
                  <a:spcPct val="0"/>
                </a:spcBef>
              </a:pPr>
              <a:t>13</a:t>
            </a:fld>
            <a:endParaRPr lang="en-US" altLang="en-US"/>
          </a:p>
        </p:txBody>
      </p:sp>
      <p:sp>
        <p:nvSpPr>
          <p:cNvPr id="2" name="Date Placeholder 1">
            <a:extLst>
              <a:ext uri="{FF2B5EF4-FFF2-40B4-BE49-F238E27FC236}">
                <a16:creationId xmlns:a16="http://schemas.microsoft.com/office/drawing/2014/main" id="{95D9078F-4177-2586-E480-A149AB0D9357}"/>
              </a:ext>
            </a:extLst>
          </p:cNvPr>
          <p:cNvSpPr>
            <a:spLocks noGrp="1"/>
          </p:cNvSpPr>
          <p:nvPr>
            <p:ph type="dt" idx="1"/>
          </p:nvPr>
        </p:nvSpPr>
        <p:spPr/>
        <p:txBody>
          <a:bodyPr/>
          <a:lstStyle/>
          <a:p>
            <a:r>
              <a:rPr lang="en-US"/>
              <a:t>6/1/2021</a:t>
            </a:r>
          </a:p>
        </p:txBody>
      </p:sp>
    </p:spTree>
    <p:extLst>
      <p:ext uri="{BB962C8B-B14F-4D97-AF65-F5344CB8AC3E}">
        <p14:creationId xmlns:p14="http://schemas.microsoft.com/office/powerpoint/2010/main" val="100842132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Image Placeholder 1">
            <a:extLst>
              <a:ext uri="{FF2B5EF4-FFF2-40B4-BE49-F238E27FC236}">
                <a16:creationId xmlns:a16="http://schemas.microsoft.com/office/drawing/2014/main" id="{AAB544E6-E9DF-4C0B-8828-8FD64E711C9C}"/>
              </a:ext>
            </a:extLst>
          </p:cNvPr>
          <p:cNvSpPr>
            <a:spLocks noGrp="1" noRot="1" noChangeAspect="1" noChangeArrowheads="1" noTextEdit="1"/>
          </p:cNvSpPr>
          <p:nvPr>
            <p:ph type="sldImg"/>
          </p:nvPr>
        </p:nvSpPr>
        <p:spPr>
          <a:ln/>
        </p:spPr>
      </p:sp>
      <p:sp>
        <p:nvSpPr>
          <p:cNvPr id="45059" name="Notes Placeholder 2">
            <a:extLst>
              <a:ext uri="{FF2B5EF4-FFF2-40B4-BE49-F238E27FC236}">
                <a16:creationId xmlns:a16="http://schemas.microsoft.com/office/drawing/2014/main" id="{1A8290F0-9392-42B7-B11C-C3F759F7A927}"/>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45060" name="Slide Number Placeholder 3">
            <a:extLst>
              <a:ext uri="{FF2B5EF4-FFF2-40B4-BE49-F238E27FC236}">
                <a16:creationId xmlns:a16="http://schemas.microsoft.com/office/drawing/2014/main" id="{CDAEE584-D77D-4FD3-93DD-18C7957FFC32}"/>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79FBCFCE-8BBB-4F82-9AAF-D7E64786C6F4}" type="slidenum">
              <a:rPr lang="en-US" altLang="en-US" smtClean="0"/>
              <a:pPr>
                <a:spcBef>
                  <a:spcPct val="0"/>
                </a:spcBef>
              </a:pPr>
              <a:t>14</a:t>
            </a:fld>
            <a:endParaRPr lang="en-US" altLang="en-US"/>
          </a:p>
        </p:txBody>
      </p:sp>
      <p:sp>
        <p:nvSpPr>
          <p:cNvPr id="2" name="Date Placeholder 1">
            <a:extLst>
              <a:ext uri="{FF2B5EF4-FFF2-40B4-BE49-F238E27FC236}">
                <a16:creationId xmlns:a16="http://schemas.microsoft.com/office/drawing/2014/main" id="{EF5D1004-6A83-41AD-9DD4-580302A8371D}"/>
              </a:ext>
            </a:extLst>
          </p:cNvPr>
          <p:cNvSpPr>
            <a:spLocks noGrp="1"/>
          </p:cNvSpPr>
          <p:nvPr>
            <p:ph type="dt" idx="1"/>
          </p:nvPr>
        </p:nvSpPr>
        <p:spPr/>
        <p:txBody>
          <a:bodyPr/>
          <a:lstStyle/>
          <a:p>
            <a:r>
              <a:rPr lang="en-US"/>
              <a:t>6/1/2021</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a:extLst>
              <a:ext uri="{FF2B5EF4-FFF2-40B4-BE49-F238E27FC236}">
                <a16:creationId xmlns:a16="http://schemas.microsoft.com/office/drawing/2014/main" id="{FD5A3336-4494-4329-B181-51229A448000}"/>
              </a:ext>
            </a:extLst>
          </p:cNvPr>
          <p:cNvSpPr>
            <a:spLocks noGrp="1" noRot="1" noChangeAspect="1" noChangeArrowheads="1" noTextEdit="1"/>
          </p:cNvSpPr>
          <p:nvPr>
            <p:ph type="sldImg"/>
          </p:nvPr>
        </p:nvSpPr>
        <p:spPr>
          <a:ln/>
        </p:spPr>
      </p:sp>
      <p:sp>
        <p:nvSpPr>
          <p:cNvPr id="47107" name="Notes Placeholder 2">
            <a:extLst>
              <a:ext uri="{FF2B5EF4-FFF2-40B4-BE49-F238E27FC236}">
                <a16:creationId xmlns:a16="http://schemas.microsoft.com/office/drawing/2014/main" id="{2EBAB33D-B911-4F7E-92D5-6EDD5601F66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47108" name="Slide Number Placeholder 3">
            <a:extLst>
              <a:ext uri="{FF2B5EF4-FFF2-40B4-BE49-F238E27FC236}">
                <a16:creationId xmlns:a16="http://schemas.microsoft.com/office/drawing/2014/main" id="{E375E856-328A-4B32-9900-92CA5A21FA7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80F3630F-5002-49F2-A95C-CA6935FA8D42}" type="slidenum">
              <a:rPr lang="en-US" altLang="en-US" smtClean="0"/>
              <a:pPr>
                <a:spcBef>
                  <a:spcPct val="0"/>
                </a:spcBef>
              </a:pPr>
              <a:t>15</a:t>
            </a:fld>
            <a:endParaRPr lang="en-US" altLang="en-US"/>
          </a:p>
        </p:txBody>
      </p:sp>
      <p:sp>
        <p:nvSpPr>
          <p:cNvPr id="2" name="Date Placeholder 1">
            <a:extLst>
              <a:ext uri="{FF2B5EF4-FFF2-40B4-BE49-F238E27FC236}">
                <a16:creationId xmlns:a16="http://schemas.microsoft.com/office/drawing/2014/main" id="{3CC8DD3D-EEAE-438F-A1E0-32F722518A16}"/>
              </a:ext>
            </a:extLst>
          </p:cNvPr>
          <p:cNvSpPr>
            <a:spLocks noGrp="1"/>
          </p:cNvSpPr>
          <p:nvPr>
            <p:ph type="dt" idx="1"/>
          </p:nvPr>
        </p:nvSpPr>
        <p:spPr/>
        <p:txBody>
          <a:bodyPr/>
          <a:lstStyle/>
          <a:p>
            <a:r>
              <a:rPr lang="en-US"/>
              <a:t>6/1/2021</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Image Placeholder 1">
            <a:extLst>
              <a:ext uri="{FF2B5EF4-FFF2-40B4-BE49-F238E27FC236}">
                <a16:creationId xmlns:a16="http://schemas.microsoft.com/office/drawing/2014/main" id="{0CBADA57-7C5E-465D-9279-22B0D9187A0E}"/>
              </a:ext>
            </a:extLst>
          </p:cNvPr>
          <p:cNvSpPr>
            <a:spLocks noGrp="1" noRot="1" noChangeAspect="1" noChangeArrowheads="1" noTextEdit="1"/>
          </p:cNvSpPr>
          <p:nvPr>
            <p:ph type="sldImg"/>
          </p:nvPr>
        </p:nvSpPr>
        <p:spPr>
          <a:ln/>
        </p:spPr>
      </p:sp>
      <p:sp>
        <p:nvSpPr>
          <p:cNvPr id="49155" name="Notes Placeholder 2">
            <a:extLst>
              <a:ext uri="{FF2B5EF4-FFF2-40B4-BE49-F238E27FC236}">
                <a16:creationId xmlns:a16="http://schemas.microsoft.com/office/drawing/2014/main" id="{55518E90-E2FD-49AD-B422-9BA82A90475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49156" name="Slide Number Placeholder 3">
            <a:extLst>
              <a:ext uri="{FF2B5EF4-FFF2-40B4-BE49-F238E27FC236}">
                <a16:creationId xmlns:a16="http://schemas.microsoft.com/office/drawing/2014/main" id="{18246A1C-D6FB-4B7E-964A-B88843BE7A2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4FC4ECE-BE1D-48BC-8E06-2B38B22072B1}" type="slidenum">
              <a:rPr lang="en-US" altLang="en-US" smtClean="0"/>
              <a:pPr>
                <a:spcBef>
                  <a:spcPct val="0"/>
                </a:spcBef>
              </a:pPr>
              <a:t>16</a:t>
            </a:fld>
            <a:endParaRPr lang="en-US" altLang="en-US"/>
          </a:p>
        </p:txBody>
      </p:sp>
      <p:sp>
        <p:nvSpPr>
          <p:cNvPr id="2" name="Date Placeholder 1">
            <a:extLst>
              <a:ext uri="{FF2B5EF4-FFF2-40B4-BE49-F238E27FC236}">
                <a16:creationId xmlns:a16="http://schemas.microsoft.com/office/drawing/2014/main" id="{0AF4CD09-878D-465D-800E-CB987854A4DA}"/>
              </a:ext>
            </a:extLst>
          </p:cNvPr>
          <p:cNvSpPr>
            <a:spLocks noGrp="1"/>
          </p:cNvSpPr>
          <p:nvPr>
            <p:ph type="dt" idx="1"/>
          </p:nvPr>
        </p:nvSpPr>
        <p:spPr/>
        <p:txBody>
          <a:bodyPr/>
          <a:lstStyle/>
          <a:p>
            <a:r>
              <a:rPr lang="en-US"/>
              <a:t>6/1/2021</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A70D3E-772B-7E05-671D-705DD82AB470}"/>
            </a:ext>
          </a:extLst>
        </p:cNvPr>
        <p:cNvGrpSpPr/>
        <p:nvPr/>
      </p:nvGrpSpPr>
      <p:grpSpPr>
        <a:xfrm>
          <a:off x="0" y="0"/>
          <a:ext cx="0" cy="0"/>
          <a:chOff x="0" y="0"/>
          <a:chExt cx="0" cy="0"/>
        </a:xfrm>
      </p:grpSpPr>
      <p:sp>
        <p:nvSpPr>
          <p:cNvPr id="49154" name="Slide Image Placeholder 1">
            <a:extLst>
              <a:ext uri="{FF2B5EF4-FFF2-40B4-BE49-F238E27FC236}">
                <a16:creationId xmlns:a16="http://schemas.microsoft.com/office/drawing/2014/main" id="{49CE848E-DEC3-29F9-285F-6E43B70A1B5F}"/>
              </a:ext>
            </a:extLst>
          </p:cNvPr>
          <p:cNvSpPr>
            <a:spLocks noGrp="1" noRot="1" noChangeAspect="1" noChangeArrowheads="1" noTextEdit="1"/>
          </p:cNvSpPr>
          <p:nvPr>
            <p:ph type="sldImg"/>
          </p:nvPr>
        </p:nvSpPr>
        <p:spPr>
          <a:ln/>
        </p:spPr>
      </p:sp>
      <p:sp>
        <p:nvSpPr>
          <p:cNvPr id="49155" name="Notes Placeholder 2">
            <a:extLst>
              <a:ext uri="{FF2B5EF4-FFF2-40B4-BE49-F238E27FC236}">
                <a16:creationId xmlns:a16="http://schemas.microsoft.com/office/drawing/2014/main" id="{7B2B811A-2E9F-2B12-DA0C-81729E78D8C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49156" name="Slide Number Placeholder 3">
            <a:extLst>
              <a:ext uri="{FF2B5EF4-FFF2-40B4-BE49-F238E27FC236}">
                <a16:creationId xmlns:a16="http://schemas.microsoft.com/office/drawing/2014/main" id="{7E367089-BDA4-EB5E-9E2D-B443B7CDFAFA}"/>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4FC4ECE-BE1D-48BC-8E06-2B38B22072B1}" type="slidenum">
              <a:rPr lang="en-US" altLang="en-US" smtClean="0"/>
              <a:pPr>
                <a:spcBef>
                  <a:spcPct val="0"/>
                </a:spcBef>
              </a:pPr>
              <a:t>17</a:t>
            </a:fld>
            <a:endParaRPr lang="en-US" altLang="en-US"/>
          </a:p>
        </p:txBody>
      </p:sp>
      <p:sp>
        <p:nvSpPr>
          <p:cNvPr id="2" name="Date Placeholder 1">
            <a:extLst>
              <a:ext uri="{FF2B5EF4-FFF2-40B4-BE49-F238E27FC236}">
                <a16:creationId xmlns:a16="http://schemas.microsoft.com/office/drawing/2014/main" id="{0FF05D20-9846-6FBC-1D29-A817BC386B31}"/>
              </a:ext>
            </a:extLst>
          </p:cNvPr>
          <p:cNvSpPr>
            <a:spLocks noGrp="1"/>
          </p:cNvSpPr>
          <p:nvPr>
            <p:ph type="dt" idx="1"/>
          </p:nvPr>
        </p:nvSpPr>
        <p:spPr/>
        <p:txBody>
          <a:bodyPr/>
          <a:lstStyle/>
          <a:p>
            <a:r>
              <a:rPr lang="en-US"/>
              <a:t>6/1/2021</a:t>
            </a:r>
          </a:p>
        </p:txBody>
      </p:sp>
    </p:spTree>
    <p:extLst>
      <p:ext uri="{BB962C8B-B14F-4D97-AF65-F5344CB8AC3E}">
        <p14:creationId xmlns:p14="http://schemas.microsoft.com/office/powerpoint/2010/main" val="5052888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8CB6D28-855F-4CC9-90CF-D0A23A9F5A26}" type="datetime1">
              <a:rPr lang="en-US" smtClean="0"/>
              <a:t>2/1/2026</a:t>
            </a:fld>
            <a:endParaRPr lang="en-US" dirty="0"/>
          </a:p>
        </p:txBody>
      </p:sp>
      <p:sp>
        <p:nvSpPr>
          <p:cNvPr id="5" name="Footer Placeholder 4"/>
          <p:cNvSpPr>
            <a:spLocks noGrp="1"/>
          </p:cNvSpPr>
          <p:nvPr>
            <p:ph type="ftr" sz="quarter" idx="11"/>
          </p:nvPr>
        </p:nvSpPr>
        <p:spPr/>
        <p:txBody>
          <a:bodyPr/>
          <a:lstStyle/>
          <a:p>
            <a:r>
              <a:rPr lang="en-US"/>
              <a:t>Copyright (c) Arun Sen Texas A&amp;M University</a:t>
            </a:r>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pPr/>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1884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D248167-EABB-4F71-A5F4-B6C0CBE3286B}" type="datetime1">
              <a:rPr lang="en-US" smtClean="0"/>
              <a:t>2/1/2026</a:t>
            </a:fld>
            <a:endParaRPr lang="en-US" dirty="0"/>
          </a:p>
        </p:txBody>
      </p:sp>
      <p:sp>
        <p:nvSpPr>
          <p:cNvPr id="5" name="Footer Placeholder 4"/>
          <p:cNvSpPr>
            <a:spLocks noGrp="1"/>
          </p:cNvSpPr>
          <p:nvPr>
            <p:ph type="ftr" sz="quarter" idx="11"/>
          </p:nvPr>
        </p:nvSpPr>
        <p:spPr/>
        <p:txBody>
          <a:bodyPr/>
          <a:lstStyle/>
          <a:p>
            <a:r>
              <a:rPr lang="en-US"/>
              <a:t>Copyright (c) Arun Sen Texas A&amp;M University</a:t>
            </a:r>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t>‹#›</a:t>
            </a:fld>
            <a:endParaRPr lang="en-US" dirty="0"/>
          </a:p>
        </p:txBody>
      </p:sp>
    </p:spTree>
    <p:extLst>
      <p:ext uri="{BB962C8B-B14F-4D97-AF65-F5344CB8AC3E}">
        <p14:creationId xmlns:p14="http://schemas.microsoft.com/office/powerpoint/2010/main" val="2616061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CCEC33D-5FDF-4762-B884-91BBDF7612A7}" type="datetime1">
              <a:rPr lang="en-US" smtClean="0"/>
              <a:t>2/1/2026</a:t>
            </a:fld>
            <a:endParaRPr lang="en-US" dirty="0"/>
          </a:p>
        </p:txBody>
      </p:sp>
      <p:sp>
        <p:nvSpPr>
          <p:cNvPr id="5" name="Footer Placeholder 4"/>
          <p:cNvSpPr>
            <a:spLocks noGrp="1"/>
          </p:cNvSpPr>
          <p:nvPr>
            <p:ph type="ftr" sz="quarter" idx="11"/>
          </p:nvPr>
        </p:nvSpPr>
        <p:spPr/>
        <p:txBody>
          <a:bodyPr/>
          <a:lstStyle/>
          <a:p>
            <a:r>
              <a:rPr lang="en-US"/>
              <a:t>Copyright (c) Arun Sen Texas A&amp;M University</a:t>
            </a:r>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pPr/>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547820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5D749A3-261B-4A07-B2E5-3E00BF62D5B5}" type="datetime1">
              <a:rPr lang="en-US" smtClean="0"/>
              <a:t>2/1/2026</a:t>
            </a:fld>
            <a:endParaRPr lang="en-US" dirty="0"/>
          </a:p>
        </p:txBody>
      </p:sp>
      <p:sp>
        <p:nvSpPr>
          <p:cNvPr id="6" name="Footer Placeholder 5"/>
          <p:cNvSpPr>
            <a:spLocks noGrp="1"/>
          </p:cNvSpPr>
          <p:nvPr>
            <p:ph type="ftr" sz="quarter" idx="11"/>
          </p:nvPr>
        </p:nvSpPr>
        <p:spPr/>
        <p:txBody>
          <a:bodyPr/>
          <a:lstStyle/>
          <a:p>
            <a:r>
              <a:rPr lang="en-US"/>
              <a:t>Copyright (c) Arun Sen Texas A&amp;M University</a:t>
            </a:r>
            <a:endParaRPr lang="en-US" dirty="0"/>
          </a:p>
        </p:txBody>
      </p:sp>
      <p:sp>
        <p:nvSpPr>
          <p:cNvPr id="7" name="Slide Number Placeholder 6"/>
          <p:cNvSpPr>
            <a:spLocks noGrp="1"/>
          </p:cNvSpPr>
          <p:nvPr>
            <p:ph type="sldNum" sz="quarter" idx="12"/>
          </p:nvPr>
        </p:nvSpPr>
        <p:spPr/>
        <p:txBody>
          <a:bodyPr/>
          <a:lstStyle/>
          <a:p>
            <a:fld id="{69E57DC2-970A-4B3E-BB1C-7A09969E49DF}" type="slidenum">
              <a:rPr lang="en-US" smtClean="0"/>
              <a:t>‹#›</a:t>
            </a:fld>
            <a:endParaRPr lang="en-US" dirty="0"/>
          </a:p>
        </p:txBody>
      </p:sp>
    </p:spTree>
    <p:extLst>
      <p:ext uri="{BB962C8B-B14F-4D97-AF65-F5344CB8AC3E}">
        <p14:creationId xmlns:p14="http://schemas.microsoft.com/office/powerpoint/2010/main" val="3622251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DA08879-58B5-44A3-B8A8-1585E849F5B8}" type="datetime1">
              <a:rPr lang="en-US" smtClean="0"/>
              <a:t>2/1/2026</a:t>
            </a:fld>
            <a:endParaRPr lang="en-US" dirty="0"/>
          </a:p>
        </p:txBody>
      </p:sp>
      <p:sp>
        <p:nvSpPr>
          <p:cNvPr id="8" name="Footer Placeholder 7"/>
          <p:cNvSpPr>
            <a:spLocks noGrp="1"/>
          </p:cNvSpPr>
          <p:nvPr>
            <p:ph type="ftr" sz="quarter" idx="11"/>
          </p:nvPr>
        </p:nvSpPr>
        <p:spPr/>
        <p:txBody>
          <a:bodyPr/>
          <a:lstStyle/>
          <a:p>
            <a:r>
              <a:rPr lang="en-US"/>
              <a:t>Copyright (c) Arun Sen Texas A&amp;M University</a:t>
            </a:r>
            <a:endParaRPr lang="en-US" dirty="0"/>
          </a:p>
        </p:txBody>
      </p:sp>
      <p:sp>
        <p:nvSpPr>
          <p:cNvPr id="9" name="Slide Number Placeholder 8"/>
          <p:cNvSpPr>
            <a:spLocks noGrp="1"/>
          </p:cNvSpPr>
          <p:nvPr>
            <p:ph type="sldNum" sz="quarter" idx="12"/>
          </p:nvPr>
        </p:nvSpPr>
        <p:spPr/>
        <p:txBody>
          <a:bodyPr/>
          <a:lstStyle/>
          <a:p>
            <a:fld id="{69E57DC2-970A-4B3E-BB1C-7A09969E49DF}" type="slidenum">
              <a:rPr lang="en-US" smtClean="0"/>
              <a:t>‹#›</a:t>
            </a:fld>
            <a:endParaRPr lang="en-US" dirty="0"/>
          </a:p>
        </p:txBody>
      </p:sp>
    </p:spTree>
    <p:extLst>
      <p:ext uri="{BB962C8B-B14F-4D97-AF65-F5344CB8AC3E}">
        <p14:creationId xmlns:p14="http://schemas.microsoft.com/office/powerpoint/2010/main" val="3204462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5EA4AF1-E863-4AB0-9B79-06F0BAD18F0B}" type="datetime1">
              <a:rPr lang="en-US" smtClean="0"/>
              <a:t>2/1/2026</a:t>
            </a:fld>
            <a:endParaRPr lang="en-US" dirty="0"/>
          </a:p>
        </p:txBody>
      </p:sp>
      <p:sp>
        <p:nvSpPr>
          <p:cNvPr id="4" name="Footer Placeholder 3"/>
          <p:cNvSpPr>
            <a:spLocks noGrp="1"/>
          </p:cNvSpPr>
          <p:nvPr>
            <p:ph type="ftr" sz="quarter" idx="11"/>
          </p:nvPr>
        </p:nvSpPr>
        <p:spPr/>
        <p:txBody>
          <a:bodyPr/>
          <a:lstStyle/>
          <a:p>
            <a:r>
              <a:rPr lang="en-US"/>
              <a:t>Copyright (c) Arun Sen Texas A&amp;M University</a:t>
            </a:r>
            <a:endParaRPr lang="en-US" dirty="0"/>
          </a:p>
        </p:txBody>
      </p:sp>
      <p:sp>
        <p:nvSpPr>
          <p:cNvPr id="5" name="Slide Number Placeholder 4"/>
          <p:cNvSpPr>
            <a:spLocks noGrp="1"/>
          </p:cNvSpPr>
          <p:nvPr>
            <p:ph type="sldNum" sz="quarter" idx="12"/>
          </p:nvPr>
        </p:nvSpPr>
        <p:spPr/>
        <p:txBody>
          <a:bodyPr/>
          <a:lstStyle/>
          <a:p>
            <a:fld id="{69E57DC2-970A-4B3E-BB1C-7A09969E49DF}" type="slidenum">
              <a:rPr lang="en-US" smtClean="0"/>
              <a:t>‹#›</a:t>
            </a:fld>
            <a:endParaRPr lang="en-US" dirty="0"/>
          </a:p>
        </p:txBody>
      </p:sp>
    </p:spTree>
    <p:extLst>
      <p:ext uri="{BB962C8B-B14F-4D97-AF65-F5344CB8AC3E}">
        <p14:creationId xmlns:p14="http://schemas.microsoft.com/office/powerpoint/2010/main" val="2795692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3C886CC9-8AA8-4F39-90D9-D6057ECEB996}" type="datetime1">
              <a:rPr lang="en-US" smtClean="0"/>
              <a:t>2/1/2026</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r>
              <a:rPr lang="en-US"/>
              <a:t>Copyright (c) Arun Sen Texas A&amp;M University</a:t>
            </a:r>
            <a:endParaRPr lang="en-US" dirty="0"/>
          </a:p>
        </p:txBody>
      </p:sp>
      <p:sp>
        <p:nvSpPr>
          <p:cNvPr id="9" name="Slide Number Placeholder 8"/>
          <p:cNvSpPr>
            <a:spLocks noGrp="1"/>
          </p:cNvSpPr>
          <p:nvPr>
            <p:ph type="sldNum" sz="quarter" idx="12"/>
          </p:nvPr>
        </p:nvSpPr>
        <p:spPr/>
        <p:txBody>
          <a:bodyPr/>
          <a:lstStyle/>
          <a:p>
            <a:fld id="{69E57DC2-970A-4B3E-BB1C-7A09969E49DF}" type="slidenum">
              <a:rPr lang="en-US" smtClean="0"/>
              <a:t>‹#›</a:t>
            </a:fld>
            <a:endParaRPr lang="en-US" dirty="0"/>
          </a:p>
        </p:txBody>
      </p:sp>
    </p:spTree>
    <p:extLst>
      <p:ext uri="{BB962C8B-B14F-4D97-AF65-F5344CB8AC3E}">
        <p14:creationId xmlns:p14="http://schemas.microsoft.com/office/powerpoint/2010/main" val="40893016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A076991D-A247-4C83-986A-CF40A5FCBED3}" type="datetime1">
              <a:rPr lang="en-US" smtClean="0"/>
              <a:t>2/1/2026</a:t>
            </a:fld>
            <a:endParaRPr lang="en-US" dirty="0"/>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r>
              <a:rPr lang="en-US"/>
              <a:t>Copyright (c) Arun Sen Texas A&amp;M University</a:t>
            </a:r>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69E57DC2-970A-4B3E-BB1C-7A09969E49DF}" type="slidenum">
              <a:rPr lang="en-US" smtClean="0"/>
              <a:pPr/>
              <a:t>‹#›</a:t>
            </a:fld>
            <a:endParaRPr lang="en-US" dirty="0"/>
          </a:p>
        </p:txBody>
      </p:sp>
    </p:spTree>
    <p:extLst>
      <p:ext uri="{BB962C8B-B14F-4D97-AF65-F5344CB8AC3E}">
        <p14:creationId xmlns:p14="http://schemas.microsoft.com/office/powerpoint/2010/main" val="32431721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31C248A-C761-4FF5-91DC-A3DCBBAB1EEF}" type="datetime1">
              <a:rPr lang="en-US" smtClean="0"/>
              <a:t>2/1/2026</a:t>
            </a:fld>
            <a:endParaRPr lang="en-US" dirty="0"/>
          </a:p>
        </p:txBody>
      </p:sp>
      <p:sp>
        <p:nvSpPr>
          <p:cNvPr id="6" name="Footer Placeholder 5"/>
          <p:cNvSpPr>
            <a:spLocks noGrp="1"/>
          </p:cNvSpPr>
          <p:nvPr>
            <p:ph type="ftr" sz="quarter" idx="11"/>
          </p:nvPr>
        </p:nvSpPr>
        <p:spPr/>
        <p:txBody>
          <a:bodyPr/>
          <a:lstStyle/>
          <a:p>
            <a:r>
              <a:rPr lang="en-US"/>
              <a:t>Copyright (c) Arun Sen Texas A&amp;M University</a:t>
            </a:r>
            <a:endParaRPr lang="en-US" dirty="0"/>
          </a:p>
        </p:txBody>
      </p:sp>
      <p:sp>
        <p:nvSpPr>
          <p:cNvPr id="7" name="Slide Number Placeholder 6"/>
          <p:cNvSpPr>
            <a:spLocks noGrp="1"/>
          </p:cNvSpPr>
          <p:nvPr>
            <p:ph type="sldNum" sz="quarter" idx="12"/>
          </p:nvPr>
        </p:nvSpPr>
        <p:spPr/>
        <p:txBody>
          <a:bodyPr/>
          <a:lstStyle/>
          <a:p>
            <a:fld id="{69E57DC2-970A-4B3E-BB1C-7A09969E49DF}" type="slidenum">
              <a:rPr lang="en-US" smtClean="0"/>
              <a:pPr/>
              <a:t>‹#›</a:t>
            </a:fld>
            <a:endParaRPr lang="en-US" dirty="0"/>
          </a:p>
        </p:txBody>
      </p:sp>
    </p:spTree>
    <p:extLst>
      <p:ext uri="{BB962C8B-B14F-4D97-AF65-F5344CB8AC3E}">
        <p14:creationId xmlns:p14="http://schemas.microsoft.com/office/powerpoint/2010/main" val="32645020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A6CF5B6-FE5A-4AD7-9FFD-3AF68A7BF427}" type="datetime1">
              <a:rPr lang="en-US" smtClean="0"/>
              <a:t>2/1/2026</a:t>
            </a:fld>
            <a:endParaRPr lang="en-US" dirty="0"/>
          </a:p>
        </p:txBody>
      </p:sp>
      <p:sp>
        <p:nvSpPr>
          <p:cNvPr id="5" name="Footer Placeholder 4"/>
          <p:cNvSpPr>
            <a:spLocks noGrp="1"/>
          </p:cNvSpPr>
          <p:nvPr>
            <p:ph type="ftr" sz="quarter" idx="11"/>
          </p:nvPr>
        </p:nvSpPr>
        <p:spPr/>
        <p:txBody>
          <a:bodyPr/>
          <a:lstStyle/>
          <a:p>
            <a:r>
              <a:rPr lang="en-US"/>
              <a:t>Copyright (c) Arun Sen Texas A&amp;M University</a:t>
            </a:r>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t>‹#›</a:t>
            </a:fld>
            <a:endParaRPr lang="en-US" dirty="0"/>
          </a:p>
        </p:txBody>
      </p:sp>
    </p:spTree>
    <p:extLst>
      <p:ext uri="{BB962C8B-B14F-4D97-AF65-F5344CB8AC3E}">
        <p14:creationId xmlns:p14="http://schemas.microsoft.com/office/powerpoint/2010/main" val="3238157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740E020-1AB3-4D9C-A987-E07AD6F2952A}" type="datetime1">
              <a:rPr lang="en-US" smtClean="0"/>
              <a:t>2/1/2026</a:t>
            </a:fld>
            <a:endParaRPr lang="en-US" dirty="0"/>
          </a:p>
        </p:txBody>
      </p:sp>
      <p:sp>
        <p:nvSpPr>
          <p:cNvPr id="5" name="Footer Placeholder 4"/>
          <p:cNvSpPr>
            <a:spLocks noGrp="1"/>
          </p:cNvSpPr>
          <p:nvPr>
            <p:ph type="ftr" sz="quarter" idx="11"/>
          </p:nvPr>
        </p:nvSpPr>
        <p:spPr/>
        <p:txBody>
          <a:bodyPr/>
          <a:lstStyle/>
          <a:p>
            <a:r>
              <a:rPr lang="en-US"/>
              <a:t>Copyright (c) Arun Sen Texas A&amp;M University</a:t>
            </a:r>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t>‹#›</a:t>
            </a:fld>
            <a:endParaRPr lang="en-US" dirty="0"/>
          </a:p>
        </p:txBody>
      </p:sp>
    </p:spTree>
    <p:extLst>
      <p:ext uri="{BB962C8B-B14F-4D97-AF65-F5344CB8AC3E}">
        <p14:creationId xmlns:p14="http://schemas.microsoft.com/office/powerpoint/2010/main" val="24585169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1D0C963A-8511-4001-A896-EF2194045358}" type="datetime1">
              <a:rPr lang="en-US" smtClean="0"/>
              <a:t>2/1/2026</a:t>
            </a:fld>
            <a:endParaRPr lang="en-US" dirty="0"/>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r>
              <a:rPr lang="en-US"/>
              <a:t>Copyright (c) Arun Sen Texas A&amp;M University</a:t>
            </a:r>
            <a:endParaRPr lang="en-US" dirty="0"/>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69E57DC2-970A-4B3E-BB1C-7A09969E49DF}" type="slidenum">
              <a:rPr lang="en-US" smtClean="0"/>
              <a:pPr/>
              <a:t>‹#›</a:t>
            </a:fld>
            <a:endParaRPr lang="en-US" dirty="0"/>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33592935"/>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hf hdr="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6.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hyperlink" Target="http://publib.boulder.ibm.com/infocenter/rbhelp/v6r3/index.jsp?topic=%2Fcom.ibm.redbrick.doc6.3%2Fssg%2Fssg17.htm" TargetMode="External"/><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hyperlink" Target="http://publib.boulder.ibm.com/infocenter/rbhelp/v6r3/index.jsp?topic=%2Fcom.ibm.redbrick.doc6.3%2Fssg%2Fssg17.htm" TargetMode="External"/><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hyperlink" Target="http://publib.boulder.ibm.com/infocenter/rbhelp/v6r3/index.jsp?topic=%2Fcom.ibm.redbrick.doc6.3%2Fssg%2Fssg17.htm" TargetMode="External"/><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6.xml"/><Relationship Id="rId4" Type="http://schemas.openxmlformats.org/officeDocument/2006/relationships/hyperlink" Target="http://www.teradata.com/resources/white-papers/Teradata-Enterprise-Data-Warehouse-Roadmap-Model-for-the-Retail-Industry-eb5645/" TargetMode="External"/></Relationships>
</file>

<file path=ppt/slides/_rels/slide16.xml.rels><?xml version="1.0" encoding="UTF-8" standalone="yes"?>
<Relationships xmlns="http://schemas.openxmlformats.org/package/2006/relationships"><Relationship Id="rId3" Type="http://schemas.openxmlformats.org/officeDocument/2006/relationships/hyperlink" Target="https://www.codeproject.com/Articles/652108/Create-First-Data-WareHouse" TargetMode="External"/><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hyperlink" Target="https://www.codeproject.com/Articles/652108/Create-First-Data-WareHouse" TargetMode="External"/><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3FE9996-7EAC-4679-B37D-C1045F42F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0" name="Rectangle 9">
            <a:extLst>
              <a:ext uri="{FF2B5EF4-FFF2-40B4-BE49-F238E27FC236}">
                <a16:creationId xmlns:a16="http://schemas.microsoft.com/office/drawing/2014/main" id="{761DF1FE-5CC8-43D2-A76C-93C76EEDE1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12" name="Straight Connector 11">
            <a:extLst>
              <a:ext uri="{FF2B5EF4-FFF2-40B4-BE49-F238E27FC236}">
                <a16:creationId xmlns:a16="http://schemas.microsoft.com/office/drawing/2014/main" id="{E161BEBD-A23C-409E-ABC7-73F9EDC02F2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14" name="Rectangle 13">
            <a:extLst>
              <a:ext uri="{FF2B5EF4-FFF2-40B4-BE49-F238E27FC236}">
                <a16:creationId xmlns:a16="http://schemas.microsoft.com/office/drawing/2014/main" id="{3741B58E-3B65-4A01-A276-975AB2CF8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7AAC67C3-831B-4AB1-A259-DFB839CAFA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557EF099-15AF-4169-A285-740CE3D296A9}"/>
              </a:ext>
            </a:extLst>
          </p:cNvPr>
          <p:cNvSpPr>
            <a:spLocks noGrp="1"/>
          </p:cNvSpPr>
          <p:nvPr>
            <p:ph type="ctrTitle"/>
          </p:nvPr>
        </p:nvSpPr>
        <p:spPr>
          <a:xfrm>
            <a:off x="167709" y="605896"/>
            <a:ext cx="3755081" cy="5646208"/>
          </a:xfrm>
        </p:spPr>
        <p:txBody>
          <a:bodyPr vert="horz" lIns="91440" tIns="45720" rIns="91440" bIns="45720" rtlCol="0" anchor="ctr">
            <a:normAutofit/>
          </a:bodyPr>
          <a:lstStyle/>
          <a:p>
            <a:br>
              <a:rPr kumimoji="0" lang="en-US" sz="2800" b="1" i="0" u="none" strike="noStrike" cap="small" normalizeH="0" noProof="0" dirty="0">
                <a:ln>
                  <a:noFill/>
                </a:ln>
                <a:solidFill>
                  <a:srgbClr val="FFFFFF"/>
                </a:solidFill>
                <a:effectLst/>
                <a:uLnTx/>
                <a:uFillTx/>
              </a:rPr>
            </a:br>
            <a:br>
              <a:rPr kumimoji="0" lang="en-US" sz="2800" b="1" i="0" u="none" strike="noStrike" cap="small" normalizeH="0" noProof="0" dirty="0">
                <a:ln>
                  <a:noFill/>
                </a:ln>
                <a:solidFill>
                  <a:srgbClr val="FFFFFF"/>
                </a:solidFill>
                <a:effectLst/>
                <a:uLnTx/>
                <a:uFillTx/>
              </a:rPr>
            </a:br>
            <a:br>
              <a:rPr kumimoji="0" lang="en-US" sz="2800" b="1" i="0" u="none" strike="noStrike" cap="small" normalizeH="0" noProof="0" dirty="0">
                <a:ln>
                  <a:noFill/>
                </a:ln>
                <a:solidFill>
                  <a:srgbClr val="FFFFFF"/>
                </a:solidFill>
                <a:effectLst/>
                <a:uLnTx/>
                <a:uFillTx/>
              </a:rPr>
            </a:br>
            <a:br>
              <a:rPr kumimoji="0" lang="en-US" sz="2800" b="1" i="0" u="none" strike="noStrike" cap="small" normalizeH="0" noProof="0" dirty="0">
                <a:ln>
                  <a:noFill/>
                </a:ln>
                <a:solidFill>
                  <a:srgbClr val="FFFFFF"/>
                </a:solidFill>
                <a:effectLst/>
                <a:uLnTx/>
                <a:uFillTx/>
              </a:rPr>
            </a:br>
            <a:br>
              <a:rPr kumimoji="0" lang="en-US" sz="2800" b="1" i="0" u="none" strike="noStrike" cap="small" normalizeH="0" noProof="0" dirty="0">
                <a:ln>
                  <a:noFill/>
                </a:ln>
                <a:solidFill>
                  <a:srgbClr val="FFFFFF"/>
                </a:solidFill>
                <a:effectLst/>
                <a:uLnTx/>
                <a:uFillTx/>
              </a:rPr>
            </a:br>
            <a:br>
              <a:rPr kumimoji="0" lang="en-US" sz="2800" b="1" i="0" u="none" strike="noStrike" cap="small" normalizeH="0" noProof="0" dirty="0">
                <a:ln>
                  <a:noFill/>
                </a:ln>
                <a:solidFill>
                  <a:srgbClr val="FFFFFF"/>
                </a:solidFill>
                <a:effectLst/>
                <a:uLnTx/>
                <a:uFillTx/>
              </a:rPr>
            </a:br>
            <a:br>
              <a:rPr kumimoji="0" lang="en-US" sz="2800" b="1" i="0" u="none" strike="noStrike" cap="small" normalizeH="0" noProof="0" dirty="0">
                <a:ln>
                  <a:noFill/>
                </a:ln>
                <a:solidFill>
                  <a:srgbClr val="FFFFFF"/>
                </a:solidFill>
                <a:effectLst/>
                <a:uLnTx/>
                <a:uFillTx/>
              </a:rPr>
            </a:br>
            <a:r>
              <a:rPr lang="en-US" sz="2800" b="1" cap="small" dirty="0">
                <a:solidFill>
                  <a:srgbClr val="FFFFFF"/>
                </a:solidFill>
              </a:rPr>
              <a:t>Task 1.  business Requirements analysis </a:t>
            </a:r>
            <a:r>
              <a:rPr kumimoji="0" lang="en-US" sz="2800" b="1" i="0" u="none" strike="noStrike" cap="small" normalizeH="0" noProof="0" dirty="0">
                <a:ln>
                  <a:noFill/>
                </a:ln>
                <a:solidFill>
                  <a:srgbClr val="FFFFFF"/>
                </a:solidFill>
                <a:effectLst/>
                <a:uLnTx/>
                <a:uFillTx/>
              </a:rPr>
              <a:t>in </a:t>
            </a:r>
            <a:br>
              <a:rPr kumimoji="0" lang="en-US" sz="2800" b="1" i="0" u="none" strike="noStrike" cap="small" normalizeH="0" noProof="0" dirty="0">
                <a:ln>
                  <a:noFill/>
                </a:ln>
                <a:solidFill>
                  <a:srgbClr val="FFFFFF"/>
                </a:solidFill>
                <a:effectLst/>
                <a:uLnTx/>
                <a:uFillTx/>
              </a:rPr>
            </a:br>
            <a:r>
              <a:rPr kumimoji="0" lang="en-US" sz="2800" b="1" i="0" u="none" strike="noStrike" cap="small" normalizeH="0" noProof="0" dirty="0">
                <a:ln>
                  <a:noFill/>
                </a:ln>
                <a:solidFill>
                  <a:srgbClr val="FFFFFF"/>
                </a:solidFill>
                <a:effectLst/>
                <a:uLnTx/>
                <a:uFillTx/>
              </a:rPr>
              <a:t>Data Warehousing Process</a:t>
            </a:r>
            <a:endParaRPr lang="en-US" sz="2800" dirty="0">
              <a:solidFill>
                <a:srgbClr val="FFFFFF"/>
              </a:solidFill>
            </a:endParaRPr>
          </a:p>
        </p:txBody>
      </p:sp>
      <p:sp>
        <p:nvSpPr>
          <p:cNvPr id="18" name="Rectangle 17">
            <a:extLst>
              <a:ext uri="{FF2B5EF4-FFF2-40B4-BE49-F238E27FC236}">
                <a16:creationId xmlns:a16="http://schemas.microsoft.com/office/drawing/2014/main" id="{054B3F04-9EAC-45C0-B3CE-0387EEA10A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 name="Subtitle 2">
            <a:extLst>
              <a:ext uri="{FF2B5EF4-FFF2-40B4-BE49-F238E27FC236}">
                <a16:creationId xmlns:a16="http://schemas.microsoft.com/office/drawing/2014/main" id="{463B8327-E815-4464-8B4C-278C0CC0F25F}"/>
              </a:ext>
            </a:extLst>
          </p:cNvPr>
          <p:cNvSpPr>
            <a:spLocks noGrp="1"/>
          </p:cNvSpPr>
          <p:nvPr>
            <p:ph type="subTitle" idx="1"/>
          </p:nvPr>
        </p:nvSpPr>
        <p:spPr>
          <a:xfrm>
            <a:off x="4742016" y="605896"/>
            <a:ext cx="6413663" cy="5646208"/>
          </a:xfrm>
        </p:spPr>
        <p:txBody>
          <a:bodyPr vert="horz" lIns="0" tIns="45720" rIns="0" bIns="45720" rtlCol="0" anchor="ctr">
            <a:normAutofit/>
          </a:bodyPr>
          <a:lstStyle/>
          <a:p>
            <a:r>
              <a:rPr lang="en-US" altLang="en-US">
                <a:solidFill>
                  <a:schemeClr val="tx1">
                    <a:lumMod val="75000"/>
                    <a:lumOff val="25000"/>
                  </a:schemeClr>
                </a:solidFill>
                <a:latin typeface="+mn-lt"/>
              </a:rPr>
              <a:t>Arun Sen</a:t>
            </a:r>
          </a:p>
          <a:p>
            <a:r>
              <a:rPr lang="en-US" altLang="en-US">
                <a:solidFill>
                  <a:schemeClr val="tx1">
                    <a:lumMod val="75000"/>
                    <a:lumOff val="25000"/>
                  </a:schemeClr>
                </a:solidFill>
                <a:latin typeface="+mn-lt"/>
              </a:rPr>
              <a:t>Department of Information &amp; Operations Mgmt.</a:t>
            </a:r>
          </a:p>
          <a:p>
            <a:r>
              <a:rPr lang="en-US" altLang="en-US">
                <a:solidFill>
                  <a:schemeClr val="tx1">
                    <a:lumMod val="75000"/>
                    <a:lumOff val="25000"/>
                  </a:schemeClr>
                </a:solidFill>
                <a:latin typeface="+mn-lt"/>
              </a:rPr>
              <a:t>Mays Business School</a:t>
            </a:r>
          </a:p>
          <a:p>
            <a:r>
              <a:rPr lang="en-US" altLang="en-US">
                <a:solidFill>
                  <a:schemeClr val="tx1">
                    <a:lumMod val="75000"/>
                    <a:lumOff val="25000"/>
                  </a:schemeClr>
                </a:solidFill>
                <a:latin typeface="+mn-lt"/>
              </a:rPr>
              <a:t>Texas A&amp;M University</a:t>
            </a:r>
          </a:p>
          <a:p>
            <a:endParaRPr lang="en-US">
              <a:solidFill>
                <a:schemeClr val="tx1">
                  <a:lumMod val="75000"/>
                  <a:lumOff val="25000"/>
                </a:schemeClr>
              </a:solidFill>
              <a:latin typeface="+mn-lt"/>
            </a:endParaRPr>
          </a:p>
        </p:txBody>
      </p:sp>
    </p:spTree>
    <p:extLst>
      <p:ext uri="{BB962C8B-B14F-4D97-AF65-F5344CB8AC3E}">
        <p14:creationId xmlns:p14="http://schemas.microsoft.com/office/powerpoint/2010/main" val="10400195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52C0B2E1-0268-42EC-ABD3-94F81A05BC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5" name="Rectangle 14">
            <a:extLst>
              <a:ext uri="{FF2B5EF4-FFF2-40B4-BE49-F238E27FC236}">
                <a16:creationId xmlns:a16="http://schemas.microsoft.com/office/drawing/2014/main" id="{7D2256B4-48EA-40FC-BBC0-AA1EE6E008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17" name="Straight Connector 16">
            <a:extLst>
              <a:ext uri="{FF2B5EF4-FFF2-40B4-BE49-F238E27FC236}">
                <a16:creationId xmlns:a16="http://schemas.microsoft.com/office/drawing/2014/main" id="{3D44BCCA-102D-4A9D-B1E4-2450CAF0B05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19" name="Rectangle 18">
            <a:extLst>
              <a:ext uri="{FF2B5EF4-FFF2-40B4-BE49-F238E27FC236}">
                <a16:creationId xmlns:a16="http://schemas.microsoft.com/office/drawing/2014/main" id="{8C6E698C-8155-4B8B-BDC9-B7299772B5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EF15200-1719-44C2-B880-BA55A6DA6C9C}"/>
              </a:ext>
            </a:extLst>
          </p:cNvPr>
          <p:cNvSpPr>
            <a:spLocks noGrp="1"/>
          </p:cNvSpPr>
          <p:nvPr>
            <p:ph type="title"/>
          </p:nvPr>
        </p:nvSpPr>
        <p:spPr>
          <a:xfrm>
            <a:off x="965201" y="643467"/>
            <a:ext cx="6255026" cy="5054008"/>
          </a:xfrm>
        </p:spPr>
        <p:txBody>
          <a:bodyPr vert="horz" lIns="91440" tIns="45720" rIns="91440" bIns="45720" rtlCol="0" anchor="ctr">
            <a:normAutofit/>
          </a:bodyPr>
          <a:lstStyle/>
          <a:p>
            <a:pPr algn="r"/>
            <a:r>
              <a:rPr lang="en-US" sz="7400" b="1" cap="all">
                <a:solidFill>
                  <a:schemeClr val="tx1">
                    <a:lumMod val="85000"/>
                    <a:lumOff val="15000"/>
                  </a:schemeClr>
                </a:solidFill>
              </a:rPr>
              <a:t>Task 1.  Business Requirements Analysis</a:t>
            </a:r>
          </a:p>
        </p:txBody>
      </p:sp>
      <p:cxnSp>
        <p:nvCxnSpPr>
          <p:cNvPr id="21" name="Straight Connector 20">
            <a:extLst>
              <a:ext uri="{FF2B5EF4-FFF2-40B4-BE49-F238E27FC236}">
                <a16:creationId xmlns:a16="http://schemas.microsoft.com/office/drawing/2014/main" id="{09525C9A-1972-4836-BA7A-706C946EF4D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534656" y="1391367"/>
            <a:ext cx="0" cy="3558208"/>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8A549DE7-671D-4575-AF43-858FD99981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5" name="Rectangle 24">
            <a:extLst>
              <a:ext uri="{FF2B5EF4-FFF2-40B4-BE49-F238E27FC236}">
                <a16:creationId xmlns:a16="http://schemas.microsoft.com/office/drawing/2014/main" id="{C22D9B36-9BE7-472B-8808-7E0D681073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40942"/>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6" name="Date Placeholder 5">
            <a:extLst>
              <a:ext uri="{FF2B5EF4-FFF2-40B4-BE49-F238E27FC236}">
                <a16:creationId xmlns:a16="http://schemas.microsoft.com/office/drawing/2014/main" id="{EAEBBD60-EB66-42E9-B906-98263D9E45BD}"/>
              </a:ext>
            </a:extLst>
          </p:cNvPr>
          <p:cNvSpPr>
            <a:spLocks noGrp="1"/>
          </p:cNvSpPr>
          <p:nvPr>
            <p:ph type="dt" sz="half" idx="10"/>
          </p:nvPr>
        </p:nvSpPr>
        <p:spPr>
          <a:xfrm>
            <a:off x="1097280" y="6459785"/>
            <a:ext cx="2472271" cy="365125"/>
          </a:xfrm>
        </p:spPr>
        <p:txBody>
          <a:bodyPr vert="horz" lIns="91440" tIns="45720" rIns="91440" bIns="45720" rtlCol="0" anchor="ctr">
            <a:normAutofit/>
          </a:bodyPr>
          <a:lstStyle/>
          <a:p>
            <a:pPr>
              <a:spcAft>
                <a:spcPts val="600"/>
              </a:spcAft>
            </a:pPr>
            <a:fld id="{DECB7087-88CF-49BB-92B6-3CEFCD957281}" type="datetime1">
              <a:rPr lang="en-US" smtClean="0"/>
              <a:pPr>
                <a:spcAft>
                  <a:spcPts val="600"/>
                </a:spcAft>
              </a:pPr>
              <a:t>2/1/2026</a:t>
            </a:fld>
            <a:endParaRPr lang="en-US"/>
          </a:p>
        </p:txBody>
      </p:sp>
      <p:sp>
        <p:nvSpPr>
          <p:cNvPr id="7" name="Footer Placeholder 6">
            <a:extLst>
              <a:ext uri="{FF2B5EF4-FFF2-40B4-BE49-F238E27FC236}">
                <a16:creationId xmlns:a16="http://schemas.microsoft.com/office/drawing/2014/main" id="{B9D9250F-DDE4-41E1-A605-5711F349516D}"/>
              </a:ext>
            </a:extLst>
          </p:cNvPr>
          <p:cNvSpPr>
            <a:spLocks noGrp="1"/>
          </p:cNvSpPr>
          <p:nvPr>
            <p:ph type="ftr" sz="quarter" idx="11"/>
          </p:nvPr>
        </p:nvSpPr>
        <p:spPr>
          <a:xfrm>
            <a:off x="3686185" y="6459785"/>
            <a:ext cx="4822804" cy="365125"/>
          </a:xfrm>
        </p:spPr>
        <p:txBody>
          <a:bodyPr vert="horz" lIns="91440" tIns="45720" rIns="91440" bIns="45720" rtlCol="0" anchor="ctr">
            <a:normAutofit/>
          </a:bodyPr>
          <a:lstStyle/>
          <a:p>
            <a:pPr>
              <a:spcAft>
                <a:spcPts val="600"/>
              </a:spcAft>
            </a:pPr>
            <a:r>
              <a:rPr lang="en-US" kern="1200" cap="all" baseline="0">
                <a:solidFill>
                  <a:srgbClr val="FFFFFF"/>
                </a:solidFill>
                <a:latin typeface="+mn-lt"/>
                <a:ea typeface="+mn-ea"/>
                <a:cs typeface="+mn-cs"/>
              </a:rPr>
              <a:t>Copyright (c) Arun Sen Texas A&amp;M University</a:t>
            </a:r>
          </a:p>
        </p:txBody>
      </p:sp>
      <p:sp>
        <p:nvSpPr>
          <p:cNvPr id="8" name="Slide Number Placeholder 7">
            <a:extLst>
              <a:ext uri="{FF2B5EF4-FFF2-40B4-BE49-F238E27FC236}">
                <a16:creationId xmlns:a16="http://schemas.microsoft.com/office/drawing/2014/main" id="{1BE0AB3B-A9A3-4EEC-A6CA-0939DB811FBC}"/>
              </a:ext>
            </a:extLst>
          </p:cNvPr>
          <p:cNvSpPr>
            <a:spLocks noGrp="1"/>
          </p:cNvSpPr>
          <p:nvPr>
            <p:ph type="sldNum" sz="quarter" idx="12"/>
          </p:nvPr>
        </p:nvSpPr>
        <p:spPr>
          <a:xfrm>
            <a:off x="9900458" y="6459785"/>
            <a:ext cx="1312025" cy="365125"/>
          </a:xfrm>
        </p:spPr>
        <p:txBody>
          <a:bodyPr vert="horz" lIns="91440" tIns="45720" rIns="91440" bIns="45720" rtlCol="0" anchor="ctr">
            <a:normAutofit/>
          </a:bodyPr>
          <a:lstStyle/>
          <a:p>
            <a:pPr>
              <a:spcAft>
                <a:spcPts val="600"/>
              </a:spcAft>
            </a:pPr>
            <a:fld id="{69E57DC2-970A-4B3E-BB1C-7A09969E49DF}" type="slidenum">
              <a:rPr lang="en-US" smtClean="0"/>
              <a:pPr>
                <a:spcAft>
                  <a:spcPts val="600"/>
                </a:spcAft>
              </a:pPr>
              <a:t>2</a:t>
            </a:fld>
            <a:endParaRPr lang="en-US"/>
          </a:p>
        </p:txBody>
      </p:sp>
    </p:spTree>
    <p:extLst>
      <p:ext uri="{BB962C8B-B14F-4D97-AF65-F5344CB8AC3E}">
        <p14:creationId xmlns:p14="http://schemas.microsoft.com/office/powerpoint/2010/main" val="30896325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0" name="Rectangle 4">
            <a:extLst>
              <a:ext uri="{FF2B5EF4-FFF2-40B4-BE49-F238E27FC236}">
                <a16:creationId xmlns:a16="http://schemas.microsoft.com/office/drawing/2014/main" id="{BC8CDA5A-AAB1-477B-A132-4B79AB754912}"/>
              </a:ext>
            </a:extLst>
          </p:cNvPr>
          <p:cNvSpPr>
            <a:spLocks noChangeArrowheads="1"/>
          </p:cNvSpPr>
          <p:nvPr/>
        </p:nvSpPr>
        <p:spPr bwMode="auto">
          <a:xfrm>
            <a:off x="2438400" y="304800"/>
            <a:ext cx="8600902"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algn="ctr" eaLnBrk="1" hangingPunct="1">
              <a:spcBef>
                <a:spcPct val="0"/>
              </a:spcBef>
              <a:buClrTx/>
              <a:buSzTx/>
              <a:buFontTx/>
              <a:buNone/>
            </a:pPr>
            <a:r>
              <a:rPr lang="en-US" altLang="en-US" sz="2900" b="1" dirty="0">
                <a:solidFill>
                  <a:srgbClr val="C00000"/>
                </a:solidFill>
                <a:latin typeface="Tahoma" panose="020B0604030504040204" pitchFamily="34" charset="0"/>
              </a:rPr>
              <a:t>Task 1.  Business Requirements Analysis</a:t>
            </a:r>
            <a:endParaRPr lang="en-US" altLang="en-US" sz="2500" b="1" dirty="0">
              <a:solidFill>
                <a:srgbClr val="C00000"/>
              </a:solidFill>
              <a:latin typeface="Tahoma" panose="020B0604030504040204" pitchFamily="34" charset="0"/>
            </a:endParaRPr>
          </a:p>
        </p:txBody>
      </p:sp>
      <p:sp>
        <p:nvSpPr>
          <p:cNvPr id="19461" name="Text Box 5">
            <a:extLst>
              <a:ext uri="{FF2B5EF4-FFF2-40B4-BE49-F238E27FC236}">
                <a16:creationId xmlns:a16="http://schemas.microsoft.com/office/drawing/2014/main" id="{0A2FB09C-7708-4946-88A8-06CD4FD2C7EE}"/>
              </a:ext>
            </a:extLst>
          </p:cNvPr>
          <p:cNvSpPr txBox="1">
            <a:spLocks noChangeArrowheads="1"/>
          </p:cNvSpPr>
          <p:nvPr/>
        </p:nvSpPr>
        <p:spPr bwMode="auto">
          <a:xfrm>
            <a:off x="2895600" y="2667001"/>
            <a:ext cx="6934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a:spcBef>
                <a:spcPct val="50000"/>
              </a:spcBef>
              <a:buClrTx/>
              <a:buSzTx/>
              <a:buFontTx/>
              <a:buNone/>
            </a:pPr>
            <a:endParaRPr lang="en-US" altLang="en-US" sz="2000">
              <a:latin typeface="Tahoma" panose="020B0604030504040204" pitchFamily="34" charset="0"/>
            </a:endParaRPr>
          </a:p>
        </p:txBody>
      </p:sp>
      <p:sp>
        <p:nvSpPr>
          <p:cNvPr id="19462" name="Text Box 6">
            <a:extLst>
              <a:ext uri="{FF2B5EF4-FFF2-40B4-BE49-F238E27FC236}">
                <a16:creationId xmlns:a16="http://schemas.microsoft.com/office/drawing/2014/main" id="{7A6A18E0-1ABB-477D-8DBD-90BF4F1D31AF}"/>
              </a:ext>
            </a:extLst>
          </p:cNvPr>
          <p:cNvSpPr txBox="1">
            <a:spLocks noChangeArrowheads="1"/>
          </p:cNvSpPr>
          <p:nvPr/>
        </p:nvSpPr>
        <p:spPr bwMode="auto">
          <a:xfrm>
            <a:off x="2971800" y="2667001"/>
            <a:ext cx="6934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algn="ctr">
              <a:spcBef>
                <a:spcPct val="50000"/>
              </a:spcBef>
              <a:buClrTx/>
              <a:buSzTx/>
              <a:buFontTx/>
              <a:buNone/>
            </a:pPr>
            <a:endParaRPr lang="en-US" altLang="en-US" sz="2000">
              <a:latin typeface="Tahoma" panose="020B0604030504040204" pitchFamily="34" charset="0"/>
            </a:endParaRPr>
          </a:p>
        </p:txBody>
      </p:sp>
      <p:sp>
        <p:nvSpPr>
          <p:cNvPr id="19463" name="Text Box 8">
            <a:extLst>
              <a:ext uri="{FF2B5EF4-FFF2-40B4-BE49-F238E27FC236}">
                <a16:creationId xmlns:a16="http://schemas.microsoft.com/office/drawing/2014/main" id="{EC6EC5D7-E3D4-447A-94A9-3C94FD6F086E}"/>
              </a:ext>
            </a:extLst>
          </p:cNvPr>
          <p:cNvSpPr txBox="1">
            <a:spLocks noChangeArrowheads="1"/>
          </p:cNvSpPr>
          <p:nvPr/>
        </p:nvSpPr>
        <p:spPr bwMode="auto">
          <a:xfrm>
            <a:off x="2209800" y="1676400"/>
            <a:ext cx="8382000"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a:spcBef>
                <a:spcPct val="50000"/>
              </a:spcBef>
              <a:buClrTx/>
              <a:buSzTx/>
              <a:buFontTx/>
              <a:buNone/>
            </a:pPr>
            <a:r>
              <a:rPr lang="en-US" altLang="en-US" b="1" dirty="0">
                <a:latin typeface="Times New Roman" panose="02020603050405020304" pitchFamily="18" charset="0"/>
              </a:rPr>
              <a:t> 1.    Remember that</a:t>
            </a:r>
            <a:r>
              <a:rPr lang="en-US" altLang="en-US" dirty="0">
                <a:latin typeface="Times New Roman" panose="02020603050405020304" pitchFamily="18" charset="0"/>
              </a:rPr>
              <a:t> </a:t>
            </a:r>
          </a:p>
          <a:p>
            <a:pPr lvl="1">
              <a:spcBef>
                <a:spcPct val="50000"/>
              </a:spcBef>
              <a:buClrTx/>
              <a:buSzTx/>
              <a:buFontTx/>
              <a:buChar char="•"/>
            </a:pPr>
            <a:r>
              <a:rPr lang="en-US" altLang="en-US" sz="2400" dirty="0">
                <a:latin typeface="Times New Roman" panose="02020603050405020304" pitchFamily="18" charset="0"/>
              </a:rPr>
              <a:t>  OLTP is a data capture system</a:t>
            </a:r>
          </a:p>
          <a:p>
            <a:pPr lvl="1">
              <a:spcBef>
                <a:spcPct val="50000"/>
              </a:spcBef>
              <a:buClrTx/>
              <a:buSzTx/>
              <a:buFontTx/>
              <a:buChar char="•"/>
            </a:pPr>
            <a:r>
              <a:rPr lang="en-US" altLang="en-US" sz="2400" dirty="0">
                <a:latin typeface="Times New Roman" panose="02020603050405020304" pitchFamily="18" charset="0"/>
              </a:rPr>
              <a:t>  Data Warehouse system is an information-delivery system</a:t>
            </a:r>
          </a:p>
        </p:txBody>
      </p:sp>
      <p:sp>
        <p:nvSpPr>
          <p:cNvPr id="2" name="Date Placeholder 1">
            <a:extLst>
              <a:ext uri="{FF2B5EF4-FFF2-40B4-BE49-F238E27FC236}">
                <a16:creationId xmlns:a16="http://schemas.microsoft.com/office/drawing/2014/main" id="{7BB4ADB3-EF10-4F79-969F-E03BF2CF9DA7}"/>
              </a:ext>
            </a:extLst>
          </p:cNvPr>
          <p:cNvSpPr>
            <a:spLocks noGrp="1"/>
          </p:cNvSpPr>
          <p:nvPr>
            <p:ph type="dt" sz="half" idx="10"/>
          </p:nvPr>
        </p:nvSpPr>
        <p:spPr/>
        <p:txBody>
          <a:bodyPr/>
          <a:lstStyle/>
          <a:p>
            <a:fld id="{6F7BF0F4-7C1E-4046-B5DA-5CB623033D96}" type="datetime1">
              <a:rPr lang="en-US" smtClean="0"/>
              <a:t>2/1/2026</a:t>
            </a:fld>
            <a:endParaRPr lang="en-US" dirty="0"/>
          </a:p>
        </p:txBody>
      </p:sp>
      <p:sp>
        <p:nvSpPr>
          <p:cNvPr id="5" name="Footer Placeholder 4">
            <a:extLst>
              <a:ext uri="{FF2B5EF4-FFF2-40B4-BE49-F238E27FC236}">
                <a16:creationId xmlns:a16="http://schemas.microsoft.com/office/drawing/2014/main" id="{68F87B8E-E36A-41C7-9A10-C5185A6DF4A9}"/>
              </a:ext>
            </a:extLst>
          </p:cNvPr>
          <p:cNvSpPr>
            <a:spLocks noGrp="1"/>
          </p:cNvSpPr>
          <p:nvPr>
            <p:ph type="ftr" sz="quarter" idx="11"/>
          </p:nvPr>
        </p:nvSpPr>
        <p:spPr/>
        <p:txBody>
          <a:bodyPr/>
          <a:lstStyle/>
          <a:p>
            <a:r>
              <a:rPr lang="en-US"/>
              <a:t>Copyright (c) Arun Sen Texas A&amp;M University</a:t>
            </a:r>
            <a:endParaRPr lang="en-US" dirty="0"/>
          </a:p>
        </p:txBody>
      </p:sp>
      <p:sp>
        <p:nvSpPr>
          <p:cNvPr id="6" name="Slide Number Placeholder 5">
            <a:extLst>
              <a:ext uri="{FF2B5EF4-FFF2-40B4-BE49-F238E27FC236}">
                <a16:creationId xmlns:a16="http://schemas.microsoft.com/office/drawing/2014/main" id="{193CE0E5-9D2E-43B6-95A7-0523EA73890F}"/>
              </a:ext>
            </a:extLst>
          </p:cNvPr>
          <p:cNvSpPr>
            <a:spLocks noGrp="1"/>
          </p:cNvSpPr>
          <p:nvPr>
            <p:ph type="sldNum" sz="quarter" idx="12"/>
          </p:nvPr>
        </p:nvSpPr>
        <p:spPr/>
        <p:txBody>
          <a:bodyPr/>
          <a:lstStyle/>
          <a:p>
            <a:fld id="{69E57DC2-970A-4B3E-BB1C-7A09969E49DF}" type="slidenum">
              <a:rPr lang="en-US" smtClean="0"/>
              <a:t>3</a:t>
            </a:fld>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0" name="Rectangle 4">
            <a:extLst>
              <a:ext uri="{FF2B5EF4-FFF2-40B4-BE49-F238E27FC236}">
                <a16:creationId xmlns:a16="http://schemas.microsoft.com/office/drawing/2014/main" id="{BC8CDA5A-AAB1-477B-A132-4B79AB754912}"/>
              </a:ext>
            </a:extLst>
          </p:cNvPr>
          <p:cNvSpPr>
            <a:spLocks noChangeArrowheads="1"/>
          </p:cNvSpPr>
          <p:nvPr/>
        </p:nvSpPr>
        <p:spPr bwMode="auto">
          <a:xfrm>
            <a:off x="2438400" y="304800"/>
            <a:ext cx="8850284"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algn="ctr" eaLnBrk="1" hangingPunct="1">
              <a:spcBef>
                <a:spcPct val="0"/>
              </a:spcBef>
              <a:buClrTx/>
              <a:buSzTx/>
              <a:buFontTx/>
              <a:buNone/>
            </a:pPr>
            <a:r>
              <a:rPr lang="en-US" altLang="en-US" sz="2900" b="1" dirty="0">
                <a:solidFill>
                  <a:srgbClr val="C00000"/>
                </a:solidFill>
                <a:latin typeface="Tahoma" panose="020B0604030504040204" pitchFamily="34" charset="0"/>
              </a:rPr>
              <a:t>Task 1.  Business Requirements Analysis</a:t>
            </a:r>
            <a:endParaRPr lang="en-US" altLang="en-US" sz="2500" b="1" dirty="0">
              <a:solidFill>
                <a:srgbClr val="C00000"/>
              </a:solidFill>
              <a:latin typeface="Tahoma" panose="020B0604030504040204" pitchFamily="34" charset="0"/>
            </a:endParaRPr>
          </a:p>
        </p:txBody>
      </p:sp>
      <p:sp>
        <p:nvSpPr>
          <p:cNvPr id="19461" name="Text Box 5">
            <a:extLst>
              <a:ext uri="{FF2B5EF4-FFF2-40B4-BE49-F238E27FC236}">
                <a16:creationId xmlns:a16="http://schemas.microsoft.com/office/drawing/2014/main" id="{0A2FB09C-7708-4946-88A8-06CD4FD2C7EE}"/>
              </a:ext>
            </a:extLst>
          </p:cNvPr>
          <p:cNvSpPr txBox="1">
            <a:spLocks noChangeArrowheads="1"/>
          </p:cNvSpPr>
          <p:nvPr/>
        </p:nvSpPr>
        <p:spPr bwMode="auto">
          <a:xfrm>
            <a:off x="2895600" y="2667001"/>
            <a:ext cx="6934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a:spcBef>
                <a:spcPct val="50000"/>
              </a:spcBef>
              <a:buClrTx/>
              <a:buSzTx/>
              <a:buFontTx/>
              <a:buNone/>
            </a:pPr>
            <a:endParaRPr lang="en-US" altLang="en-US" sz="2000">
              <a:latin typeface="Tahoma" panose="020B0604030504040204" pitchFamily="34" charset="0"/>
            </a:endParaRPr>
          </a:p>
        </p:txBody>
      </p:sp>
      <p:sp>
        <p:nvSpPr>
          <p:cNvPr id="19462" name="Text Box 6">
            <a:extLst>
              <a:ext uri="{FF2B5EF4-FFF2-40B4-BE49-F238E27FC236}">
                <a16:creationId xmlns:a16="http://schemas.microsoft.com/office/drawing/2014/main" id="{7A6A18E0-1ABB-477D-8DBD-90BF4F1D31AF}"/>
              </a:ext>
            </a:extLst>
          </p:cNvPr>
          <p:cNvSpPr txBox="1">
            <a:spLocks noChangeArrowheads="1"/>
          </p:cNvSpPr>
          <p:nvPr/>
        </p:nvSpPr>
        <p:spPr bwMode="auto">
          <a:xfrm>
            <a:off x="2971800" y="2667001"/>
            <a:ext cx="6934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algn="ctr">
              <a:spcBef>
                <a:spcPct val="50000"/>
              </a:spcBef>
              <a:buClrTx/>
              <a:buSzTx/>
              <a:buFontTx/>
              <a:buNone/>
            </a:pPr>
            <a:endParaRPr lang="en-US" altLang="en-US" sz="2000">
              <a:latin typeface="Tahoma" panose="020B0604030504040204" pitchFamily="34" charset="0"/>
            </a:endParaRPr>
          </a:p>
        </p:txBody>
      </p:sp>
      <p:sp>
        <p:nvSpPr>
          <p:cNvPr id="19463" name="Text Box 8">
            <a:extLst>
              <a:ext uri="{FF2B5EF4-FFF2-40B4-BE49-F238E27FC236}">
                <a16:creationId xmlns:a16="http://schemas.microsoft.com/office/drawing/2014/main" id="{EC6EC5D7-E3D4-447A-94A9-3C94FD6F086E}"/>
              </a:ext>
            </a:extLst>
          </p:cNvPr>
          <p:cNvSpPr txBox="1">
            <a:spLocks noChangeArrowheads="1"/>
          </p:cNvSpPr>
          <p:nvPr/>
        </p:nvSpPr>
        <p:spPr bwMode="auto">
          <a:xfrm>
            <a:off x="2209800" y="1676400"/>
            <a:ext cx="8382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a:spcBef>
                <a:spcPct val="50000"/>
              </a:spcBef>
              <a:buClrTx/>
              <a:buSzTx/>
              <a:buFontTx/>
              <a:buNone/>
            </a:pPr>
            <a:r>
              <a:rPr lang="en-US" altLang="en-US" b="1" dirty="0">
                <a:latin typeface="Times New Roman" panose="02020603050405020304" pitchFamily="18" charset="0"/>
              </a:rPr>
              <a:t> </a:t>
            </a:r>
            <a:endParaRPr lang="en-US" altLang="en-US" sz="2400" dirty="0">
              <a:latin typeface="Times New Roman" panose="02020603050405020304" pitchFamily="18" charset="0"/>
            </a:endParaRPr>
          </a:p>
        </p:txBody>
      </p:sp>
      <p:sp>
        <p:nvSpPr>
          <p:cNvPr id="8" name="Text Box 5">
            <a:extLst>
              <a:ext uri="{FF2B5EF4-FFF2-40B4-BE49-F238E27FC236}">
                <a16:creationId xmlns:a16="http://schemas.microsoft.com/office/drawing/2014/main" id="{671C2EDF-8A4B-418C-A45D-06BE53063C81}"/>
              </a:ext>
            </a:extLst>
          </p:cNvPr>
          <p:cNvSpPr txBox="1">
            <a:spLocks noChangeArrowheads="1"/>
          </p:cNvSpPr>
          <p:nvPr/>
        </p:nvSpPr>
        <p:spPr bwMode="auto">
          <a:xfrm>
            <a:off x="1600200" y="1799110"/>
            <a:ext cx="10210800" cy="41549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a:spcBef>
                <a:spcPct val="50000"/>
              </a:spcBef>
              <a:buClrTx/>
              <a:buSzTx/>
              <a:buFontTx/>
              <a:buNone/>
            </a:pPr>
            <a:r>
              <a:rPr lang="en-US" altLang="en-US" b="1" dirty="0">
                <a:latin typeface="Times New Roman" panose="02020603050405020304" pitchFamily="18" charset="0"/>
              </a:rPr>
              <a:t> 2.   Requirement Analysis for data warehouse is “somewhat different”</a:t>
            </a:r>
            <a:endParaRPr lang="en-US" altLang="en-US" dirty="0">
              <a:latin typeface="Times New Roman" panose="02020603050405020304" pitchFamily="18" charset="0"/>
            </a:endParaRPr>
          </a:p>
          <a:p>
            <a:pPr lvl="1">
              <a:spcBef>
                <a:spcPct val="50000"/>
              </a:spcBef>
              <a:buClrTx/>
              <a:buSzTx/>
              <a:buFontTx/>
              <a:buChar char="•"/>
            </a:pPr>
            <a:r>
              <a:rPr lang="en-US" altLang="en-US" sz="2400" dirty="0">
                <a:latin typeface="Times New Roman" panose="02020603050405020304" pitchFamily="18" charset="0"/>
              </a:rPr>
              <a:t>  In OLTP (say for order processing) world, users can describe what kinds of jobs they do and what kinds of reports are needed in these jobs</a:t>
            </a:r>
          </a:p>
          <a:p>
            <a:pPr lvl="1">
              <a:spcBef>
                <a:spcPct val="50000"/>
              </a:spcBef>
              <a:buClrTx/>
              <a:buSzTx/>
              <a:buFontTx/>
              <a:buChar char="•"/>
            </a:pPr>
            <a:r>
              <a:rPr lang="en-US" altLang="en-US" sz="2400" dirty="0">
                <a:latin typeface="Times New Roman" panose="02020603050405020304" pitchFamily="18" charset="0"/>
              </a:rPr>
              <a:t> In Data Warehouse world, users cannot define precisely what they want from the data warehouse.  </a:t>
            </a:r>
          </a:p>
          <a:p>
            <a:pPr lvl="2">
              <a:spcBef>
                <a:spcPct val="50000"/>
              </a:spcBef>
              <a:buClrTx/>
              <a:buSzTx/>
              <a:buFontTx/>
              <a:buChar char="•"/>
            </a:pPr>
            <a:r>
              <a:rPr lang="en-US" altLang="en-US" sz="2100" dirty="0">
                <a:latin typeface="Times New Roman" panose="02020603050405020304" pitchFamily="18" charset="0"/>
              </a:rPr>
              <a:t>Do you want to find out what marketing managers do?</a:t>
            </a:r>
          </a:p>
          <a:p>
            <a:pPr lvl="2">
              <a:spcBef>
                <a:spcPct val="50000"/>
              </a:spcBef>
              <a:buClrTx/>
              <a:buSzTx/>
              <a:buFontTx/>
              <a:buChar char="•"/>
            </a:pPr>
            <a:r>
              <a:rPr lang="en-US" altLang="en-US" sz="2100" dirty="0">
                <a:latin typeface="Times New Roman" panose="02020603050405020304" pitchFamily="18" charset="0"/>
              </a:rPr>
              <a:t>Do you want to support the problems they are facing such as “why the targeted customers stopped buying our brand?”</a:t>
            </a:r>
          </a:p>
          <a:p>
            <a:pPr lvl="1">
              <a:spcBef>
                <a:spcPct val="50000"/>
              </a:spcBef>
              <a:buClrTx/>
              <a:buSzTx/>
              <a:buFontTx/>
              <a:buChar char="•"/>
            </a:pPr>
            <a:r>
              <a:rPr lang="en-US" altLang="en-US" sz="2400" dirty="0">
                <a:latin typeface="Times New Roman" panose="02020603050405020304" pitchFamily="18" charset="0"/>
              </a:rPr>
              <a:t>  So, what to do????</a:t>
            </a:r>
          </a:p>
        </p:txBody>
      </p:sp>
      <p:sp>
        <p:nvSpPr>
          <p:cNvPr id="2" name="Date Placeholder 1">
            <a:extLst>
              <a:ext uri="{FF2B5EF4-FFF2-40B4-BE49-F238E27FC236}">
                <a16:creationId xmlns:a16="http://schemas.microsoft.com/office/drawing/2014/main" id="{366A1B53-C8F6-4616-9651-065B127E406F}"/>
              </a:ext>
            </a:extLst>
          </p:cNvPr>
          <p:cNvSpPr>
            <a:spLocks noGrp="1"/>
          </p:cNvSpPr>
          <p:nvPr>
            <p:ph type="dt" sz="half" idx="10"/>
          </p:nvPr>
        </p:nvSpPr>
        <p:spPr/>
        <p:txBody>
          <a:bodyPr/>
          <a:lstStyle/>
          <a:p>
            <a:fld id="{3F6841B1-437C-4BA7-8C68-46BC484B8D30}" type="datetime1">
              <a:rPr lang="en-US" smtClean="0"/>
              <a:t>2/1/2026</a:t>
            </a:fld>
            <a:endParaRPr lang="en-US" dirty="0"/>
          </a:p>
        </p:txBody>
      </p:sp>
      <p:sp>
        <p:nvSpPr>
          <p:cNvPr id="5" name="Footer Placeholder 4">
            <a:extLst>
              <a:ext uri="{FF2B5EF4-FFF2-40B4-BE49-F238E27FC236}">
                <a16:creationId xmlns:a16="http://schemas.microsoft.com/office/drawing/2014/main" id="{2A81F462-E468-4277-9BF6-0AF62AB9A971}"/>
              </a:ext>
            </a:extLst>
          </p:cNvPr>
          <p:cNvSpPr>
            <a:spLocks noGrp="1"/>
          </p:cNvSpPr>
          <p:nvPr>
            <p:ph type="ftr" sz="quarter" idx="11"/>
          </p:nvPr>
        </p:nvSpPr>
        <p:spPr/>
        <p:txBody>
          <a:bodyPr/>
          <a:lstStyle/>
          <a:p>
            <a:r>
              <a:rPr lang="en-US"/>
              <a:t>Copyright (c) Arun Sen Texas A&amp;M University</a:t>
            </a:r>
            <a:endParaRPr lang="en-US" dirty="0"/>
          </a:p>
        </p:txBody>
      </p:sp>
      <p:sp>
        <p:nvSpPr>
          <p:cNvPr id="6" name="Slide Number Placeholder 5">
            <a:extLst>
              <a:ext uri="{FF2B5EF4-FFF2-40B4-BE49-F238E27FC236}">
                <a16:creationId xmlns:a16="http://schemas.microsoft.com/office/drawing/2014/main" id="{46E5E92B-BF0C-4EB5-8F7F-64F6CD0C9765}"/>
              </a:ext>
            </a:extLst>
          </p:cNvPr>
          <p:cNvSpPr>
            <a:spLocks noGrp="1"/>
          </p:cNvSpPr>
          <p:nvPr>
            <p:ph type="sldNum" sz="quarter" idx="12"/>
          </p:nvPr>
        </p:nvSpPr>
        <p:spPr/>
        <p:txBody>
          <a:bodyPr/>
          <a:lstStyle/>
          <a:p>
            <a:fld id="{69E57DC2-970A-4B3E-BB1C-7A09969E49DF}" type="slidenum">
              <a:rPr lang="en-US" smtClean="0"/>
              <a:t>4</a:t>
            </a:fld>
            <a:endParaRPr lang="en-US" dirty="0"/>
          </a:p>
        </p:txBody>
      </p:sp>
    </p:spTree>
    <p:extLst>
      <p:ext uri="{BB962C8B-B14F-4D97-AF65-F5344CB8AC3E}">
        <p14:creationId xmlns:p14="http://schemas.microsoft.com/office/powerpoint/2010/main" val="35575018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0" name="Rectangle 2">
            <a:extLst>
              <a:ext uri="{FF2B5EF4-FFF2-40B4-BE49-F238E27FC236}">
                <a16:creationId xmlns:a16="http://schemas.microsoft.com/office/drawing/2014/main" id="{01B1BB62-5A79-4E18-832F-4227C1CA0B28}"/>
              </a:ext>
            </a:extLst>
          </p:cNvPr>
          <p:cNvSpPr>
            <a:spLocks noChangeArrowheads="1"/>
          </p:cNvSpPr>
          <p:nvPr/>
        </p:nvSpPr>
        <p:spPr bwMode="auto">
          <a:xfrm>
            <a:off x="2438399" y="304800"/>
            <a:ext cx="891678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algn="ctr" eaLnBrk="1" hangingPunct="1">
              <a:spcBef>
                <a:spcPct val="0"/>
              </a:spcBef>
              <a:buClrTx/>
              <a:buSzTx/>
              <a:buFontTx/>
              <a:buNone/>
            </a:pPr>
            <a:r>
              <a:rPr lang="en-US" altLang="en-US" sz="2900" b="1" dirty="0">
                <a:solidFill>
                  <a:srgbClr val="C00000"/>
                </a:solidFill>
                <a:latin typeface="Tahoma" panose="020B0604030504040204" pitchFamily="34" charset="0"/>
              </a:rPr>
              <a:t>Task 1.  Business Requirements Analysis</a:t>
            </a:r>
            <a:endParaRPr lang="en-US" altLang="en-US" sz="2500" b="1" dirty="0">
              <a:solidFill>
                <a:srgbClr val="C00000"/>
              </a:solidFill>
              <a:latin typeface="Tahoma" panose="020B0604030504040204" pitchFamily="34" charset="0"/>
            </a:endParaRPr>
          </a:p>
        </p:txBody>
      </p:sp>
      <p:sp>
        <p:nvSpPr>
          <p:cNvPr id="39941" name="Text Box 3">
            <a:extLst>
              <a:ext uri="{FF2B5EF4-FFF2-40B4-BE49-F238E27FC236}">
                <a16:creationId xmlns:a16="http://schemas.microsoft.com/office/drawing/2014/main" id="{04BF346E-BCF3-4EEE-9CC7-8D4C71196244}"/>
              </a:ext>
            </a:extLst>
          </p:cNvPr>
          <p:cNvSpPr txBox="1">
            <a:spLocks noChangeArrowheads="1"/>
          </p:cNvSpPr>
          <p:nvPr/>
        </p:nvSpPr>
        <p:spPr bwMode="auto">
          <a:xfrm>
            <a:off x="2895600" y="2667001"/>
            <a:ext cx="6934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a:spcBef>
                <a:spcPct val="50000"/>
              </a:spcBef>
              <a:buClrTx/>
              <a:buSzTx/>
              <a:buFontTx/>
              <a:buNone/>
            </a:pPr>
            <a:endParaRPr lang="en-US" altLang="en-US" sz="2000">
              <a:latin typeface="Tahoma" panose="020B0604030504040204" pitchFamily="34" charset="0"/>
            </a:endParaRPr>
          </a:p>
        </p:txBody>
      </p:sp>
      <p:sp>
        <p:nvSpPr>
          <p:cNvPr id="39942" name="Text Box 4">
            <a:extLst>
              <a:ext uri="{FF2B5EF4-FFF2-40B4-BE49-F238E27FC236}">
                <a16:creationId xmlns:a16="http://schemas.microsoft.com/office/drawing/2014/main" id="{1DF1EF50-FA71-42D7-AE0F-44CF3384BAAA}"/>
              </a:ext>
            </a:extLst>
          </p:cNvPr>
          <p:cNvSpPr txBox="1">
            <a:spLocks noChangeArrowheads="1"/>
          </p:cNvSpPr>
          <p:nvPr/>
        </p:nvSpPr>
        <p:spPr bwMode="auto">
          <a:xfrm>
            <a:off x="1325187" y="2060068"/>
            <a:ext cx="9541625" cy="36009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a:spcBef>
                <a:spcPct val="50000"/>
              </a:spcBef>
              <a:buClrTx/>
              <a:buSzTx/>
              <a:buFontTx/>
              <a:buNone/>
            </a:pPr>
            <a:r>
              <a:rPr lang="en-US" altLang="en-US" b="1" dirty="0">
                <a:latin typeface="Times New Roman" panose="02020603050405020304" pitchFamily="18" charset="0"/>
              </a:rPr>
              <a:t>3. Objectives of the Requirements Analysis in a DW project</a:t>
            </a:r>
            <a:endParaRPr lang="en-US" altLang="en-US" dirty="0">
              <a:latin typeface="Times New Roman" panose="02020603050405020304" pitchFamily="18" charset="0"/>
            </a:endParaRPr>
          </a:p>
          <a:p>
            <a:pPr lvl="1">
              <a:spcBef>
                <a:spcPct val="50000"/>
              </a:spcBef>
              <a:buClrTx/>
              <a:buSzTx/>
              <a:buFontTx/>
              <a:buChar char="•"/>
            </a:pPr>
            <a:r>
              <a:rPr lang="en-US" altLang="en-US" sz="2400" dirty="0">
                <a:latin typeface="Times New Roman" panose="02020603050405020304" pitchFamily="18" charset="0"/>
              </a:rPr>
              <a:t> Elicit Subject Area</a:t>
            </a:r>
          </a:p>
          <a:p>
            <a:pPr lvl="1">
              <a:spcBef>
                <a:spcPct val="50000"/>
              </a:spcBef>
              <a:buClrTx/>
              <a:buSzTx/>
              <a:buFontTx/>
              <a:buChar char="•"/>
            </a:pPr>
            <a:r>
              <a:rPr lang="en-US" altLang="en-US" sz="2400" dirty="0">
                <a:latin typeface="Times New Roman" panose="02020603050405020304" pitchFamily="18" charset="0"/>
              </a:rPr>
              <a:t>  Elicit Business Goals in the subject area</a:t>
            </a:r>
          </a:p>
          <a:p>
            <a:pPr lvl="1">
              <a:spcBef>
                <a:spcPct val="50000"/>
              </a:spcBef>
              <a:buClrTx/>
              <a:buSzTx/>
              <a:buFontTx/>
              <a:buChar char="•"/>
            </a:pPr>
            <a:r>
              <a:rPr lang="en-US" altLang="en-US" sz="2400" dirty="0">
                <a:latin typeface="Times New Roman" panose="02020603050405020304" pitchFamily="18" charset="0"/>
              </a:rPr>
              <a:t>  For each business goal, elicit Business Questions</a:t>
            </a:r>
          </a:p>
          <a:p>
            <a:pPr lvl="1">
              <a:spcBef>
                <a:spcPct val="50000"/>
              </a:spcBef>
              <a:buClrTx/>
              <a:buSzTx/>
              <a:buFontTx/>
              <a:buChar char="•"/>
            </a:pPr>
            <a:r>
              <a:rPr lang="en-US" altLang="en-US" sz="2400" dirty="0">
                <a:latin typeface="Times New Roman" panose="02020603050405020304" pitchFamily="18" charset="0"/>
              </a:rPr>
              <a:t>  Assessment of Business Questions using Data by Excel, Charts and Pivot Tables</a:t>
            </a:r>
          </a:p>
          <a:p>
            <a:pPr lvl="1">
              <a:spcBef>
                <a:spcPct val="50000"/>
              </a:spcBef>
              <a:buClrTx/>
              <a:buSzTx/>
              <a:buFontTx/>
              <a:buChar char="•"/>
            </a:pPr>
            <a:r>
              <a:rPr lang="en-US" altLang="en-US" sz="2400" dirty="0">
                <a:latin typeface="Times New Roman" panose="02020603050405020304" pitchFamily="18" charset="0"/>
              </a:rPr>
              <a:t>  Justify all Business Questions (BQs)</a:t>
            </a:r>
          </a:p>
        </p:txBody>
      </p:sp>
      <p:sp>
        <p:nvSpPr>
          <p:cNvPr id="2" name="Date Placeholder 1">
            <a:extLst>
              <a:ext uri="{FF2B5EF4-FFF2-40B4-BE49-F238E27FC236}">
                <a16:creationId xmlns:a16="http://schemas.microsoft.com/office/drawing/2014/main" id="{3A3FD90B-0693-4DE0-B659-F3216AB542B3}"/>
              </a:ext>
            </a:extLst>
          </p:cNvPr>
          <p:cNvSpPr>
            <a:spLocks noGrp="1"/>
          </p:cNvSpPr>
          <p:nvPr>
            <p:ph type="dt" sz="half" idx="10"/>
          </p:nvPr>
        </p:nvSpPr>
        <p:spPr/>
        <p:txBody>
          <a:bodyPr/>
          <a:lstStyle/>
          <a:p>
            <a:fld id="{A6DAF6DB-DE3E-41F5-A26D-42F4A358A8FB}" type="datetime1">
              <a:rPr lang="en-US" smtClean="0"/>
              <a:t>2/1/2026</a:t>
            </a:fld>
            <a:endParaRPr lang="en-US" dirty="0"/>
          </a:p>
        </p:txBody>
      </p:sp>
      <p:sp>
        <p:nvSpPr>
          <p:cNvPr id="5" name="Footer Placeholder 4">
            <a:extLst>
              <a:ext uri="{FF2B5EF4-FFF2-40B4-BE49-F238E27FC236}">
                <a16:creationId xmlns:a16="http://schemas.microsoft.com/office/drawing/2014/main" id="{7BD7D16C-7B93-4F02-AA3C-5843D280ABD4}"/>
              </a:ext>
            </a:extLst>
          </p:cNvPr>
          <p:cNvSpPr>
            <a:spLocks noGrp="1"/>
          </p:cNvSpPr>
          <p:nvPr>
            <p:ph type="ftr" sz="quarter" idx="11"/>
          </p:nvPr>
        </p:nvSpPr>
        <p:spPr/>
        <p:txBody>
          <a:bodyPr/>
          <a:lstStyle/>
          <a:p>
            <a:r>
              <a:rPr lang="en-US"/>
              <a:t>Copyright (c) Arun Sen Texas A&amp;M University</a:t>
            </a:r>
            <a:endParaRPr lang="en-US" dirty="0"/>
          </a:p>
        </p:txBody>
      </p:sp>
      <p:sp>
        <p:nvSpPr>
          <p:cNvPr id="6" name="Slide Number Placeholder 5">
            <a:extLst>
              <a:ext uri="{FF2B5EF4-FFF2-40B4-BE49-F238E27FC236}">
                <a16:creationId xmlns:a16="http://schemas.microsoft.com/office/drawing/2014/main" id="{0352B0EC-F51E-4348-9EEB-7FF8E2DDD2C1}"/>
              </a:ext>
            </a:extLst>
          </p:cNvPr>
          <p:cNvSpPr>
            <a:spLocks noGrp="1"/>
          </p:cNvSpPr>
          <p:nvPr>
            <p:ph type="sldNum" sz="quarter" idx="12"/>
          </p:nvPr>
        </p:nvSpPr>
        <p:spPr/>
        <p:txBody>
          <a:bodyPr/>
          <a:lstStyle/>
          <a:p>
            <a:fld id="{69E57DC2-970A-4B3E-BB1C-7A09969E49DF}" type="slidenum">
              <a:rPr lang="en-US" smtClean="0"/>
              <a:t>5</a:t>
            </a:fld>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0" name="Rectangle 4">
            <a:extLst>
              <a:ext uri="{FF2B5EF4-FFF2-40B4-BE49-F238E27FC236}">
                <a16:creationId xmlns:a16="http://schemas.microsoft.com/office/drawing/2014/main" id="{BC8CDA5A-AAB1-477B-A132-4B79AB754912}"/>
              </a:ext>
            </a:extLst>
          </p:cNvPr>
          <p:cNvSpPr>
            <a:spLocks noChangeArrowheads="1"/>
          </p:cNvSpPr>
          <p:nvPr/>
        </p:nvSpPr>
        <p:spPr bwMode="auto">
          <a:xfrm>
            <a:off x="2438400" y="304800"/>
            <a:ext cx="8850284"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algn="ctr" eaLnBrk="1" hangingPunct="1">
              <a:spcBef>
                <a:spcPct val="0"/>
              </a:spcBef>
              <a:buClrTx/>
              <a:buSzTx/>
              <a:buFontTx/>
              <a:buNone/>
            </a:pPr>
            <a:r>
              <a:rPr lang="en-US" altLang="en-US" sz="2900" b="1" dirty="0">
                <a:solidFill>
                  <a:srgbClr val="C00000"/>
                </a:solidFill>
                <a:latin typeface="Tahoma" panose="020B0604030504040204" pitchFamily="34" charset="0"/>
              </a:rPr>
              <a:t>Task 1.  Business Requirements Analysis</a:t>
            </a:r>
            <a:endParaRPr lang="en-US" altLang="en-US" sz="2500" b="1" dirty="0">
              <a:solidFill>
                <a:srgbClr val="C00000"/>
              </a:solidFill>
              <a:latin typeface="Tahoma" panose="020B0604030504040204" pitchFamily="34" charset="0"/>
            </a:endParaRPr>
          </a:p>
        </p:txBody>
      </p:sp>
      <p:sp>
        <p:nvSpPr>
          <p:cNvPr id="19461" name="Text Box 5">
            <a:extLst>
              <a:ext uri="{FF2B5EF4-FFF2-40B4-BE49-F238E27FC236}">
                <a16:creationId xmlns:a16="http://schemas.microsoft.com/office/drawing/2014/main" id="{0A2FB09C-7708-4946-88A8-06CD4FD2C7EE}"/>
              </a:ext>
            </a:extLst>
          </p:cNvPr>
          <p:cNvSpPr txBox="1">
            <a:spLocks noChangeArrowheads="1"/>
          </p:cNvSpPr>
          <p:nvPr/>
        </p:nvSpPr>
        <p:spPr bwMode="auto">
          <a:xfrm>
            <a:off x="2895600" y="2667001"/>
            <a:ext cx="6934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a:spcBef>
                <a:spcPct val="50000"/>
              </a:spcBef>
              <a:buClrTx/>
              <a:buSzTx/>
              <a:buFontTx/>
              <a:buNone/>
            </a:pPr>
            <a:endParaRPr lang="en-US" altLang="en-US" sz="2000">
              <a:latin typeface="Tahoma" panose="020B0604030504040204" pitchFamily="34" charset="0"/>
            </a:endParaRPr>
          </a:p>
        </p:txBody>
      </p:sp>
      <p:sp>
        <p:nvSpPr>
          <p:cNvPr id="19462" name="Text Box 6">
            <a:extLst>
              <a:ext uri="{FF2B5EF4-FFF2-40B4-BE49-F238E27FC236}">
                <a16:creationId xmlns:a16="http://schemas.microsoft.com/office/drawing/2014/main" id="{7A6A18E0-1ABB-477D-8DBD-90BF4F1D31AF}"/>
              </a:ext>
            </a:extLst>
          </p:cNvPr>
          <p:cNvSpPr txBox="1">
            <a:spLocks noChangeArrowheads="1"/>
          </p:cNvSpPr>
          <p:nvPr/>
        </p:nvSpPr>
        <p:spPr bwMode="auto">
          <a:xfrm>
            <a:off x="2971800" y="2667001"/>
            <a:ext cx="6934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algn="ctr">
              <a:spcBef>
                <a:spcPct val="50000"/>
              </a:spcBef>
              <a:buClrTx/>
              <a:buSzTx/>
              <a:buFontTx/>
              <a:buNone/>
            </a:pPr>
            <a:endParaRPr lang="en-US" altLang="en-US" sz="2000">
              <a:latin typeface="Tahoma" panose="020B0604030504040204" pitchFamily="34" charset="0"/>
            </a:endParaRPr>
          </a:p>
        </p:txBody>
      </p:sp>
      <p:sp>
        <p:nvSpPr>
          <p:cNvPr id="19463" name="Text Box 8">
            <a:extLst>
              <a:ext uri="{FF2B5EF4-FFF2-40B4-BE49-F238E27FC236}">
                <a16:creationId xmlns:a16="http://schemas.microsoft.com/office/drawing/2014/main" id="{EC6EC5D7-E3D4-447A-94A9-3C94FD6F086E}"/>
              </a:ext>
            </a:extLst>
          </p:cNvPr>
          <p:cNvSpPr txBox="1">
            <a:spLocks noChangeArrowheads="1"/>
          </p:cNvSpPr>
          <p:nvPr/>
        </p:nvSpPr>
        <p:spPr bwMode="auto">
          <a:xfrm>
            <a:off x="2209800" y="1676400"/>
            <a:ext cx="8382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a:spcBef>
                <a:spcPct val="50000"/>
              </a:spcBef>
              <a:buClrTx/>
              <a:buSzTx/>
              <a:buFontTx/>
              <a:buNone/>
            </a:pPr>
            <a:r>
              <a:rPr lang="en-US" altLang="en-US" b="1" dirty="0">
                <a:latin typeface="Times New Roman" panose="02020603050405020304" pitchFamily="18" charset="0"/>
              </a:rPr>
              <a:t> </a:t>
            </a:r>
            <a:endParaRPr lang="en-US" altLang="en-US" sz="2400" dirty="0">
              <a:latin typeface="Times New Roman" panose="02020603050405020304" pitchFamily="18" charset="0"/>
            </a:endParaRPr>
          </a:p>
        </p:txBody>
      </p:sp>
      <p:sp>
        <p:nvSpPr>
          <p:cNvPr id="9" name="Text Box 5">
            <a:extLst>
              <a:ext uri="{FF2B5EF4-FFF2-40B4-BE49-F238E27FC236}">
                <a16:creationId xmlns:a16="http://schemas.microsoft.com/office/drawing/2014/main" id="{BEB38F0A-2ED1-4DA6-B65C-777EB3B692E0}"/>
              </a:ext>
            </a:extLst>
          </p:cNvPr>
          <p:cNvSpPr txBox="1">
            <a:spLocks noChangeArrowheads="1"/>
          </p:cNvSpPr>
          <p:nvPr/>
        </p:nvSpPr>
        <p:spPr bwMode="auto">
          <a:xfrm>
            <a:off x="1445401" y="1747636"/>
            <a:ext cx="9541625" cy="45858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a:spcBef>
                <a:spcPct val="50000"/>
              </a:spcBef>
              <a:buClrTx/>
              <a:buSzTx/>
              <a:buFontTx/>
              <a:buNone/>
            </a:pPr>
            <a:r>
              <a:rPr lang="en-US" altLang="en-US" b="1" dirty="0">
                <a:latin typeface="Times New Roman" panose="02020603050405020304" pitchFamily="18" charset="0"/>
              </a:rPr>
              <a:t>4.  Questions to ponder in this step:</a:t>
            </a:r>
            <a:endParaRPr lang="en-US" altLang="en-US" dirty="0">
              <a:latin typeface="Times New Roman" panose="02020603050405020304" pitchFamily="18" charset="0"/>
            </a:endParaRPr>
          </a:p>
          <a:p>
            <a:pPr marL="914400" lvl="1" indent="-457200">
              <a:spcBef>
                <a:spcPct val="50000"/>
              </a:spcBef>
              <a:buClrTx/>
              <a:buSzTx/>
              <a:buFont typeface="+mj-lt"/>
              <a:buAutoNum type="alphaUcPeriod"/>
            </a:pPr>
            <a:r>
              <a:rPr lang="en-US" altLang="en-US" sz="1700" dirty="0">
                <a:latin typeface="Times New Roman" panose="02020603050405020304" pitchFamily="18" charset="0"/>
              </a:rPr>
              <a:t>How to define a common subject area?</a:t>
            </a:r>
          </a:p>
          <a:p>
            <a:pPr marL="914400" lvl="1" indent="-457200">
              <a:spcBef>
                <a:spcPct val="50000"/>
              </a:spcBef>
              <a:buClrTx/>
              <a:buSzTx/>
              <a:buFont typeface="+mj-lt"/>
              <a:buAutoNum type="alphaUcPeriod"/>
            </a:pPr>
            <a:r>
              <a:rPr lang="en-US" altLang="en-US" sz="1700" dirty="0">
                <a:latin typeface="Times New Roman" panose="02020603050405020304" pitchFamily="18" charset="0"/>
              </a:rPr>
              <a:t>What are the key business metrics  {e.g., sales price, dealer  invoice, full 	price. etc. in auto industry)?</a:t>
            </a:r>
          </a:p>
          <a:p>
            <a:pPr marL="914400" lvl="1" indent="-457200">
              <a:spcBef>
                <a:spcPct val="50000"/>
              </a:spcBef>
              <a:buClrTx/>
              <a:buSzTx/>
              <a:buFont typeface="+mj-lt"/>
              <a:buAutoNum type="alphaUcPeriod"/>
            </a:pPr>
            <a:r>
              <a:rPr lang="en-US" altLang="en-US" sz="1700" dirty="0">
                <a:latin typeface="Times New Roman" panose="02020603050405020304" pitchFamily="18" charset="0"/>
              </a:rPr>
              <a:t>How to find the Business Goals?  </a:t>
            </a:r>
          </a:p>
          <a:p>
            <a:pPr marL="800100" lvl="1" indent="-342900">
              <a:spcBef>
                <a:spcPct val="50000"/>
              </a:spcBef>
              <a:buClrTx/>
              <a:buSzTx/>
              <a:buFont typeface="+mj-lt"/>
              <a:buAutoNum type="alphaUcPeriod"/>
            </a:pPr>
            <a:r>
              <a:rPr lang="en-US" altLang="en-US" sz="1700" dirty="0">
                <a:latin typeface="Times New Roman" panose="02020603050405020304" pitchFamily="18" charset="0"/>
              </a:rPr>
              <a:t>  </a:t>
            </a:r>
            <a:r>
              <a:rPr lang="en-US" altLang="en-US" sz="1700" b="1" dirty="0">
                <a:solidFill>
                  <a:srgbClr val="C00000"/>
                </a:solidFill>
                <a:latin typeface="Times New Roman" panose="02020603050405020304" pitchFamily="18" charset="0"/>
              </a:rPr>
              <a:t>For each goal, how to find Business Questions?</a:t>
            </a:r>
          </a:p>
          <a:p>
            <a:pPr marL="800100" lvl="1" indent="-342900">
              <a:spcBef>
                <a:spcPct val="50000"/>
              </a:spcBef>
              <a:buClrTx/>
              <a:buSzTx/>
              <a:buFont typeface="+mj-lt"/>
              <a:buAutoNum type="alphaUcPeriod"/>
            </a:pPr>
            <a:r>
              <a:rPr lang="en-US" altLang="en-US" sz="1700" dirty="0">
                <a:latin typeface="Times New Roman" panose="02020603050405020304" pitchFamily="18" charset="0"/>
              </a:rPr>
              <a:t> People in the business think in terms of “dimension”</a:t>
            </a:r>
          </a:p>
          <a:p>
            <a:pPr lvl="2">
              <a:spcBef>
                <a:spcPct val="50000"/>
              </a:spcBef>
              <a:buClrTx/>
              <a:buSzTx/>
            </a:pPr>
            <a:r>
              <a:rPr lang="en-US" altLang="en-US" sz="1700" dirty="0">
                <a:latin typeface="Times New Roman" panose="02020603050405020304" pitchFamily="18" charset="0"/>
              </a:rPr>
              <a:t>Mktg VP --  </a:t>
            </a:r>
            <a:r>
              <a:rPr lang="en-US" altLang="en-US" sz="1700" i="1" dirty="0">
                <a:latin typeface="Times New Roman" panose="02020603050405020304" pitchFamily="18" charset="0"/>
              </a:rPr>
              <a:t>how much sales did my new product generate by month, in the southern division, …Why some of them are low while others are different?</a:t>
            </a:r>
          </a:p>
          <a:p>
            <a:pPr lvl="2">
              <a:spcBef>
                <a:spcPct val="50000"/>
              </a:spcBef>
              <a:buClrTx/>
              <a:buSzTx/>
            </a:pPr>
            <a:r>
              <a:rPr lang="en-US" altLang="en-US" sz="1700" dirty="0">
                <a:latin typeface="Times New Roman" panose="02020603050405020304" pitchFamily="18" charset="0"/>
              </a:rPr>
              <a:t>  Mktg Manager -- </a:t>
            </a:r>
            <a:r>
              <a:rPr lang="en-US" altLang="en-US" sz="1700" i="1" dirty="0">
                <a:latin typeface="Times New Roman" panose="02020603050405020304" pitchFamily="18" charset="0"/>
              </a:rPr>
              <a:t>give me sales figures by 	products - summarized by product categories, etc.</a:t>
            </a:r>
          </a:p>
          <a:p>
            <a:pPr lvl="2">
              <a:spcBef>
                <a:spcPct val="50000"/>
              </a:spcBef>
              <a:buClrTx/>
              <a:buSzTx/>
            </a:pPr>
            <a:r>
              <a:rPr lang="en-US" altLang="en-US" sz="1700" i="1" dirty="0">
                <a:latin typeface="Times New Roman" panose="02020603050405020304" pitchFamily="18" charset="0"/>
              </a:rPr>
              <a:t>  </a:t>
            </a:r>
            <a:r>
              <a:rPr lang="en-US" altLang="en-US" sz="1700" dirty="0">
                <a:latin typeface="Times New Roman" panose="02020603050405020304" pitchFamily="18" charset="0"/>
              </a:rPr>
              <a:t>Financial Controller -- </a:t>
            </a:r>
            <a:r>
              <a:rPr lang="en-US" altLang="en-US" sz="1700" i="1" dirty="0">
                <a:latin typeface="Times New Roman" panose="02020603050405020304" pitchFamily="18" charset="0"/>
              </a:rPr>
              <a:t>list actual vs. budget - month 	by month, ... Why there is a difference?</a:t>
            </a:r>
          </a:p>
          <a:p>
            <a:pPr marL="914400" lvl="1" indent="-457200">
              <a:spcBef>
                <a:spcPct val="50000"/>
              </a:spcBef>
              <a:buClrTx/>
              <a:buSzTx/>
              <a:buFont typeface="+mj-lt"/>
              <a:buAutoNum type="alphaUcPeriod"/>
            </a:pPr>
            <a:r>
              <a:rPr lang="en-US" altLang="en-US" sz="2000" dirty="0">
                <a:latin typeface="Times New Roman" panose="02020603050405020304" pitchFamily="18" charset="0"/>
              </a:rPr>
              <a:t>How to decide how much data must be used for each business questions?</a:t>
            </a:r>
          </a:p>
        </p:txBody>
      </p:sp>
      <p:sp>
        <p:nvSpPr>
          <p:cNvPr id="2" name="Date Placeholder 1">
            <a:extLst>
              <a:ext uri="{FF2B5EF4-FFF2-40B4-BE49-F238E27FC236}">
                <a16:creationId xmlns:a16="http://schemas.microsoft.com/office/drawing/2014/main" id="{3B9C4B3C-E8D1-4256-823E-EF5B313EBF58}"/>
              </a:ext>
            </a:extLst>
          </p:cNvPr>
          <p:cNvSpPr>
            <a:spLocks noGrp="1"/>
          </p:cNvSpPr>
          <p:nvPr>
            <p:ph type="dt" sz="half" idx="10"/>
          </p:nvPr>
        </p:nvSpPr>
        <p:spPr/>
        <p:txBody>
          <a:bodyPr/>
          <a:lstStyle/>
          <a:p>
            <a:fld id="{F46BEA1A-4411-4346-9193-8437C52F8A16}" type="datetime1">
              <a:rPr lang="en-US" smtClean="0"/>
              <a:t>2/1/2026</a:t>
            </a:fld>
            <a:endParaRPr lang="en-US" dirty="0"/>
          </a:p>
        </p:txBody>
      </p:sp>
      <p:sp>
        <p:nvSpPr>
          <p:cNvPr id="6" name="Footer Placeholder 5">
            <a:extLst>
              <a:ext uri="{FF2B5EF4-FFF2-40B4-BE49-F238E27FC236}">
                <a16:creationId xmlns:a16="http://schemas.microsoft.com/office/drawing/2014/main" id="{19B15635-B20D-457E-A061-771941DE3C47}"/>
              </a:ext>
            </a:extLst>
          </p:cNvPr>
          <p:cNvSpPr>
            <a:spLocks noGrp="1"/>
          </p:cNvSpPr>
          <p:nvPr>
            <p:ph type="ftr" sz="quarter" idx="11"/>
          </p:nvPr>
        </p:nvSpPr>
        <p:spPr/>
        <p:txBody>
          <a:bodyPr/>
          <a:lstStyle/>
          <a:p>
            <a:r>
              <a:rPr lang="en-US"/>
              <a:t>Copyright (c) Arun Sen Texas A&amp;M University</a:t>
            </a:r>
            <a:endParaRPr lang="en-US" dirty="0"/>
          </a:p>
        </p:txBody>
      </p:sp>
      <p:sp>
        <p:nvSpPr>
          <p:cNvPr id="7" name="Slide Number Placeholder 6">
            <a:extLst>
              <a:ext uri="{FF2B5EF4-FFF2-40B4-BE49-F238E27FC236}">
                <a16:creationId xmlns:a16="http://schemas.microsoft.com/office/drawing/2014/main" id="{2BD0B8DE-DDD4-4063-8AFA-291E13036935}"/>
              </a:ext>
            </a:extLst>
          </p:cNvPr>
          <p:cNvSpPr>
            <a:spLocks noGrp="1"/>
          </p:cNvSpPr>
          <p:nvPr>
            <p:ph type="sldNum" sz="quarter" idx="12"/>
          </p:nvPr>
        </p:nvSpPr>
        <p:spPr/>
        <p:txBody>
          <a:bodyPr/>
          <a:lstStyle/>
          <a:p>
            <a:fld id="{69E57DC2-970A-4B3E-BB1C-7A09969E49DF}" type="slidenum">
              <a:rPr lang="en-US" smtClean="0"/>
              <a:t>6</a:t>
            </a:fld>
            <a:endParaRPr lang="en-US" dirty="0"/>
          </a:p>
        </p:txBody>
      </p:sp>
    </p:spTree>
    <p:extLst>
      <p:ext uri="{BB962C8B-B14F-4D97-AF65-F5344CB8AC3E}">
        <p14:creationId xmlns:p14="http://schemas.microsoft.com/office/powerpoint/2010/main" val="33223220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0" name="Rectangle 4">
            <a:extLst>
              <a:ext uri="{FF2B5EF4-FFF2-40B4-BE49-F238E27FC236}">
                <a16:creationId xmlns:a16="http://schemas.microsoft.com/office/drawing/2014/main" id="{BC8CDA5A-AAB1-477B-A132-4B79AB754912}"/>
              </a:ext>
            </a:extLst>
          </p:cNvPr>
          <p:cNvSpPr>
            <a:spLocks noChangeArrowheads="1"/>
          </p:cNvSpPr>
          <p:nvPr/>
        </p:nvSpPr>
        <p:spPr bwMode="auto">
          <a:xfrm>
            <a:off x="2438400" y="304800"/>
            <a:ext cx="8850284"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algn="ctr" eaLnBrk="1" hangingPunct="1">
              <a:spcBef>
                <a:spcPct val="0"/>
              </a:spcBef>
              <a:buClrTx/>
              <a:buSzTx/>
              <a:buFontTx/>
              <a:buNone/>
            </a:pPr>
            <a:r>
              <a:rPr lang="en-US" altLang="en-US" sz="2900" b="1" dirty="0">
                <a:solidFill>
                  <a:srgbClr val="C00000"/>
                </a:solidFill>
                <a:latin typeface="Tahoma" panose="020B0604030504040204" pitchFamily="34" charset="0"/>
              </a:rPr>
              <a:t>Task 1.  Business Requirements Analysis</a:t>
            </a:r>
            <a:endParaRPr lang="en-US" altLang="en-US" sz="2500" b="1" dirty="0">
              <a:solidFill>
                <a:srgbClr val="C00000"/>
              </a:solidFill>
              <a:latin typeface="Tahoma" panose="020B0604030504040204" pitchFamily="34" charset="0"/>
            </a:endParaRPr>
          </a:p>
        </p:txBody>
      </p:sp>
      <p:sp>
        <p:nvSpPr>
          <p:cNvPr id="19461" name="Text Box 5">
            <a:extLst>
              <a:ext uri="{FF2B5EF4-FFF2-40B4-BE49-F238E27FC236}">
                <a16:creationId xmlns:a16="http://schemas.microsoft.com/office/drawing/2014/main" id="{0A2FB09C-7708-4946-88A8-06CD4FD2C7EE}"/>
              </a:ext>
            </a:extLst>
          </p:cNvPr>
          <p:cNvSpPr txBox="1">
            <a:spLocks noChangeArrowheads="1"/>
          </p:cNvSpPr>
          <p:nvPr/>
        </p:nvSpPr>
        <p:spPr bwMode="auto">
          <a:xfrm>
            <a:off x="2895600" y="2667001"/>
            <a:ext cx="6934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a:spcBef>
                <a:spcPct val="50000"/>
              </a:spcBef>
              <a:buClrTx/>
              <a:buSzTx/>
              <a:buFontTx/>
              <a:buNone/>
            </a:pPr>
            <a:endParaRPr lang="en-US" altLang="en-US" sz="2000">
              <a:latin typeface="Tahoma" panose="020B0604030504040204" pitchFamily="34" charset="0"/>
            </a:endParaRPr>
          </a:p>
        </p:txBody>
      </p:sp>
      <p:sp>
        <p:nvSpPr>
          <p:cNvPr id="19462" name="Text Box 6">
            <a:extLst>
              <a:ext uri="{FF2B5EF4-FFF2-40B4-BE49-F238E27FC236}">
                <a16:creationId xmlns:a16="http://schemas.microsoft.com/office/drawing/2014/main" id="{7A6A18E0-1ABB-477D-8DBD-90BF4F1D31AF}"/>
              </a:ext>
            </a:extLst>
          </p:cNvPr>
          <p:cNvSpPr txBox="1">
            <a:spLocks noChangeArrowheads="1"/>
          </p:cNvSpPr>
          <p:nvPr/>
        </p:nvSpPr>
        <p:spPr bwMode="auto">
          <a:xfrm>
            <a:off x="2971800" y="2667001"/>
            <a:ext cx="6934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algn="ctr">
              <a:spcBef>
                <a:spcPct val="50000"/>
              </a:spcBef>
              <a:buClrTx/>
              <a:buSzTx/>
              <a:buFontTx/>
              <a:buNone/>
            </a:pPr>
            <a:endParaRPr lang="en-US" altLang="en-US" sz="2000">
              <a:latin typeface="Tahoma" panose="020B0604030504040204" pitchFamily="34" charset="0"/>
            </a:endParaRPr>
          </a:p>
        </p:txBody>
      </p:sp>
      <p:sp>
        <p:nvSpPr>
          <p:cNvPr id="19463" name="Text Box 8">
            <a:extLst>
              <a:ext uri="{FF2B5EF4-FFF2-40B4-BE49-F238E27FC236}">
                <a16:creationId xmlns:a16="http://schemas.microsoft.com/office/drawing/2014/main" id="{EC6EC5D7-E3D4-447A-94A9-3C94FD6F086E}"/>
              </a:ext>
            </a:extLst>
          </p:cNvPr>
          <p:cNvSpPr txBox="1">
            <a:spLocks noChangeArrowheads="1"/>
          </p:cNvSpPr>
          <p:nvPr/>
        </p:nvSpPr>
        <p:spPr bwMode="auto">
          <a:xfrm>
            <a:off x="2209800" y="1676400"/>
            <a:ext cx="8382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a:spcBef>
                <a:spcPct val="50000"/>
              </a:spcBef>
              <a:buClrTx/>
              <a:buSzTx/>
              <a:buFontTx/>
              <a:buNone/>
            </a:pPr>
            <a:r>
              <a:rPr lang="en-US" altLang="en-US" b="1" dirty="0">
                <a:latin typeface="Times New Roman" panose="02020603050405020304" pitchFamily="18" charset="0"/>
              </a:rPr>
              <a:t> </a:t>
            </a:r>
            <a:endParaRPr lang="en-US" altLang="en-US" sz="2400" dirty="0">
              <a:latin typeface="Times New Roman" panose="02020603050405020304" pitchFamily="18" charset="0"/>
            </a:endParaRPr>
          </a:p>
        </p:txBody>
      </p:sp>
      <p:sp>
        <p:nvSpPr>
          <p:cNvPr id="9" name="Text Box 5">
            <a:extLst>
              <a:ext uri="{FF2B5EF4-FFF2-40B4-BE49-F238E27FC236}">
                <a16:creationId xmlns:a16="http://schemas.microsoft.com/office/drawing/2014/main" id="{BEB38F0A-2ED1-4DA6-B65C-777EB3B692E0}"/>
              </a:ext>
            </a:extLst>
          </p:cNvPr>
          <p:cNvSpPr txBox="1">
            <a:spLocks noChangeArrowheads="1"/>
          </p:cNvSpPr>
          <p:nvPr/>
        </p:nvSpPr>
        <p:spPr bwMode="auto">
          <a:xfrm>
            <a:off x="1422205" y="1762000"/>
            <a:ext cx="9541625" cy="3693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a:spcBef>
                <a:spcPct val="50000"/>
              </a:spcBef>
              <a:buClrTx/>
              <a:buSzTx/>
              <a:buFontTx/>
              <a:buNone/>
            </a:pPr>
            <a:r>
              <a:rPr lang="en-US" altLang="en-US" b="1" dirty="0">
                <a:latin typeface="Times New Roman" panose="02020603050405020304" pitchFamily="18" charset="0"/>
              </a:rPr>
              <a:t>4.  Questions to ponder in this step:</a:t>
            </a:r>
            <a:endParaRPr lang="en-US" altLang="en-US" dirty="0">
              <a:latin typeface="Times New Roman" panose="02020603050405020304" pitchFamily="18" charset="0"/>
            </a:endParaRPr>
          </a:p>
          <a:p>
            <a:pPr marL="914400" lvl="1" indent="-457200">
              <a:spcBef>
                <a:spcPct val="50000"/>
              </a:spcBef>
              <a:buClrTx/>
              <a:buSzTx/>
              <a:buFont typeface="+mj-lt"/>
              <a:buAutoNum type="alphaUcPeriod" startAt="7"/>
            </a:pPr>
            <a:r>
              <a:rPr lang="en-US" altLang="en-US" sz="2000" dirty="0">
                <a:latin typeface="Times New Roman" panose="02020603050405020304" pitchFamily="18" charset="0"/>
              </a:rPr>
              <a:t>How the users aggregate data?</a:t>
            </a:r>
          </a:p>
          <a:p>
            <a:pPr marL="914400" lvl="1" indent="-457200">
              <a:spcBef>
                <a:spcPct val="50000"/>
              </a:spcBef>
              <a:buClrTx/>
              <a:buSzTx/>
              <a:buFont typeface="+mj-lt"/>
              <a:buAutoNum type="alphaUcPeriod" startAt="7"/>
            </a:pPr>
            <a:r>
              <a:rPr lang="en-US" altLang="en-US" sz="2000" dirty="0">
                <a:latin typeface="Times New Roman" panose="02020603050405020304" pitchFamily="18" charset="0"/>
              </a:rPr>
              <a:t>How much data needed for user analysis?</a:t>
            </a:r>
          </a:p>
          <a:p>
            <a:pPr marL="914400" lvl="1" indent="-457200">
              <a:spcBef>
                <a:spcPct val="50000"/>
              </a:spcBef>
              <a:buClrTx/>
              <a:buSzTx/>
              <a:buFont typeface="+mj-lt"/>
              <a:buAutoNum type="alphaUcPeriod" startAt="7"/>
            </a:pPr>
            <a:r>
              <a:rPr lang="en-US" altLang="en-US" sz="2000" dirty="0">
                <a:latin typeface="Times New Roman" panose="02020603050405020304" pitchFamily="18" charset="0"/>
              </a:rPr>
              <a:t>How to find what data need to be accessed?</a:t>
            </a:r>
          </a:p>
          <a:p>
            <a:pPr marL="914400" lvl="1" indent="-457200">
              <a:spcBef>
                <a:spcPct val="50000"/>
              </a:spcBef>
              <a:buClrTx/>
              <a:buSzTx/>
              <a:buFont typeface="+mj-lt"/>
              <a:buAutoNum type="alphaUcPeriod" startAt="7"/>
            </a:pPr>
            <a:r>
              <a:rPr lang="en-US" altLang="en-US" sz="2000" dirty="0">
                <a:latin typeface="Times New Roman" panose="02020603050405020304" pitchFamily="18" charset="0"/>
              </a:rPr>
              <a:t>What is the data granularity?</a:t>
            </a:r>
          </a:p>
          <a:p>
            <a:pPr marL="914400" lvl="1" indent="-457200">
              <a:spcBef>
                <a:spcPct val="50000"/>
              </a:spcBef>
              <a:buClrTx/>
              <a:buSzTx/>
              <a:buFont typeface="+mj-lt"/>
              <a:buAutoNum type="alphaUcPeriod" startAt="7"/>
            </a:pPr>
            <a:r>
              <a:rPr lang="en-US" altLang="en-US" sz="2000" dirty="0">
                <a:latin typeface="Times New Roman" panose="02020603050405020304" pitchFamily="18" charset="0"/>
              </a:rPr>
              <a:t> How to estimate data warehouse size?</a:t>
            </a:r>
          </a:p>
          <a:p>
            <a:pPr marL="914400" lvl="1" indent="-457200">
              <a:spcBef>
                <a:spcPct val="50000"/>
              </a:spcBef>
              <a:buClrTx/>
              <a:buSzTx/>
              <a:buFont typeface="+mj-lt"/>
              <a:buAutoNum type="alphaUcPeriod" startAt="7"/>
            </a:pPr>
            <a:r>
              <a:rPr lang="en-US" altLang="en-US" sz="2000" dirty="0">
                <a:latin typeface="Times New Roman" panose="02020603050405020304" pitchFamily="18" charset="0"/>
              </a:rPr>
              <a:t>How to determine the refresh frequency?</a:t>
            </a:r>
          </a:p>
          <a:p>
            <a:pPr marL="914400" lvl="1" indent="-457200">
              <a:spcBef>
                <a:spcPct val="50000"/>
              </a:spcBef>
              <a:buClrTx/>
              <a:buSzTx/>
              <a:buFont typeface="+mj-lt"/>
              <a:buAutoNum type="alphaUcPeriod" startAt="7"/>
            </a:pPr>
            <a:endParaRPr lang="en-US" altLang="en-US" sz="2000" dirty="0">
              <a:latin typeface="Times New Roman" panose="02020603050405020304" pitchFamily="18" charset="0"/>
            </a:endParaRPr>
          </a:p>
        </p:txBody>
      </p:sp>
      <p:sp>
        <p:nvSpPr>
          <p:cNvPr id="2" name="Date Placeholder 1">
            <a:extLst>
              <a:ext uri="{FF2B5EF4-FFF2-40B4-BE49-F238E27FC236}">
                <a16:creationId xmlns:a16="http://schemas.microsoft.com/office/drawing/2014/main" id="{4C9DFB82-1F25-4EEC-9BCE-EF98C19C69F4}"/>
              </a:ext>
            </a:extLst>
          </p:cNvPr>
          <p:cNvSpPr>
            <a:spLocks noGrp="1"/>
          </p:cNvSpPr>
          <p:nvPr>
            <p:ph type="dt" sz="half" idx="10"/>
          </p:nvPr>
        </p:nvSpPr>
        <p:spPr/>
        <p:txBody>
          <a:bodyPr/>
          <a:lstStyle/>
          <a:p>
            <a:fld id="{058029A6-DDE5-499E-A149-0430971BE94D}" type="datetime1">
              <a:rPr lang="en-US" smtClean="0"/>
              <a:t>2/1/2026</a:t>
            </a:fld>
            <a:endParaRPr lang="en-US" dirty="0"/>
          </a:p>
        </p:txBody>
      </p:sp>
      <p:sp>
        <p:nvSpPr>
          <p:cNvPr id="5" name="Footer Placeholder 4">
            <a:extLst>
              <a:ext uri="{FF2B5EF4-FFF2-40B4-BE49-F238E27FC236}">
                <a16:creationId xmlns:a16="http://schemas.microsoft.com/office/drawing/2014/main" id="{8809CD4D-4864-4915-B071-1D5A3EC4292E}"/>
              </a:ext>
            </a:extLst>
          </p:cNvPr>
          <p:cNvSpPr>
            <a:spLocks noGrp="1"/>
          </p:cNvSpPr>
          <p:nvPr>
            <p:ph type="ftr" sz="quarter" idx="11"/>
          </p:nvPr>
        </p:nvSpPr>
        <p:spPr/>
        <p:txBody>
          <a:bodyPr/>
          <a:lstStyle/>
          <a:p>
            <a:r>
              <a:rPr lang="en-US"/>
              <a:t>Copyright (c) Arun Sen Texas A&amp;M University</a:t>
            </a:r>
            <a:endParaRPr lang="en-US" dirty="0"/>
          </a:p>
        </p:txBody>
      </p:sp>
      <p:sp>
        <p:nvSpPr>
          <p:cNvPr id="6" name="Slide Number Placeholder 5">
            <a:extLst>
              <a:ext uri="{FF2B5EF4-FFF2-40B4-BE49-F238E27FC236}">
                <a16:creationId xmlns:a16="http://schemas.microsoft.com/office/drawing/2014/main" id="{4F39E95D-E8B3-4098-8E71-90A0B6435AB1}"/>
              </a:ext>
            </a:extLst>
          </p:cNvPr>
          <p:cNvSpPr>
            <a:spLocks noGrp="1"/>
          </p:cNvSpPr>
          <p:nvPr>
            <p:ph type="sldNum" sz="quarter" idx="12"/>
          </p:nvPr>
        </p:nvSpPr>
        <p:spPr/>
        <p:txBody>
          <a:bodyPr/>
          <a:lstStyle/>
          <a:p>
            <a:fld id="{69E57DC2-970A-4B3E-BB1C-7A09969E49DF}" type="slidenum">
              <a:rPr lang="en-US" smtClean="0"/>
              <a:t>7</a:t>
            </a:fld>
            <a:endParaRPr lang="en-US" dirty="0"/>
          </a:p>
        </p:txBody>
      </p:sp>
    </p:spTree>
    <p:extLst>
      <p:ext uri="{BB962C8B-B14F-4D97-AF65-F5344CB8AC3E}">
        <p14:creationId xmlns:p14="http://schemas.microsoft.com/office/powerpoint/2010/main" val="40044152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0" name="Rectangle 4">
            <a:extLst>
              <a:ext uri="{FF2B5EF4-FFF2-40B4-BE49-F238E27FC236}">
                <a16:creationId xmlns:a16="http://schemas.microsoft.com/office/drawing/2014/main" id="{BC8CDA5A-AAB1-477B-A132-4B79AB754912}"/>
              </a:ext>
            </a:extLst>
          </p:cNvPr>
          <p:cNvSpPr>
            <a:spLocks noChangeArrowheads="1"/>
          </p:cNvSpPr>
          <p:nvPr/>
        </p:nvSpPr>
        <p:spPr bwMode="auto">
          <a:xfrm>
            <a:off x="2438400" y="304800"/>
            <a:ext cx="8850284"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algn="ctr" eaLnBrk="1" hangingPunct="1">
              <a:spcBef>
                <a:spcPct val="0"/>
              </a:spcBef>
              <a:buClrTx/>
              <a:buSzTx/>
              <a:buFontTx/>
              <a:buNone/>
            </a:pPr>
            <a:r>
              <a:rPr lang="en-US" altLang="en-US" sz="2900" b="1" dirty="0">
                <a:solidFill>
                  <a:srgbClr val="C00000"/>
                </a:solidFill>
                <a:latin typeface="Tahoma" panose="020B0604030504040204" pitchFamily="34" charset="0"/>
              </a:rPr>
              <a:t>Task 1.  Business Requirements Analysis</a:t>
            </a:r>
            <a:endParaRPr lang="en-US" altLang="en-US" sz="2500" b="1" dirty="0">
              <a:solidFill>
                <a:srgbClr val="C00000"/>
              </a:solidFill>
              <a:latin typeface="Tahoma" panose="020B0604030504040204" pitchFamily="34" charset="0"/>
            </a:endParaRPr>
          </a:p>
        </p:txBody>
      </p:sp>
      <p:sp>
        <p:nvSpPr>
          <p:cNvPr id="19461" name="Text Box 5">
            <a:extLst>
              <a:ext uri="{FF2B5EF4-FFF2-40B4-BE49-F238E27FC236}">
                <a16:creationId xmlns:a16="http://schemas.microsoft.com/office/drawing/2014/main" id="{0A2FB09C-7708-4946-88A8-06CD4FD2C7EE}"/>
              </a:ext>
            </a:extLst>
          </p:cNvPr>
          <p:cNvSpPr txBox="1">
            <a:spLocks noChangeArrowheads="1"/>
          </p:cNvSpPr>
          <p:nvPr/>
        </p:nvSpPr>
        <p:spPr bwMode="auto">
          <a:xfrm>
            <a:off x="2895600" y="2667001"/>
            <a:ext cx="6934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a:spcBef>
                <a:spcPct val="50000"/>
              </a:spcBef>
              <a:buClrTx/>
              <a:buSzTx/>
              <a:buFontTx/>
              <a:buNone/>
            </a:pPr>
            <a:endParaRPr lang="en-US" altLang="en-US" sz="2000">
              <a:latin typeface="Tahoma" panose="020B0604030504040204" pitchFamily="34" charset="0"/>
            </a:endParaRPr>
          </a:p>
        </p:txBody>
      </p:sp>
      <p:sp>
        <p:nvSpPr>
          <p:cNvPr id="19462" name="Text Box 6">
            <a:extLst>
              <a:ext uri="{FF2B5EF4-FFF2-40B4-BE49-F238E27FC236}">
                <a16:creationId xmlns:a16="http://schemas.microsoft.com/office/drawing/2014/main" id="{7A6A18E0-1ABB-477D-8DBD-90BF4F1D31AF}"/>
              </a:ext>
            </a:extLst>
          </p:cNvPr>
          <p:cNvSpPr txBox="1">
            <a:spLocks noChangeArrowheads="1"/>
          </p:cNvSpPr>
          <p:nvPr/>
        </p:nvSpPr>
        <p:spPr bwMode="auto">
          <a:xfrm>
            <a:off x="2971800" y="2667001"/>
            <a:ext cx="6934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algn="ctr">
              <a:spcBef>
                <a:spcPct val="50000"/>
              </a:spcBef>
              <a:buClrTx/>
              <a:buSzTx/>
              <a:buFontTx/>
              <a:buNone/>
            </a:pPr>
            <a:endParaRPr lang="en-US" altLang="en-US" sz="2000">
              <a:latin typeface="Tahoma" panose="020B0604030504040204" pitchFamily="34" charset="0"/>
            </a:endParaRPr>
          </a:p>
        </p:txBody>
      </p:sp>
      <p:sp>
        <p:nvSpPr>
          <p:cNvPr id="19463" name="Text Box 8">
            <a:extLst>
              <a:ext uri="{FF2B5EF4-FFF2-40B4-BE49-F238E27FC236}">
                <a16:creationId xmlns:a16="http://schemas.microsoft.com/office/drawing/2014/main" id="{EC6EC5D7-E3D4-447A-94A9-3C94FD6F086E}"/>
              </a:ext>
            </a:extLst>
          </p:cNvPr>
          <p:cNvSpPr txBox="1">
            <a:spLocks noChangeArrowheads="1"/>
          </p:cNvSpPr>
          <p:nvPr/>
        </p:nvSpPr>
        <p:spPr bwMode="auto">
          <a:xfrm>
            <a:off x="2209800" y="1676400"/>
            <a:ext cx="8382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a:spcBef>
                <a:spcPct val="50000"/>
              </a:spcBef>
              <a:buClrTx/>
              <a:buSzTx/>
              <a:buFontTx/>
              <a:buNone/>
            </a:pPr>
            <a:r>
              <a:rPr lang="en-US" altLang="en-US" b="1" dirty="0">
                <a:latin typeface="Times New Roman" panose="02020603050405020304" pitchFamily="18" charset="0"/>
              </a:rPr>
              <a:t> </a:t>
            </a:r>
            <a:endParaRPr lang="en-US" altLang="en-US" sz="2400" dirty="0">
              <a:latin typeface="Times New Roman" panose="02020603050405020304" pitchFamily="18" charset="0"/>
            </a:endParaRPr>
          </a:p>
        </p:txBody>
      </p:sp>
      <p:sp>
        <p:nvSpPr>
          <p:cNvPr id="8" name="Text Box 6">
            <a:extLst>
              <a:ext uri="{FF2B5EF4-FFF2-40B4-BE49-F238E27FC236}">
                <a16:creationId xmlns:a16="http://schemas.microsoft.com/office/drawing/2014/main" id="{E7643D43-5613-463A-A81B-EF57E5F98983}"/>
              </a:ext>
            </a:extLst>
          </p:cNvPr>
          <p:cNvSpPr txBox="1">
            <a:spLocks noChangeArrowheads="1"/>
          </p:cNvSpPr>
          <p:nvPr/>
        </p:nvSpPr>
        <p:spPr bwMode="auto">
          <a:xfrm>
            <a:off x="1600200" y="1854712"/>
            <a:ext cx="10137371" cy="3947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a:spcBef>
                <a:spcPct val="50000"/>
              </a:spcBef>
              <a:buClrTx/>
              <a:buSzTx/>
              <a:buFontTx/>
              <a:buNone/>
            </a:pPr>
            <a:r>
              <a:rPr lang="en-US" altLang="en-US" b="1" dirty="0">
                <a:latin typeface="Times New Roman" panose="02020603050405020304" pitchFamily="18" charset="0"/>
              </a:rPr>
              <a:t>5.  Requirements Gathering Methods</a:t>
            </a:r>
            <a:endParaRPr lang="en-US" altLang="en-US" dirty="0">
              <a:latin typeface="Times New Roman" panose="02020603050405020304" pitchFamily="18" charset="0"/>
            </a:endParaRPr>
          </a:p>
          <a:p>
            <a:pPr lvl="1">
              <a:spcBef>
                <a:spcPct val="50000"/>
              </a:spcBef>
              <a:buClrTx/>
              <a:buSzTx/>
              <a:buFontTx/>
              <a:buChar char="•"/>
            </a:pPr>
            <a:r>
              <a:rPr lang="en-US" altLang="en-US" sz="2400" b="1" dirty="0">
                <a:latin typeface="Times New Roman" panose="02020603050405020304" pitchFamily="18" charset="0"/>
              </a:rPr>
              <a:t>  </a:t>
            </a:r>
            <a:r>
              <a:rPr lang="en-US" altLang="en-US" sz="2400" dirty="0">
                <a:latin typeface="Times New Roman" panose="02020603050405020304" pitchFamily="18" charset="0"/>
              </a:rPr>
              <a:t>Select the users (from senior executives, key departmental managers, business analysts, etc.)</a:t>
            </a:r>
          </a:p>
          <a:p>
            <a:pPr lvl="1">
              <a:spcBef>
                <a:spcPct val="50000"/>
              </a:spcBef>
              <a:buClrTx/>
              <a:buSzTx/>
              <a:buFontTx/>
              <a:buChar char="•"/>
            </a:pPr>
            <a:r>
              <a:rPr lang="en-US" altLang="en-US" sz="2400" dirty="0">
                <a:latin typeface="Times New Roman" panose="02020603050405020304" pitchFamily="18" charset="0"/>
              </a:rPr>
              <a:t>  Business Requirements Methodology used</a:t>
            </a:r>
          </a:p>
          <a:p>
            <a:pPr marL="1600200" lvl="2" indent="-457200">
              <a:spcBef>
                <a:spcPct val="50000"/>
              </a:spcBef>
              <a:buClrTx/>
              <a:buSzTx/>
              <a:buFont typeface="+mj-lt"/>
              <a:buAutoNum type="arabicPeriod"/>
            </a:pPr>
            <a:r>
              <a:rPr lang="en-US" altLang="en-US" sz="2100" dirty="0">
                <a:latin typeface="Times New Roman" panose="02020603050405020304" pitchFamily="18" charset="0"/>
              </a:rPr>
              <a:t>  Use SDLC-type Interview</a:t>
            </a:r>
          </a:p>
          <a:p>
            <a:pPr marL="1600200" lvl="2" indent="-457200">
              <a:spcBef>
                <a:spcPct val="50000"/>
              </a:spcBef>
              <a:buClrTx/>
              <a:buSzTx/>
              <a:buFont typeface="+mj-lt"/>
              <a:buAutoNum type="arabicPeriod"/>
            </a:pPr>
            <a:r>
              <a:rPr lang="en-US" altLang="en-US" sz="2100" dirty="0">
                <a:latin typeface="Times New Roman" panose="02020603050405020304" pitchFamily="18" charset="0"/>
              </a:rPr>
              <a:t>  JAD or Facilitated or Group Sessions  (pp. 102-103 </a:t>
            </a:r>
            <a:r>
              <a:rPr lang="en-US" altLang="en-US" sz="2100" dirty="0" err="1">
                <a:latin typeface="Times New Roman" panose="02020603050405020304" pitchFamily="18" charset="0"/>
              </a:rPr>
              <a:t>Pooniah</a:t>
            </a:r>
            <a:r>
              <a:rPr lang="en-US" altLang="en-US" sz="2100" dirty="0">
                <a:latin typeface="Times New Roman" panose="02020603050405020304" pitchFamily="18" charset="0"/>
              </a:rPr>
              <a:t>)</a:t>
            </a:r>
          </a:p>
          <a:p>
            <a:pPr marL="1600200" lvl="2" indent="-457200">
              <a:spcBef>
                <a:spcPct val="50000"/>
              </a:spcBef>
              <a:buClrTx/>
              <a:buSzTx/>
              <a:buFont typeface="+mj-lt"/>
              <a:buAutoNum type="arabicPeriod"/>
            </a:pPr>
            <a:r>
              <a:rPr lang="en-US" altLang="en-US" sz="2100" dirty="0">
                <a:latin typeface="Times New Roman" panose="02020603050405020304" pitchFamily="18" charset="0"/>
              </a:rPr>
              <a:t>  Collect and review existing documentation</a:t>
            </a:r>
          </a:p>
          <a:p>
            <a:pPr lvl="1">
              <a:spcBef>
                <a:spcPct val="50000"/>
              </a:spcBef>
              <a:buClrTx/>
              <a:buSzTx/>
              <a:buFontTx/>
              <a:buNone/>
            </a:pPr>
            <a:r>
              <a:rPr lang="en-US" altLang="en-US" sz="2400" dirty="0">
                <a:latin typeface="Times New Roman" panose="02020603050405020304" pitchFamily="18" charset="0"/>
              </a:rPr>
              <a:t>  </a:t>
            </a:r>
            <a:endParaRPr lang="en-US" altLang="en-US" sz="2400" b="1" dirty="0">
              <a:latin typeface="Times New Roman" panose="02020603050405020304" pitchFamily="18" charset="0"/>
            </a:endParaRPr>
          </a:p>
        </p:txBody>
      </p:sp>
      <p:sp>
        <p:nvSpPr>
          <p:cNvPr id="2" name="Date Placeholder 1">
            <a:extLst>
              <a:ext uri="{FF2B5EF4-FFF2-40B4-BE49-F238E27FC236}">
                <a16:creationId xmlns:a16="http://schemas.microsoft.com/office/drawing/2014/main" id="{36F4E191-4424-4C72-B7A3-D738E463878B}"/>
              </a:ext>
            </a:extLst>
          </p:cNvPr>
          <p:cNvSpPr>
            <a:spLocks noGrp="1"/>
          </p:cNvSpPr>
          <p:nvPr>
            <p:ph type="dt" sz="half" idx="10"/>
          </p:nvPr>
        </p:nvSpPr>
        <p:spPr/>
        <p:txBody>
          <a:bodyPr/>
          <a:lstStyle/>
          <a:p>
            <a:fld id="{59D66B91-5956-4459-BD69-BB5BBC4D02AD}" type="datetime1">
              <a:rPr lang="en-US" smtClean="0"/>
              <a:t>2/1/2026</a:t>
            </a:fld>
            <a:endParaRPr lang="en-US" dirty="0"/>
          </a:p>
        </p:txBody>
      </p:sp>
      <p:sp>
        <p:nvSpPr>
          <p:cNvPr id="5" name="Footer Placeholder 4">
            <a:extLst>
              <a:ext uri="{FF2B5EF4-FFF2-40B4-BE49-F238E27FC236}">
                <a16:creationId xmlns:a16="http://schemas.microsoft.com/office/drawing/2014/main" id="{FBC2752C-A945-4B56-A21A-6399AF0D559F}"/>
              </a:ext>
            </a:extLst>
          </p:cNvPr>
          <p:cNvSpPr>
            <a:spLocks noGrp="1"/>
          </p:cNvSpPr>
          <p:nvPr>
            <p:ph type="ftr" sz="quarter" idx="11"/>
          </p:nvPr>
        </p:nvSpPr>
        <p:spPr/>
        <p:txBody>
          <a:bodyPr/>
          <a:lstStyle/>
          <a:p>
            <a:r>
              <a:rPr lang="en-US"/>
              <a:t>Copyright (c) Arun Sen Texas A&amp;M University</a:t>
            </a:r>
            <a:endParaRPr lang="en-US" dirty="0"/>
          </a:p>
        </p:txBody>
      </p:sp>
      <p:sp>
        <p:nvSpPr>
          <p:cNvPr id="6" name="Slide Number Placeholder 5">
            <a:extLst>
              <a:ext uri="{FF2B5EF4-FFF2-40B4-BE49-F238E27FC236}">
                <a16:creationId xmlns:a16="http://schemas.microsoft.com/office/drawing/2014/main" id="{FA755509-A82F-4126-B109-8DD596CB4B32}"/>
              </a:ext>
            </a:extLst>
          </p:cNvPr>
          <p:cNvSpPr>
            <a:spLocks noGrp="1"/>
          </p:cNvSpPr>
          <p:nvPr>
            <p:ph type="sldNum" sz="quarter" idx="12"/>
          </p:nvPr>
        </p:nvSpPr>
        <p:spPr/>
        <p:txBody>
          <a:bodyPr/>
          <a:lstStyle/>
          <a:p>
            <a:fld id="{69E57DC2-970A-4B3E-BB1C-7A09969E49DF}" type="slidenum">
              <a:rPr lang="en-US" smtClean="0"/>
              <a:t>8</a:t>
            </a:fld>
            <a:endParaRPr lang="en-US" dirty="0"/>
          </a:p>
        </p:txBody>
      </p:sp>
    </p:spTree>
    <p:extLst>
      <p:ext uri="{BB962C8B-B14F-4D97-AF65-F5344CB8AC3E}">
        <p14:creationId xmlns:p14="http://schemas.microsoft.com/office/powerpoint/2010/main" val="8737475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8" name="Rectangle 2">
            <a:extLst>
              <a:ext uri="{FF2B5EF4-FFF2-40B4-BE49-F238E27FC236}">
                <a16:creationId xmlns:a16="http://schemas.microsoft.com/office/drawing/2014/main" id="{C65EBF3E-76DD-489C-8146-465E4AA44849}"/>
              </a:ext>
            </a:extLst>
          </p:cNvPr>
          <p:cNvSpPr>
            <a:spLocks noChangeArrowheads="1"/>
          </p:cNvSpPr>
          <p:nvPr/>
        </p:nvSpPr>
        <p:spPr bwMode="auto">
          <a:xfrm>
            <a:off x="2438399" y="304800"/>
            <a:ext cx="8567651"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algn="ctr" eaLnBrk="1" hangingPunct="1">
              <a:spcBef>
                <a:spcPct val="0"/>
              </a:spcBef>
              <a:buClrTx/>
              <a:buSzTx/>
              <a:buFontTx/>
              <a:buNone/>
            </a:pPr>
            <a:r>
              <a:rPr lang="en-US" altLang="en-US" sz="2900" b="1" dirty="0">
                <a:solidFill>
                  <a:srgbClr val="C00000"/>
                </a:solidFill>
                <a:latin typeface="Tahoma" panose="020B0604030504040204" pitchFamily="34" charset="0"/>
              </a:rPr>
              <a:t>Task 1.  Business Requirements Analysis</a:t>
            </a:r>
            <a:endParaRPr lang="en-US" altLang="en-US" sz="2500" b="1" dirty="0">
              <a:solidFill>
                <a:srgbClr val="C00000"/>
              </a:solidFill>
              <a:latin typeface="Tahoma" panose="020B0604030504040204" pitchFamily="34" charset="0"/>
            </a:endParaRPr>
          </a:p>
        </p:txBody>
      </p:sp>
      <p:sp>
        <p:nvSpPr>
          <p:cNvPr id="31749" name="Text Box 3">
            <a:extLst>
              <a:ext uri="{FF2B5EF4-FFF2-40B4-BE49-F238E27FC236}">
                <a16:creationId xmlns:a16="http://schemas.microsoft.com/office/drawing/2014/main" id="{5BD0315D-E28E-44B2-ABAA-4F622D500B40}"/>
              </a:ext>
            </a:extLst>
          </p:cNvPr>
          <p:cNvSpPr txBox="1">
            <a:spLocks noChangeArrowheads="1"/>
          </p:cNvSpPr>
          <p:nvPr/>
        </p:nvSpPr>
        <p:spPr bwMode="auto">
          <a:xfrm>
            <a:off x="2895600" y="2667001"/>
            <a:ext cx="6934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a:spcBef>
                <a:spcPct val="50000"/>
              </a:spcBef>
              <a:buClrTx/>
              <a:buSzTx/>
              <a:buFontTx/>
              <a:buNone/>
            </a:pPr>
            <a:endParaRPr lang="en-US" altLang="en-US" sz="2000">
              <a:latin typeface="Tahoma" panose="020B0604030504040204" pitchFamily="34" charset="0"/>
            </a:endParaRPr>
          </a:p>
        </p:txBody>
      </p:sp>
      <p:sp>
        <p:nvSpPr>
          <p:cNvPr id="31750" name="Text Box 4">
            <a:extLst>
              <a:ext uri="{FF2B5EF4-FFF2-40B4-BE49-F238E27FC236}">
                <a16:creationId xmlns:a16="http://schemas.microsoft.com/office/drawing/2014/main" id="{6704F9BA-8162-4055-B9E4-146BD757928E}"/>
              </a:ext>
            </a:extLst>
          </p:cNvPr>
          <p:cNvSpPr txBox="1">
            <a:spLocks noChangeArrowheads="1"/>
          </p:cNvSpPr>
          <p:nvPr/>
        </p:nvSpPr>
        <p:spPr bwMode="auto">
          <a:xfrm>
            <a:off x="2971800" y="2667001"/>
            <a:ext cx="6934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algn="ctr">
              <a:spcBef>
                <a:spcPct val="50000"/>
              </a:spcBef>
              <a:buClrTx/>
              <a:buSzTx/>
              <a:buFontTx/>
              <a:buNone/>
            </a:pPr>
            <a:endParaRPr lang="en-US" altLang="en-US" sz="2000">
              <a:latin typeface="Tahoma" panose="020B0604030504040204" pitchFamily="34" charset="0"/>
            </a:endParaRPr>
          </a:p>
        </p:txBody>
      </p:sp>
      <p:sp>
        <p:nvSpPr>
          <p:cNvPr id="31751" name="Text Box 5">
            <a:extLst>
              <a:ext uri="{FF2B5EF4-FFF2-40B4-BE49-F238E27FC236}">
                <a16:creationId xmlns:a16="http://schemas.microsoft.com/office/drawing/2014/main" id="{E97388C3-F97D-4F14-BC2F-33C1E92C1FB5}"/>
              </a:ext>
            </a:extLst>
          </p:cNvPr>
          <p:cNvSpPr txBox="1">
            <a:spLocks noChangeArrowheads="1"/>
          </p:cNvSpPr>
          <p:nvPr/>
        </p:nvSpPr>
        <p:spPr bwMode="auto">
          <a:xfrm>
            <a:off x="1819102" y="1966275"/>
            <a:ext cx="9652462" cy="3970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a:spcBef>
                <a:spcPct val="50000"/>
              </a:spcBef>
              <a:buClrTx/>
              <a:buSzTx/>
              <a:buFontTx/>
              <a:buNone/>
            </a:pPr>
            <a:r>
              <a:rPr lang="en-US" altLang="en-US" b="1" dirty="0">
                <a:latin typeface="Times New Roman" panose="02020603050405020304" pitchFamily="18" charset="0"/>
              </a:rPr>
              <a:t>5.  Things to collect</a:t>
            </a:r>
            <a:endParaRPr lang="en-US" altLang="en-US" dirty="0">
              <a:latin typeface="Times New Roman" panose="02020603050405020304" pitchFamily="18" charset="0"/>
            </a:endParaRPr>
          </a:p>
          <a:p>
            <a:pPr lvl="1">
              <a:spcBef>
                <a:spcPct val="50000"/>
              </a:spcBef>
              <a:buClrTx/>
              <a:buSzTx/>
              <a:buFontTx/>
              <a:buChar char="•"/>
            </a:pPr>
            <a:r>
              <a:rPr lang="en-US" altLang="en-US" sz="2400" dirty="0">
                <a:latin typeface="Times New Roman" panose="02020603050405020304" pitchFamily="18" charset="0"/>
              </a:rPr>
              <a:t>  Current Information Sources</a:t>
            </a:r>
          </a:p>
          <a:p>
            <a:pPr lvl="1">
              <a:spcBef>
                <a:spcPct val="50000"/>
              </a:spcBef>
              <a:buClrTx/>
              <a:buSzTx/>
              <a:buFontTx/>
              <a:buChar char="•"/>
            </a:pPr>
            <a:r>
              <a:rPr lang="en-US" altLang="en-US" sz="2400" dirty="0">
                <a:latin typeface="Times New Roman" panose="02020603050405020304" pitchFamily="18" charset="0"/>
              </a:rPr>
              <a:t>  Subject Areas (which are most valuable, business 	dimensions, etc.)</a:t>
            </a:r>
          </a:p>
          <a:p>
            <a:pPr lvl="1">
              <a:spcBef>
                <a:spcPct val="50000"/>
              </a:spcBef>
              <a:buClrTx/>
              <a:buSzTx/>
              <a:buFontTx/>
              <a:buChar char="•"/>
            </a:pPr>
            <a:r>
              <a:rPr lang="en-US" altLang="en-US" sz="2400" dirty="0">
                <a:latin typeface="Times New Roman" panose="02020603050405020304" pitchFamily="18" charset="0"/>
              </a:rPr>
              <a:t>  Key Performance Metrics (performance measurement, critical success factors, etc.)</a:t>
            </a:r>
          </a:p>
          <a:p>
            <a:pPr lvl="1">
              <a:spcBef>
                <a:spcPct val="50000"/>
              </a:spcBef>
              <a:buClrTx/>
              <a:buSzTx/>
              <a:buFontTx/>
              <a:buChar char="•"/>
            </a:pPr>
            <a:r>
              <a:rPr lang="en-US" altLang="en-US" sz="2400" dirty="0">
                <a:latin typeface="Times New Roman" panose="02020603050405020304" pitchFamily="18" charset="0"/>
              </a:rPr>
              <a:t>  Information Frequency  (how often data are updated, what is the timeliness requirements, ..)</a:t>
            </a:r>
          </a:p>
          <a:p>
            <a:pPr lvl="1">
              <a:spcBef>
                <a:spcPct val="50000"/>
              </a:spcBef>
              <a:buClrTx/>
              <a:buSzTx/>
              <a:buFontTx/>
              <a:buNone/>
            </a:pPr>
            <a:r>
              <a:rPr lang="en-US" altLang="en-US" sz="2400" dirty="0">
                <a:latin typeface="Times New Roman" panose="02020603050405020304" pitchFamily="18" charset="0"/>
              </a:rPr>
              <a:t>  </a:t>
            </a:r>
            <a:endParaRPr lang="en-US" altLang="en-US" sz="2400" b="1" dirty="0">
              <a:latin typeface="Times New Roman" panose="02020603050405020304" pitchFamily="18" charset="0"/>
            </a:endParaRPr>
          </a:p>
        </p:txBody>
      </p:sp>
      <p:sp>
        <p:nvSpPr>
          <p:cNvPr id="2" name="Date Placeholder 1">
            <a:extLst>
              <a:ext uri="{FF2B5EF4-FFF2-40B4-BE49-F238E27FC236}">
                <a16:creationId xmlns:a16="http://schemas.microsoft.com/office/drawing/2014/main" id="{B9CC674B-75A6-4BB2-93AD-D57F70FC2DC9}"/>
              </a:ext>
            </a:extLst>
          </p:cNvPr>
          <p:cNvSpPr>
            <a:spLocks noGrp="1"/>
          </p:cNvSpPr>
          <p:nvPr>
            <p:ph type="dt" sz="half" idx="10"/>
          </p:nvPr>
        </p:nvSpPr>
        <p:spPr/>
        <p:txBody>
          <a:bodyPr/>
          <a:lstStyle/>
          <a:p>
            <a:fld id="{9E7D526E-2DEF-4111-9253-9C6BC09A3537}" type="datetime1">
              <a:rPr lang="en-US" smtClean="0"/>
              <a:t>2/1/2026</a:t>
            </a:fld>
            <a:endParaRPr lang="en-US" dirty="0"/>
          </a:p>
        </p:txBody>
      </p:sp>
      <p:sp>
        <p:nvSpPr>
          <p:cNvPr id="5" name="Footer Placeholder 4">
            <a:extLst>
              <a:ext uri="{FF2B5EF4-FFF2-40B4-BE49-F238E27FC236}">
                <a16:creationId xmlns:a16="http://schemas.microsoft.com/office/drawing/2014/main" id="{9A889A07-DBAF-467A-A25F-91767B717183}"/>
              </a:ext>
            </a:extLst>
          </p:cNvPr>
          <p:cNvSpPr>
            <a:spLocks noGrp="1"/>
          </p:cNvSpPr>
          <p:nvPr>
            <p:ph type="ftr" sz="quarter" idx="11"/>
          </p:nvPr>
        </p:nvSpPr>
        <p:spPr/>
        <p:txBody>
          <a:bodyPr/>
          <a:lstStyle/>
          <a:p>
            <a:r>
              <a:rPr lang="en-US"/>
              <a:t>Copyright (c) Arun Sen Texas A&amp;M University</a:t>
            </a:r>
            <a:endParaRPr lang="en-US" dirty="0"/>
          </a:p>
        </p:txBody>
      </p:sp>
      <p:sp>
        <p:nvSpPr>
          <p:cNvPr id="6" name="Slide Number Placeholder 5">
            <a:extLst>
              <a:ext uri="{FF2B5EF4-FFF2-40B4-BE49-F238E27FC236}">
                <a16:creationId xmlns:a16="http://schemas.microsoft.com/office/drawing/2014/main" id="{FC0F80AA-7ABC-4F1F-A0E0-F95407BB95E7}"/>
              </a:ext>
            </a:extLst>
          </p:cNvPr>
          <p:cNvSpPr>
            <a:spLocks noGrp="1"/>
          </p:cNvSpPr>
          <p:nvPr>
            <p:ph type="sldNum" sz="quarter" idx="12"/>
          </p:nvPr>
        </p:nvSpPr>
        <p:spPr/>
        <p:txBody>
          <a:bodyPr/>
          <a:lstStyle/>
          <a:p>
            <a:fld id="{69E57DC2-970A-4B3E-BB1C-7A09969E49DF}" type="slidenum">
              <a:rPr lang="en-US" smtClean="0"/>
              <a:t>9</a:t>
            </a:fld>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6" name="Rectangle 2">
            <a:extLst>
              <a:ext uri="{FF2B5EF4-FFF2-40B4-BE49-F238E27FC236}">
                <a16:creationId xmlns:a16="http://schemas.microsoft.com/office/drawing/2014/main" id="{8DC6B130-2727-46CC-A188-0E872EFA524C}"/>
              </a:ext>
            </a:extLst>
          </p:cNvPr>
          <p:cNvSpPr>
            <a:spLocks noChangeArrowheads="1"/>
          </p:cNvSpPr>
          <p:nvPr/>
        </p:nvSpPr>
        <p:spPr bwMode="auto">
          <a:xfrm>
            <a:off x="2438400" y="304800"/>
            <a:ext cx="8667404"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algn="ctr" eaLnBrk="1" hangingPunct="1">
              <a:spcBef>
                <a:spcPct val="0"/>
              </a:spcBef>
              <a:buClrTx/>
              <a:buSzTx/>
              <a:buFontTx/>
              <a:buNone/>
            </a:pPr>
            <a:r>
              <a:rPr lang="en-US" altLang="en-US" sz="2900" b="1" dirty="0">
                <a:solidFill>
                  <a:srgbClr val="C00000"/>
                </a:solidFill>
                <a:latin typeface="Tahoma" panose="020B0604030504040204" pitchFamily="34" charset="0"/>
              </a:rPr>
              <a:t>Task 1.  Business Requirements Analysis</a:t>
            </a:r>
            <a:endParaRPr lang="en-US" altLang="en-US" sz="2500" b="1" dirty="0">
              <a:solidFill>
                <a:srgbClr val="C00000"/>
              </a:solidFill>
              <a:latin typeface="Tahoma" panose="020B0604030504040204" pitchFamily="34" charset="0"/>
            </a:endParaRPr>
          </a:p>
        </p:txBody>
      </p:sp>
      <p:sp>
        <p:nvSpPr>
          <p:cNvPr id="33797" name="Text Box 3">
            <a:extLst>
              <a:ext uri="{FF2B5EF4-FFF2-40B4-BE49-F238E27FC236}">
                <a16:creationId xmlns:a16="http://schemas.microsoft.com/office/drawing/2014/main" id="{EFBD8137-A871-44AD-9691-D0FA1551A2B6}"/>
              </a:ext>
            </a:extLst>
          </p:cNvPr>
          <p:cNvSpPr txBox="1">
            <a:spLocks noChangeArrowheads="1"/>
          </p:cNvSpPr>
          <p:nvPr/>
        </p:nvSpPr>
        <p:spPr bwMode="auto">
          <a:xfrm>
            <a:off x="2895600" y="2667001"/>
            <a:ext cx="6934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a:spcBef>
                <a:spcPct val="50000"/>
              </a:spcBef>
              <a:buClrTx/>
              <a:buSzTx/>
              <a:buFontTx/>
              <a:buNone/>
            </a:pPr>
            <a:endParaRPr lang="en-US" altLang="en-US" sz="2000">
              <a:latin typeface="Tahoma" panose="020B0604030504040204" pitchFamily="34" charset="0"/>
            </a:endParaRPr>
          </a:p>
        </p:txBody>
      </p:sp>
      <p:sp>
        <p:nvSpPr>
          <p:cNvPr id="33798" name="Text Box 4">
            <a:extLst>
              <a:ext uri="{FF2B5EF4-FFF2-40B4-BE49-F238E27FC236}">
                <a16:creationId xmlns:a16="http://schemas.microsoft.com/office/drawing/2014/main" id="{43AD420D-2B74-40A2-BB63-F33F065E6FE5}"/>
              </a:ext>
            </a:extLst>
          </p:cNvPr>
          <p:cNvSpPr txBox="1">
            <a:spLocks noChangeArrowheads="1"/>
          </p:cNvSpPr>
          <p:nvPr/>
        </p:nvSpPr>
        <p:spPr bwMode="auto">
          <a:xfrm>
            <a:off x="2971800" y="2667001"/>
            <a:ext cx="6934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algn="ctr">
              <a:spcBef>
                <a:spcPct val="50000"/>
              </a:spcBef>
              <a:buClrTx/>
              <a:buSzTx/>
              <a:buFontTx/>
              <a:buNone/>
            </a:pPr>
            <a:endParaRPr lang="en-US" altLang="en-US" sz="2000">
              <a:latin typeface="Tahoma" panose="020B0604030504040204" pitchFamily="34" charset="0"/>
            </a:endParaRPr>
          </a:p>
        </p:txBody>
      </p:sp>
      <p:sp>
        <p:nvSpPr>
          <p:cNvPr id="33799" name="Text Box 5">
            <a:extLst>
              <a:ext uri="{FF2B5EF4-FFF2-40B4-BE49-F238E27FC236}">
                <a16:creationId xmlns:a16="http://schemas.microsoft.com/office/drawing/2014/main" id="{8EFE3621-A895-433B-B471-6618F5B4EEDC}"/>
              </a:ext>
            </a:extLst>
          </p:cNvPr>
          <p:cNvSpPr txBox="1">
            <a:spLocks noChangeArrowheads="1"/>
          </p:cNvSpPr>
          <p:nvPr/>
        </p:nvSpPr>
        <p:spPr bwMode="auto">
          <a:xfrm>
            <a:off x="1301269" y="1775193"/>
            <a:ext cx="5461711" cy="37856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a:spcBef>
                <a:spcPct val="20000"/>
              </a:spcBef>
              <a:buClr>
                <a:srgbClr val="E0752F"/>
              </a:buClr>
              <a:buSzPct val="60000"/>
              <a:buFont typeface="Wingdings" panose="05000000000000000000" pitchFamily="2" charset="2"/>
              <a:buChar char=""/>
              <a:defRPr>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a:spcBef>
                <a:spcPct val="50000"/>
              </a:spcBef>
              <a:buClrTx/>
              <a:buSzTx/>
              <a:buFontTx/>
              <a:buNone/>
            </a:pPr>
            <a:r>
              <a:rPr lang="en-US" altLang="en-US" b="1" dirty="0">
                <a:latin typeface="Times New Roman" panose="02020603050405020304" pitchFamily="18" charset="0"/>
              </a:rPr>
              <a:t>6. Using SDLC-type Interview</a:t>
            </a:r>
          </a:p>
          <a:p>
            <a:pPr lvl="1">
              <a:spcBef>
                <a:spcPct val="50000"/>
              </a:spcBef>
              <a:buClrTx/>
              <a:buSzTx/>
              <a:buFontTx/>
              <a:buChar char="•"/>
            </a:pPr>
            <a:r>
              <a:rPr lang="en-US" altLang="en-US" sz="2400" b="1" dirty="0">
                <a:latin typeface="Times New Roman" panose="02020603050405020304" pitchFamily="18" charset="0"/>
              </a:rPr>
              <a:t>  </a:t>
            </a:r>
            <a:r>
              <a:rPr lang="en-US" altLang="en-US" sz="2000" dirty="0">
                <a:latin typeface="Times New Roman" panose="02020603050405020304" pitchFamily="18" charset="0"/>
              </a:rPr>
              <a:t>Schedule small group of people</a:t>
            </a:r>
          </a:p>
          <a:p>
            <a:pPr lvl="1">
              <a:spcBef>
                <a:spcPct val="50000"/>
              </a:spcBef>
              <a:buClrTx/>
              <a:buSzTx/>
              <a:buFontTx/>
              <a:buChar char="•"/>
            </a:pPr>
            <a:r>
              <a:rPr lang="en-US" altLang="en-US" sz="2000" dirty="0">
                <a:latin typeface="Times New Roman" panose="02020603050405020304" pitchFamily="18" charset="0"/>
              </a:rPr>
              <a:t>  Less coordination</a:t>
            </a:r>
          </a:p>
          <a:p>
            <a:pPr lvl="1">
              <a:spcBef>
                <a:spcPct val="50000"/>
              </a:spcBef>
              <a:buClrTx/>
              <a:buSzTx/>
              <a:buFontTx/>
              <a:buChar char="•"/>
            </a:pPr>
            <a:r>
              <a:rPr lang="en-US" altLang="en-US" sz="2000" dirty="0">
                <a:latin typeface="Times New Roman" panose="02020603050405020304" pitchFamily="18" charset="0"/>
              </a:rPr>
              <a:t>  Prepare for Interview</a:t>
            </a:r>
          </a:p>
          <a:p>
            <a:pPr lvl="1">
              <a:spcBef>
                <a:spcPct val="50000"/>
              </a:spcBef>
              <a:buClrTx/>
              <a:buSzTx/>
              <a:buFontTx/>
              <a:buChar char="•"/>
            </a:pPr>
            <a:r>
              <a:rPr lang="en-US" altLang="en-US" sz="2000" b="1" dirty="0">
                <a:latin typeface="Times New Roman" panose="02020603050405020304" pitchFamily="18" charset="0"/>
              </a:rPr>
              <a:t>  </a:t>
            </a:r>
            <a:r>
              <a:rPr lang="en-US" altLang="en-US" sz="2000" dirty="0">
                <a:latin typeface="Times New Roman" panose="02020603050405020304" pitchFamily="18" charset="0"/>
              </a:rPr>
              <a:t>Identify the interview team</a:t>
            </a:r>
          </a:p>
          <a:p>
            <a:pPr lvl="1">
              <a:spcBef>
                <a:spcPct val="50000"/>
              </a:spcBef>
              <a:buClrTx/>
              <a:buSzTx/>
              <a:buFontTx/>
              <a:buChar char="•"/>
            </a:pPr>
            <a:r>
              <a:rPr lang="en-US" altLang="en-US" sz="2000" dirty="0">
                <a:latin typeface="Times New Roman" panose="02020603050405020304" pitchFamily="18" charset="0"/>
              </a:rPr>
              <a:t>  Conduct pre-interview research</a:t>
            </a:r>
          </a:p>
          <a:p>
            <a:pPr lvl="1">
              <a:spcBef>
                <a:spcPct val="50000"/>
              </a:spcBef>
              <a:buClrTx/>
              <a:buSzTx/>
              <a:buFontTx/>
              <a:buChar char="•"/>
            </a:pPr>
            <a:r>
              <a:rPr lang="en-US" altLang="en-US" sz="2000" dirty="0">
                <a:latin typeface="Times New Roman" panose="02020603050405020304" pitchFamily="18" charset="0"/>
              </a:rPr>
              <a:t>  Select the interviewees</a:t>
            </a:r>
          </a:p>
          <a:p>
            <a:pPr lvl="1">
              <a:spcBef>
                <a:spcPct val="50000"/>
              </a:spcBef>
              <a:buClrTx/>
              <a:buSzTx/>
              <a:buFontTx/>
              <a:buChar char="•"/>
            </a:pPr>
            <a:r>
              <a:rPr lang="en-US" altLang="en-US" sz="2000" dirty="0">
                <a:latin typeface="Times New Roman" panose="02020603050405020304" pitchFamily="18" charset="0"/>
              </a:rPr>
              <a:t>  Prepare the questions</a:t>
            </a:r>
          </a:p>
        </p:txBody>
      </p:sp>
      <p:sp>
        <p:nvSpPr>
          <p:cNvPr id="2" name="Date Placeholder 1">
            <a:extLst>
              <a:ext uri="{FF2B5EF4-FFF2-40B4-BE49-F238E27FC236}">
                <a16:creationId xmlns:a16="http://schemas.microsoft.com/office/drawing/2014/main" id="{5856BA20-1C9C-40CD-BCFF-E209A04B13C1}"/>
              </a:ext>
            </a:extLst>
          </p:cNvPr>
          <p:cNvSpPr>
            <a:spLocks noGrp="1"/>
          </p:cNvSpPr>
          <p:nvPr>
            <p:ph type="dt" sz="half" idx="10"/>
          </p:nvPr>
        </p:nvSpPr>
        <p:spPr/>
        <p:txBody>
          <a:bodyPr/>
          <a:lstStyle/>
          <a:p>
            <a:fld id="{51FD6215-B86A-485F-818D-ED46F04B5652}" type="datetime1">
              <a:rPr lang="en-US" smtClean="0"/>
              <a:t>2/1/2026</a:t>
            </a:fld>
            <a:endParaRPr lang="en-US" dirty="0"/>
          </a:p>
        </p:txBody>
      </p:sp>
      <p:sp>
        <p:nvSpPr>
          <p:cNvPr id="5" name="Footer Placeholder 4">
            <a:extLst>
              <a:ext uri="{FF2B5EF4-FFF2-40B4-BE49-F238E27FC236}">
                <a16:creationId xmlns:a16="http://schemas.microsoft.com/office/drawing/2014/main" id="{6FCDE4DF-6FFC-4AE3-A585-1C9F3C8EAD7F}"/>
              </a:ext>
            </a:extLst>
          </p:cNvPr>
          <p:cNvSpPr>
            <a:spLocks noGrp="1"/>
          </p:cNvSpPr>
          <p:nvPr>
            <p:ph type="ftr" sz="quarter" idx="11"/>
          </p:nvPr>
        </p:nvSpPr>
        <p:spPr/>
        <p:txBody>
          <a:bodyPr/>
          <a:lstStyle/>
          <a:p>
            <a:r>
              <a:rPr lang="en-US"/>
              <a:t>Copyright (c) Arun Sen Texas A&amp;M University</a:t>
            </a:r>
            <a:endParaRPr lang="en-US" dirty="0"/>
          </a:p>
        </p:txBody>
      </p:sp>
      <p:sp>
        <p:nvSpPr>
          <p:cNvPr id="6" name="Slide Number Placeholder 5">
            <a:extLst>
              <a:ext uri="{FF2B5EF4-FFF2-40B4-BE49-F238E27FC236}">
                <a16:creationId xmlns:a16="http://schemas.microsoft.com/office/drawing/2014/main" id="{C84D6D90-B773-44B7-88A6-96DDEE67D94F}"/>
              </a:ext>
            </a:extLst>
          </p:cNvPr>
          <p:cNvSpPr>
            <a:spLocks noGrp="1"/>
          </p:cNvSpPr>
          <p:nvPr>
            <p:ph type="sldNum" sz="quarter" idx="12"/>
          </p:nvPr>
        </p:nvSpPr>
        <p:spPr/>
        <p:txBody>
          <a:bodyPr/>
          <a:lstStyle/>
          <a:p>
            <a:fld id="{69E57DC2-970A-4B3E-BB1C-7A09969E49DF}" type="slidenum">
              <a:rPr lang="en-US" smtClean="0"/>
              <a:t>10</a:t>
            </a:fld>
            <a:endParaRPr lang="en-US" dirty="0"/>
          </a:p>
        </p:txBody>
      </p:sp>
      <p:sp>
        <p:nvSpPr>
          <p:cNvPr id="11" name="TextBox 10">
            <a:extLst>
              <a:ext uri="{FF2B5EF4-FFF2-40B4-BE49-F238E27FC236}">
                <a16:creationId xmlns:a16="http://schemas.microsoft.com/office/drawing/2014/main" id="{16F71FA5-40CB-49F1-9DB5-0E5A78B5F302}"/>
              </a:ext>
            </a:extLst>
          </p:cNvPr>
          <p:cNvSpPr txBox="1"/>
          <p:nvPr/>
        </p:nvSpPr>
        <p:spPr>
          <a:xfrm>
            <a:off x="7132320" y="2105004"/>
            <a:ext cx="5013654" cy="2708434"/>
          </a:xfrm>
          <a:prstGeom prst="rect">
            <a:avLst/>
          </a:prstGeom>
          <a:noFill/>
        </p:spPr>
        <p:txBody>
          <a:bodyPr wrap="square">
            <a:spAutoFit/>
          </a:bodyPr>
          <a:lstStyle/>
          <a:p>
            <a:pPr>
              <a:spcBef>
                <a:spcPct val="50000"/>
              </a:spcBef>
              <a:buFontTx/>
              <a:buChar char="•"/>
            </a:pPr>
            <a:r>
              <a:rPr lang="en-US" altLang="en-US" sz="2000" b="1" dirty="0">
                <a:latin typeface="Times New Roman" panose="02020603050405020304" pitchFamily="18" charset="0"/>
              </a:rPr>
              <a:t> S</a:t>
            </a:r>
            <a:r>
              <a:rPr lang="en-US" altLang="en-US" sz="2000" dirty="0">
                <a:latin typeface="Times New Roman" panose="02020603050405020304" pitchFamily="18" charset="0"/>
              </a:rPr>
              <a:t>chedule the interview</a:t>
            </a:r>
          </a:p>
          <a:p>
            <a:pPr>
              <a:spcBef>
                <a:spcPct val="50000"/>
              </a:spcBef>
              <a:buFontTx/>
              <a:buChar char="•"/>
            </a:pPr>
            <a:r>
              <a:rPr lang="en-US" altLang="en-US" sz="2000" dirty="0">
                <a:latin typeface="Times New Roman" panose="02020603050405020304" pitchFamily="18" charset="0"/>
              </a:rPr>
              <a:t>  Prepare the interviewee</a:t>
            </a:r>
          </a:p>
          <a:p>
            <a:pPr>
              <a:spcBef>
                <a:spcPct val="50000"/>
              </a:spcBef>
              <a:buFontTx/>
              <a:buChar char="•"/>
            </a:pPr>
            <a:r>
              <a:rPr lang="en-US" altLang="en-US" sz="2000" dirty="0">
                <a:latin typeface="Times New Roman" panose="02020603050405020304" pitchFamily="18" charset="0"/>
              </a:rPr>
              <a:t>  Conduct the interview</a:t>
            </a:r>
          </a:p>
          <a:p>
            <a:pPr>
              <a:spcBef>
                <a:spcPct val="50000"/>
              </a:spcBef>
              <a:buFontTx/>
              <a:buChar char="•"/>
            </a:pPr>
            <a:r>
              <a:rPr lang="en-US" altLang="en-US" sz="2000" dirty="0">
                <a:latin typeface="Times New Roman" panose="02020603050405020304" pitchFamily="18" charset="0"/>
              </a:rPr>
              <a:t>  Interview wrap-up</a:t>
            </a:r>
          </a:p>
          <a:p>
            <a:pPr>
              <a:spcBef>
                <a:spcPct val="50000"/>
              </a:spcBef>
              <a:buFontTx/>
              <a:buChar char="•"/>
            </a:pPr>
            <a:r>
              <a:rPr lang="en-US" altLang="en-US" sz="2000" dirty="0">
                <a:latin typeface="Times New Roman" panose="02020603050405020304" pitchFamily="18" charset="0"/>
              </a:rPr>
              <a:t>  Summarize and flush out</a:t>
            </a:r>
          </a:p>
          <a:p>
            <a:pPr>
              <a:spcBef>
                <a:spcPct val="50000"/>
              </a:spcBef>
              <a:buFontTx/>
              <a:buChar char="•"/>
            </a:pPr>
            <a:r>
              <a:rPr lang="en-US" altLang="en-US" sz="2000" dirty="0">
                <a:latin typeface="Times New Roman" panose="02020603050405020304" pitchFamily="18" charset="0"/>
              </a:rPr>
              <a:t>  Create report for the DW developers</a:t>
            </a:r>
            <a:endParaRPr lang="en-US" sz="2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2" name="Rectangle 2">
            <a:extLst>
              <a:ext uri="{FF2B5EF4-FFF2-40B4-BE49-F238E27FC236}">
                <a16:creationId xmlns:a16="http://schemas.microsoft.com/office/drawing/2014/main" id="{A566EB95-4E60-4A2E-9A1C-841573EE060E}"/>
              </a:ext>
            </a:extLst>
          </p:cNvPr>
          <p:cNvSpPr>
            <a:spLocks noChangeArrowheads="1"/>
          </p:cNvSpPr>
          <p:nvPr/>
        </p:nvSpPr>
        <p:spPr bwMode="auto">
          <a:xfrm>
            <a:off x="2438399" y="304800"/>
            <a:ext cx="836814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algn="ctr" eaLnBrk="1" hangingPunct="1">
              <a:spcBef>
                <a:spcPct val="0"/>
              </a:spcBef>
              <a:buClrTx/>
              <a:buSzTx/>
              <a:buFontTx/>
              <a:buNone/>
            </a:pPr>
            <a:r>
              <a:rPr lang="en-US" altLang="en-US" sz="2900" b="1" dirty="0">
                <a:solidFill>
                  <a:srgbClr val="C00000"/>
                </a:solidFill>
                <a:latin typeface="Tahoma" panose="020B0604030504040204" pitchFamily="34" charset="0"/>
              </a:rPr>
              <a:t>Task 1.  Business Requirements Analysis</a:t>
            </a:r>
            <a:endParaRPr lang="en-US" altLang="en-US" sz="2500" b="1" dirty="0">
              <a:solidFill>
                <a:srgbClr val="C00000"/>
              </a:solidFill>
              <a:latin typeface="Tahoma" panose="020B0604030504040204" pitchFamily="34" charset="0"/>
            </a:endParaRPr>
          </a:p>
        </p:txBody>
      </p:sp>
      <p:sp>
        <p:nvSpPr>
          <p:cNvPr id="37893" name="Text Box 3">
            <a:extLst>
              <a:ext uri="{FF2B5EF4-FFF2-40B4-BE49-F238E27FC236}">
                <a16:creationId xmlns:a16="http://schemas.microsoft.com/office/drawing/2014/main" id="{1350AE1C-74CA-4E16-A143-08269EC86BD0}"/>
              </a:ext>
            </a:extLst>
          </p:cNvPr>
          <p:cNvSpPr txBox="1">
            <a:spLocks noChangeArrowheads="1"/>
          </p:cNvSpPr>
          <p:nvPr/>
        </p:nvSpPr>
        <p:spPr bwMode="auto">
          <a:xfrm>
            <a:off x="2895600" y="2667001"/>
            <a:ext cx="6934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a:spcBef>
                <a:spcPct val="50000"/>
              </a:spcBef>
              <a:buClrTx/>
              <a:buSzTx/>
              <a:buFontTx/>
              <a:buNone/>
            </a:pPr>
            <a:endParaRPr lang="en-US" altLang="en-US" sz="2000">
              <a:latin typeface="Tahoma" panose="020B0604030504040204" pitchFamily="34" charset="0"/>
            </a:endParaRPr>
          </a:p>
        </p:txBody>
      </p:sp>
      <p:sp>
        <p:nvSpPr>
          <p:cNvPr id="37894" name="Text Box 4">
            <a:extLst>
              <a:ext uri="{FF2B5EF4-FFF2-40B4-BE49-F238E27FC236}">
                <a16:creationId xmlns:a16="http://schemas.microsoft.com/office/drawing/2014/main" id="{3BC34720-37DD-45D7-87BD-D45CA2D1FAA7}"/>
              </a:ext>
            </a:extLst>
          </p:cNvPr>
          <p:cNvSpPr txBox="1">
            <a:spLocks noChangeArrowheads="1"/>
          </p:cNvSpPr>
          <p:nvPr/>
        </p:nvSpPr>
        <p:spPr bwMode="auto">
          <a:xfrm>
            <a:off x="1540537" y="1830134"/>
            <a:ext cx="10326624" cy="1785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a:spcBef>
                <a:spcPct val="50000"/>
              </a:spcBef>
              <a:buClrTx/>
              <a:buSzTx/>
              <a:buFontTx/>
              <a:buNone/>
            </a:pPr>
            <a:r>
              <a:rPr lang="en-US" altLang="en-US" sz="2000" b="1" dirty="0">
                <a:latin typeface="Times New Roman" panose="02020603050405020304" pitchFamily="18" charset="0"/>
              </a:rPr>
              <a:t>7. Using Facilitated Session</a:t>
            </a:r>
            <a:endParaRPr lang="en-US" altLang="en-US" sz="2000" dirty="0">
              <a:latin typeface="Times New Roman" panose="02020603050405020304" pitchFamily="18" charset="0"/>
            </a:endParaRPr>
          </a:p>
          <a:p>
            <a:pPr lvl="1">
              <a:spcBef>
                <a:spcPct val="50000"/>
              </a:spcBef>
              <a:buClrTx/>
              <a:buSzTx/>
              <a:buFontTx/>
              <a:buChar char="•"/>
            </a:pPr>
            <a:r>
              <a:rPr lang="en-US" altLang="en-US" sz="2000" b="1" dirty="0">
                <a:latin typeface="Times New Roman" panose="02020603050405020304" pitchFamily="18" charset="0"/>
              </a:rPr>
              <a:t>  </a:t>
            </a:r>
            <a:r>
              <a:rPr lang="en-US" altLang="en-US" sz="2000" dirty="0">
                <a:latin typeface="Times New Roman" panose="02020603050405020304" pitchFamily="18" charset="0"/>
              </a:rPr>
              <a:t>more coordination</a:t>
            </a:r>
          </a:p>
          <a:p>
            <a:pPr lvl="1">
              <a:spcBef>
                <a:spcPct val="50000"/>
              </a:spcBef>
              <a:buClrTx/>
              <a:buSzTx/>
              <a:buFontTx/>
              <a:buChar char="•"/>
            </a:pPr>
            <a:r>
              <a:rPr lang="en-US" altLang="en-US" sz="2000" dirty="0">
                <a:latin typeface="Times New Roman" panose="02020603050405020304" pitchFamily="18" charset="0"/>
              </a:rPr>
              <a:t>  but may reduce data requirements time</a:t>
            </a:r>
          </a:p>
          <a:p>
            <a:pPr lvl="1">
              <a:spcBef>
                <a:spcPct val="50000"/>
              </a:spcBef>
              <a:buClrTx/>
              <a:buSzTx/>
              <a:buFontTx/>
              <a:buChar char="•"/>
            </a:pPr>
            <a:r>
              <a:rPr lang="en-US" altLang="en-US" sz="2000" dirty="0">
                <a:latin typeface="Times New Roman" panose="02020603050405020304" pitchFamily="18" charset="0"/>
              </a:rPr>
              <a:t>  probably better method if you have some experience with the client’s work</a:t>
            </a:r>
          </a:p>
        </p:txBody>
      </p:sp>
      <p:pic>
        <p:nvPicPr>
          <p:cNvPr id="2" name="Picture 1">
            <a:extLst>
              <a:ext uri="{FF2B5EF4-FFF2-40B4-BE49-F238E27FC236}">
                <a16:creationId xmlns:a16="http://schemas.microsoft.com/office/drawing/2014/main" id="{1A8B19CB-8843-4CDC-B127-C77AA68B3A47}"/>
              </a:ext>
            </a:extLst>
          </p:cNvPr>
          <p:cNvPicPr>
            <a:picLocks noChangeAspect="1"/>
          </p:cNvPicPr>
          <p:nvPr/>
        </p:nvPicPr>
        <p:blipFill>
          <a:blip r:embed="rId3"/>
          <a:stretch>
            <a:fillRect/>
          </a:stretch>
        </p:blipFill>
        <p:spPr>
          <a:xfrm>
            <a:off x="6839712" y="3902000"/>
            <a:ext cx="4018788" cy="2555949"/>
          </a:xfrm>
          <a:prstGeom prst="rect">
            <a:avLst/>
          </a:prstGeom>
        </p:spPr>
      </p:pic>
      <p:pic>
        <p:nvPicPr>
          <p:cNvPr id="5" name="Picture 4">
            <a:extLst>
              <a:ext uri="{FF2B5EF4-FFF2-40B4-BE49-F238E27FC236}">
                <a16:creationId xmlns:a16="http://schemas.microsoft.com/office/drawing/2014/main" id="{DAFA85A2-074A-44D3-BA2A-C21B5DEAA391}"/>
              </a:ext>
            </a:extLst>
          </p:cNvPr>
          <p:cNvPicPr>
            <a:picLocks noChangeAspect="1"/>
          </p:cNvPicPr>
          <p:nvPr/>
        </p:nvPicPr>
        <p:blipFill>
          <a:blip r:embed="rId4"/>
          <a:stretch>
            <a:fillRect/>
          </a:stretch>
        </p:blipFill>
        <p:spPr>
          <a:xfrm>
            <a:off x="2639994" y="3774773"/>
            <a:ext cx="3393985" cy="2678613"/>
          </a:xfrm>
          <a:prstGeom prst="rect">
            <a:avLst/>
          </a:prstGeom>
        </p:spPr>
      </p:pic>
      <p:sp>
        <p:nvSpPr>
          <p:cNvPr id="6" name="Date Placeholder 5">
            <a:extLst>
              <a:ext uri="{FF2B5EF4-FFF2-40B4-BE49-F238E27FC236}">
                <a16:creationId xmlns:a16="http://schemas.microsoft.com/office/drawing/2014/main" id="{817CD381-4767-43DA-877D-FEF91EB1B9C8}"/>
              </a:ext>
            </a:extLst>
          </p:cNvPr>
          <p:cNvSpPr>
            <a:spLocks noGrp="1"/>
          </p:cNvSpPr>
          <p:nvPr>
            <p:ph type="dt" sz="half" idx="10"/>
          </p:nvPr>
        </p:nvSpPr>
        <p:spPr/>
        <p:txBody>
          <a:bodyPr/>
          <a:lstStyle/>
          <a:p>
            <a:fld id="{B0FF736C-F5CA-4C33-A779-65539FC4E007}" type="datetime1">
              <a:rPr lang="en-US" smtClean="0"/>
              <a:t>2/1/2026</a:t>
            </a:fld>
            <a:endParaRPr lang="en-US" dirty="0"/>
          </a:p>
        </p:txBody>
      </p:sp>
      <p:sp>
        <p:nvSpPr>
          <p:cNvPr id="7" name="Footer Placeholder 6">
            <a:extLst>
              <a:ext uri="{FF2B5EF4-FFF2-40B4-BE49-F238E27FC236}">
                <a16:creationId xmlns:a16="http://schemas.microsoft.com/office/drawing/2014/main" id="{B2FC5696-3B01-4080-9A0A-BE765A7DECF9}"/>
              </a:ext>
            </a:extLst>
          </p:cNvPr>
          <p:cNvSpPr>
            <a:spLocks noGrp="1"/>
          </p:cNvSpPr>
          <p:nvPr>
            <p:ph type="ftr" sz="quarter" idx="11"/>
          </p:nvPr>
        </p:nvSpPr>
        <p:spPr/>
        <p:txBody>
          <a:bodyPr/>
          <a:lstStyle/>
          <a:p>
            <a:r>
              <a:rPr lang="en-US"/>
              <a:t>Copyright (c) Arun Sen Texas A&amp;M University</a:t>
            </a:r>
            <a:endParaRPr lang="en-US" dirty="0"/>
          </a:p>
        </p:txBody>
      </p:sp>
      <p:sp>
        <p:nvSpPr>
          <p:cNvPr id="8" name="Slide Number Placeholder 7">
            <a:extLst>
              <a:ext uri="{FF2B5EF4-FFF2-40B4-BE49-F238E27FC236}">
                <a16:creationId xmlns:a16="http://schemas.microsoft.com/office/drawing/2014/main" id="{9D3B3FAA-DAEF-484C-849A-3BB2ADCFABA6}"/>
              </a:ext>
            </a:extLst>
          </p:cNvPr>
          <p:cNvSpPr>
            <a:spLocks noGrp="1"/>
          </p:cNvSpPr>
          <p:nvPr>
            <p:ph type="sldNum" sz="quarter" idx="12"/>
          </p:nvPr>
        </p:nvSpPr>
        <p:spPr/>
        <p:txBody>
          <a:bodyPr/>
          <a:lstStyle/>
          <a:p>
            <a:fld id="{69E57DC2-970A-4B3E-BB1C-7A09969E49DF}" type="slidenum">
              <a:rPr lang="en-US" smtClean="0"/>
              <a:t>11</a:t>
            </a:fld>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8" name="Rectangle 2">
            <a:extLst>
              <a:ext uri="{FF2B5EF4-FFF2-40B4-BE49-F238E27FC236}">
                <a16:creationId xmlns:a16="http://schemas.microsoft.com/office/drawing/2014/main" id="{5F90632A-F39D-4EF6-8B90-40D219666ECD}"/>
              </a:ext>
            </a:extLst>
          </p:cNvPr>
          <p:cNvSpPr>
            <a:spLocks noChangeArrowheads="1"/>
          </p:cNvSpPr>
          <p:nvPr/>
        </p:nvSpPr>
        <p:spPr bwMode="auto">
          <a:xfrm>
            <a:off x="2438400" y="3048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algn="ctr" eaLnBrk="1" hangingPunct="1">
              <a:spcBef>
                <a:spcPct val="0"/>
              </a:spcBef>
              <a:buClrTx/>
              <a:buSzTx/>
              <a:buFontTx/>
              <a:buNone/>
            </a:pPr>
            <a:r>
              <a:rPr lang="en-US" altLang="en-US" sz="2900" b="1" dirty="0">
                <a:solidFill>
                  <a:srgbClr val="C00000"/>
                </a:solidFill>
                <a:latin typeface="Tahoma" panose="020B0604030504040204" pitchFamily="34" charset="0"/>
              </a:rPr>
              <a:t>Examples of Business Questions</a:t>
            </a:r>
            <a:endParaRPr lang="en-US" altLang="en-US" sz="2500" b="1" dirty="0">
              <a:solidFill>
                <a:srgbClr val="C00000"/>
              </a:solidFill>
              <a:latin typeface="Tahoma" panose="020B0604030504040204" pitchFamily="34" charset="0"/>
            </a:endParaRPr>
          </a:p>
        </p:txBody>
      </p:sp>
      <p:sp>
        <p:nvSpPr>
          <p:cNvPr id="41989" name="Text Box 3">
            <a:extLst>
              <a:ext uri="{FF2B5EF4-FFF2-40B4-BE49-F238E27FC236}">
                <a16:creationId xmlns:a16="http://schemas.microsoft.com/office/drawing/2014/main" id="{3205F5CF-8E50-418B-8662-C8BAE40AC274}"/>
              </a:ext>
            </a:extLst>
          </p:cNvPr>
          <p:cNvSpPr txBox="1">
            <a:spLocks noChangeArrowheads="1"/>
          </p:cNvSpPr>
          <p:nvPr/>
        </p:nvSpPr>
        <p:spPr bwMode="auto">
          <a:xfrm>
            <a:off x="2895600" y="2667001"/>
            <a:ext cx="6934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a:spcBef>
                <a:spcPct val="50000"/>
              </a:spcBef>
              <a:buClrTx/>
              <a:buSzTx/>
              <a:buFontTx/>
              <a:buNone/>
            </a:pPr>
            <a:endParaRPr lang="en-US" altLang="en-US" sz="2000">
              <a:latin typeface="Tahoma" panose="020B0604030504040204" pitchFamily="34" charset="0"/>
            </a:endParaRPr>
          </a:p>
        </p:txBody>
      </p:sp>
      <p:sp>
        <p:nvSpPr>
          <p:cNvPr id="21510" name="Text Box 4">
            <a:extLst>
              <a:ext uri="{FF2B5EF4-FFF2-40B4-BE49-F238E27FC236}">
                <a16:creationId xmlns:a16="http://schemas.microsoft.com/office/drawing/2014/main" id="{D3A1F49E-50C2-4053-B661-5AC9829121FF}"/>
              </a:ext>
            </a:extLst>
          </p:cNvPr>
          <p:cNvSpPr txBox="1">
            <a:spLocks noChangeArrowheads="1"/>
          </p:cNvSpPr>
          <p:nvPr/>
        </p:nvSpPr>
        <p:spPr bwMode="auto">
          <a:xfrm>
            <a:off x="506473" y="1902292"/>
            <a:ext cx="8475306" cy="3431709"/>
          </a:xfrm>
          <a:prstGeom prst="rect">
            <a:avLst/>
          </a:prstGeom>
          <a:noFill/>
          <a:ln>
            <a:noFill/>
          </a:ln>
        </p:spPr>
        <p:txBody>
          <a:bodyPr wrap="square">
            <a:spAutoFit/>
          </a:bodyPr>
          <a:lstStyle>
            <a:lvl1pPr eaLnBrk="0" hangingPunct="0">
              <a:defRPr>
                <a:solidFill>
                  <a:schemeClr val="tx1"/>
                </a:solidFill>
                <a:latin typeface="Arial" charset="0"/>
              </a:defRPr>
            </a:lvl1pPr>
            <a:lvl2pPr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342900" indent="-342900">
              <a:buFont typeface="+mj-lt"/>
              <a:buAutoNum type="arabicPeriod"/>
              <a:defRPr/>
            </a:pPr>
            <a:r>
              <a:rPr lang="en-US" dirty="0"/>
              <a:t>A question requesting a </a:t>
            </a:r>
            <a:r>
              <a:rPr lang="en-US" u="sng" dirty="0"/>
              <a:t>comparison of weekly, monthly, quarterly, and yearly values</a:t>
            </a:r>
            <a:r>
              <a:rPr lang="en-US" dirty="0"/>
              <a:t> is one of the </a:t>
            </a:r>
            <a:r>
              <a:rPr lang="en-US" dirty="0">
                <a:solidFill>
                  <a:srgbClr val="FF0000"/>
                </a:solidFill>
              </a:rPr>
              <a:t>simplest</a:t>
            </a:r>
            <a:r>
              <a:rPr lang="en-US" dirty="0"/>
              <a:t> </a:t>
            </a:r>
            <a:r>
              <a:rPr lang="en-US" dirty="0">
                <a:solidFill>
                  <a:srgbClr val="FF0000"/>
                </a:solidFill>
              </a:rPr>
              <a:t>business</a:t>
            </a:r>
            <a:r>
              <a:rPr lang="en-US" dirty="0"/>
              <a:t> </a:t>
            </a:r>
            <a:r>
              <a:rPr lang="en-US" dirty="0">
                <a:solidFill>
                  <a:srgbClr val="FF0000"/>
                </a:solidFill>
              </a:rPr>
              <a:t>questions</a:t>
            </a:r>
            <a:r>
              <a:rPr lang="en-US" dirty="0"/>
              <a:t> posed during a sales analysis but expressing this question as a query represents a formidable challenge to the query writer, the query language, and the database server.</a:t>
            </a:r>
          </a:p>
          <a:p>
            <a:pPr marL="342900" indent="-342900">
              <a:buFont typeface="+mj-lt"/>
              <a:buAutoNum type="arabicPeriod"/>
              <a:defRPr/>
            </a:pPr>
            <a:endParaRPr lang="en-US" dirty="0"/>
          </a:p>
          <a:p>
            <a:pPr marL="342900" indent="-342900">
              <a:buFont typeface="+mj-lt"/>
              <a:buAutoNum type="arabicPeriod"/>
              <a:defRPr/>
            </a:pPr>
            <a:r>
              <a:rPr lang="en-US" dirty="0"/>
              <a:t>Business questions that request </a:t>
            </a:r>
            <a:r>
              <a:rPr lang="en-US" u="sng" dirty="0"/>
              <a:t>sequential processing </a:t>
            </a:r>
            <a:r>
              <a:rPr lang="en-US" dirty="0"/>
              <a:t>are very difficult to express as SQL queries. </a:t>
            </a:r>
          </a:p>
          <a:p>
            <a:pPr marL="800100" lvl="1" indent="-342900">
              <a:buFont typeface="Arial" pitchFamily="34" charset="0"/>
              <a:buChar char="•"/>
              <a:defRPr/>
            </a:pPr>
            <a:r>
              <a:rPr lang="en-US" sz="1600" u="sng" dirty="0"/>
              <a:t>To derive a simple running total</a:t>
            </a:r>
            <a:r>
              <a:rPr lang="en-US" sz="1600" dirty="0"/>
              <a:t>, for example, data analysts typically run several queries with a client tool, then paste the results together using another tool. This approach is awkward because it requires a sophisticated user and takes place on a client that is typically much slower than a database server.</a:t>
            </a:r>
          </a:p>
          <a:p>
            <a:pPr>
              <a:spcBef>
                <a:spcPct val="50000"/>
              </a:spcBef>
              <a:defRPr/>
            </a:pPr>
            <a:endParaRPr lang="en-US" dirty="0">
              <a:latin typeface="Times New Roman" pitchFamily="18" charset="0"/>
            </a:endParaRPr>
          </a:p>
        </p:txBody>
      </p:sp>
      <p:sp>
        <p:nvSpPr>
          <p:cNvPr id="41991" name="TextBox 1">
            <a:extLst>
              <a:ext uri="{FF2B5EF4-FFF2-40B4-BE49-F238E27FC236}">
                <a16:creationId xmlns:a16="http://schemas.microsoft.com/office/drawing/2014/main" id="{89A45E9C-D4D9-4428-8E3C-36F53C51B371}"/>
              </a:ext>
            </a:extLst>
          </p:cNvPr>
          <p:cNvSpPr txBox="1">
            <a:spLocks noChangeArrowheads="1"/>
          </p:cNvSpPr>
          <p:nvPr/>
        </p:nvSpPr>
        <p:spPr bwMode="auto">
          <a:xfrm>
            <a:off x="1828800" y="5334001"/>
            <a:ext cx="8332788" cy="461963"/>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eaLnBrk="1" hangingPunct="1">
              <a:spcBef>
                <a:spcPct val="0"/>
              </a:spcBef>
              <a:buClrTx/>
              <a:buSzTx/>
              <a:buFontTx/>
              <a:buNone/>
            </a:pPr>
            <a:r>
              <a:rPr lang="en-US" altLang="en-US" sz="1200">
                <a:latin typeface="Arial" panose="020B0604020202020204" pitchFamily="34" charset="0"/>
              </a:rPr>
              <a:t>Source: </a:t>
            </a:r>
            <a:r>
              <a:rPr lang="en-US" altLang="en-US" sz="1200">
                <a:latin typeface="Arial" panose="020B0604020202020204" pitchFamily="34" charset="0"/>
                <a:hlinkClick r:id="rId3"/>
              </a:rPr>
              <a:t>http://publib.boulder.ibm.com/infocenter/rbhelp/v6r3/index.jsp?topic=%2Fcom.ibm.redbrick.doc6.3%2Fssg%2Fssg17.htm</a:t>
            </a:r>
            <a:r>
              <a:rPr lang="en-US" altLang="en-US" sz="1200">
                <a:latin typeface="Arial" panose="020B0604020202020204" pitchFamily="34" charset="0"/>
              </a:rPr>
              <a:t> </a:t>
            </a:r>
          </a:p>
        </p:txBody>
      </p:sp>
      <p:sp>
        <p:nvSpPr>
          <p:cNvPr id="2" name="Date Placeholder 1">
            <a:extLst>
              <a:ext uri="{FF2B5EF4-FFF2-40B4-BE49-F238E27FC236}">
                <a16:creationId xmlns:a16="http://schemas.microsoft.com/office/drawing/2014/main" id="{B964DAC5-6B9E-45DB-8611-03797F242E2E}"/>
              </a:ext>
            </a:extLst>
          </p:cNvPr>
          <p:cNvSpPr>
            <a:spLocks noGrp="1"/>
          </p:cNvSpPr>
          <p:nvPr>
            <p:ph type="dt" sz="half" idx="10"/>
          </p:nvPr>
        </p:nvSpPr>
        <p:spPr/>
        <p:txBody>
          <a:bodyPr/>
          <a:lstStyle/>
          <a:p>
            <a:fld id="{7D3931B6-3D0D-4E16-B4C4-BC25D4BDC5C3}" type="datetime1">
              <a:rPr lang="en-US" smtClean="0"/>
              <a:t>2/1/2026</a:t>
            </a:fld>
            <a:endParaRPr lang="en-US" dirty="0"/>
          </a:p>
        </p:txBody>
      </p:sp>
      <p:sp>
        <p:nvSpPr>
          <p:cNvPr id="5" name="Footer Placeholder 4">
            <a:extLst>
              <a:ext uri="{FF2B5EF4-FFF2-40B4-BE49-F238E27FC236}">
                <a16:creationId xmlns:a16="http://schemas.microsoft.com/office/drawing/2014/main" id="{29E4B844-0E9D-457E-917B-D144125B16AA}"/>
              </a:ext>
            </a:extLst>
          </p:cNvPr>
          <p:cNvSpPr>
            <a:spLocks noGrp="1"/>
          </p:cNvSpPr>
          <p:nvPr>
            <p:ph type="ftr" sz="quarter" idx="11"/>
          </p:nvPr>
        </p:nvSpPr>
        <p:spPr/>
        <p:txBody>
          <a:bodyPr/>
          <a:lstStyle/>
          <a:p>
            <a:r>
              <a:rPr lang="en-US"/>
              <a:t>Copyright (c) Arun Sen Texas A&amp;M University</a:t>
            </a:r>
            <a:endParaRPr lang="en-US" dirty="0"/>
          </a:p>
        </p:txBody>
      </p:sp>
      <p:sp>
        <p:nvSpPr>
          <p:cNvPr id="6" name="Slide Number Placeholder 5">
            <a:extLst>
              <a:ext uri="{FF2B5EF4-FFF2-40B4-BE49-F238E27FC236}">
                <a16:creationId xmlns:a16="http://schemas.microsoft.com/office/drawing/2014/main" id="{6B602B12-C04C-4AF4-8EFE-18C649231D55}"/>
              </a:ext>
            </a:extLst>
          </p:cNvPr>
          <p:cNvSpPr>
            <a:spLocks noGrp="1"/>
          </p:cNvSpPr>
          <p:nvPr>
            <p:ph type="sldNum" sz="quarter" idx="12"/>
          </p:nvPr>
        </p:nvSpPr>
        <p:spPr/>
        <p:txBody>
          <a:bodyPr/>
          <a:lstStyle/>
          <a:p>
            <a:fld id="{69E57DC2-970A-4B3E-BB1C-7A09969E49DF}" type="slidenum">
              <a:rPr lang="en-US" smtClean="0"/>
              <a:t>12</a:t>
            </a:fld>
            <a:endParaRPr lang="en-US" dirty="0"/>
          </a:p>
        </p:txBody>
      </p:sp>
      <p:sp>
        <p:nvSpPr>
          <p:cNvPr id="10" name="TextBox 9">
            <a:extLst>
              <a:ext uri="{FF2B5EF4-FFF2-40B4-BE49-F238E27FC236}">
                <a16:creationId xmlns:a16="http://schemas.microsoft.com/office/drawing/2014/main" id="{94E2F038-8E07-D0EB-6FD4-9BB91BE3D309}"/>
              </a:ext>
            </a:extLst>
          </p:cNvPr>
          <p:cNvSpPr txBox="1"/>
          <p:nvPr/>
        </p:nvSpPr>
        <p:spPr>
          <a:xfrm>
            <a:off x="8981779" y="2043179"/>
            <a:ext cx="3440441" cy="1569660"/>
          </a:xfrm>
          <a:prstGeom prst="rect">
            <a:avLst/>
          </a:prstGeom>
          <a:noFill/>
        </p:spPr>
        <p:txBody>
          <a:bodyPr wrap="square">
            <a:spAutoFit/>
          </a:bodyPr>
          <a:lstStyle/>
          <a:p>
            <a:r>
              <a:rPr lang="en-US" sz="1200" dirty="0"/>
              <a:t>SELECT </a:t>
            </a:r>
          </a:p>
          <a:p>
            <a:r>
              <a:rPr lang="en-US" sz="1200" dirty="0"/>
              <a:t>    YEAR(</a:t>
            </a:r>
            <a:r>
              <a:rPr lang="en-US" sz="1200" dirty="0" err="1"/>
              <a:t>sale_date</a:t>
            </a:r>
            <a:r>
              <a:rPr lang="en-US" sz="1200" dirty="0"/>
              <a:t>) AS year,</a:t>
            </a:r>
          </a:p>
          <a:p>
            <a:r>
              <a:rPr lang="en-US" sz="1200" dirty="0"/>
              <a:t>    DATEPART(WEEK, </a:t>
            </a:r>
            <a:r>
              <a:rPr lang="en-US" sz="1200" dirty="0" err="1"/>
              <a:t>sale_date</a:t>
            </a:r>
            <a:r>
              <a:rPr lang="en-US" sz="1200" dirty="0"/>
              <a:t>) AS </a:t>
            </a:r>
            <a:r>
              <a:rPr lang="en-US" sz="1200" dirty="0" err="1"/>
              <a:t>week_num</a:t>
            </a:r>
            <a:endParaRPr lang="en-US" sz="1200" dirty="0"/>
          </a:p>
          <a:p>
            <a:r>
              <a:rPr lang="en-US" sz="1200" dirty="0"/>
              <a:t>    SUM(amount) AS </a:t>
            </a:r>
            <a:r>
              <a:rPr lang="en-US" sz="1200" dirty="0" err="1"/>
              <a:t>weekly_total</a:t>
            </a:r>
            <a:endParaRPr lang="en-US" sz="1200" dirty="0"/>
          </a:p>
          <a:p>
            <a:r>
              <a:rPr lang="en-US" sz="1200" dirty="0"/>
              <a:t>FROM sales</a:t>
            </a:r>
          </a:p>
          <a:p>
            <a:r>
              <a:rPr lang="en-US" sz="1200" dirty="0"/>
              <a:t>GROUP BY YEAR(</a:t>
            </a:r>
            <a:r>
              <a:rPr lang="en-US" sz="1200" dirty="0" err="1"/>
              <a:t>sale_date</a:t>
            </a:r>
            <a:r>
              <a:rPr lang="en-US" sz="1200" dirty="0"/>
              <a:t>), DATEPART(WEEK, </a:t>
            </a:r>
            <a:r>
              <a:rPr lang="en-US" sz="1200" dirty="0" err="1"/>
              <a:t>sale_date</a:t>
            </a:r>
            <a:r>
              <a:rPr lang="en-US" sz="1200" dirty="0"/>
              <a:t>)</a:t>
            </a:r>
          </a:p>
          <a:p>
            <a:r>
              <a:rPr lang="en-US" sz="1200" dirty="0"/>
              <a:t>ORDER BY year, </a:t>
            </a:r>
            <a:r>
              <a:rPr lang="en-US" sz="1200" dirty="0" err="1"/>
              <a:t>week_num</a:t>
            </a:r>
            <a:r>
              <a:rPr lang="en-US" sz="1200" dirty="0"/>
              <a: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EEDEB1-3A31-ABC1-F133-F4F711B5D237}"/>
            </a:ext>
          </a:extLst>
        </p:cNvPr>
        <p:cNvGrpSpPr/>
        <p:nvPr/>
      </p:nvGrpSpPr>
      <p:grpSpPr>
        <a:xfrm>
          <a:off x="0" y="0"/>
          <a:ext cx="0" cy="0"/>
          <a:chOff x="0" y="0"/>
          <a:chExt cx="0" cy="0"/>
        </a:xfrm>
      </p:grpSpPr>
      <p:sp>
        <p:nvSpPr>
          <p:cNvPr id="41988" name="Rectangle 2">
            <a:extLst>
              <a:ext uri="{FF2B5EF4-FFF2-40B4-BE49-F238E27FC236}">
                <a16:creationId xmlns:a16="http://schemas.microsoft.com/office/drawing/2014/main" id="{00A606B5-B3D1-465D-21B3-2A30D3B84E74}"/>
              </a:ext>
            </a:extLst>
          </p:cNvPr>
          <p:cNvSpPr>
            <a:spLocks noChangeArrowheads="1"/>
          </p:cNvSpPr>
          <p:nvPr/>
        </p:nvSpPr>
        <p:spPr bwMode="auto">
          <a:xfrm>
            <a:off x="2438400" y="3048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algn="ctr" eaLnBrk="1" hangingPunct="1">
              <a:spcBef>
                <a:spcPct val="0"/>
              </a:spcBef>
              <a:buClrTx/>
              <a:buSzTx/>
              <a:buFontTx/>
              <a:buNone/>
            </a:pPr>
            <a:r>
              <a:rPr lang="en-US" altLang="en-US" sz="2900" b="1" dirty="0">
                <a:solidFill>
                  <a:srgbClr val="C00000"/>
                </a:solidFill>
                <a:latin typeface="Tahoma" panose="020B0604030504040204" pitchFamily="34" charset="0"/>
              </a:rPr>
              <a:t>Examples of Business Questions</a:t>
            </a:r>
            <a:endParaRPr lang="en-US" altLang="en-US" sz="2500" b="1" dirty="0">
              <a:solidFill>
                <a:srgbClr val="C00000"/>
              </a:solidFill>
              <a:latin typeface="Tahoma" panose="020B0604030504040204" pitchFamily="34" charset="0"/>
            </a:endParaRPr>
          </a:p>
        </p:txBody>
      </p:sp>
      <p:sp>
        <p:nvSpPr>
          <p:cNvPr id="41989" name="Text Box 3">
            <a:extLst>
              <a:ext uri="{FF2B5EF4-FFF2-40B4-BE49-F238E27FC236}">
                <a16:creationId xmlns:a16="http://schemas.microsoft.com/office/drawing/2014/main" id="{796CAE45-037B-3CAC-BE9F-ABFE6BCE9932}"/>
              </a:ext>
            </a:extLst>
          </p:cNvPr>
          <p:cNvSpPr txBox="1">
            <a:spLocks noChangeArrowheads="1"/>
          </p:cNvSpPr>
          <p:nvPr/>
        </p:nvSpPr>
        <p:spPr bwMode="auto">
          <a:xfrm>
            <a:off x="3049620" y="2704732"/>
            <a:ext cx="4134256"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a:spcBef>
                <a:spcPct val="50000"/>
              </a:spcBef>
              <a:buClrTx/>
              <a:buSzTx/>
              <a:buFontTx/>
              <a:buNone/>
            </a:pPr>
            <a:r>
              <a:rPr lang="en-US" altLang="en-US" sz="1200" dirty="0">
                <a:latin typeface="+mn-lt"/>
              </a:rPr>
              <a:t>SELECT </a:t>
            </a:r>
          </a:p>
          <a:p>
            <a:pPr>
              <a:spcBef>
                <a:spcPct val="50000"/>
              </a:spcBef>
              <a:buClrTx/>
              <a:buSzTx/>
              <a:buFontTx/>
              <a:buNone/>
            </a:pPr>
            <a:r>
              <a:rPr lang="en-US" altLang="en-US" sz="1200" dirty="0">
                <a:latin typeface="+mn-lt"/>
              </a:rPr>
              <a:t>    </a:t>
            </a:r>
            <a:r>
              <a:rPr lang="en-US" altLang="en-US" sz="1200" dirty="0" err="1">
                <a:latin typeface="+mn-lt"/>
              </a:rPr>
              <a:t>sale_date</a:t>
            </a:r>
            <a:r>
              <a:rPr lang="en-US" altLang="en-US" sz="1200" dirty="0">
                <a:latin typeface="+mn-lt"/>
              </a:rPr>
              <a:t>, amount,</a:t>
            </a:r>
          </a:p>
          <a:p>
            <a:pPr>
              <a:spcBef>
                <a:spcPct val="50000"/>
              </a:spcBef>
              <a:buClrTx/>
              <a:buSzTx/>
              <a:buFontTx/>
              <a:buNone/>
            </a:pPr>
            <a:r>
              <a:rPr lang="en-US" altLang="en-US" sz="1200" dirty="0">
                <a:latin typeface="+mn-lt"/>
              </a:rPr>
              <a:t>    SUM(amount) OVER (ORDER BY </a:t>
            </a:r>
            <a:r>
              <a:rPr lang="en-US" altLang="en-US" sz="1200" dirty="0" err="1">
                <a:latin typeface="+mn-lt"/>
              </a:rPr>
              <a:t>sale_date</a:t>
            </a:r>
            <a:r>
              <a:rPr lang="en-US" altLang="en-US" sz="1200" dirty="0">
                <a:latin typeface="+mn-lt"/>
              </a:rPr>
              <a:t>) AS </a:t>
            </a:r>
            <a:r>
              <a:rPr lang="en-US" altLang="en-US" sz="1200" dirty="0" err="1">
                <a:latin typeface="+mn-lt"/>
              </a:rPr>
              <a:t>running_total</a:t>
            </a:r>
            <a:endParaRPr lang="en-US" altLang="en-US" sz="1200" dirty="0">
              <a:latin typeface="+mn-lt"/>
            </a:endParaRPr>
          </a:p>
          <a:p>
            <a:pPr>
              <a:spcBef>
                <a:spcPct val="50000"/>
              </a:spcBef>
              <a:buClrTx/>
              <a:buSzTx/>
              <a:buFontTx/>
              <a:buNone/>
            </a:pPr>
            <a:r>
              <a:rPr lang="en-US" altLang="en-US" sz="1200" dirty="0">
                <a:latin typeface="+mn-lt"/>
              </a:rPr>
              <a:t>FROM sales;</a:t>
            </a:r>
          </a:p>
        </p:txBody>
      </p:sp>
      <p:sp>
        <p:nvSpPr>
          <p:cNvPr id="41991" name="TextBox 1">
            <a:extLst>
              <a:ext uri="{FF2B5EF4-FFF2-40B4-BE49-F238E27FC236}">
                <a16:creationId xmlns:a16="http://schemas.microsoft.com/office/drawing/2014/main" id="{AA8C74E8-76DF-FB08-AC41-8D7207B5F47C}"/>
              </a:ext>
            </a:extLst>
          </p:cNvPr>
          <p:cNvSpPr txBox="1">
            <a:spLocks noChangeArrowheads="1"/>
          </p:cNvSpPr>
          <p:nvPr/>
        </p:nvSpPr>
        <p:spPr bwMode="auto">
          <a:xfrm>
            <a:off x="1828800" y="5334001"/>
            <a:ext cx="8332788" cy="461963"/>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eaLnBrk="1" hangingPunct="1">
              <a:spcBef>
                <a:spcPct val="0"/>
              </a:spcBef>
              <a:buClrTx/>
              <a:buSzTx/>
              <a:buFontTx/>
              <a:buNone/>
            </a:pPr>
            <a:r>
              <a:rPr lang="en-US" altLang="en-US" sz="1200">
                <a:latin typeface="Arial" panose="020B0604020202020204" pitchFamily="34" charset="0"/>
              </a:rPr>
              <a:t>Source: </a:t>
            </a:r>
            <a:r>
              <a:rPr lang="en-US" altLang="en-US" sz="1200">
                <a:latin typeface="Arial" panose="020B0604020202020204" pitchFamily="34" charset="0"/>
                <a:hlinkClick r:id="rId3"/>
              </a:rPr>
              <a:t>http://publib.boulder.ibm.com/infocenter/rbhelp/v6r3/index.jsp?topic=%2Fcom.ibm.redbrick.doc6.3%2Fssg%2Fssg17.htm</a:t>
            </a:r>
            <a:r>
              <a:rPr lang="en-US" altLang="en-US" sz="1200">
                <a:latin typeface="Arial" panose="020B0604020202020204" pitchFamily="34" charset="0"/>
              </a:rPr>
              <a:t> </a:t>
            </a:r>
          </a:p>
        </p:txBody>
      </p:sp>
      <p:sp>
        <p:nvSpPr>
          <p:cNvPr id="2" name="Date Placeholder 1">
            <a:extLst>
              <a:ext uri="{FF2B5EF4-FFF2-40B4-BE49-F238E27FC236}">
                <a16:creationId xmlns:a16="http://schemas.microsoft.com/office/drawing/2014/main" id="{05A45BAA-9072-1E17-CF44-CFC934645F3F}"/>
              </a:ext>
            </a:extLst>
          </p:cNvPr>
          <p:cNvSpPr>
            <a:spLocks noGrp="1"/>
          </p:cNvSpPr>
          <p:nvPr>
            <p:ph type="dt" sz="half" idx="10"/>
          </p:nvPr>
        </p:nvSpPr>
        <p:spPr/>
        <p:txBody>
          <a:bodyPr/>
          <a:lstStyle/>
          <a:p>
            <a:fld id="{7D3931B6-3D0D-4E16-B4C4-BC25D4BDC5C3}" type="datetime1">
              <a:rPr lang="en-US" smtClean="0"/>
              <a:t>2/1/2026</a:t>
            </a:fld>
            <a:endParaRPr lang="en-US" dirty="0"/>
          </a:p>
        </p:txBody>
      </p:sp>
      <p:sp>
        <p:nvSpPr>
          <p:cNvPr id="5" name="Footer Placeholder 4">
            <a:extLst>
              <a:ext uri="{FF2B5EF4-FFF2-40B4-BE49-F238E27FC236}">
                <a16:creationId xmlns:a16="http://schemas.microsoft.com/office/drawing/2014/main" id="{85FA8CBB-8C73-2816-175D-05966F94ACE7}"/>
              </a:ext>
            </a:extLst>
          </p:cNvPr>
          <p:cNvSpPr>
            <a:spLocks noGrp="1"/>
          </p:cNvSpPr>
          <p:nvPr>
            <p:ph type="ftr" sz="quarter" idx="11"/>
          </p:nvPr>
        </p:nvSpPr>
        <p:spPr/>
        <p:txBody>
          <a:bodyPr/>
          <a:lstStyle/>
          <a:p>
            <a:r>
              <a:rPr lang="en-US"/>
              <a:t>Copyright (c) Arun Sen Texas A&amp;M University</a:t>
            </a:r>
            <a:endParaRPr lang="en-US" dirty="0"/>
          </a:p>
        </p:txBody>
      </p:sp>
      <p:sp>
        <p:nvSpPr>
          <p:cNvPr id="6" name="Slide Number Placeholder 5">
            <a:extLst>
              <a:ext uri="{FF2B5EF4-FFF2-40B4-BE49-F238E27FC236}">
                <a16:creationId xmlns:a16="http://schemas.microsoft.com/office/drawing/2014/main" id="{33D6C81C-AEC5-E279-FE6C-93FB91E7D1C7}"/>
              </a:ext>
            </a:extLst>
          </p:cNvPr>
          <p:cNvSpPr>
            <a:spLocks noGrp="1"/>
          </p:cNvSpPr>
          <p:nvPr>
            <p:ph type="sldNum" sz="quarter" idx="12"/>
          </p:nvPr>
        </p:nvSpPr>
        <p:spPr/>
        <p:txBody>
          <a:bodyPr/>
          <a:lstStyle/>
          <a:p>
            <a:fld id="{69E57DC2-970A-4B3E-BB1C-7A09969E49DF}" type="slidenum">
              <a:rPr lang="en-US" smtClean="0"/>
              <a:t>13</a:t>
            </a:fld>
            <a:endParaRPr lang="en-US" dirty="0"/>
          </a:p>
        </p:txBody>
      </p:sp>
      <p:graphicFrame>
        <p:nvGraphicFramePr>
          <p:cNvPr id="3" name="Table 2">
            <a:extLst>
              <a:ext uri="{FF2B5EF4-FFF2-40B4-BE49-F238E27FC236}">
                <a16:creationId xmlns:a16="http://schemas.microsoft.com/office/drawing/2014/main" id="{F7E1A701-FA43-D494-E9B2-762C8D990C2F}"/>
              </a:ext>
            </a:extLst>
          </p:cNvPr>
          <p:cNvGraphicFramePr>
            <a:graphicFrameLocks noGrp="1"/>
          </p:cNvGraphicFramePr>
          <p:nvPr>
            <p:extLst>
              <p:ext uri="{D42A27DB-BD31-4B8C-83A1-F6EECF244321}">
                <p14:modId xmlns:p14="http://schemas.microsoft.com/office/powerpoint/2010/main" val="4270702681"/>
              </p:ext>
            </p:extLst>
          </p:nvPr>
        </p:nvGraphicFramePr>
        <p:xfrm>
          <a:off x="272374" y="2659380"/>
          <a:ext cx="2655652" cy="1463040"/>
        </p:xfrm>
        <a:graphic>
          <a:graphicData uri="http://schemas.openxmlformats.org/drawingml/2006/table">
            <a:tbl>
              <a:tblPr>
                <a:tableStyleId>{5940675A-B579-460E-94D1-54222C63F5DA}</a:tableStyleId>
              </a:tblPr>
              <a:tblGrid>
                <a:gridCol w="1327826">
                  <a:extLst>
                    <a:ext uri="{9D8B030D-6E8A-4147-A177-3AD203B41FA5}">
                      <a16:colId xmlns:a16="http://schemas.microsoft.com/office/drawing/2014/main" val="4226627427"/>
                    </a:ext>
                  </a:extLst>
                </a:gridCol>
                <a:gridCol w="1327826">
                  <a:extLst>
                    <a:ext uri="{9D8B030D-6E8A-4147-A177-3AD203B41FA5}">
                      <a16:colId xmlns:a16="http://schemas.microsoft.com/office/drawing/2014/main" val="1503964340"/>
                    </a:ext>
                  </a:extLst>
                </a:gridCol>
              </a:tblGrid>
              <a:tr h="0">
                <a:tc>
                  <a:txBody>
                    <a:bodyPr/>
                    <a:lstStyle/>
                    <a:p>
                      <a:pPr>
                        <a:buNone/>
                      </a:pPr>
                      <a:r>
                        <a:rPr lang="en-US"/>
                        <a:t>sale_date</a:t>
                      </a:r>
                    </a:p>
                  </a:txBody>
                  <a:tcPr anchor="ctr"/>
                </a:tc>
                <a:tc>
                  <a:txBody>
                    <a:bodyPr/>
                    <a:lstStyle/>
                    <a:p>
                      <a:pPr>
                        <a:buNone/>
                      </a:pPr>
                      <a:r>
                        <a:rPr lang="en-US"/>
                        <a:t>amount</a:t>
                      </a:r>
                    </a:p>
                  </a:txBody>
                  <a:tcPr anchor="ctr"/>
                </a:tc>
                <a:extLst>
                  <a:ext uri="{0D108BD9-81ED-4DB2-BD59-A6C34878D82A}">
                    <a16:rowId xmlns:a16="http://schemas.microsoft.com/office/drawing/2014/main" val="319854873"/>
                  </a:ext>
                </a:extLst>
              </a:tr>
              <a:tr h="0">
                <a:tc>
                  <a:txBody>
                    <a:bodyPr/>
                    <a:lstStyle/>
                    <a:p>
                      <a:pPr>
                        <a:buNone/>
                      </a:pPr>
                      <a:r>
                        <a:rPr lang="en-US" dirty="0"/>
                        <a:t>2025-01-01</a:t>
                      </a:r>
                    </a:p>
                  </a:txBody>
                  <a:tcPr anchor="ctr"/>
                </a:tc>
                <a:tc>
                  <a:txBody>
                    <a:bodyPr/>
                    <a:lstStyle/>
                    <a:p>
                      <a:pPr>
                        <a:buNone/>
                      </a:pPr>
                      <a:r>
                        <a:rPr lang="en-US"/>
                        <a:t>100</a:t>
                      </a:r>
                    </a:p>
                  </a:txBody>
                  <a:tcPr anchor="ctr"/>
                </a:tc>
                <a:extLst>
                  <a:ext uri="{0D108BD9-81ED-4DB2-BD59-A6C34878D82A}">
                    <a16:rowId xmlns:a16="http://schemas.microsoft.com/office/drawing/2014/main" val="4177759294"/>
                  </a:ext>
                </a:extLst>
              </a:tr>
              <a:tr h="0">
                <a:tc>
                  <a:txBody>
                    <a:bodyPr/>
                    <a:lstStyle/>
                    <a:p>
                      <a:pPr>
                        <a:buNone/>
                      </a:pPr>
                      <a:r>
                        <a:rPr lang="en-US"/>
                        <a:t>2025-01-03</a:t>
                      </a:r>
                    </a:p>
                  </a:txBody>
                  <a:tcPr anchor="ctr"/>
                </a:tc>
                <a:tc>
                  <a:txBody>
                    <a:bodyPr/>
                    <a:lstStyle/>
                    <a:p>
                      <a:pPr>
                        <a:buNone/>
                      </a:pPr>
                      <a:r>
                        <a:rPr lang="en-US"/>
                        <a:t>200</a:t>
                      </a:r>
                    </a:p>
                  </a:txBody>
                  <a:tcPr anchor="ctr"/>
                </a:tc>
                <a:extLst>
                  <a:ext uri="{0D108BD9-81ED-4DB2-BD59-A6C34878D82A}">
                    <a16:rowId xmlns:a16="http://schemas.microsoft.com/office/drawing/2014/main" val="799443248"/>
                  </a:ext>
                </a:extLst>
              </a:tr>
              <a:tr h="0">
                <a:tc>
                  <a:txBody>
                    <a:bodyPr/>
                    <a:lstStyle/>
                    <a:p>
                      <a:pPr>
                        <a:buNone/>
                      </a:pPr>
                      <a:r>
                        <a:rPr lang="en-US"/>
                        <a:t>2025-01-05</a:t>
                      </a:r>
                    </a:p>
                  </a:txBody>
                  <a:tcPr anchor="ctr"/>
                </a:tc>
                <a:tc>
                  <a:txBody>
                    <a:bodyPr/>
                    <a:lstStyle/>
                    <a:p>
                      <a:pPr>
                        <a:buNone/>
                      </a:pPr>
                      <a:r>
                        <a:rPr lang="en-US" dirty="0"/>
                        <a:t>50</a:t>
                      </a:r>
                    </a:p>
                  </a:txBody>
                  <a:tcPr anchor="ctr"/>
                </a:tc>
                <a:extLst>
                  <a:ext uri="{0D108BD9-81ED-4DB2-BD59-A6C34878D82A}">
                    <a16:rowId xmlns:a16="http://schemas.microsoft.com/office/drawing/2014/main" val="614740355"/>
                  </a:ext>
                </a:extLst>
              </a:tr>
            </a:tbl>
          </a:graphicData>
        </a:graphic>
      </p:graphicFrame>
      <p:graphicFrame>
        <p:nvGraphicFramePr>
          <p:cNvPr id="4" name="Table 3">
            <a:extLst>
              <a:ext uri="{FF2B5EF4-FFF2-40B4-BE49-F238E27FC236}">
                <a16:creationId xmlns:a16="http://schemas.microsoft.com/office/drawing/2014/main" id="{DD4646F6-E676-2576-148D-4129BE3AAB60}"/>
              </a:ext>
            </a:extLst>
          </p:cNvPr>
          <p:cNvGraphicFramePr>
            <a:graphicFrameLocks noGrp="1"/>
          </p:cNvGraphicFramePr>
          <p:nvPr>
            <p:extLst>
              <p:ext uri="{D42A27DB-BD31-4B8C-83A1-F6EECF244321}">
                <p14:modId xmlns:p14="http://schemas.microsoft.com/office/powerpoint/2010/main" val="1997070647"/>
              </p:ext>
            </p:extLst>
          </p:nvPr>
        </p:nvGraphicFramePr>
        <p:xfrm>
          <a:off x="7305471" y="2527210"/>
          <a:ext cx="4396902" cy="1463040"/>
        </p:xfrm>
        <a:graphic>
          <a:graphicData uri="http://schemas.openxmlformats.org/drawingml/2006/table">
            <a:tbl>
              <a:tblPr>
                <a:tableStyleId>{5940675A-B579-460E-94D1-54222C63F5DA}</a:tableStyleId>
              </a:tblPr>
              <a:tblGrid>
                <a:gridCol w="1465634">
                  <a:extLst>
                    <a:ext uri="{9D8B030D-6E8A-4147-A177-3AD203B41FA5}">
                      <a16:colId xmlns:a16="http://schemas.microsoft.com/office/drawing/2014/main" val="3744583597"/>
                    </a:ext>
                  </a:extLst>
                </a:gridCol>
                <a:gridCol w="1465634">
                  <a:extLst>
                    <a:ext uri="{9D8B030D-6E8A-4147-A177-3AD203B41FA5}">
                      <a16:colId xmlns:a16="http://schemas.microsoft.com/office/drawing/2014/main" val="1735184887"/>
                    </a:ext>
                  </a:extLst>
                </a:gridCol>
                <a:gridCol w="1465634">
                  <a:extLst>
                    <a:ext uri="{9D8B030D-6E8A-4147-A177-3AD203B41FA5}">
                      <a16:colId xmlns:a16="http://schemas.microsoft.com/office/drawing/2014/main" val="2192843804"/>
                    </a:ext>
                  </a:extLst>
                </a:gridCol>
              </a:tblGrid>
              <a:tr h="0">
                <a:tc>
                  <a:txBody>
                    <a:bodyPr/>
                    <a:lstStyle/>
                    <a:p>
                      <a:pPr>
                        <a:buNone/>
                      </a:pPr>
                      <a:r>
                        <a:rPr lang="en-US"/>
                        <a:t>sale_date</a:t>
                      </a:r>
                    </a:p>
                  </a:txBody>
                  <a:tcPr anchor="ctr"/>
                </a:tc>
                <a:tc>
                  <a:txBody>
                    <a:bodyPr/>
                    <a:lstStyle/>
                    <a:p>
                      <a:pPr>
                        <a:buNone/>
                      </a:pPr>
                      <a:r>
                        <a:rPr lang="en-US"/>
                        <a:t>amount</a:t>
                      </a:r>
                    </a:p>
                  </a:txBody>
                  <a:tcPr anchor="ctr"/>
                </a:tc>
                <a:tc>
                  <a:txBody>
                    <a:bodyPr/>
                    <a:lstStyle/>
                    <a:p>
                      <a:pPr>
                        <a:buNone/>
                      </a:pPr>
                      <a:r>
                        <a:rPr lang="en-US"/>
                        <a:t>running_total</a:t>
                      </a:r>
                    </a:p>
                  </a:txBody>
                  <a:tcPr anchor="ctr"/>
                </a:tc>
                <a:extLst>
                  <a:ext uri="{0D108BD9-81ED-4DB2-BD59-A6C34878D82A}">
                    <a16:rowId xmlns:a16="http://schemas.microsoft.com/office/drawing/2014/main" val="3320006372"/>
                  </a:ext>
                </a:extLst>
              </a:tr>
              <a:tr h="0">
                <a:tc>
                  <a:txBody>
                    <a:bodyPr/>
                    <a:lstStyle/>
                    <a:p>
                      <a:pPr>
                        <a:buNone/>
                      </a:pPr>
                      <a:r>
                        <a:rPr lang="en-US"/>
                        <a:t>2025-01-01</a:t>
                      </a:r>
                    </a:p>
                  </a:txBody>
                  <a:tcPr anchor="ctr"/>
                </a:tc>
                <a:tc>
                  <a:txBody>
                    <a:bodyPr/>
                    <a:lstStyle/>
                    <a:p>
                      <a:pPr>
                        <a:buNone/>
                      </a:pPr>
                      <a:r>
                        <a:rPr lang="en-US"/>
                        <a:t>100</a:t>
                      </a:r>
                    </a:p>
                  </a:txBody>
                  <a:tcPr anchor="ctr"/>
                </a:tc>
                <a:tc>
                  <a:txBody>
                    <a:bodyPr/>
                    <a:lstStyle/>
                    <a:p>
                      <a:pPr>
                        <a:buNone/>
                      </a:pPr>
                      <a:r>
                        <a:rPr lang="en-US"/>
                        <a:t>100</a:t>
                      </a:r>
                    </a:p>
                  </a:txBody>
                  <a:tcPr anchor="ctr"/>
                </a:tc>
                <a:extLst>
                  <a:ext uri="{0D108BD9-81ED-4DB2-BD59-A6C34878D82A}">
                    <a16:rowId xmlns:a16="http://schemas.microsoft.com/office/drawing/2014/main" val="2444631691"/>
                  </a:ext>
                </a:extLst>
              </a:tr>
              <a:tr h="0">
                <a:tc>
                  <a:txBody>
                    <a:bodyPr/>
                    <a:lstStyle/>
                    <a:p>
                      <a:pPr>
                        <a:buNone/>
                      </a:pPr>
                      <a:r>
                        <a:rPr lang="en-US"/>
                        <a:t>2025-01-03</a:t>
                      </a:r>
                    </a:p>
                  </a:txBody>
                  <a:tcPr anchor="ctr"/>
                </a:tc>
                <a:tc>
                  <a:txBody>
                    <a:bodyPr/>
                    <a:lstStyle/>
                    <a:p>
                      <a:pPr>
                        <a:buNone/>
                      </a:pPr>
                      <a:r>
                        <a:rPr lang="en-US"/>
                        <a:t>200</a:t>
                      </a:r>
                    </a:p>
                  </a:txBody>
                  <a:tcPr anchor="ctr"/>
                </a:tc>
                <a:tc>
                  <a:txBody>
                    <a:bodyPr/>
                    <a:lstStyle/>
                    <a:p>
                      <a:pPr>
                        <a:buNone/>
                      </a:pPr>
                      <a:r>
                        <a:rPr lang="en-US"/>
                        <a:t>300</a:t>
                      </a:r>
                    </a:p>
                  </a:txBody>
                  <a:tcPr anchor="ctr"/>
                </a:tc>
                <a:extLst>
                  <a:ext uri="{0D108BD9-81ED-4DB2-BD59-A6C34878D82A}">
                    <a16:rowId xmlns:a16="http://schemas.microsoft.com/office/drawing/2014/main" val="3363948164"/>
                  </a:ext>
                </a:extLst>
              </a:tr>
              <a:tr h="0">
                <a:tc>
                  <a:txBody>
                    <a:bodyPr/>
                    <a:lstStyle/>
                    <a:p>
                      <a:pPr>
                        <a:buNone/>
                      </a:pPr>
                      <a:r>
                        <a:rPr lang="en-US"/>
                        <a:t>2025-01-05</a:t>
                      </a:r>
                    </a:p>
                  </a:txBody>
                  <a:tcPr anchor="ctr"/>
                </a:tc>
                <a:tc>
                  <a:txBody>
                    <a:bodyPr/>
                    <a:lstStyle/>
                    <a:p>
                      <a:pPr>
                        <a:buNone/>
                      </a:pPr>
                      <a:r>
                        <a:rPr lang="en-US"/>
                        <a:t>50</a:t>
                      </a:r>
                    </a:p>
                  </a:txBody>
                  <a:tcPr anchor="ctr"/>
                </a:tc>
                <a:tc>
                  <a:txBody>
                    <a:bodyPr/>
                    <a:lstStyle/>
                    <a:p>
                      <a:pPr>
                        <a:buNone/>
                      </a:pPr>
                      <a:r>
                        <a:rPr lang="en-US" dirty="0"/>
                        <a:t>350</a:t>
                      </a:r>
                    </a:p>
                  </a:txBody>
                  <a:tcPr anchor="ctr"/>
                </a:tc>
                <a:extLst>
                  <a:ext uri="{0D108BD9-81ED-4DB2-BD59-A6C34878D82A}">
                    <a16:rowId xmlns:a16="http://schemas.microsoft.com/office/drawing/2014/main" val="2027182589"/>
                  </a:ext>
                </a:extLst>
              </a:tr>
            </a:tbl>
          </a:graphicData>
        </a:graphic>
      </p:graphicFrame>
    </p:spTree>
    <p:extLst>
      <p:ext uri="{BB962C8B-B14F-4D97-AF65-F5344CB8AC3E}">
        <p14:creationId xmlns:p14="http://schemas.microsoft.com/office/powerpoint/2010/main" val="35951223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4044" name="Rectangle 44043">
            <a:extLst>
              <a:ext uri="{FF2B5EF4-FFF2-40B4-BE49-F238E27FC236}">
                <a16:creationId xmlns:a16="http://schemas.microsoft.com/office/drawing/2014/main" id="{36D16D1E-4205-49F5-BD2A-DA769947C1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44046" name="Rectangle 44045">
            <a:extLst>
              <a:ext uri="{FF2B5EF4-FFF2-40B4-BE49-F238E27FC236}">
                <a16:creationId xmlns:a16="http://schemas.microsoft.com/office/drawing/2014/main" id="{012FD100-C039-4E03-B5E4-2EDFA7290A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4193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44048" name="Straight Connector 44047">
            <a:extLst>
              <a:ext uri="{FF2B5EF4-FFF2-40B4-BE49-F238E27FC236}">
                <a16:creationId xmlns:a16="http://schemas.microsoft.com/office/drawing/2014/main" id="{4418FCD2-8448-4A81-8EB4-72250F7827B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44050" name="Rectangle 44049">
            <a:extLst>
              <a:ext uri="{FF2B5EF4-FFF2-40B4-BE49-F238E27FC236}">
                <a16:creationId xmlns:a16="http://schemas.microsoft.com/office/drawing/2014/main" id="{A6B16355-27FB-445B-B646-02AB736374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4036" name="Rectangle 2">
            <a:extLst>
              <a:ext uri="{FF2B5EF4-FFF2-40B4-BE49-F238E27FC236}">
                <a16:creationId xmlns:a16="http://schemas.microsoft.com/office/drawing/2014/main" id="{F499708D-9CB0-4590-AB37-039DF9CD2A5E}"/>
              </a:ext>
            </a:extLst>
          </p:cNvPr>
          <p:cNvSpPr>
            <a:spLocks noChangeArrowheads="1"/>
          </p:cNvSpPr>
          <p:nvPr/>
        </p:nvSpPr>
        <p:spPr bwMode="auto">
          <a:xfrm>
            <a:off x="8177212" y="634946"/>
            <a:ext cx="3372529" cy="5055904"/>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rm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defTabSz="914400">
              <a:lnSpc>
                <a:spcPct val="85000"/>
              </a:lnSpc>
              <a:spcBef>
                <a:spcPct val="0"/>
              </a:spcBef>
              <a:spcAft>
                <a:spcPts val="600"/>
              </a:spcAft>
              <a:buClrTx/>
              <a:buSzTx/>
              <a:buNone/>
            </a:pPr>
            <a:r>
              <a:rPr lang="en-US" altLang="en-US" sz="4800" b="1" spc="-50">
                <a:solidFill>
                  <a:schemeClr val="tx1">
                    <a:lumMod val="75000"/>
                    <a:lumOff val="25000"/>
                  </a:schemeClr>
                </a:solidFill>
                <a:latin typeface="+mj-lt"/>
                <a:ea typeface="+mj-ea"/>
                <a:cs typeface="+mj-cs"/>
              </a:rPr>
              <a:t>Examples of Business Questions</a:t>
            </a:r>
          </a:p>
        </p:txBody>
      </p:sp>
      <p:cxnSp>
        <p:nvCxnSpPr>
          <p:cNvPr id="44052" name="Straight Connector 44051">
            <a:extLst>
              <a:ext uri="{FF2B5EF4-FFF2-40B4-BE49-F238E27FC236}">
                <a16:creationId xmlns:a16="http://schemas.microsoft.com/office/drawing/2014/main" id="{06DA680F-F6AC-453E-A8BF-C5BDED2851D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856978" y="1791298"/>
            <a:ext cx="0" cy="274320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4054" name="Rectangle 44053">
            <a:extLst>
              <a:ext uri="{FF2B5EF4-FFF2-40B4-BE49-F238E27FC236}">
                <a16:creationId xmlns:a16="http://schemas.microsoft.com/office/drawing/2014/main" id="{6B3BF2E5-C3AB-441F-A430-491119C56D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44056" name="Rectangle 44055">
            <a:extLst>
              <a:ext uri="{FF2B5EF4-FFF2-40B4-BE49-F238E27FC236}">
                <a16:creationId xmlns:a16="http://schemas.microsoft.com/office/drawing/2014/main" id="{DD07C90B-B81A-473B-8919-CA924E61FF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44037" name="Text Box 3">
            <a:extLst>
              <a:ext uri="{FF2B5EF4-FFF2-40B4-BE49-F238E27FC236}">
                <a16:creationId xmlns:a16="http://schemas.microsoft.com/office/drawing/2014/main" id="{BF633F6D-D703-487A-8112-45F5B3BC25B8}"/>
              </a:ext>
            </a:extLst>
          </p:cNvPr>
          <p:cNvSpPr txBox="1">
            <a:spLocks noChangeArrowheads="1"/>
          </p:cNvSpPr>
          <p:nvPr/>
        </p:nvSpPr>
        <p:spPr bwMode="auto">
          <a:xfrm>
            <a:off x="2895600" y="2667001"/>
            <a:ext cx="6934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a:spcBef>
                <a:spcPct val="50000"/>
              </a:spcBef>
              <a:buClrTx/>
              <a:buSzTx/>
              <a:buFontTx/>
              <a:buNone/>
            </a:pPr>
            <a:endParaRPr lang="en-US" altLang="en-US" sz="2000">
              <a:latin typeface="Tahoma" panose="020B0604030504040204" pitchFamily="34" charset="0"/>
            </a:endParaRPr>
          </a:p>
        </p:txBody>
      </p:sp>
      <p:sp>
        <p:nvSpPr>
          <p:cNvPr id="23558" name="Text Box 4">
            <a:extLst>
              <a:ext uri="{FF2B5EF4-FFF2-40B4-BE49-F238E27FC236}">
                <a16:creationId xmlns:a16="http://schemas.microsoft.com/office/drawing/2014/main" id="{6D92BCDA-08AC-4413-BB14-6123ED782A64}"/>
              </a:ext>
            </a:extLst>
          </p:cNvPr>
          <p:cNvSpPr txBox="1">
            <a:spLocks noChangeArrowheads="1"/>
          </p:cNvSpPr>
          <p:nvPr/>
        </p:nvSpPr>
        <p:spPr bwMode="auto">
          <a:xfrm>
            <a:off x="1131040" y="1473478"/>
            <a:ext cx="5834682" cy="2480551"/>
          </a:xfrm>
          <a:prstGeom prst="rect">
            <a:avLst/>
          </a:prstGeom>
          <a:noFill/>
          <a:ln>
            <a:noFill/>
          </a:ln>
        </p:spPr>
        <p:txBody>
          <a:bodyPr wrap="square">
            <a:spAutoFit/>
          </a:bodyPr>
          <a:lstStyle>
            <a:lvl1pPr eaLnBrk="0" hangingPunct="0">
              <a:spcBef>
                <a:spcPct val="20000"/>
              </a:spcBef>
              <a:buClr>
                <a:schemeClr val="accent1"/>
              </a:buClr>
              <a:buSzPct val="85000"/>
              <a:buFont typeface="Arial" charset="0"/>
              <a:buChar char="•"/>
              <a:defRPr sz="2400">
                <a:solidFill>
                  <a:schemeClr val="tx1"/>
                </a:solidFill>
                <a:latin typeface="Arial" charset="0"/>
              </a:defRPr>
            </a:lvl1pPr>
            <a:lvl2pPr marL="800100" indent="-342900" eaLnBrk="0" hangingPunct="0">
              <a:spcBef>
                <a:spcPct val="20000"/>
              </a:spcBef>
              <a:buClr>
                <a:schemeClr val="accent1"/>
              </a:buClr>
              <a:buSzPct val="85000"/>
              <a:buFont typeface="Arial" charset="0"/>
              <a:buChar char="•"/>
              <a:defRPr sz="2000">
                <a:solidFill>
                  <a:schemeClr val="tx1"/>
                </a:solidFill>
                <a:latin typeface="Arial" charset="0"/>
              </a:defRPr>
            </a:lvl2pPr>
            <a:lvl3pPr marL="1143000" indent="-228600" eaLnBrk="0" hangingPunct="0">
              <a:spcBef>
                <a:spcPct val="20000"/>
              </a:spcBef>
              <a:buClr>
                <a:schemeClr val="accent1"/>
              </a:buClr>
              <a:buSzPct val="90000"/>
              <a:buFont typeface="Arial" charset="0"/>
              <a:buChar char="•"/>
              <a:defRPr>
                <a:solidFill>
                  <a:schemeClr val="tx1"/>
                </a:solidFill>
                <a:latin typeface="Arial" charset="0"/>
              </a:defRPr>
            </a:lvl3pPr>
            <a:lvl4pPr marL="1600200" indent="-228600" eaLnBrk="0" hangingPunct="0">
              <a:spcBef>
                <a:spcPct val="20000"/>
              </a:spcBef>
              <a:buClr>
                <a:schemeClr val="accent1"/>
              </a:buClr>
              <a:buFont typeface="Arial" charset="0"/>
              <a:buChar char="•"/>
              <a:defRPr sz="1600">
                <a:solidFill>
                  <a:schemeClr val="tx1"/>
                </a:solidFill>
                <a:latin typeface="Arial" charset="0"/>
              </a:defRPr>
            </a:lvl4pPr>
            <a:lvl5pPr marL="2057400" indent="-228600" eaLnBrk="0" hangingPunct="0">
              <a:spcBef>
                <a:spcPct val="20000"/>
              </a:spcBef>
              <a:buClr>
                <a:schemeClr val="accent1"/>
              </a:buClr>
              <a:buSzPct val="100000"/>
              <a:buFont typeface="Arial" charset="0"/>
              <a:buChar char="•"/>
              <a:defRPr sz="1400">
                <a:solidFill>
                  <a:schemeClr val="tx1"/>
                </a:solidFill>
                <a:latin typeface="Arial" charset="0"/>
              </a:defRPr>
            </a:lvl5pPr>
            <a:lvl6pPr marL="2514600" indent="-228600" eaLnBrk="0" fontAlgn="base" hangingPunct="0">
              <a:spcBef>
                <a:spcPct val="20000"/>
              </a:spcBef>
              <a:spcAft>
                <a:spcPct val="0"/>
              </a:spcAft>
              <a:buClr>
                <a:schemeClr val="accent1"/>
              </a:buClr>
              <a:buSzPct val="100000"/>
              <a:buFont typeface="Arial" charset="0"/>
              <a:buChar char="•"/>
              <a:defRPr sz="1400">
                <a:solidFill>
                  <a:schemeClr val="tx1"/>
                </a:solidFill>
                <a:latin typeface="Arial" charset="0"/>
              </a:defRPr>
            </a:lvl6pPr>
            <a:lvl7pPr marL="2971800" indent="-228600" eaLnBrk="0" fontAlgn="base" hangingPunct="0">
              <a:spcBef>
                <a:spcPct val="20000"/>
              </a:spcBef>
              <a:spcAft>
                <a:spcPct val="0"/>
              </a:spcAft>
              <a:buClr>
                <a:schemeClr val="accent1"/>
              </a:buClr>
              <a:buSzPct val="100000"/>
              <a:buFont typeface="Arial" charset="0"/>
              <a:buChar char="•"/>
              <a:defRPr sz="1400">
                <a:solidFill>
                  <a:schemeClr val="tx1"/>
                </a:solidFill>
                <a:latin typeface="Arial" charset="0"/>
              </a:defRPr>
            </a:lvl7pPr>
            <a:lvl8pPr marL="3429000" indent="-228600" eaLnBrk="0" fontAlgn="base" hangingPunct="0">
              <a:spcBef>
                <a:spcPct val="20000"/>
              </a:spcBef>
              <a:spcAft>
                <a:spcPct val="0"/>
              </a:spcAft>
              <a:buClr>
                <a:schemeClr val="accent1"/>
              </a:buClr>
              <a:buSzPct val="100000"/>
              <a:buFont typeface="Arial" charset="0"/>
              <a:buChar char="•"/>
              <a:defRPr sz="1400">
                <a:solidFill>
                  <a:schemeClr val="tx1"/>
                </a:solidFill>
                <a:latin typeface="Arial" charset="0"/>
              </a:defRPr>
            </a:lvl8pPr>
            <a:lvl9pPr marL="3886200" indent="-228600" eaLnBrk="0" fontAlgn="base" hangingPunct="0">
              <a:spcBef>
                <a:spcPct val="20000"/>
              </a:spcBef>
              <a:spcAft>
                <a:spcPct val="0"/>
              </a:spcAft>
              <a:buClr>
                <a:schemeClr val="accent1"/>
              </a:buClr>
              <a:buSzPct val="100000"/>
              <a:buFont typeface="Arial" charset="0"/>
              <a:buChar char="•"/>
              <a:defRPr sz="1400">
                <a:solidFill>
                  <a:schemeClr val="tx1"/>
                </a:solidFill>
                <a:latin typeface="Arial" charset="0"/>
              </a:defRPr>
            </a:lvl9pPr>
          </a:lstStyle>
          <a:p>
            <a:pPr defTabSz="310896">
              <a:spcBef>
                <a:spcPct val="0"/>
              </a:spcBef>
              <a:buClrTx/>
              <a:buSzTx/>
              <a:buNone/>
              <a:defRPr/>
            </a:pPr>
            <a:r>
              <a:rPr lang="en-US" altLang="en-US" sz="816" b="1" kern="1200">
                <a:solidFill>
                  <a:schemeClr val="tx1"/>
                </a:solidFill>
                <a:latin typeface="Arial" charset="0"/>
                <a:ea typeface="+mn-ea"/>
                <a:cs typeface="+mn-cs"/>
              </a:rPr>
              <a:t>Easy</a:t>
            </a:r>
          </a:p>
          <a:p>
            <a:pPr marL="544068" lvl="1" indent="-233172" defTabSz="310896">
              <a:spcBef>
                <a:spcPct val="0"/>
              </a:spcBef>
              <a:buClrTx/>
              <a:buSzTx/>
              <a:buFont typeface="Arial" charset="0"/>
              <a:buAutoNum type="arabicPeriod"/>
              <a:defRPr/>
            </a:pPr>
            <a:r>
              <a:rPr lang="en-US" altLang="en-US" sz="816" kern="1200">
                <a:solidFill>
                  <a:schemeClr val="tx1"/>
                </a:solidFill>
                <a:latin typeface="Arial" charset="0"/>
                <a:ea typeface="+mn-ea"/>
                <a:cs typeface="+mn-cs"/>
              </a:rPr>
              <a:t>What were the weekly sales of </a:t>
            </a:r>
            <a:r>
              <a:rPr lang="en-US" altLang="en-US" sz="816" kern="1200" err="1">
                <a:solidFill>
                  <a:schemeClr val="tx1"/>
                </a:solidFill>
                <a:latin typeface="Arial" charset="0"/>
                <a:ea typeface="+mn-ea"/>
                <a:cs typeface="+mn-cs"/>
              </a:rPr>
              <a:t>Lotta</a:t>
            </a:r>
            <a:r>
              <a:rPr lang="en-US" altLang="en-US" sz="816" kern="1200">
                <a:solidFill>
                  <a:schemeClr val="tx1"/>
                </a:solidFill>
                <a:latin typeface="Arial" charset="0"/>
                <a:ea typeface="+mn-ea"/>
                <a:cs typeface="+mn-cs"/>
              </a:rPr>
              <a:t> Latte brand coffee in Houston during last year?</a:t>
            </a:r>
          </a:p>
          <a:p>
            <a:pPr marL="544068" lvl="1" indent="-233172" defTabSz="310896">
              <a:spcBef>
                <a:spcPct val="0"/>
              </a:spcBef>
              <a:buClrTx/>
              <a:buSzTx/>
              <a:buFont typeface="Arial" charset="0"/>
              <a:buAutoNum type="arabicPeriod"/>
              <a:defRPr/>
            </a:pPr>
            <a:r>
              <a:rPr lang="en-US" altLang="en-US" sz="816" kern="1200">
                <a:solidFill>
                  <a:schemeClr val="tx1"/>
                </a:solidFill>
                <a:latin typeface="Arial" charset="0"/>
                <a:ea typeface="+mn-ea"/>
                <a:cs typeface="+mn-cs"/>
              </a:rPr>
              <a:t>What were the average monthly sales of all coffee products in the West during each month of last year?</a:t>
            </a:r>
          </a:p>
          <a:p>
            <a:pPr marL="310896" lvl="1" indent="0" defTabSz="310896">
              <a:spcBef>
                <a:spcPct val="0"/>
              </a:spcBef>
              <a:buClrTx/>
              <a:buSzTx/>
              <a:buNone/>
              <a:defRPr/>
            </a:pPr>
            <a:endParaRPr lang="en-US" altLang="en-US" sz="816" kern="1200">
              <a:solidFill>
                <a:schemeClr val="tx1"/>
              </a:solidFill>
              <a:latin typeface="Arial" charset="0"/>
              <a:ea typeface="+mn-ea"/>
              <a:cs typeface="+mn-cs"/>
            </a:endParaRPr>
          </a:p>
          <a:p>
            <a:pPr defTabSz="310896">
              <a:spcBef>
                <a:spcPct val="0"/>
              </a:spcBef>
              <a:buClrTx/>
              <a:buSzTx/>
              <a:buNone/>
              <a:defRPr/>
            </a:pPr>
            <a:r>
              <a:rPr lang="en-US" altLang="en-US" sz="816" b="1" kern="1200">
                <a:solidFill>
                  <a:schemeClr val="tx1"/>
                </a:solidFill>
                <a:latin typeface="Arial" charset="0"/>
                <a:ea typeface="+mn-ea"/>
                <a:cs typeface="+mn-cs"/>
              </a:rPr>
              <a:t>Moderately difficult</a:t>
            </a:r>
          </a:p>
          <a:p>
            <a:pPr marL="544068" lvl="1" indent="-233172" defTabSz="310896">
              <a:spcBef>
                <a:spcPct val="0"/>
              </a:spcBef>
              <a:buClrTx/>
              <a:buSzTx/>
              <a:buFont typeface="Arial" charset="0"/>
              <a:buAutoNum type="arabicPeriod"/>
              <a:defRPr/>
            </a:pPr>
            <a:r>
              <a:rPr lang="en-US" altLang="en-US" sz="816" kern="1200">
                <a:solidFill>
                  <a:schemeClr val="tx1"/>
                </a:solidFill>
                <a:latin typeface="Arial" charset="0"/>
                <a:ea typeface="+mn-ea"/>
                <a:cs typeface="+mn-cs"/>
              </a:rPr>
              <a:t>How do the sales of </a:t>
            </a:r>
            <a:r>
              <a:rPr lang="en-US" altLang="en-US" sz="816" kern="1200" err="1">
                <a:solidFill>
                  <a:schemeClr val="tx1"/>
                </a:solidFill>
                <a:latin typeface="Arial" charset="0"/>
                <a:ea typeface="+mn-ea"/>
                <a:cs typeface="+mn-cs"/>
              </a:rPr>
              <a:t>Lotta</a:t>
            </a:r>
            <a:r>
              <a:rPr lang="en-US" altLang="en-US" sz="816" kern="1200">
                <a:solidFill>
                  <a:schemeClr val="tx1"/>
                </a:solidFill>
                <a:latin typeface="Arial" charset="0"/>
                <a:ea typeface="+mn-ea"/>
                <a:cs typeface="+mn-cs"/>
              </a:rPr>
              <a:t> Latte in Houston compare with its sales in Los Angeles and New York?</a:t>
            </a:r>
          </a:p>
          <a:p>
            <a:pPr marL="544068" lvl="1" indent="-233172" defTabSz="310896">
              <a:spcBef>
                <a:spcPct val="0"/>
              </a:spcBef>
              <a:buClrTx/>
              <a:buSzTx/>
              <a:buFont typeface="Arial" charset="0"/>
              <a:buAutoNum type="arabicPeriod"/>
              <a:defRPr/>
            </a:pPr>
            <a:r>
              <a:rPr lang="en-US" altLang="en-US" sz="816" kern="1200">
                <a:solidFill>
                  <a:schemeClr val="tx1"/>
                </a:solidFill>
                <a:latin typeface="Arial" charset="0"/>
                <a:ea typeface="+mn-ea"/>
                <a:cs typeface="+mn-cs"/>
              </a:rPr>
              <a:t>How has the monthly market share of </a:t>
            </a:r>
            <a:r>
              <a:rPr lang="en-US" altLang="en-US" sz="816" kern="1200" err="1">
                <a:solidFill>
                  <a:schemeClr val="tx1"/>
                </a:solidFill>
                <a:latin typeface="Arial" charset="0"/>
                <a:ea typeface="+mn-ea"/>
                <a:cs typeface="+mn-cs"/>
              </a:rPr>
              <a:t>Lotta</a:t>
            </a:r>
            <a:r>
              <a:rPr lang="en-US" altLang="en-US" sz="816" kern="1200">
                <a:solidFill>
                  <a:schemeClr val="tx1"/>
                </a:solidFill>
                <a:latin typeface="Arial" charset="0"/>
                <a:ea typeface="+mn-ea"/>
                <a:cs typeface="+mn-cs"/>
              </a:rPr>
              <a:t> Latte changed during the last two years in all markets?</a:t>
            </a:r>
          </a:p>
          <a:p>
            <a:pPr marL="544068" lvl="1" indent="-233172" defTabSz="310896">
              <a:spcBef>
                <a:spcPct val="0"/>
              </a:spcBef>
              <a:buClrTx/>
              <a:buSzTx/>
              <a:buFont typeface="Arial" charset="0"/>
              <a:buAutoNum type="arabicPeriod"/>
              <a:defRPr/>
            </a:pPr>
            <a:r>
              <a:rPr lang="en-US" altLang="en-US" sz="816" kern="1200">
                <a:solidFill>
                  <a:schemeClr val="tx1"/>
                </a:solidFill>
                <a:latin typeface="Arial" charset="0"/>
                <a:ea typeface="+mn-ea"/>
                <a:cs typeface="+mn-cs"/>
              </a:rPr>
              <a:t>Which suppliers charge the most for bulk tea products?</a:t>
            </a:r>
          </a:p>
          <a:p>
            <a:pPr marL="544068" lvl="1" indent="-233172" defTabSz="310896">
              <a:spcBef>
                <a:spcPct val="0"/>
              </a:spcBef>
              <a:buClrTx/>
              <a:buSzTx/>
              <a:buFont typeface="Arial" charset="0"/>
              <a:buAutoNum type="arabicPeriod"/>
              <a:defRPr/>
            </a:pPr>
            <a:r>
              <a:rPr lang="en-US" altLang="en-US" sz="816" kern="1200">
                <a:solidFill>
                  <a:schemeClr val="tx1"/>
                </a:solidFill>
                <a:latin typeface="Arial" charset="0"/>
                <a:ea typeface="+mn-ea"/>
                <a:cs typeface="+mn-cs"/>
              </a:rPr>
              <a:t>What was the most successful promotion last December in California?</a:t>
            </a:r>
          </a:p>
          <a:p>
            <a:pPr marL="310896" lvl="1" indent="0" defTabSz="310896">
              <a:spcBef>
                <a:spcPct val="0"/>
              </a:spcBef>
              <a:buClrTx/>
              <a:buSzTx/>
              <a:buNone/>
              <a:defRPr/>
            </a:pPr>
            <a:endParaRPr lang="en-US" altLang="en-US" sz="816" kern="1200">
              <a:solidFill>
                <a:schemeClr val="tx1"/>
              </a:solidFill>
              <a:latin typeface="Arial" charset="0"/>
              <a:ea typeface="+mn-ea"/>
              <a:cs typeface="+mn-cs"/>
            </a:endParaRPr>
          </a:p>
          <a:p>
            <a:pPr defTabSz="310896">
              <a:spcBef>
                <a:spcPct val="0"/>
              </a:spcBef>
              <a:buClrTx/>
              <a:buSzTx/>
              <a:buNone/>
              <a:defRPr/>
            </a:pPr>
            <a:r>
              <a:rPr lang="en-US" altLang="en-US" sz="816" b="1" kern="1200">
                <a:solidFill>
                  <a:schemeClr val="tx1"/>
                </a:solidFill>
                <a:latin typeface="Arial" charset="0"/>
                <a:ea typeface="+mn-ea"/>
                <a:cs typeface="+mn-cs"/>
              </a:rPr>
              <a:t>Very difficult without OLAP functions </a:t>
            </a:r>
          </a:p>
          <a:p>
            <a:pPr marL="544068" lvl="1" indent="-233172" defTabSz="310896">
              <a:spcBef>
                <a:spcPct val="0"/>
              </a:spcBef>
              <a:buClrTx/>
              <a:buSzTx/>
              <a:buFont typeface="Arial" charset="0"/>
              <a:buAutoNum type="arabicPeriod"/>
              <a:defRPr/>
            </a:pPr>
            <a:r>
              <a:rPr lang="en-US" altLang="en-US" sz="816" kern="1200">
                <a:solidFill>
                  <a:schemeClr val="tx1"/>
                </a:solidFill>
                <a:latin typeface="Arial" charset="0"/>
                <a:ea typeface="+mn-ea"/>
                <a:cs typeface="+mn-cs"/>
              </a:rPr>
              <a:t>What were the running totals for </a:t>
            </a:r>
            <a:r>
              <a:rPr lang="en-US" altLang="en-US" sz="816" kern="1200" err="1">
                <a:solidFill>
                  <a:schemeClr val="tx1"/>
                </a:solidFill>
                <a:latin typeface="Arial" charset="0"/>
                <a:ea typeface="+mn-ea"/>
                <a:cs typeface="+mn-cs"/>
              </a:rPr>
              <a:t>Lotta</a:t>
            </a:r>
            <a:r>
              <a:rPr lang="en-US" altLang="en-US" sz="816" kern="1200">
                <a:solidFill>
                  <a:schemeClr val="tx1"/>
                </a:solidFill>
                <a:latin typeface="Arial" charset="0"/>
                <a:ea typeface="+mn-ea"/>
                <a:cs typeface="+mn-cs"/>
              </a:rPr>
              <a:t> Latte sales during each month of last year?</a:t>
            </a:r>
          </a:p>
          <a:p>
            <a:pPr marL="544068" lvl="1" indent="-233172" defTabSz="310896">
              <a:spcBef>
                <a:spcPct val="0"/>
              </a:spcBef>
              <a:buClrTx/>
              <a:buSzTx/>
              <a:buFont typeface="Arial" charset="0"/>
              <a:buAutoNum type="arabicPeriod"/>
              <a:defRPr/>
            </a:pPr>
            <a:r>
              <a:rPr lang="en-US" altLang="en-US" sz="816" kern="1200">
                <a:solidFill>
                  <a:schemeClr val="tx1"/>
                </a:solidFill>
                <a:latin typeface="Arial" charset="0"/>
                <a:ea typeface="+mn-ea"/>
                <a:cs typeface="+mn-cs"/>
              </a:rPr>
              <a:t>What were the ratios of monthly sales to total sales (expressed as percentages) for </a:t>
            </a:r>
            <a:r>
              <a:rPr lang="en-US" altLang="en-US" sz="816" kern="1200" err="1">
                <a:solidFill>
                  <a:schemeClr val="tx1"/>
                </a:solidFill>
                <a:latin typeface="Arial" charset="0"/>
                <a:ea typeface="+mn-ea"/>
                <a:cs typeface="+mn-cs"/>
              </a:rPr>
              <a:t>Lotta</a:t>
            </a:r>
            <a:r>
              <a:rPr lang="en-US" altLang="en-US" sz="816" kern="1200">
                <a:solidFill>
                  <a:schemeClr val="tx1"/>
                </a:solidFill>
                <a:latin typeface="Arial" charset="0"/>
                <a:ea typeface="+mn-ea"/>
                <a:cs typeface="+mn-cs"/>
              </a:rPr>
              <a:t> Latte during the same period?</a:t>
            </a:r>
          </a:p>
          <a:p>
            <a:pPr marL="544068" lvl="1" indent="-233172" defTabSz="310896">
              <a:spcBef>
                <a:spcPct val="0"/>
              </a:spcBef>
              <a:buClrTx/>
              <a:buSzTx/>
              <a:buFont typeface="Arial" charset="0"/>
              <a:buAutoNum type="arabicPeriod"/>
              <a:defRPr/>
            </a:pPr>
            <a:r>
              <a:rPr lang="en-US" altLang="en-US" sz="816" kern="1200">
                <a:solidFill>
                  <a:schemeClr val="tx1"/>
                </a:solidFill>
                <a:latin typeface="Arial" charset="0"/>
                <a:ea typeface="+mn-ea"/>
                <a:cs typeface="+mn-cs"/>
              </a:rPr>
              <a:t>Which ten cities had the worst coffee sales in 1998 with regard to dollar sales and quantities sold?</a:t>
            </a:r>
          </a:p>
          <a:p>
            <a:pPr marL="544068" lvl="1" indent="-233172" defTabSz="310896">
              <a:spcBef>
                <a:spcPct val="0"/>
              </a:spcBef>
              <a:buClrTx/>
              <a:buSzTx/>
              <a:buFont typeface="Arial" charset="0"/>
              <a:buAutoNum type="arabicPeriod"/>
              <a:defRPr/>
            </a:pPr>
            <a:r>
              <a:rPr lang="en-US" altLang="en-US" sz="816" kern="1200">
                <a:solidFill>
                  <a:schemeClr val="tx1"/>
                </a:solidFill>
                <a:latin typeface="Arial" charset="0"/>
                <a:ea typeface="+mn-ea"/>
                <a:cs typeface="+mn-cs"/>
              </a:rPr>
              <a:t>Which Aroma stores fall into the top 25 percent in terms of sales revenue for the first quarter of 1999? Which stores fall into the middle 50 percent, and the bottom 25 percent?</a:t>
            </a:r>
          </a:p>
          <a:p>
            <a:pPr>
              <a:spcBef>
                <a:spcPct val="50000"/>
              </a:spcBef>
              <a:buClrTx/>
              <a:buSzTx/>
              <a:buFontTx/>
              <a:buNone/>
              <a:defRPr/>
            </a:pPr>
            <a:endParaRPr lang="en-US" altLang="en-US" sz="1100" dirty="0">
              <a:latin typeface="Times New Roman" pitchFamily="18" charset="0"/>
            </a:endParaRPr>
          </a:p>
        </p:txBody>
      </p:sp>
      <p:sp>
        <p:nvSpPr>
          <p:cNvPr id="44039" name="TextBox 1">
            <a:extLst>
              <a:ext uri="{FF2B5EF4-FFF2-40B4-BE49-F238E27FC236}">
                <a16:creationId xmlns:a16="http://schemas.microsoft.com/office/drawing/2014/main" id="{A857F09C-E420-4B0C-81BF-E57632F28BF5}"/>
              </a:ext>
            </a:extLst>
          </p:cNvPr>
          <p:cNvSpPr txBox="1">
            <a:spLocks noChangeArrowheads="1"/>
          </p:cNvSpPr>
          <p:nvPr/>
        </p:nvSpPr>
        <p:spPr bwMode="auto">
          <a:xfrm>
            <a:off x="1477901" y="4023892"/>
            <a:ext cx="5834682" cy="343427"/>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defTabSz="310896">
              <a:spcBef>
                <a:spcPct val="0"/>
              </a:spcBef>
              <a:spcAft>
                <a:spcPts val="600"/>
              </a:spcAft>
              <a:buClrTx/>
              <a:buSzTx/>
              <a:buNone/>
            </a:pPr>
            <a:r>
              <a:rPr lang="en-US" altLang="en-US" sz="816" kern="1200">
                <a:solidFill>
                  <a:schemeClr val="tx1"/>
                </a:solidFill>
                <a:latin typeface="Arial" panose="020B0604020202020204" pitchFamily="34" charset="0"/>
                <a:ea typeface="+mn-ea"/>
                <a:cs typeface="+mn-cs"/>
              </a:rPr>
              <a:t>Source: </a:t>
            </a:r>
            <a:r>
              <a:rPr lang="en-US" altLang="en-US" sz="816" kern="1200">
                <a:solidFill>
                  <a:schemeClr val="tx1"/>
                </a:solidFill>
                <a:latin typeface="Arial" panose="020B0604020202020204" pitchFamily="34" charset="0"/>
                <a:ea typeface="+mn-ea"/>
                <a:cs typeface="+mn-cs"/>
                <a:hlinkClick r:id="rId3"/>
              </a:rPr>
              <a:t>http://publib.boulder.ibm.com/infocenter/rbhelp/v6r3/index.jsp?topic=%2Fcom.ibm.redbrick.doc6.3%2Fssg%2Fssg17.htm</a:t>
            </a:r>
            <a:r>
              <a:rPr lang="en-US" altLang="en-US" sz="816" kern="1200">
                <a:solidFill>
                  <a:schemeClr val="tx1"/>
                </a:solidFill>
                <a:latin typeface="Arial" panose="020B0604020202020204" pitchFamily="34" charset="0"/>
                <a:ea typeface="+mn-ea"/>
                <a:cs typeface="+mn-cs"/>
              </a:rPr>
              <a:t> </a:t>
            </a:r>
            <a:endParaRPr lang="en-US" altLang="en-US" sz="1200">
              <a:latin typeface="Arial" panose="020B0604020202020204" pitchFamily="34" charset="0"/>
            </a:endParaRPr>
          </a:p>
        </p:txBody>
      </p:sp>
      <p:sp>
        <p:nvSpPr>
          <p:cNvPr id="2" name="Date Placeholder 1">
            <a:extLst>
              <a:ext uri="{FF2B5EF4-FFF2-40B4-BE49-F238E27FC236}">
                <a16:creationId xmlns:a16="http://schemas.microsoft.com/office/drawing/2014/main" id="{B9600ED0-151D-437B-AB55-7F2EEDE61D68}"/>
              </a:ext>
            </a:extLst>
          </p:cNvPr>
          <p:cNvSpPr>
            <a:spLocks/>
          </p:cNvSpPr>
          <p:nvPr/>
        </p:nvSpPr>
        <p:spPr>
          <a:xfrm>
            <a:off x="633413" y="4608030"/>
            <a:ext cx="1688977" cy="249442"/>
          </a:xfrm>
          <a:prstGeom prst="rect">
            <a:avLst/>
          </a:prstGeom>
        </p:spPr>
        <p:txBody>
          <a:bodyPr/>
          <a:lstStyle/>
          <a:p>
            <a:pPr defTabSz="310896">
              <a:spcAft>
                <a:spcPts val="600"/>
              </a:spcAft>
            </a:pPr>
            <a:fld id="{E3B145FF-E267-4736-B287-C5D2673C63CC}" type="datetime1">
              <a:rPr lang="en-US" sz="1224" kern="1200">
                <a:solidFill>
                  <a:schemeClr val="tx1"/>
                </a:solidFill>
                <a:latin typeface="+mn-lt"/>
                <a:ea typeface="+mn-ea"/>
                <a:cs typeface="+mn-cs"/>
              </a:rPr>
              <a:pPr defTabSz="310896">
                <a:spcAft>
                  <a:spcPts val="600"/>
                </a:spcAft>
              </a:pPr>
              <a:t>2/1/2026</a:t>
            </a:fld>
            <a:endParaRPr lang="en-US"/>
          </a:p>
        </p:txBody>
      </p:sp>
      <p:sp>
        <p:nvSpPr>
          <p:cNvPr id="5" name="Footer Placeholder 4">
            <a:extLst>
              <a:ext uri="{FF2B5EF4-FFF2-40B4-BE49-F238E27FC236}">
                <a16:creationId xmlns:a16="http://schemas.microsoft.com/office/drawing/2014/main" id="{5B8F670D-B318-4F17-8AF2-DD36F9C4B45D}"/>
              </a:ext>
            </a:extLst>
          </p:cNvPr>
          <p:cNvSpPr>
            <a:spLocks/>
          </p:cNvSpPr>
          <p:nvPr/>
        </p:nvSpPr>
        <p:spPr>
          <a:xfrm>
            <a:off x="2402071" y="4608030"/>
            <a:ext cx="3294787" cy="249442"/>
          </a:xfrm>
          <a:prstGeom prst="rect">
            <a:avLst/>
          </a:prstGeom>
        </p:spPr>
        <p:txBody>
          <a:bodyPr/>
          <a:lstStyle/>
          <a:p>
            <a:pPr defTabSz="310896">
              <a:spcAft>
                <a:spcPts val="600"/>
              </a:spcAft>
            </a:pPr>
            <a:r>
              <a:rPr lang="en-US" sz="1224" kern="1200">
                <a:solidFill>
                  <a:schemeClr val="tx1"/>
                </a:solidFill>
                <a:latin typeface="+mn-lt"/>
                <a:ea typeface="+mn-ea"/>
                <a:cs typeface="+mn-cs"/>
              </a:rPr>
              <a:t>Copyright (c) Arun Sen Texas A&amp;M University</a:t>
            </a:r>
            <a:endParaRPr lang="en-US"/>
          </a:p>
        </p:txBody>
      </p:sp>
      <p:sp>
        <p:nvSpPr>
          <p:cNvPr id="6" name="Slide Number Placeholder 5">
            <a:extLst>
              <a:ext uri="{FF2B5EF4-FFF2-40B4-BE49-F238E27FC236}">
                <a16:creationId xmlns:a16="http://schemas.microsoft.com/office/drawing/2014/main" id="{7BE23206-0BA9-48C8-9D9F-01F5E54BA895}"/>
              </a:ext>
            </a:extLst>
          </p:cNvPr>
          <p:cNvSpPr>
            <a:spLocks/>
          </p:cNvSpPr>
          <p:nvPr/>
        </p:nvSpPr>
        <p:spPr>
          <a:xfrm>
            <a:off x="6647466" y="4608030"/>
            <a:ext cx="896334" cy="249442"/>
          </a:xfrm>
          <a:prstGeom prst="rect">
            <a:avLst/>
          </a:prstGeom>
        </p:spPr>
        <p:txBody>
          <a:bodyPr/>
          <a:lstStyle/>
          <a:p>
            <a:pPr defTabSz="310896">
              <a:spcAft>
                <a:spcPts val="600"/>
              </a:spcAft>
            </a:pPr>
            <a:fld id="{69E57DC2-970A-4B3E-BB1C-7A09969E49DF}" type="slidenum">
              <a:rPr lang="en-US" sz="1224" kern="1200">
                <a:solidFill>
                  <a:schemeClr val="tx1"/>
                </a:solidFill>
                <a:latin typeface="+mn-lt"/>
                <a:ea typeface="+mn-ea"/>
                <a:cs typeface="+mn-cs"/>
              </a:rPr>
              <a:pPr defTabSz="310896">
                <a:spcAft>
                  <a:spcPts val="600"/>
                </a:spcAft>
              </a:pPr>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4" name="Rectangle 2">
            <a:extLst>
              <a:ext uri="{FF2B5EF4-FFF2-40B4-BE49-F238E27FC236}">
                <a16:creationId xmlns:a16="http://schemas.microsoft.com/office/drawing/2014/main" id="{FB658469-D57E-4B2E-B722-96F4EA64654C}"/>
              </a:ext>
            </a:extLst>
          </p:cNvPr>
          <p:cNvSpPr>
            <a:spLocks noChangeArrowheads="1"/>
          </p:cNvSpPr>
          <p:nvPr/>
        </p:nvSpPr>
        <p:spPr bwMode="auto">
          <a:xfrm>
            <a:off x="2122488" y="304800"/>
            <a:ext cx="8405812"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algn="ctr" eaLnBrk="1" hangingPunct="1">
              <a:spcBef>
                <a:spcPct val="0"/>
              </a:spcBef>
              <a:buClrTx/>
              <a:buSzTx/>
              <a:buFontTx/>
              <a:buNone/>
            </a:pPr>
            <a:r>
              <a:rPr lang="en-US" altLang="en-US" sz="2900" b="1" dirty="0">
                <a:solidFill>
                  <a:srgbClr val="C00000"/>
                </a:solidFill>
                <a:latin typeface="Tahoma" panose="020B0604030504040204" pitchFamily="34" charset="0"/>
              </a:rPr>
              <a:t>Examples of Business Questions </a:t>
            </a:r>
          </a:p>
          <a:p>
            <a:pPr algn="ctr" eaLnBrk="1" hangingPunct="1">
              <a:spcBef>
                <a:spcPct val="0"/>
              </a:spcBef>
              <a:buClrTx/>
              <a:buSzTx/>
              <a:buFontTx/>
              <a:buNone/>
            </a:pPr>
            <a:r>
              <a:rPr lang="en-US" altLang="en-US" sz="2900" b="1" dirty="0">
                <a:solidFill>
                  <a:srgbClr val="C00000"/>
                </a:solidFill>
                <a:latin typeface="Tahoma" panose="020B0604030504040204" pitchFamily="34" charset="0"/>
              </a:rPr>
              <a:t>in Retail subject area</a:t>
            </a:r>
            <a:endParaRPr lang="en-US" altLang="en-US" sz="2500" b="1" dirty="0">
              <a:solidFill>
                <a:srgbClr val="C00000"/>
              </a:solidFill>
              <a:latin typeface="Tahoma" panose="020B0604030504040204" pitchFamily="34" charset="0"/>
            </a:endParaRPr>
          </a:p>
        </p:txBody>
      </p:sp>
      <p:sp>
        <p:nvSpPr>
          <p:cNvPr id="46085" name="Text Box 3">
            <a:extLst>
              <a:ext uri="{FF2B5EF4-FFF2-40B4-BE49-F238E27FC236}">
                <a16:creationId xmlns:a16="http://schemas.microsoft.com/office/drawing/2014/main" id="{57F77AA2-D88E-40E6-868C-5ADB81B43454}"/>
              </a:ext>
            </a:extLst>
          </p:cNvPr>
          <p:cNvSpPr txBox="1">
            <a:spLocks noChangeArrowheads="1"/>
          </p:cNvSpPr>
          <p:nvPr/>
        </p:nvSpPr>
        <p:spPr bwMode="auto">
          <a:xfrm>
            <a:off x="2895600" y="2667001"/>
            <a:ext cx="6934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a:spcBef>
                <a:spcPct val="50000"/>
              </a:spcBef>
              <a:buClrTx/>
              <a:buSzTx/>
              <a:buFontTx/>
              <a:buNone/>
            </a:pPr>
            <a:endParaRPr lang="en-US" altLang="en-US" sz="2000">
              <a:latin typeface="Tahoma" panose="020B0604030504040204" pitchFamily="34" charset="0"/>
            </a:endParaRPr>
          </a:p>
        </p:txBody>
      </p:sp>
      <p:pic>
        <p:nvPicPr>
          <p:cNvPr id="46086" name="Picture 2">
            <a:extLst>
              <a:ext uri="{FF2B5EF4-FFF2-40B4-BE49-F238E27FC236}">
                <a16:creationId xmlns:a16="http://schemas.microsoft.com/office/drawing/2014/main" id="{459A26E4-4BF6-4427-BDD3-FE11057C611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22488" y="1807442"/>
            <a:ext cx="8173039" cy="38702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6087" name="Rectangle 1">
            <a:extLst>
              <a:ext uri="{FF2B5EF4-FFF2-40B4-BE49-F238E27FC236}">
                <a16:creationId xmlns:a16="http://schemas.microsoft.com/office/drawing/2014/main" id="{5BECC98C-A79C-42FC-A1B8-C2EBC8DE3E09}"/>
              </a:ext>
            </a:extLst>
          </p:cNvPr>
          <p:cNvSpPr>
            <a:spLocks noChangeArrowheads="1"/>
          </p:cNvSpPr>
          <p:nvPr/>
        </p:nvSpPr>
        <p:spPr bwMode="auto">
          <a:xfrm>
            <a:off x="1992936" y="5853311"/>
            <a:ext cx="8979864" cy="430887"/>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eaLnBrk="1" hangingPunct="1">
              <a:spcBef>
                <a:spcPct val="0"/>
              </a:spcBef>
              <a:buClrTx/>
              <a:buSzTx/>
              <a:buFontTx/>
              <a:buNone/>
            </a:pPr>
            <a:r>
              <a:rPr lang="en-US" altLang="en-US" sz="1100">
                <a:latin typeface="Arial" panose="020B0604020202020204" pitchFamily="34" charset="0"/>
              </a:rPr>
              <a:t>Source:</a:t>
            </a:r>
          </a:p>
          <a:p>
            <a:pPr eaLnBrk="1" hangingPunct="1">
              <a:spcBef>
                <a:spcPct val="0"/>
              </a:spcBef>
              <a:buClrTx/>
              <a:buSzTx/>
              <a:buFontTx/>
              <a:buNone/>
            </a:pPr>
            <a:r>
              <a:rPr lang="en-US" altLang="en-US" sz="1100">
                <a:latin typeface="Arial" panose="020B0604020202020204" pitchFamily="34" charset="0"/>
                <a:hlinkClick r:id="rId4"/>
              </a:rPr>
              <a:t>http://www.teradata.com/resources/white-papers/Teradata-Enterprise-Data-Warehouse-Roadmap-Model-for-the-Retail-Industry-eb5645/</a:t>
            </a:r>
            <a:r>
              <a:rPr lang="en-US" altLang="en-US" sz="1100">
                <a:latin typeface="Arial" panose="020B0604020202020204" pitchFamily="34" charset="0"/>
              </a:rPr>
              <a:t> </a:t>
            </a:r>
          </a:p>
        </p:txBody>
      </p:sp>
      <p:sp>
        <p:nvSpPr>
          <p:cNvPr id="2" name="Date Placeholder 1">
            <a:extLst>
              <a:ext uri="{FF2B5EF4-FFF2-40B4-BE49-F238E27FC236}">
                <a16:creationId xmlns:a16="http://schemas.microsoft.com/office/drawing/2014/main" id="{956CF2D5-EE11-46AD-99A3-5E154EFF5A7C}"/>
              </a:ext>
            </a:extLst>
          </p:cNvPr>
          <p:cNvSpPr>
            <a:spLocks noGrp="1"/>
          </p:cNvSpPr>
          <p:nvPr>
            <p:ph type="dt" sz="half" idx="10"/>
          </p:nvPr>
        </p:nvSpPr>
        <p:spPr/>
        <p:txBody>
          <a:bodyPr/>
          <a:lstStyle/>
          <a:p>
            <a:fld id="{91ED913F-7154-4265-B354-0FDA8F20B7AE}" type="datetime1">
              <a:rPr lang="en-US" smtClean="0"/>
              <a:t>2/1/2026</a:t>
            </a:fld>
            <a:endParaRPr lang="en-US" dirty="0"/>
          </a:p>
        </p:txBody>
      </p:sp>
      <p:sp>
        <p:nvSpPr>
          <p:cNvPr id="5" name="Footer Placeholder 4">
            <a:extLst>
              <a:ext uri="{FF2B5EF4-FFF2-40B4-BE49-F238E27FC236}">
                <a16:creationId xmlns:a16="http://schemas.microsoft.com/office/drawing/2014/main" id="{2995D4D0-A538-4589-AE68-F0FAB66278F9}"/>
              </a:ext>
            </a:extLst>
          </p:cNvPr>
          <p:cNvSpPr>
            <a:spLocks noGrp="1"/>
          </p:cNvSpPr>
          <p:nvPr>
            <p:ph type="ftr" sz="quarter" idx="11"/>
          </p:nvPr>
        </p:nvSpPr>
        <p:spPr/>
        <p:txBody>
          <a:bodyPr/>
          <a:lstStyle/>
          <a:p>
            <a:r>
              <a:rPr lang="en-US"/>
              <a:t>Copyright (c) Arun Sen Texas A&amp;M University</a:t>
            </a:r>
            <a:endParaRPr lang="en-US" dirty="0"/>
          </a:p>
        </p:txBody>
      </p:sp>
      <p:sp>
        <p:nvSpPr>
          <p:cNvPr id="6" name="Slide Number Placeholder 5">
            <a:extLst>
              <a:ext uri="{FF2B5EF4-FFF2-40B4-BE49-F238E27FC236}">
                <a16:creationId xmlns:a16="http://schemas.microsoft.com/office/drawing/2014/main" id="{D70CEC75-0CB9-4B7E-9E89-CAD470869052}"/>
              </a:ext>
            </a:extLst>
          </p:cNvPr>
          <p:cNvSpPr>
            <a:spLocks noGrp="1"/>
          </p:cNvSpPr>
          <p:nvPr>
            <p:ph type="sldNum" sz="quarter" idx="12"/>
          </p:nvPr>
        </p:nvSpPr>
        <p:spPr/>
        <p:txBody>
          <a:bodyPr/>
          <a:lstStyle/>
          <a:p>
            <a:fld id="{69E57DC2-970A-4B3E-BB1C-7A09969E49DF}" type="slidenum">
              <a:rPr lang="en-US" smtClean="0"/>
              <a:t>15</a:t>
            </a:fld>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2" name="Rectangle 2">
            <a:extLst>
              <a:ext uri="{FF2B5EF4-FFF2-40B4-BE49-F238E27FC236}">
                <a16:creationId xmlns:a16="http://schemas.microsoft.com/office/drawing/2014/main" id="{FB0D2A84-8C8B-4D31-806F-E68EF4C184B4}"/>
              </a:ext>
            </a:extLst>
          </p:cNvPr>
          <p:cNvSpPr>
            <a:spLocks noChangeArrowheads="1"/>
          </p:cNvSpPr>
          <p:nvPr/>
        </p:nvSpPr>
        <p:spPr bwMode="auto">
          <a:xfrm>
            <a:off x="2438400" y="457200"/>
            <a:ext cx="77724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algn="ctr" eaLnBrk="1" hangingPunct="1">
              <a:spcBef>
                <a:spcPct val="0"/>
              </a:spcBef>
              <a:buClrTx/>
              <a:buSzTx/>
              <a:buFontTx/>
              <a:buNone/>
            </a:pPr>
            <a:r>
              <a:rPr lang="en-US" altLang="en-US" b="1" dirty="0">
                <a:solidFill>
                  <a:srgbClr val="C00000"/>
                </a:solidFill>
                <a:latin typeface="Tahoma" panose="020B0604030504040204" pitchFamily="34" charset="0"/>
              </a:rPr>
              <a:t>Some More Examples of Business Questions </a:t>
            </a:r>
          </a:p>
          <a:p>
            <a:pPr algn="ctr" eaLnBrk="1" hangingPunct="1">
              <a:spcBef>
                <a:spcPct val="0"/>
              </a:spcBef>
              <a:buClrTx/>
              <a:buSzTx/>
              <a:buFontTx/>
              <a:buNone/>
            </a:pPr>
            <a:r>
              <a:rPr lang="en-US" altLang="en-US" b="1" dirty="0">
                <a:solidFill>
                  <a:srgbClr val="C00000"/>
                </a:solidFill>
                <a:latin typeface="Tahoma" panose="020B0604030504040204" pitchFamily="34" charset="0"/>
              </a:rPr>
              <a:t>in Retail subject area</a:t>
            </a:r>
            <a:endParaRPr lang="en-US" altLang="en-US" sz="2000" b="1" dirty="0">
              <a:solidFill>
                <a:srgbClr val="C00000"/>
              </a:solidFill>
              <a:latin typeface="Tahoma" panose="020B0604030504040204" pitchFamily="34" charset="0"/>
            </a:endParaRPr>
          </a:p>
        </p:txBody>
      </p:sp>
      <p:sp>
        <p:nvSpPr>
          <p:cNvPr id="48133" name="Text Box 3">
            <a:extLst>
              <a:ext uri="{FF2B5EF4-FFF2-40B4-BE49-F238E27FC236}">
                <a16:creationId xmlns:a16="http://schemas.microsoft.com/office/drawing/2014/main" id="{9CA5AC01-BC11-4E93-B3C6-C3A135F16BD5}"/>
              </a:ext>
            </a:extLst>
          </p:cNvPr>
          <p:cNvSpPr txBox="1">
            <a:spLocks noChangeArrowheads="1"/>
          </p:cNvSpPr>
          <p:nvPr/>
        </p:nvSpPr>
        <p:spPr bwMode="auto">
          <a:xfrm>
            <a:off x="2895600" y="2667001"/>
            <a:ext cx="6934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a:spcBef>
                <a:spcPct val="50000"/>
              </a:spcBef>
              <a:buClrTx/>
              <a:buSzTx/>
              <a:buFontTx/>
              <a:buNone/>
            </a:pPr>
            <a:endParaRPr lang="en-US" altLang="en-US" sz="2000">
              <a:latin typeface="Tahoma" panose="020B0604030504040204" pitchFamily="34" charset="0"/>
            </a:endParaRPr>
          </a:p>
        </p:txBody>
      </p:sp>
      <p:sp>
        <p:nvSpPr>
          <p:cNvPr id="48134" name="Rectangle 1">
            <a:extLst>
              <a:ext uri="{FF2B5EF4-FFF2-40B4-BE49-F238E27FC236}">
                <a16:creationId xmlns:a16="http://schemas.microsoft.com/office/drawing/2014/main" id="{7044E8D9-A468-4C70-AD76-DA3FE2997DE0}"/>
              </a:ext>
            </a:extLst>
          </p:cNvPr>
          <p:cNvSpPr>
            <a:spLocks noChangeArrowheads="1"/>
          </p:cNvSpPr>
          <p:nvPr/>
        </p:nvSpPr>
        <p:spPr bwMode="auto">
          <a:xfrm>
            <a:off x="2125663" y="5970589"/>
            <a:ext cx="8153400" cy="261937"/>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eaLnBrk="1" hangingPunct="1">
              <a:spcBef>
                <a:spcPct val="0"/>
              </a:spcBef>
              <a:buClrTx/>
              <a:buSzTx/>
              <a:buFontTx/>
              <a:buNone/>
            </a:pPr>
            <a:r>
              <a:rPr lang="en-US" altLang="en-US" sz="1100">
                <a:latin typeface="Arial" panose="020B0604020202020204" pitchFamily="34" charset="0"/>
              </a:rPr>
              <a:t>Source: </a:t>
            </a:r>
            <a:r>
              <a:rPr lang="en-US" altLang="en-US" sz="1100">
                <a:latin typeface="Arial" panose="020B0604020202020204" pitchFamily="34" charset="0"/>
                <a:hlinkClick r:id="rId3"/>
              </a:rPr>
              <a:t>https://www.codeproject.com/Articles/652108/Create-First-Data-WareHouse</a:t>
            </a:r>
            <a:r>
              <a:rPr lang="en-US" altLang="en-US" sz="1100">
                <a:latin typeface="Arial" panose="020B0604020202020204" pitchFamily="34" charset="0"/>
              </a:rPr>
              <a:t> </a:t>
            </a:r>
          </a:p>
        </p:txBody>
      </p:sp>
      <p:sp>
        <p:nvSpPr>
          <p:cNvPr id="48135" name="Rectangle 3">
            <a:extLst>
              <a:ext uri="{FF2B5EF4-FFF2-40B4-BE49-F238E27FC236}">
                <a16:creationId xmlns:a16="http://schemas.microsoft.com/office/drawing/2014/main" id="{5E33D9C9-F6FA-4D23-B459-19C84DC66A73}"/>
              </a:ext>
            </a:extLst>
          </p:cNvPr>
          <p:cNvSpPr>
            <a:spLocks noChangeArrowheads="1"/>
          </p:cNvSpPr>
          <p:nvPr/>
        </p:nvSpPr>
        <p:spPr bwMode="auto">
          <a:xfrm>
            <a:off x="2509058" y="1939047"/>
            <a:ext cx="7391400" cy="203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eaLnBrk="1" hangingPunct="1">
              <a:spcBef>
                <a:spcPct val="0"/>
              </a:spcBef>
              <a:buClrTx/>
              <a:buSzTx/>
              <a:buFont typeface="Arial" panose="020B0604020202020204" pitchFamily="34" charset="0"/>
              <a:buAutoNum type="arabicPeriod"/>
            </a:pPr>
            <a:r>
              <a:rPr lang="en-US" altLang="en-US" sz="1400" dirty="0">
                <a:latin typeface="Arial" panose="020B0604020202020204" pitchFamily="34" charset="0"/>
              </a:rPr>
              <a:t>Need to see daily, weekly, monthly, quarterly profit of each store. </a:t>
            </a:r>
          </a:p>
          <a:p>
            <a:pPr eaLnBrk="1" hangingPunct="1">
              <a:spcBef>
                <a:spcPct val="0"/>
              </a:spcBef>
              <a:buClrTx/>
              <a:buSzTx/>
              <a:buFont typeface="Arial" panose="020B0604020202020204" pitchFamily="34" charset="0"/>
              <a:buAutoNum type="arabicPeriod"/>
            </a:pPr>
            <a:r>
              <a:rPr lang="en-US" altLang="en-US" sz="1400" dirty="0">
                <a:latin typeface="Arial" panose="020B0604020202020204" pitchFamily="34" charset="0"/>
              </a:rPr>
              <a:t>Comparison of sales and profit on various time periods. </a:t>
            </a:r>
          </a:p>
          <a:p>
            <a:pPr eaLnBrk="1" hangingPunct="1">
              <a:spcBef>
                <a:spcPct val="0"/>
              </a:spcBef>
              <a:buClrTx/>
              <a:buSzTx/>
              <a:buFont typeface="Arial" panose="020B0604020202020204" pitchFamily="34" charset="0"/>
              <a:buAutoNum type="arabicPeriod"/>
            </a:pPr>
            <a:r>
              <a:rPr lang="en-US" altLang="en-US" sz="1400" dirty="0">
                <a:latin typeface="Arial" panose="020B0604020202020204" pitchFamily="34" charset="0"/>
              </a:rPr>
              <a:t>Comparison of sales in various time bands of the day. </a:t>
            </a:r>
          </a:p>
          <a:p>
            <a:pPr eaLnBrk="1" hangingPunct="1">
              <a:spcBef>
                <a:spcPct val="0"/>
              </a:spcBef>
              <a:buClrTx/>
              <a:buSzTx/>
              <a:buFont typeface="Arial" panose="020B0604020202020204" pitchFamily="34" charset="0"/>
              <a:buAutoNum type="arabicPeriod"/>
            </a:pPr>
            <a:r>
              <a:rPr lang="en-US" altLang="en-US" sz="1400" dirty="0">
                <a:latin typeface="Arial" panose="020B0604020202020204" pitchFamily="34" charset="0"/>
              </a:rPr>
              <a:t>Need to know which product has more demand on which location? </a:t>
            </a:r>
          </a:p>
          <a:p>
            <a:pPr eaLnBrk="1" hangingPunct="1">
              <a:spcBef>
                <a:spcPct val="0"/>
              </a:spcBef>
              <a:buClrTx/>
              <a:buSzTx/>
              <a:buFont typeface="Arial" panose="020B0604020202020204" pitchFamily="34" charset="0"/>
              <a:buAutoNum type="arabicPeriod"/>
            </a:pPr>
            <a:r>
              <a:rPr lang="en-US" altLang="en-US" sz="1400" dirty="0">
                <a:latin typeface="Arial" panose="020B0604020202020204" pitchFamily="34" charset="0"/>
              </a:rPr>
              <a:t>Need to study trend of sales by time period of the day over the week, month, and year? </a:t>
            </a:r>
          </a:p>
          <a:p>
            <a:pPr eaLnBrk="1" hangingPunct="1">
              <a:spcBef>
                <a:spcPct val="0"/>
              </a:spcBef>
              <a:buClrTx/>
              <a:buSzTx/>
              <a:buFont typeface="Arial" panose="020B0604020202020204" pitchFamily="34" charset="0"/>
              <a:buAutoNum type="arabicPeriod"/>
            </a:pPr>
            <a:r>
              <a:rPr lang="en-US" altLang="en-US" sz="1400" dirty="0">
                <a:latin typeface="Arial" panose="020B0604020202020204" pitchFamily="34" charset="0"/>
              </a:rPr>
              <a:t>On what day sales is higher? </a:t>
            </a:r>
          </a:p>
          <a:p>
            <a:pPr eaLnBrk="1" hangingPunct="1">
              <a:spcBef>
                <a:spcPct val="0"/>
              </a:spcBef>
              <a:buClrTx/>
              <a:buSzTx/>
              <a:buFont typeface="Arial" panose="020B0604020202020204" pitchFamily="34" charset="0"/>
              <a:buAutoNum type="arabicPeriod"/>
            </a:pPr>
            <a:r>
              <a:rPr lang="en-US" altLang="en-US" sz="1400" dirty="0">
                <a:latin typeface="Arial" panose="020B0604020202020204" pitchFamily="34" charset="0"/>
              </a:rPr>
              <a:t>On every Sunday of this month, what is sales and what is profit? </a:t>
            </a:r>
          </a:p>
          <a:p>
            <a:pPr eaLnBrk="1" hangingPunct="1">
              <a:spcBef>
                <a:spcPct val="0"/>
              </a:spcBef>
              <a:buClrTx/>
              <a:buSzTx/>
              <a:buFont typeface="Arial" panose="020B0604020202020204" pitchFamily="34" charset="0"/>
              <a:buAutoNum type="arabicPeriod"/>
            </a:pPr>
            <a:r>
              <a:rPr lang="en-US" altLang="en-US" sz="1400" dirty="0">
                <a:latin typeface="Arial" panose="020B0604020202020204" pitchFamily="34" charset="0"/>
              </a:rPr>
              <a:t>What is trend of sales on weekday and weekend? </a:t>
            </a:r>
          </a:p>
          <a:p>
            <a:pPr eaLnBrk="1" hangingPunct="1">
              <a:spcBef>
                <a:spcPct val="0"/>
              </a:spcBef>
              <a:buClrTx/>
              <a:buSzTx/>
              <a:buFont typeface="Arial" panose="020B0604020202020204" pitchFamily="34" charset="0"/>
              <a:buAutoNum type="arabicPeriod"/>
            </a:pPr>
            <a:r>
              <a:rPr lang="en-US" altLang="en-US" sz="1400" dirty="0">
                <a:latin typeface="Arial" panose="020B0604020202020204" pitchFamily="34" charset="0"/>
              </a:rPr>
              <a:t>Need to compare weekly, monthly and yearly sales to know growth and KPI? </a:t>
            </a:r>
          </a:p>
        </p:txBody>
      </p:sp>
      <p:sp>
        <p:nvSpPr>
          <p:cNvPr id="2" name="Date Placeholder 1">
            <a:extLst>
              <a:ext uri="{FF2B5EF4-FFF2-40B4-BE49-F238E27FC236}">
                <a16:creationId xmlns:a16="http://schemas.microsoft.com/office/drawing/2014/main" id="{291EBB2B-19A3-4281-952C-8AB2771C079E}"/>
              </a:ext>
            </a:extLst>
          </p:cNvPr>
          <p:cNvSpPr>
            <a:spLocks noGrp="1"/>
          </p:cNvSpPr>
          <p:nvPr>
            <p:ph type="dt" sz="half" idx="10"/>
          </p:nvPr>
        </p:nvSpPr>
        <p:spPr/>
        <p:txBody>
          <a:bodyPr/>
          <a:lstStyle/>
          <a:p>
            <a:fld id="{559AADDB-8CB8-4C67-80ED-F8E2CC3FF39C}" type="datetime1">
              <a:rPr lang="en-US" smtClean="0"/>
              <a:t>2/1/2026</a:t>
            </a:fld>
            <a:endParaRPr lang="en-US" dirty="0"/>
          </a:p>
        </p:txBody>
      </p:sp>
      <p:sp>
        <p:nvSpPr>
          <p:cNvPr id="5" name="Footer Placeholder 4">
            <a:extLst>
              <a:ext uri="{FF2B5EF4-FFF2-40B4-BE49-F238E27FC236}">
                <a16:creationId xmlns:a16="http://schemas.microsoft.com/office/drawing/2014/main" id="{66B14BCB-4BBE-4603-8400-C72169881F1E}"/>
              </a:ext>
            </a:extLst>
          </p:cNvPr>
          <p:cNvSpPr>
            <a:spLocks noGrp="1"/>
          </p:cNvSpPr>
          <p:nvPr>
            <p:ph type="ftr" sz="quarter" idx="11"/>
          </p:nvPr>
        </p:nvSpPr>
        <p:spPr/>
        <p:txBody>
          <a:bodyPr/>
          <a:lstStyle/>
          <a:p>
            <a:r>
              <a:rPr lang="en-US"/>
              <a:t>Copyright (c) Arun Sen Texas A&amp;M University</a:t>
            </a:r>
            <a:endParaRPr lang="en-US" dirty="0"/>
          </a:p>
        </p:txBody>
      </p:sp>
      <p:sp>
        <p:nvSpPr>
          <p:cNvPr id="6" name="Slide Number Placeholder 5">
            <a:extLst>
              <a:ext uri="{FF2B5EF4-FFF2-40B4-BE49-F238E27FC236}">
                <a16:creationId xmlns:a16="http://schemas.microsoft.com/office/drawing/2014/main" id="{F4FF949F-B8F2-40BE-A697-6A2434B29BA5}"/>
              </a:ext>
            </a:extLst>
          </p:cNvPr>
          <p:cNvSpPr>
            <a:spLocks noGrp="1"/>
          </p:cNvSpPr>
          <p:nvPr>
            <p:ph type="sldNum" sz="quarter" idx="12"/>
          </p:nvPr>
        </p:nvSpPr>
        <p:spPr/>
        <p:txBody>
          <a:bodyPr/>
          <a:lstStyle/>
          <a:p>
            <a:fld id="{69E57DC2-970A-4B3E-BB1C-7A09969E49DF}" type="slidenum">
              <a:rPr lang="en-US" smtClean="0"/>
              <a:t>16</a:t>
            </a:fld>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DE9474-2025-7278-4AC1-43E15EE20B34}"/>
            </a:ext>
          </a:extLst>
        </p:cNvPr>
        <p:cNvGrpSpPr/>
        <p:nvPr/>
      </p:nvGrpSpPr>
      <p:grpSpPr>
        <a:xfrm>
          <a:off x="0" y="0"/>
          <a:ext cx="0" cy="0"/>
          <a:chOff x="0" y="0"/>
          <a:chExt cx="0" cy="0"/>
        </a:xfrm>
      </p:grpSpPr>
      <p:sp>
        <p:nvSpPr>
          <p:cNvPr id="48132" name="Rectangle 2">
            <a:extLst>
              <a:ext uri="{FF2B5EF4-FFF2-40B4-BE49-F238E27FC236}">
                <a16:creationId xmlns:a16="http://schemas.microsoft.com/office/drawing/2014/main" id="{DD9FAFD0-E99A-329D-C060-96A4C88805D7}"/>
              </a:ext>
            </a:extLst>
          </p:cNvPr>
          <p:cNvSpPr>
            <a:spLocks noChangeArrowheads="1"/>
          </p:cNvSpPr>
          <p:nvPr/>
        </p:nvSpPr>
        <p:spPr bwMode="auto">
          <a:xfrm>
            <a:off x="1293779" y="457200"/>
            <a:ext cx="9669293"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algn="ctr" eaLnBrk="1" hangingPunct="1">
              <a:spcBef>
                <a:spcPct val="0"/>
              </a:spcBef>
              <a:buClrTx/>
              <a:buSzTx/>
              <a:buFontTx/>
              <a:buNone/>
            </a:pPr>
            <a:r>
              <a:rPr lang="en-US" altLang="en-US" b="1" dirty="0">
                <a:solidFill>
                  <a:srgbClr val="C00000"/>
                </a:solidFill>
                <a:latin typeface="Tahoma" panose="020B0604030504040204" pitchFamily="34" charset="0"/>
              </a:rPr>
              <a:t>Remember for Business Questions </a:t>
            </a:r>
          </a:p>
          <a:p>
            <a:pPr algn="ctr" eaLnBrk="1" hangingPunct="1">
              <a:spcBef>
                <a:spcPct val="0"/>
              </a:spcBef>
              <a:buClrTx/>
              <a:buSzTx/>
              <a:buFontTx/>
              <a:buNone/>
            </a:pPr>
            <a:r>
              <a:rPr lang="en-US" altLang="en-US" b="1" dirty="0">
                <a:solidFill>
                  <a:srgbClr val="C00000"/>
                </a:solidFill>
                <a:latin typeface="Tahoma" panose="020B0604030504040204" pitchFamily="34" charset="0"/>
              </a:rPr>
              <a:t>in any subject area</a:t>
            </a:r>
            <a:endParaRPr lang="en-US" altLang="en-US" sz="2000" b="1" dirty="0">
              <a:solidFill>
                <a:srgbClr val="C00000"/>
              </a:solidFill>
              <a:latin typeface="Tahoma" panose="020B0604030504040204" pitchFamily="34" charset="0"/>
            </a:endParaRPr>
          </a:p>
        </p:txBody>
      </p:sp>
      <p:sp>
        <p:nvSpPr>
          <p:cNvPr id="48133" name="Text Box 3">
            <a:extLst>
              <a:ext uri="{FF2B5EF4-FFF2-40B4-BE49-F238E27FC236}">
                <a16:creationId xmlns:a16="http://schemas.microsoft.com/office/drawing/2014/main" id="{1327559A-AB52-5451-B576-76DC9129D7D1}"/>
              </a:ext>
            </a:extLst>
          </p:cNvPr>
          <p:cNvSpPr txBox="1">
            <a:spLocks noChangeArrowheads="1"/>
          </p:cNvSpPr>
          <p:nvPr/>
        </p:nvSpPr>
        <p:spPr bwMode="auto">
          <a:xfrm>
            <a:off x="2895600" y="2667001"/>
            <a:ext cx="6934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a:spcBef>
                <a:spcPct val="50000"/>
              </a:spcBef>
              <a:buClrTx/>
              <a:buSzTx/>
              <a:buFontTx/>
              <a:buNone/>
            </a:pPr>
            <a:endParaRPr lang="en-US" altLang="en-US" sz="2000">
              <a:latin typeface="Tahoma" panose="020B0604030504040204" pitchFamily="34" charset="0"/>
            </a:endParaRPr>
          </a:p>
        </p:txBody>
      </p:sp>
      <p:sp>
        <p:nvSpPr>
          <p:cNvPr id="48134" name="Rectangle 1">
            <a:extLst>
              <a:ext uri="{FF2B5EF4-FFF2-40B4-BE49-F238E27FC236}">
                <a16:creationId xmlns:a16="http://schemas.microsoft.com/office/drawing/2014/main" id="{474C073A-8873-2F59-AC12-07337657565E}"/>
              </a:ext>
            </a:extLst>
          </p:cNvPr>
          <p:cNvSpPr>
            <a:spLocks noChangeArrowheads="1"/>
          </p:cNvSpPr>
          <p:nvPr/>
        </p:nvSpPr>
        <p:spPr bwMode="auto">
          <a:xfrm>
            <a:off x="2125663" y="5970589"/>
            <a:ext cx="8153400" cy="261937"/>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eaLnBrk="1" hangingPunct="1">
              <a:spcBef>
                <a:spcPct val="0"/>
              </a:spcBef>
              <a:buClrTx/>
              <a:buSzTx/>
              <a:buFontTx/>
              <a:buNone/>
            </a:pPr>
            <a:r>
              <a:rPr lang="en-US" altLang="en-US" sz="1100">
                <a:latin typeface="Arial" panose="020B0604020202020204" pitchFamily="34" charset="0"/>
              </a:rPr>
              <a:t>Source: </a:t>
            </a:r>
            <a:r>
              <a:rPr lang="en-US" altLang="en-US" sz="1100">
                <a:latin typeface="Arial" panose="020B0604020202020204" pitchFamily="34" charset="0"/>
                <a:hlinkClick r:id="rId3"/>
              </a:rPr>
              <a:t>https://www.codeproject.com/Articles/652108/Create-First-Data-WareHouse</a:t>
            </a:r>
            <a:r>
              <a:rPr lang="en-US" altLang="en-US" sz="1100">
                <a:latin typeface="Arial" panose="020B0604020202020204" pitchFamily="34" charset="0"/>
              </a:rPr>
              <a:t> </a:t>
            </a:r>
          </a:p>
        </p:txBody>
      </p:sp>
      <p:sp>
        <p:nvSpPr>
          <p:cNvPr id="48135" name="Rectangle 3">
            <a:extLst>
              <a:ext uri="{FF2B5EF4-FFF2-40B4-BE49-F238E27FC236}">
                <a16:creationId xmlns:a16="http://schemas.microsoft.com/office/drawing/2014/main" id="{95BAFC7E-CF0E-D9D0-56D7-01DECA2BDBB8}"/>
              </a:ext>
            </a:extLst>
          </p:cNvPr>
          <p:cNvSpPr>
            <a:spLocks noChangeArrowheads="1"/>
          </p:cNvSpPr>
          <p:nvPr/>
        </p:nvSpPr>
        <p:spPr bwMode="auto">
          <a:xfrm>
            <a:off x="2509058" y="1939047"/>
            <a:ext cx="7391400" cy="11045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defRPr>
            </a:lvl2pPr>
            <a:lvl3pPr marL="1143000" indent="-228600">
              <a:spcBef>
                <a:spcPct val="20000"/>
              </a:spcBef>
              <a:buClr>
                <a:srgbClr val="E0752F"/>
              </a:buClr>
              <a:buSzPct val="60000"/>
              <a:buFont typeface="Wingdings" panose="05000000000000000000" pitchFamily="2" charset="2"/>
              <a:buChar char=""/>
              <a:defRPr>
                <a:solidFill>
                  <a:schemeClr val="tx1"/>
                </a:solidFill>
                <a:latin typeface="Century Schoolbook" panose="02040604050505020304" pitchFamily="18" charset="0"/>
              </a:defRPr>
            </a:lvl3pPr>
            <a:lvl4pPr marL="1600200" indent="-228600">
              <a:spcBef>
                <a:spcPct val="20000"/>
              </a:spcBef>
              <a:buClr>
                <a:srgbClr val="FEC3AE"/>
              </a:buClr>
              <a:buSzPct val="60000"/>
              <a:buFont typeface="Wingdings" panose="05000000000000000000" pitchFamily="2" charset="2"/>
              <a:buChar char=""/>
              <a:defRPr>
                <a:solidFill>
                  <a:schemeClr val="tx1"/>
                </a:solidFill>
                <a:latin typeface="Century Schoolbook" panose="02040604050505020304" pitchFamily="18" charset="0"/>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defRPr>
            </a:lvl9pPr>
          </a:lstStyle>
          <a:p>
            <a:pPr eaLnBrk="1" hangingPunct="1">
              <a:spcBef>
                <a:spcPct val="0"/>
              </a:spcBef>
              <a:buClrTx/>
              <a:buSzTx/>
              <a:buFont typeface="Arial" panose="020B0604020202020204" pitchFamily="34" charset="0"/>
              <a:buAutoNum type="arabicPeriod"/>
            </a:pPr>
            <a:r>
              <a:rPr lang="en-US" altLang="en-US" sz="1400" b="1" dirty="0">
                <a:latin typeface="Arial" panose="020B0604020202020204" pitchFamily="34" charset="0"/>
              </a:rPr>
              <a:t>For Each Business Question</a:t>
            </a:r>
            <a:endParaRPr lang="en-US" altLang="en-US" sz="1400" dirty="0">
              <a:latin typeface="Arial" panose="020B0604020202020204" pitchFamily="34" charset="0"/>
            </a:endParaRPr>
          </a:p>
          <a:p>
            <a:pPr lvl="1">
              <a:lnSpc>
                <a:spcPct val="150000"/>
              </a:lnSpc>
              <a:spcBef>
                <a:spcPct val="0"/>
              </a:spcBef>
              <a:buClrTx/>
              <a:buSzTx/>
              <a:buFont typeface="Wingdings" panose="05000000000000000000" pitchFamily="2" charset="2"/>
              <a:buChar char="v"/>
            </a:pPr>
            <a:r>
              <a:rPr lang="en-US" altLang="en-US" sz="1200" b="1" dirty="0">
                <a:solidFill>
                  <a:srgbClr val="FF0000"/>
                </a:solidFill>
                <a:latin typeface="Arial" panose="020B0604020202020204" pitchFamily="34" charset="0"/>
              </a:rPr>
              <a:t>Justify why it is needed for the Client (ask questions to clear this up</a:t>
            </a:r>
          </a:p>
          <a:p>
            <a:pPr lvl="1">
              <a:lnSpc>
                <a:spcPct val="150000"/>
              </a:lnSpc>
              <a:spcBef>
                <a:spcPct val="0"/>
              </a:spcBef>
              <a:buClrTx/>
              <a:buSzTx/>
              <a:buFont typeface="Wingdings" panose="05000000000000000000" pitchFamily="2" charset="2"/>
              <a:buChar char="v"/>
            </a:pPr>
            <a:r>
              <a:rPr lang="en-US" altLang="en-US" sz="1200" b="1" dirty="0">
                <a:solidFill>
                  <a:srgbClr val="FF0000"/>
                </a:solidFill>
                <a:latin typeface="Arial" panose="020B0604020202020204" pitchFamily="34" charset="0"/>
              </a:rPr>
              <a:t>Look at the data to see if it can be answered using the data</a:t>
            </a:r>
          </a:p>
          <a:p>
            <a:pPr lvl="1">
              <a:lnSpc>
                <a:spcPct val="150000"/>
              </a:lnSpc>
              <a:spcBef>
                <a:spcPct val="0"/>
              </a:spcBef>
              <a:buClrTx/>
              <a:buSzTx/>
              <a:buFont typeface="Wingdings" panose="05000000000000000000" pitchFamily="2" charset="2"/>
              <a:buChar char="v"/>
            </a:pPr>
            <a:r>
              <a:rPr lang="en-US" altLang="en-US" sz="1200" b="1" dirty="0">
                <a:solidFill>
                  <a:srgbClr val="FF0000"/>
                </a:solidFill>
                <a:latin typeface="Arial" panose="020B0604020202020204" pitchFamily="34" charset="0"/>
              </a:rPr>
              <a:t>Think of a “Chart” or a “Table” to show the data to the Client</a:t>
            </a:r>
          </a:p>
        </p:txBody>
      </p:sp>
      <p:sp>
        <p:nvSpPr>
          <p:cNvPr id="2" name="Date Placeholder 1">
            <a:extLst>
              <a:ext uri="{FF2B5EF4-FFF2-40B4-BE49-F238E27FC236}">
                <a16:creationId xmlns:a16="http://schemas.microsoft.com/office/drawing/2014/main" id="{C272ADE4-5162-CE39-7E81-372CB02B1817}"/>
              </a:ext>
            </a:extLst>
          </p:cNvPr>
          <p:cNvSpPr>
            <a:spLocks noGrp="1"/>
          </p:cNvSpPr>
          <p:nvPr>
            <p:ph type="dt" sz="half" idx="10"/>
          </p:nvPr>
        </p:nvSpPr>
        <p:spPr/>
        <p:txBody>
          <a:bodyPr/>
          <a:lstStyle/>
          <a:p>
            <a:fld id="{559AADDB-8CB8-4C67-80ED-F8E2CC3FF39C}" type="datetime1">
              <a:rPr lang="en-US" smtClean="0"/>
              <a:t>2/1/2026</a:t>
            </a:fld>
            <a:endParaRPr lang="en-US" dirty="0"/>
          </a:p>
        </p:txBody>
      </p:sp>
      <p:sp>
        <p:nvSpPr>
          <p:cNvPr id="5" name="Footer Placeholder 4">
            <a:extLst>
              <a:ext uri="{FF2B5EF4-FFF2-40B4-BE49-F238E27FC236}">
                <a16:creationId xmlns:a16="http://schemas.microsoft.com/office/drawing/2014/main" id="{4946C27E-DF88-D868-4AF3-AA970D017D7B}"/>
              </a:ext>
            </a:extLst>
          </p:cNvPr>
          <p:cNvSpPr>
            <a:spLocks noGrp="1"/>
          </p:cNvSpPr>
          <p:nvPr>
            <p:ph type="ftr" sz="quarter" idx="11"/>
          </p:nvPr>
        </p:nvSpPr>
        <p:spPr/>
        <p:txBody>
          <a:bodyPr/>
          <a:lstStyle/>
          <a:p>
            <a:r>
              <a:rPr lang="en-US"/>
              <a:t>Copyright (c) Arun Sen Texas A&amp;M University</a:t>
            </a:r>
            <a:endParaRPr lang="en-US" dirty="0"/>
          </a:p>
        </p:txBody>
      </p:sp>
      <p:sp>
        <p:nvSpPr>
          <p:cNvPr id="6" name="Slide Number Placeholder 5">
            <a:extLst>
              <a:ext uri="{FF2B5EF4-FFF2-40B4-BE49-F238E27FC236}">
                <a16:creationId xmlns:a16="http://schemas.microsoft.com/office/drawing/2014/main" id="{2EF68CE0-C1A1-1DA7-3F25-E75187915361}"/>
              </a:ext>
            </a:extLst>
          </p:cNvPr>
          <p:cNvSpPr>
            <a:spLocks noGrp="1"/>
          </p:cNvSpPr>
          <p:nvPr>
            <p:ph type="sldNum" sz="quarter" idx="12"/>
          </p:nvPr>
        </p:nvSpPr>
        <p:spPr/>
        <p:txBody>
          <a:bodyPr/>
          <a:lstStyle/>
          <a:p>
            <a:fld id="{69E57DC2-970A-4B3E-BB1C-7A09969E49DF}" type="slidenum">
              <a:rPr lang="en-US" smtClean="0"/>
              <a:t>17</a:t>
            </a:fld>
            <a:endParaRPr lang="en-US" dirty="0"/>
          </a:p>
        </p:txBody>
      </p:sp>
    </p:spTree>
    <p:extLst>
      <p:ext uri="{BB962C8B-B14F-4D97-AF65-F5344CB8AC3E}">
        <p14:creationId xmlns:p14="http://schemas.microsoft.com/office/powerpoint/2010/main" val="903940574"/>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4417</TotalTime>
  <Words>1714</Words>
  <Application>Microsoft Office PowerPoint</Application>
  <PresentationFormat>Widescreen</PresentationFormat>
  <Paragraphs>239</Paragraphs>
  <Slides>17</Slides>
  <Notes>15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Arial</vt:lpstr>
      <vt:lpstr>Calibri</vt:lpstr>
      <vt:lpstr>Calibri Light</vt:lpstr>
      <vt:lpstr>Tahoma</vt:lpstr>
      <vt:lpstr>Times New Roman</vt:lpstr>
      <vt:lpstr>Wingdings</vt:lpstr>
      <vt:lpstr>Retrospect</vt:lpstr>
      <vt:lpstr>       Task 1.  business Requirements analysis in  Data Warehousing Process</vt:lpstr>
      <vt:lpstr>Task 1.  Business Requirements Analysis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Tasks in Data Warehousing Process</dc:title>
  <dc:creator>Sen, Arun</dc:creator>
  <cp:lastModifiedBy>Arun Sen</cp:lastModifiedBy>
  <cp:revision>94</cp:revision>
  <dcterms:created xsi:type="dcterms:W3CDTF">2021-06-01T20:42:09Z</dcterms:created>
  <dcterms:modified xsi:type="dcterms:W3CDTF">2026-02-02T00:07:13Z</dcterms:modified>
</cp:coreProperties>
</file>