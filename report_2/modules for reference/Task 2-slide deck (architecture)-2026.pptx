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61" r:id="rId1"/>
  </p:sldMasterIdLst>
  <p:notesMasterIdLst>
    <p:notesMasterId r:id="rId45"/>
  </p:notesMasterIdLst>
  <p:handoutMasterIdLst>
    <p:handoutMasterId r:id="rId46"/>
  </p:handoutMasterIdLst>
  <p:sldIdLst>
    <p:sldId id="256" r:id="rId2"/>
    <p:sldId id="265" r:id="rId3"/>
    <p:sldId id="334" r:id="rId4"/>
    <p:sldId id="335" r:id="rId5"/>
    <p:sldId id="336" r:id="rId6"/>
    <p:sldId id="337" r:id="rId7"/>
    <p:sldId id="319" r:id="rId8"/>
    <p:sldId id="320" r:id="rId9"/>
    <p:sldId id="343" r:id="rId10"/>
    <p:sldId id="340" r:id="rId11"/>
    <p:sldId id="342" r:id="rId12"/>
    <p:sldId id="341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1" r:id="rId24"/>
    <p:sldId id="313" r:id="rId25"/>
    <p:sldId id="283" r:id="rId26"/>
    <p:sldId id="284" r:id="rId27"/>
    <p:sldId id="314" r:id="rId28"/>
    <p:sldId id="285" r:id="rId29"/>
    <p:sldId id="286" r:id="rId30"/>
    <p:sldId id="315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-sen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05-02-01T17:09:29.867" idx="1">
    <p:pos x="10" y="10"/>
    <p:text>finish 2/1</p:text>
  </p:cm>
</p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C93F7C-9321-4EE7-9207-1360FA6988F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65E8CE-2FF7-4DB5-ACCD-31F9B146FE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6/1/2021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00C2E8-8FC1-4081-9B10-60593EB27B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F13FB-0351-4C97-B399-34DF697224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4CABC-5F2D-4D27-8A5D-09800E473B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590924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6/1/2021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D520-69ED-4815-A760-D3BDB7B681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853455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B2125181-E854-47BA-A0B1-18286C0791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A12E4856-D0AA-49A1-AB97-5F91F4CCB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99DF8F14-C187-46DF-AC65-3420C7A015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7D2DF04-5262-43A8-995B-AE764B2309D1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4144DB-E86F-488F-9126-85B567EF773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6/1/2021</a:t>
            </a:r>
          </a:p>
        </p:txBody>
      </p:sp>
    </p:spTree>
    <p:extLst>
      <p:ext uri="{BB962C8B-B14F-4D97-AF65-F5344CB8AC3E}">
        <p14:creationId xmlns:p14="http://schemas.microsoft.com/office/powerpoint/2010/main" val="161078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70DE0F86-AFE0-4B2B-860D-5ABA98C0C5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4F6C6940-33F5-433B-AA73-8EBF8E538BD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B87FABAA-B3D4-41A4-A1DF-9B37609512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8235A7-E77D-4358-9BB8-3C5E8E532C95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461A4736-F08B-4130-905D-79F4E30F56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9D017003-808D-41C9-80E8-CBFAF91E68D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76F1DD7A-FB8F-41B6-9D38-3164BD802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A2D24BA-99EA-48A0-8774-A2D6BB4E4525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88AAB2EF-5066-47B7-B0E7-7439562FFA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3C195E16-5740-4A6F-B93C-A65A6C3AC65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80A17432-BC37-469B-98EA-1D71C9CA0A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B857EF9-51F5-46BB-80E7-D2A16614214D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5AEE2100-B6A9-4540-8B97-75782A0855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1213794E-7AB1-43FB-8999-1B399ECC4A7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4A3FC47A-2FF5-4645-9E7A-47196377F0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C4C2CD4-B740-4A39-A13E-4118E7829496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2A877E9D-B141-4A17-8A04-810367D881C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85FC3EDA-E26A-431B-9674-E7ED56CE784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AC3D19F3-384C-4F86-B363-2D6EFEC83E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CC7864C-2741-46EF-808C-71764DD55831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E36A183F-1E0C-4331-9223-FC0DAF8EE15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01A3BD97-717E-456F-AF26-E91E45A1333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C9E3BCB4-BBE7-43F2-A500-809DD3220E7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38E885-3FC9-428D-A450-319F6D8FECE7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5EC-524A-8388-070E-B00323A16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0551330B-46DA-8744-B0C5-42563097CDB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DFA162BB-EA20-40C2-53C1-A13BA50DA2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A073E444-B492-5DAB-E0F5-52C71509BF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638E885-3FC9-428D-A450-319F6D8FECE7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45853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24AA28B1-D9C1-4BD3-9A78-8050211374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69EA023E-ADD6-4CE5-8376-F4D9693B7D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688D1E36-56AE-4BE4-82B7-E1CC4B8030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1B6B98-85D2-415E-A12D-F5E4B23F149F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89C55E72-4BF0-492F-9F51-E30C821B436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EAF0A400-25D3-4EB2-ACA3-21DA030BD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817DAEFC-90BC-44A5-AE2A-583ED7A1D0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148BB0F-D562-4B97-BD48-3A2FC8DDC267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CD7DAB98-0EA6-4721-9CB4-1E0CF9F4E6B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48FCC7C0-A1B5-410A-BE20-D090AB0427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26EFDC4D-5C79-4A46-85A8-7C2C67D4C2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E0E159-73BD-4CCB-A98F-81C53D493101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ABB98B35-776F-4D19-BAF3-300B2C8309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1FAFBAFF-013D-46C9-99F4-CB59D6846E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EBFB3A73-3CD1-4AB5-B4F9-D9FB29F991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99956DB-94E6-4366-9CCA-B509949D3E26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5A3C18AE-DD69-48B3-AA9D-7003C237CE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9F1C3E41-4CBC-412A-97A1-82AD9091A1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719309AC-E023-4954-951E-33B1DB665E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59B25E82-99E5-4CE4-BF8B-09C82C04405E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88F2F9AB-D8FA-46B2-803B-9D4EEAE433A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7E70C67F-A541-4D70-9236-E29E996831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5A521853-77DE-4291-ABE1-2AF5BB4F4D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C878803-E56D-4568-85C3-496351CDC078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39697B3D-4AC7-4E4C-B053-AB11631565B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3E9D08B4-E657-4889-8C30-F5350E902C7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8567BE70-4FF3-4D4D-B084-9559908DCD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85333AF-57B2-4305-9449-580250F77191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CADA7A54-52A2-4F6B-A6D6-40777A6BC3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A434D7AE-534F-4A79-9D3B-C3F41301CDF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EC57BBF6-1C00-45C0-B187-49BA81D19B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50223D-DACC-4510-BB07-B3FDC698DED4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D77D14DE-B797-49E9-A858-3852E6E03B6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8808AD47-48C2-4721-B9D9-FFE623ED157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0F24ED56-743B-411B-A0BB-6C941F846E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F970F3D-CD6E-4333-9D4C-7297C45B97A3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20A956B7-2B69-41B2-B4FD-C846656D2C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124D6460-C2F7-4073-9F1A-173E0DB9CD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3648D57C-6037-47C7-9E60-A1C42A7820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8C6BFDC-0CEA-4C41-A660-AD42151C3240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C73F6D06-B13F-48DC-861E-2E8836D2AB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3E46FD84-0C9D-4C28-91FB-9694AF91504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0A60C5D6-EAAF-40AE-81B7-EB2BAB7333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140F5DB-D41F-48FF-99F1-1E9707944C68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4BC394ED-BD99-487F-B03F-357931454E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4884AEEA-2871-42B9-B33B-B6921F7CD8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8B9A894C-D5EB-4582-8D6E-42C2F177B0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AFA5089-5748-4A3E-8D9E-4CCB2EEE7A34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7E5CB207-3590-45DE-9C95-B19625FE4A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9132D60C-E2D2-4E69-8CC1-74E16BF7619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9BDA8DED-BD0F-48CD-B254-1E161FC6D6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1907276-4899-43FA-BE95-9635097D52D9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7AF28E5C-023A-4438-B07E-BB662C3EB9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9D1257AB-A473-4D78-838D-5A5A2CA649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FDB5C814-A458-47D5-B36B-C333E6BEAD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AC02AB3-BAC6-4937-B23E-BC01AFFBF6F9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EEAB5C87-7766-486E-A422-6967C56AFF3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42E520EB-1EE3-4BDB-8D08-1FB80ECD6D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61F2A82A-925C-4861-9BBA-7817BB8622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3AE32BA-EF2F-475D-8D53-1F642FEDD55E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8329DFC0-0C5C-4FA7-8A46-48D0D0F483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E66F4032-7E96-4BA8-AD97-1EBE1913184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765A74B6-4E3D-4735-90F7-02B9794481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BAF6C8-1428-4D4D-8D21-F38F5B75742F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F2F15D68-4AE0-45E2-9F60-0FFB005381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8FC4FE6D-1E3A-4B0B-841C-3A894BFD41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60B6FDC7-DF4D-4C85-817E-778508F41E7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5FE0EFC-BFFB-4256-8338-0BFAB3E403E3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47F57096-3551-48DF-896A-5BCACE2F3B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290931CD-A67F-4CE9-814B-A1155A80421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07ED3FE2-7408-4D9A-9125-8A930FC0CB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1A95A43-8902-4985-8D0C-A15D7EDA7BEB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54F8653B-C493-4980-8B0B-8A47F19E1D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AF47BC0B-B4DB-49E1-937F-402085BF3C1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E4A13AB8-A16E-49A8-9D99-FFCF15FF3A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A1863EA-D6BD-4166-B204-0366E12AB8F2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4FB96D36-8ED0-40CB-8400-A8757DB8705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94F318B1-8B3B-4773-A383-8A7E9AB0BF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0F9A03F9-BDEF-4A3F-A407-C0E7800134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2B7F50B-72E3-487F-987A-F1465CA215EA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04CD8E23-FDB0-46AF-9223-4EA7F6CD2D3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772D0948-BD40-4ACA-8A98-599D9FDACBA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A009F174-740E-4EF2-ACE6-8DB34A2BC0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BEC849-11C1-42FF-A50B-C737EC49899A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B9C5ADE6-7B8F-452E-AE78-9F581C4666C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2DA0945C-FDE4-4FFD-9936-C8450AF7C5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C717D647-A8F5-4334-B90D-4048D2D401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93FB67C-F4F7-486A-8429-BE5279D1AE70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AB12F041-5EC1-48B4-AAD2-40DF9737C4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0C7C0033-E90F-4714-B5F6-1C0CEC9735C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527F0E24-9E0E-4D84-9499-DBB0E46B19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85938A-33ED-4166-8A67-0E243D415C4A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9C98E336-704F-4D37-ADD0-E5B3294028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71CB319D-8575-4839-AEDA-A09E82B5F77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8472C245-B1BA-4679-98EB-9A109C1893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BCDB0D-E2E8-4484-BF63-B7C46BC75516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0DEA6D57-C461-4478-B468-FA10B8C4FF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35A2E3E3-8F27-4B95-8A9B-5FD17C9A74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772D310E-25D9-4869-81EC-F0084CC30C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6D45A58-1195-4DD1-A0DB-5F422150C7DA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1014D2AE-F83C-4A6E-AA78-1EF786C7D1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9E9D1947-8D5C-453E-88F0-372FB8AAE30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BEE6DF18-5660-4B11-A286-94EFDFB7FAF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98DB3D3-7EEC-46BB-8740-DAD90CD9E025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5EAB73E4-12AF-48F9-8097-76C2749480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F5514090-6B41-4869-B473-AF508FCC92B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D99AC865-265E-441D-87C3-EFF6441409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F9A69C4-1B70-46E1-88CA-4E1A53A877B4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DB5B4EAB-46BC-4BE7-80BF-FCC2FAB9C54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A121F8B1-2457-45AA-BADE-F4984941350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DF1AC63A-E28C-403E-9278-9EF846F4E1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B1B8D9D-3A94-450E-8723-35FA2915F317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>
            <a:extLst>
              <a:ext uri="{FF2B5EF4-FFF2-40B4-BE49-F238E27FC236}">
                <a16:creationId xmlns:a16="http://schemas.microsoft.com/office/drawing/2014/main" id="{005796AB-A554-43F8-A2FF-336A3A30509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>
            <a:extLst>
              <a:ext uri="{FF2B5EF4-FFF2-40B4-BE49-F238E27FC236}">
                <a16:creationId xmlns:a16="http://schemas.microsoft.com/office/drawing/2014/main" id="{DBE0FD0B-A171-43B5-A2F7-B8E29B31EB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98308" name="Slide Number Placeholder 3">
            <a:extLst>
              <a:ext uri="{FF2B5EF4-FFF2-40B4-BE49-F238E27FC236}">
                <a16:creationId xmlns:a16="http://schemas.microsoft.com/office/drawing/2014/main" id="{B668F3F7-BEDE-4089-BD25-00EB7586E4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803AA8-8DEC-4ECE-ACC0-F2CB58E71640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>
            <a:extLst>
              <a:ext uri="{FF2B5EF4-FFF2-40B4-BE49-F238E27FC236}">
                <a16:creationId xmlns:a16="http://schemas.microsoft.com/office/drawing/2014/main" id="{878BDD21-EC80-426D-829E-168660B4F01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>
            <a:extLst>
              <a:ext uri="{FF2B5EF4-FFF2-40B4-BE49-F238E27FC236}">
                <a16:creationId xmlns:a16="http://schemas.microsoft.com/office/drawing/2014/main" id="{A54CD63E-C2C4-41C0-9E10-D34C12A771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0356" name="Slide Number Placeholder 3">
            <a:extLst>
              <a:ext uri="{FF2B5EF4-FFF2-40B4-BE49-F238E27FC236}">
                <a16:creationId xmlns:a16="http://schemas.microsoft.com/office/drawing/2014/main" id="{5269500C-5CE2-4B44-84AE-E94F57B86C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43C769B-AB0A-4D60-A856-E2BF4539FC10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>
            <a:extLst>
              <a:ext uri="{FF2B5EF4-FFF2-40B4-BE49-F238E27FC236}">
                <a16:creationId xmlns:a16="http://schemas.microsoft.com/office/drawing/2014/main" id="{9C392301-FE20-4F33-A3B0-99ACF78E9FF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>
            <a:extLst>
              <a:ext uri="{FF2B5EF4-FFF2-40B4-BE49-F238E27FC236}">
                <a16:creationId xmlns:a16="http://schemas.microsoft.com/office/drawing/2014/main" id="{FD5B573C-604C-4ECF-AA81-5B432A5DDB4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6500" name="Slide Number Placeholder 3">
            <a:extLst>
              <a:ext uri="{FF2B5EF4-FFF2-40B4-BE49-F238E27FC236}">
                <a16:creationId xmlns:a16="http://schemas.microsoft.com/office/drawing/2014/main" id="{6CB19E2F-A7D8-4948-930A-71E99EF0B0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4090C2B-ACA2-417D-83C8-5BF3A2E0CF46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>
            <a:extLst>
              <a:ext uri="{FF2B5EF4-FFF2-40B4-BE49-F238E27FC236}">
                <a16:creationId xmlns:a16="http://schemas.microsoft.com/office/drawing/2014/main" id="{81AAD801-C1BF-4165-8D89-0FAA390A7C4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>
            <a:extLst>
              <a:ext uri="{FF2B5EF4-FFF2-40B4-BE49-F238E27FC236}">
                <a16:creationId xmlns:a16="http://schemas.microsoft.com/office/drawing/2014/main" id="{FD6E4097-B715-4837-800D-A99897EE6C5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08548" name="Slide Number Placeholder 3">
            <a:extLst>
              <a:ext uri="{FF2B5EF4-FFF2-40B4-BE49-F238E27FC236}">
                <a16:creationId xmlns:a16="http://schemas.microsoft.com/office/drawing/2014/main" id="{B6E42707-2E8F-490A-8C63-E9BED570F5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3C860E4-2BFB-4EB2-88E9-744A3AF67C22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>
            <a:extLst>
              <a:ext uri="{FF2B5EF4-FFF2-40B4-BE49-F238E27FC236}">
                <a16:creationId xmlns:a16="http://schemas.microsoft.com/office/drawing/2014/main" id="{CCC64712-EB70-4E68-AB24-0AEC5E4DF9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>
            <a:extLst>
              <a:ext uri="{FF2B5EF4-FFF2-40B4-BE49-F238E27FC236}">
                <a16:creationId xmlns:a16="http://schemas.microsoft.com/office/drawing/2014/main" id="{DCA67E2D-122A-44A4-A025-1A3995209C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0596" name="Slide Number Placeholder 3">
            <a:extLst>
              <a:ext uri="{FF2B5EF4-FFF2-40B4-BE49-F238E27FC236}">
                <a16:creationId xmlns:a16="http://schemas.microsoft.com/office/drawing/2014/main" id="{4668DF29-D663-4533-99D6-31C846E1D8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9389595-7060-456E-B3CD-281A67BB2EA1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A56E1183-B7F4-4775-A118-FEE803B890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0E8F7B50-046F-4001-B479-60A5D1852F6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26365CAC-A841-489F-9243-F59A2F0C9E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A1C366E-BD96-4E0E-B246-3FD8661AAEA6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B6D28-855F-4CC9-90CF-D0A23A9F5A26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8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48167-EABB-4F71-A5F4-B6C0CBE3286B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0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CEC33D-5FDF-4762-B884-91BBDF7612A7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782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749A3-261B-4A07-B2E5-3E00BF62D5B5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25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08879-58B5-44A3-B8A8-1585E849F5B8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46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A4AF1-E863-4AB0-9B79-06F0BAD18F0B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9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86CC9-8AA8-4F39-90D9-D6057ECEB996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301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A076991D-A247-4C83-986A-CF40A5FCBED3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17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C248A-C761-4FF5-91DC-A3DCBBAB1EEF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4502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CF5B6-FE5A-4AD7-9FFD-3AF68A7BF427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1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40E020-1AB3-4D9C-A987-E07AD6F2952A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516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1219200" y="277813"/>
            <a:ext cx="10363200" cy="58531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13">
            <a:extLst>
              <a:ext uri="{FF2B5EF4-FFF2-40B4-BE49-F238E27FC236}">
                <a16:creationId xmlns:a16="http://schemas.microsoft.com/office/drawing/2014/main" id="{5BFA85F5-E21D-414F-AB55-6D74A0E15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581C8-7E6A-4299-935B-74B4AA67C80E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D779FD7F-B886-4EE3-9BDE-E19B713DAD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Copyright (c) Arun Sen Texas A&amp;M University</a:t>
            </a:r>
          </a:p>
        </p:txBody>
      </p:sp>
      <p:sp>
        <p:nvSpPr>
          <p:cNvPr id="5" name="Slide Number Placeholder 22">
            <a:extLst>
              <a:ext uri="{FF2B5EF4-FFF2-40B4-BE49-F238E27FC236}">
                <a16:creationId xmlns:a16="http://schemas.microsoft.com/office/drawing/2014/main" id="{B89C20F6-EE5A-4D3D-9E91-1D2914673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B9B208-317E-451A-9B7B-F240F58E369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804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0C963A-8511-4001-A896-EF2194045358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3592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linkedinlearning.tamu.edu/" TargetMode="External"/><Relationship Id="rId4" Type="http://schemas.openxmlformats.org/officeDocument/2006/relationships/hyperlink" Target="https://docs.aws.amazon.com/redshift/latest/dg/c_high_level_system_architecture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learning/google-cloud-platform-essential-training-for-administrators/bigquery?u=74650722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panoply.io/data-warehouse-guide/data-warehouse-architecture-traditional-vs-cloud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3FE9996-7EAC-4679-B37D-C1045F42F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1DF1FE-5CC8-43D2-A76C-93C76EEDE1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161BEBD-A23C-409E-ABC7-73F9EDC02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7EF099-15AF-4169-A285-740CE3D296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7709" y="605896"/>
            <a:ext cx="3755081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b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b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b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b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b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b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r>
              <a:rPr lang="en-US" sz="2800" b="1" cap="small" dirty="0">
                <a:solidFill>
                  <a:srgbClr val="FFFFFF"/>
                </a:solidFill>
              </a:rPr>
              <a:t>Task 2.  choice of architecture </a:t>
            </a:r>
            <a: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in </a:t>
            </a:r>
            <a:b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r>
              <a:rPr kumimoji="0" lang="en-US" sz="2800" b="1" i="0" u="none" strike="noStrike" cap="small" normalizeH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Data Warehousing Process</a:t>
            </a:r>
            <a:endParaRPr lang="en-US" sz="28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54B3F04-9EAC-45C0-B3CE-0387EEA10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B8327-E815-4464-8B4C-278C0CC0F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2016" y="605896"/>
            <a:ext cx="6413663" cy="5646208"/>
          </a:xfrm>
        </p:spPr>
        <p:txBody>
          <a:bodyPr vert="horz" lIns="0" tIns="45720" rIns="0" bIns="45720" rtlCol="0" anchor="ctr">
            <a:normAutofit/>
          </a:bodyPr>
          <a:lstStyle/>
          <a:p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Arun Sen</a:t>
            </a:r>
          </a:p>
          <a:p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Department of Information &amp; Operations Mgmt.</a:t>
            </a:r>
          </a:p>
          <a:p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Mays Business School</a:t>
            </a:r>
          </a:p>
          <a:p>
            <a:r>
              <a:rPr lang="en-US" altLang="en-US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Texas A&amp;M University</a:t>
            </a:r>
          </a:p>
          <a:p>
            <a:endParaRPr lang="en-US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40019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4">
            <a:extLst>
              <a:ext uri="{FF2B5EF4-FFF2-40B4-BE49-F238E27FC236}">
                <a16:creationId xmlns:a16="http://schemas.microsoft.com/office/drawing/2014/main" id="{BC8CDA5A-AAB1-477B-A132-4B79AB754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9461" name="Text Box 5">
            <a:extLst>
              <a:ext uri="{FF2B5EF4-FFF2-40B4-BE49-F238E27FC236}">
                <a16:creationId xmlns:a16="http://schemas.microsoft.com/office/drawing/2014/main" id="{0A2FB09C-7708-4946-88A8-06CD4FD2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462" name="Text Box 6">
            <a:extLst>
              <a:ext uri="{FF2B5EF4-FFF2-40B4-BE49-F238E27FC236}">
                <a16:creationId xmlns:a16="http://schemas.microsoft.com/office/drawing/2014/main" id="{7A6A18E0-1ABB-477D-8DBD-90BF4F1D31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8151" y="1606299"/>
            <a:ext cx="9185988" cy="391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463" name="Text Box 8">
            <a:extLst>
              <a:ext uri="{FF2B5EF4-FFF2-40B4-BE49-F238E27FC236}">
                <a16:creationId xmlns:a16="http://schemas.microsoft.com/office/drawing/2014/main" id="{EC6EC5D7-E3D4-447A-94A9-3C94FD6F08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1676400"/>
            <a:ext cx="8382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Times New Roman" panose="02020603050405020304" pitchFamily="18" charset="0"/>
              </a:rPr>
              <a:t> 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046424AB-3567-41D1-BFDC-94AF699548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0159" y="1606299"/>
            <a:ext cx="9185988" cy="3917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EDEEA5-B4E0-4C0B-9751-21CAC4F57DE0}"/>
              </a:ext>
            </a:extLst>
          </p:cNvPr>
          <p:cNvSpPr txBox="1"/>
          <p:nvPr/>
        </p:nvSpPr>
        <p:spPr>
          <a:xfrm>
            <a:off x="1496121" y="2125788"/>
            <a:ext cx="968595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1.  What is Architecture?</a:t>
            </a:r>
            <a:endParaRPr lang="en-US" altLang="en-US" sz="1600" dirty="0">
              <a:latin typeface="Tahoma" panose="020B0604030504040204" pitchFamily="34" charset="0"/>
            </a:endParaRP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600" dirty="0">
                <a:latin typeface="Times New Roman" panose="02020603050405020304" pitchFamily="18" charset="0"/>
              </a:rPr>
              <a:t>  It is a blueprint that dictates how the entire the project will look like and is very similar to an architectural blueprint for a house.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1600" dirty="0"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 b="1" dirty="0">
                <a:latin typeface="Tahoma" panose="020B0604030504040204" pitchFamily="34" charset="0"/>
              </a:rPr>
              <a:t>2.  Types of DW Architecture</a:t>
            </a:r>
            <a:endParaRPr lang="en-US" altLang="en-US" sz="1600" dirty="0">
              <a:latin typeface="Tahoma" panose="020B0604030504040204" pitchFamily="34" charset="0"/>
            </a:endParaRPr>
          </a:p>
          <a:p>
            <a:pPr lvl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</a:rPr>
              <a:t>  Enterprise-wide Data Warehouse</a:t>
            </a:r>
          </a:p>
          <a:p>
            <a:pPr lvl="1">
              <a:spcBef>
                <a:spcPct val="50000"/>
              </a:spcBef>
              <a:buClrTx/>
              <a:buSzTx/>
              <a:buFont typeface="Arial" panose="020B0604020202020204" pitchFamily="34" charset="0"/>
              <a:buAutoNum type="arabicPeriod"/>
            </a:pPr>
            <a:r>
              <a:rPr lang="en-US" altLang="en-US" sz="1600" dirty="0">
                <a:latin typeface="Times New Roman" panose="02020603050405020304" pitchFamily="18" charset="0"/>
              </a:rPr>
              <a:t>  Data Marts (are of many types)</a:t>
            </a:r>
          </a:p>
          <a:p>
            <a:pPr lvl="3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</a:rPr>
              <a:t> Vendor-supplied packaged data mart (one data mart in a box)</a:t>
            </a:r>
          </a:p>
          <a:p>
            <a:pPr lvl="3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</a:rPr>
              <a:t> Vendor-supplied packaged data marts (multiple data marts)</a:t>
            </a:r>
          </a:p>
          <a:p>
            <a:pPr lvl="3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</a:rPr>
              <a:t> Architected data mart (built in-house)</a:t>
            </a:r>
          </a:p>
          <a:p>
            <a:pPr lvl="3">
              <a:spcBef>
                <a:spcPct val="50000"/>
              </a:spcBef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</a:rPr>
              <a:t> Multiple architected data marts (also built in-house)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1600" dirty="0">
              <a:latin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DC043-CCE1-4C84-BB87-55B5D307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18EF0-F5F0-4268-A92D-62EC36F1204A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BDBA9-084F-47EF-A34D-1400D835D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45E13-BCE9-48A4-887C-71D7C1BC0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597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Text Box 3">
            <a:extLst>
              <a:ext uri="{FF2B5EF4-FFF2-40B4-BE49-F238E27FC236}">
                <a16:creationId xmlns:a16="http://schemas.microsoft.com/office/drawing/2014/main" id="{53D7B720-FDFB-4E7F-ADEC-423169F8BE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19463" name="Text Box 4">
            <a:extLst>
              <a:ext uri="{FF2B5EF4-FFF2-40B4-BE49-F238E27FC236}">
                <a16:creationId xmlns:a16="http://schemas.microsoft.com/office/drawing/2014/main" id="{297CF200-8430-4E9C-A854-FDD693FCCF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413" y="1743076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3.  Types of Architecture</a:t>
            </a:r>
            <a:endParaRPr lang="en-US" altLang="en-US" sz="2000" b="1" dirty="0">
              <a:latin typeface="Tahoma" panose="020B060403050404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6E268E-8936-26D5-2D01-731AE59DB3F2}"/>
              </a:ext>
            </a:extLst>
          </p:cNvPr>
          <p:cNvGrpSpPr/>
          <p:nvPr/>
        </p:nvGrpSpPr>
        <p:grpSpPr>
          <a:xfrm>
            <a:off x="3046398" y="2200276"/>
            <a:ext cx="6586538" cy="4092576"/>
            <a:chOff x="3124200" y="2438400"/>
            <a:chExt cx="6586538" cy="4092576"/>
          </a:xfrm>
        </p:grpSpPr>
        <p:sp>
          <p:nvSpPr>
            <p:cNvPr id="19458" name="Text Box 28">
              <a:extLst>
                <a:ext uri="{FF2B5EF4-FFF2-40B4-BE49-F238E27FC236}">
                  <a16:creationId xmlns:a16="http://schemas.microsoft.com/office/drawing/2014/main" id="{B679493B-BB6B-4C80-9388-4DD93EFB34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4000" y="6096000"/>
              <a:ext cx="12954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Central Metadata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9464" name="Text Box 6">
              <a:extLst>
                <a:ext uri="{FF2B5EF4-FFF2-40B4-BE49-F238E27FC236}">
                  <a16:creationId xmlns:a16="http://schemas.microsoft.com/office/drawing/2014/main" id="{0D8B7ABA-E7B6-4D50-9F4A-FA72BE6095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564" y="2438400"/>
              <a:ext cx="6086475" cy="55245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 dirty="0">
                  <a:latin typeface="Tahoma" panose="020B0604030504040204" pitchFamily="34" charset="0"/>
                </a:rPr>
                <a:t>Enterprise-Wide Data Warehouse Architecture</a:t>
              </a:r>
              <a:endParaRPr lang="en-US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19465" name="Text Box 7">
              <a:extLst>
                <a:ext uri="{FF2B5EF4-FFF2-40B4-BE49-F238E27FC236}">
                  <a16:creationId xmlns:a16="http://schemas.microsoft.com/office/drawing/2014/main" id="{568CD4C5-33B2-4CB4-8D5E-117BE1A885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2464" y="5399089"/>
              <a:ext cx="1404937" cy="7397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Data Analysis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9466" name="Text Box 9">
              <a:extLst>
                <a:ext uri="{FF2B5EF4-FFF2-40B4-BE49-F238E27FC236}">
                  <a16:creationId xmlns:a16="http://schemas.microsoft.com/office/drawing/2014/main" id="{B674831C-8EA1-4E6E-B3E0-50A5C3886B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05800" y="3733801"/>
              <a:ext cx="1404938" cy="2714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Data Analysis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9467" name="AutoShape 10">
              <a:extLst>
                <a:ext uri="{FF2B5EF4-FFF2-40B4-BE49-F238E27FC236}">
                  <a16:creationId xmlns:a16="http://schemas.microsoft.com/office/drawing/2014/main" id="{CEECBBFA-CABF-4118-8DDF-F2CEF298E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563" y="3722688"/>
              <a:ext cx="538162" cy="423862"/>
            </a:xfrm>
            <a:prstGeom prst="flowChartMagneticDisk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19468" name="AutoShape 11">
              <a:extLst>
                <a:ext uri="{FF2B5EF4-FFF2-40B4-BE49-F238E27FC236}">
                  <a16:creationId xmlns:a16="http://schemas.microsoft.com/office/drawing/2014/main" id="{71EB21D7-734A-4B97-8708-D34ECC64A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563" y="4278314"/>
              <a:ext cx="538162" cy="422275"/>
            </a:xfrm>
            <a:prstGeom prst="flowChartMagneticDisk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19469" name="AutoShape 12">
              <a:extLst>
                <a:ext uri="{FF2B5EF4-FFF2-40B4-BE49-F238E27FC236}">
                  <a16:creationId xmlns:a16="http://schemas.microsoft.com/office/drawing/2014/main" id="{40EF9090-D112-478F-A2BF-0207E94D08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7563" y="5019676"/>
              <a:ext cx="538162" cy="423863"/>
            </a:xfrm>
            <a:prstGeom prst="flowChartMagneticDisk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19470" name="Line 13">
              <a:extLst>
                <a:ext uri="{FF2B5EF4-FFF2-40B4-BE49-F238E27FC236}">
                  <a16:creationId xmlns:a16="http://schemas.microsoft.com/office/drawing/2014/main" id="{5A8C2F52-82C7-4AB6-926D-5E4D471F04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5863" y="4094163"/>
              <a:ext cx="4683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1" name="Line 14">
              <a:extLst>
                <a:ext uri="{FF2B5EF4-FFF2-40B4-BE49-F238E27FC236}">
                  <a16:creationId xmlns:a16="http://schemas.microsoft.com/office/drawing/2014/main" id="{D6A8B09B-B2EF-4C0E-B012-6FAF258B25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5876" y="4649788"/>
              <a:ext cx="468313" cy="7413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2" name="Oval 15">
              <a:extLst>
                <a:ext uri="{FF2B5EF4-FFF2-40B4-BE49-F238E27FC236}">
                  <a16:creationId xmlns:a16="http://schemas.microsoft.com/office/drawing/2014/main" id="{DC370109-4826-4BAC-9C59-B8354F74B6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5739" y="3352800"/>
              <a:ext cx="466725" cy="3698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19473" name="Oval 16">
              <a:extLst>
                <a:ext uri="{FF2B5EF4-FFF2-40B4-BE49-F238E27FC236}">
                  <a16:creationId xmlns:a16="http://schemas.microsoft.com/office/drawing/2014/main" id="{7B9D1E27-2426-4C73-92D0-9AD5C820C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05739" y="3908425"/>
              <a:ext cx="466725" cy="36988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19474" name="Oval 17">
              <a:extLst>
                <a:ext uri="{FF2B5EF4-FFF2-40B4-BE49-F238E27FC236}">
                  <a16:creationId xmlns:a16="http://schemas.microsoft.com/office/drawing/2014/main" id="{3ED1A80F-BFAC-4883-9895-E0C13955C5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07413" y="5019676"/>
              <a:ext cx="468312" cy="37147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19475" name="Line 18">
              <a:extLst>
                <a:ext uri="{FF2B5EF4-FFF2-40B4-BE49-F238E27FC236}">
                  <a16:creationId xmlns:a16="http://schemas.microsoft.com/office/drawing/2014/main" id="{AA3028CC-961C-43E8-99AB-988378D588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337426" y="3538538"/>
              <a:ext cx="468313" cy="184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Line 19">
              <a:extLst>
                <a:ext uri="{FF2B5EF4-FFF2-40B4-BE49-F238E27FC236}">
                  <a16:creationId xmlns:a16="http://schemas.microsoft.com/office/drawing/2014/main" id="{BEC718CC-5C51-488E-B709-0D8617453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2476" y="4094163"/>
              <a:ext cx="7032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Line 20">
              <a:extLst>
                <a:ext uri="{FF2B5EF4-FFF2-40B4-BE49-F238E27FC236}">
                  <a16:creationId xmlns:a16="http://schemas.microsoft.com/office/drawing/2014/main" id="{093F7ACC-36CB-4ACD-915E-733379D330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34163" y="4464051"/>
              <a:ext cx="468312" cy="371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Text Box 21">
              <a:extLst>
                <a:ext uri="{FF2B5EF4-FFF2-40B4-BE49-F238E27FC236}">
                  <a16:creationId xmlns:a16="http://schemas.microsoft.com/office/drawing/2014/main" id="{6ADCE82E-F4A3-42D4-8C5C-ACFCAF73B8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200" y="5575301"/>
              <a:ext cx="1404938" cy="741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Source Systems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19479" name="Text Box 22">
              <a:extLst>
                <a:ext uri="{FF2B5EF4-FFF2-40B4-BE49-F238E27FC236}">
                  <a16:creationId xmlns:a16="http://schemas.microsoft.com/office/drawing/2014/main" id="{44344049-0F0A-4558-A7BD-A91B2A8090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67201" y="3733800"/>
              <a:ext cx="701675" cy="129698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>
                <a:latin typeface="Tahoma" panose="020B0604030504040204" pitchFamily="34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L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9480" name="Line 23">
              <a:extLst>
                <a:ext uri="{FF2B5EF4-FFF2-40B4-BE49-F238E27FC236}">
                  <a16:creationId xmlns:a16="http://schemas.microsoft.com/office/drawing/2014/main" id="{4DE234B1-86ED-412B-A907-ACAF62ECFD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5876" y="3908425"/>
              <a:ext cx="4683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1" name="Line 24">
              <a:extLst>
                <a:ext uri="{FF2B5EF4-FFF2-40B4-BE49-F238E27FC236}">
                  <a16:creationId xmlns:a16="http://schemas.microsoft.com/office/drawing/2014/main" id="{B0217350-CB24-475E-8E30-8909D5588E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25876" y="4278314"/>
              <a:ext cx="468313" cy="1857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2" name="Text Box 25">
              <a:extLst>
                <a:ext uri="{FF2B5EF4-FFF2-40B4-BE49-F238E27FC236}">
                  <a16:creationId xmlns:a16="http://schemas.microsoft.com/office/drawing/2014/main" id="{60ADB8A0-47FC-42B8-89A5-F08D9261C8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64175" y="3722688"/>
              <a:ext cx="1873250" cy="7413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 b="1">
                <a:latin typeface="Calibri" panose="020F0502020204030204" pitchFamily="34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Central Data Warehouse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9483" name="AutoShape 26">
              <a:extLst>
                <a:ext uri="{FF2B5EF4-FFF2-40B4-BE49-F238E27FC236}">
                  <a16:creationId xmlns:a16="http://schemas.microsoft.com/office/drawing/2014/main" id="{BE58D2EC-7851-4DE1-B8F7-8D8275527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9601" y="5791201"/>
              <a:ext cx="936625" cy="739775"/>
            </a:xfrm>
            <a:prstGeom prst="flowChartMagneticDisk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19484" name="Line 27">
              <a:extLst>
                <a:ext uri="{FF2B5EF4-FFF2-40B4-BE49-F238E27FC236}">
                  <a16:creationId xmlns:a16="http://schemas.microsoft.com/office/drawing/2014/main" id="{54D9B491-0FAE-4CB5-8E3D-A8F7AB9E64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29138" y="5019676"/>
              <a:ext cx="271462" cy="9239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5" name="Text Box 29">
              <a:extLst>
                <a:ext uri="{FF2B5EF4-FFF2-40B4-BE49-F238E27FC236}">
                  <a16:creationId xmlns:a16="http://schemas.microsoft.com/office/drawing/2014/main" id="{6DBEE7D5-70E5-454D-AE18-CF894AA7E9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34163" y="4843464"/>
              <a:ext cx="1433512" cy="53498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 b="1">
                <a:latin typeface="Calibri" panose="020F0502020204030204" pitchFamily="34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RDBMS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19486" name="Line 30">
              <a:extLst>
                <a:ext uri="{FF2B5EF4-FFF2-40B4-BE49-F238E27FC236}">
                  <a16:creationId xmlns:a16="http://schemas.microsoft.com/office/drawing/2014/main" id="{EED68CFB-5365-43C6-A874-39BD539045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39101" y="5027614"/>
              <a:ext cx="468313" cy="1857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87" name="Text Box 31">
              <a:extLst>
                <a:ext uri="{FF2B5EF4-FFF2-40B4-BE49-F238E27FC236}">
                  <a16:creationId xmlns:a16="http://schemas.microsoft.com/office/drawing/2014/main" id="{B970FF81-5259-4831-8596-DA1AEF9D3F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77001" y="5486401"/>
              <a:ext cx="1643063" cy="3714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Dependent Data Mart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</p:grpSp>
      <p:sp>
        <p:nvSpPr>
          <p:cNvPr id="32" name="Rectangle 4">
            <a:extLst>
              <a:ext uri="{FF2B5EF4-FFF2-40B4-BE49-F238E27FC236}">
                <a16:creationId xmlns:a16="http://schemas.microsoft.com/office/drawing/2014/main" id="{3BBC576D-B93B-48CF-B43A-5161C36F08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5351D-9F09-4AFB-B04C-1B61FAD42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B0AB3-038F-4AE4-B600-96A4F781EE1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95F36F-833B-46E5-91D8-E6445C6E5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656875-1A0E-4D25-968B-1999EA86C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9" name="Text Box 4">
            <a:extLst>
              <a:ext uri="{FF2B5EF4-FFF2-40B4-BE49-F238E27FC236}">
                <a16:creationId xmlns:a16="http://schemas.microsoft.com/office/drawing/2014/main" id="{3ED934D3-557E-4F79-AC32-966C53D341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604" y="177099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3.  Types of Architecture</a:t>
            </a:r>
            <a:endParaRPr lang="en-US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21510" name="Text Box 6">
            <a:extLst>
              <a:ext uri="{FF2B5EF4-FFF2-40B4-BE49-F238E27FC236}">
                <a16:creationId xmlns:a16="http://schemas.microsoft.com/office/drawing/2014/main" id="{113B2272-0AC6-4C53-BB1D-6191076F7D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8713" y="2185225"/>
            <a:ext cx="5500632" cy="47307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Century Gothic" panose="020B0502020202020204" pitchFamily="34" charset="0"/>
              </a:rPr>
              <a:t>Independent Data Mart Architecture</a:t>
            </a:r>
            <a:endParaRPr lang="en-US" altLang="en-US">
              <a:latin typeface="Century Gothic" panose="020B0502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45CC404-F233-4C04-B239-CA55997608A7}"/>
              </a:ext>
            </a:extLst>
          </p:cNvPr>
          <p:cNvGrpSpPr/>
          <p:nvPr/>
        </p:nvGrpSpPr>
        <p:grpSpPr>
          <a:xfrm>
            <a:off x="3278079" y="2839374"/>
            <a:ext cx="6551721" cy="3437036"/>
            <a:chOff x="2743201" y="2992439"/>
            <a:chExt cx="5511799" cy="3255961"/>
          </a:xfrm>
        </p:grpSpPr>
        <p:sp>
          <p:nvSpPr>
            <p:cNvPr id="21511" name="Text Box 8">
              <a:extLst>
                <a:ext uri="{FF2B5EF4-FFF2-40B4-BE49-F238E27FC236}">
                  <a16:creationId xmlns:a16="http://schemas.microsoft.com/office/drawing/2014/main" id="{DB2F16F8-F79D-4737-B949-5760CC460F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86400" y="5257800"/>
              <a:ext cx="2057400" cy="304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Human Resources Data Mart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1512" name="Text Box 9">
              <a:extLst>
                <a:ext uri="{FF2B5EF4-FFF2-40B4-BE49-F238E27FC236}">
                  <a16:creationId xmlns:a16="http://schemas.microsoft.com/office/drawing/2014/main" id="{123A042D-F77C-440B-AB4F-BB472C5D6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124200"/>
              <a:ext cx="1468438" cy="3508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Sales Data Mart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1513" name="Text Box 10">
              <a:extLst>
                <a:ext uri="{FF2B5EF4-FFF2-40B4-BE49-F238E27FC236}">
                  <a16:creationId xmlns:a16="http://schemas.microsoft.com/office/drawing/2014/main" id="{E449B0E2-C2CA-422D-9FE0-F65F541CB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7400" y="4648200"/>
              <a:ext cx="2387600" cy="3111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Financial Data Mart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1514" name="AutoShape 11">
              <a:extLst>
                <a:ext uri="{FF2B5EF4-FFF2-40B4-BE49-F238E27FC236}">
                  <a16:creationId xmlns:a16="http://schemas.microsoft.com/office/drawing/2014/main" id="{A5E6FE3C-CE1B-41E9-BE9A-B3F037FB3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1" y="3613151"/>
              <a:ext cx="422275" cy="341313"/>
            </a:xfrm>
            <a:prstGeom prst="flowChartMagneticDisk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15" name="AutoShape 12">
              <a:extLst>
                <a:ext uri="{FF2B5EF4-FFF2-40B4-BE49-F238E27FC236}">
                  <a16:creationId xmlns:a16="http://schemas.microsoft.com/office/drawing/2014/main" id="{6791FD03-D7D0-4584-90F2-F0F7F6057E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1" y="4232276"/>
              <a:ext cx="422275" cy="341313"/>
            </a:xfrm>
            <a:prstGeom prst="flowChartMagneticDisk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16" name="AutoShape 13">
              <a:extLst>
                <a:ext uri="{FF2B5EF4-FFF2-40B4-BE49-F238E27FC236}">
                  <a16:creationId xmlns:a16="http://schemas.microsoft.com/office/drawing/2014/main" id="{6FD6269B-79F2-4B5D-9A41-2F6BDD47CF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3201" y="4852988"/>
              <a:ext cx="422275" cy="341312"/>
            </a:xfrm>
            <a:prstGeom prst="flowChartMagneticDisk">
              <a:avLst/>
            </a:prstGeom>
            <a:solidFill>
              <a:srgbClr val="C0C0C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17" name="Text Box 14">
              <a:extLst>
                <a:ext uri="{FF2B5EF4-FFF2-40B4-BE49-F238E27FC236}">
                  <a16:creationId xmlns:a16="http://schemas.microsoft.com/office/drawing/2014/main" id="{1B5CCC97-9F6B-4254-B2FE-410C847BB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500" y="2992439"/>
              <a:ext cx="1123950" cy="4476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RDBMS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21518" name="Line 15">
              <a:extLst>
                <a:ext uri="{FF2B5EF4-FFF2-40B4-BE49-F238E27FC236}">
                  <a16:creationId xmlns:a16="http://schemas.microsoft.com/office/drawing/2014/main" id="{6636A340-2DF5-4C15-B22A-D5765B0144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9075" y="3389314"/>
              <a:ext cx="679450" cy="3778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Line 16">
              <a:extLst>
                <a:ext uri="{FF2B5EF4-FFF2-40B4-BE49-F238E27FC236}">
                  <a16:creationId xmlns:a16="http://schemas.microsoft.com/office/drawing/2014/main" id="{ACDB875B-98D4-4171-B61E-9FD41ECE3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076" y="4078288"/>
              <a:ext cx="733425" cy="309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Text Box 17">
              <a:extLst>
                <a:ext uri="{FF2B5EF4-FFF2-40B4-BE49-F238E27FC236}">
                  <a16:creationId xmlns:a16="http://schemas.microsoft.com/office/drawing/2014/main" id="{F1FABED1-B713-4092-9D77-0D49A9F89C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62501" y="4232276"/>
              <a:ext cx="1101725" cy="4492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RDBMS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21521" name="Text Box 18">
              <a:extLst>
                <a:ext uri="{FF2B5EF4-FFF2-40B4-BE49-F238E27FC236}">
                  <a16:creationId xmlns:a16="http://schemas.microsoft.com/office/drawing/2014/main" id="{0BA9B0D3-B1D2-43C0-836A-E24AC8FD5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5788" y="5318126"/>
              <a:ext cx="939800" cy="4492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MDB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21522" name="Line 19">
              <a:extLst>
                <a:ext uri="{FF2B5EF4-FFF2-40B4-BE49-F238E27FC236}">
                  <a16:creationId xmlns:a16="http://schemas.microsoft.com/office/drawing/2014/main" id="{A3F06E19-F19F-49E5-A251-3E71B97B4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9076" y="4232275"/>
              <a:ext cx="549275" cy="1085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Line 20">
              <a:extLst>
                <a:ext uri="{FF2B5EF4-FFF2-40B4-BE49-F238E27FC236}">
                  <a16:creationId xmlns:a16="http://schemas.microsoft.com/office/drawing/2014/main" id="{6A27A08F-18A7-4296-8636-738040E576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313364" y="5627688"/>
              <a:ext cx="146843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Oval 21">
              <a:extLst>
                <a:ext uri="{FF2B5EF4-FFF2-40B4-BE49-F238E27FC236}">
                  <a16:creationId xmlns:a16="http://schemas.microsoft.com/office/drawing/2014/main" id="{9F6724C4-4617-4B74-ADBB-520FAC000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81801" y="5473700"/>
              <a:ext cx="366713" cy="298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25" name="Oval 22">
              <a:extLst>
                <a:ext uri="{FF2B5EF4-FFF2-40B4-BE49-F238E27FC236}">
                  <a16:creationId xmlns:a16="http://schemas.microsoft.com/office/drawing/2014/main" id="{30BE46D5-40D2-4FD8-A8A4-3A65DDB12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9238" y="4387850"/>
              <a:ext cx="366712" cy="298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26" name="Line 23">
              <a:extLst>
                <a:ext uri="{FF2B5EF4-FFF2-40B4-BE49-F238E27FC236}">
                  <a16:creationId xmlns:a16="http://schemas.microsoft.com/office/drawing/2014/main" id="{A2DCCCA2-3D68-4A36-8572-A870B01896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4226" y="4541838"/>
              <a:ext cx="7350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Line 24">
              <a:extLst>
                <a:ext uri="{FF2B5EF4-FFF2-40B4-BE49-F238E27FC236}">
                  <a16:creationId xmlns:a16="http://schemas.microsoft.com/office/drawing/2014/main" id="{36677057-D30B-4968-A8A0-4A040C4B5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4226" y="3302000"/>
              <a:ext cx="735013" cy="311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Oval 25">
              <a:extLst>
                <a:ext uri="{FF2B5EF4-FFF2-40B4-BE49-F238E27FC236}">
                  <a16:creationId xmlns:a16="http://schemas.microsoft.com/office/drawing/2014/main" id="{C5DD273F-7F2B-4AE0-938F-0A695F5E8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9238" y="3457575"/>
              <a:ext cx="366712" cy="29845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29" name="Text Box 26">
              <a:extLst>
                <a:ext uri="{FF2B5EF4-FFF2-40B4-BE49-F238E27FC236}">
                  <a16:creationId xmlns:a16="http://schemas.microsoft.com/office/drawing/2014/main" id="{3E313DDB-AFC7-4426-A4D7-ACCCBCCB9B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8213" y="3457576"/>
              <a:ext cx="550862" cy="108426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 b="1">
                <a:latin typeface="Calibri" panose="020F050202020403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T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L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21530" name="Line 27">
              <a:extLst>
                <a:ext uri="{FF2B5EF4-FFF2-40B4-BE49-F238E27FC236}">
                  <a16:creationId xmlns:a16="http://schemas.microsoft.com/office/drawing/2014/main" id="{DB13686E-55D0-4694-93BD-E273ACE1A6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9913" y="4541839"/>
              <a:ext cx="368300" cy="4667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Line 28">
              <a:extLst>
                <a:ext uri="{FF2B5EF4-FFF2-40B4-BE49-F238E27FC236}">
                  <a16:creationId xmlns:a16="http://schemas.microsoft.com/office/drawing/2014/main" id="{38281F4C-8A2A-4B87-A58F-67244E22E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9913" y="3767138"/>
              <a:ext cx="3683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Line 29">
              <a:extLst>
                <a:ext uri="{FF2B5EF4-FFF2-40B4-BE49-F238E27FC236}">
                  <a16:creationId xmlns:a16="http://schemas.microsoft.com/office/drawing/2014/main" id="{D907E1B8-BB1A-49BA-AC6D-48ECF6EF5D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09913" y="4078288"/>
              <a:ext cx="368300" cy="309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AutoShape 30">
              <a:extLst>
                <a:ext uri="{FF2B5EF4-FFF2-40B4-BE49-F238E27FC236}">
                  <a16:creationId xmlns:a16="http://schemas.microsoft.com/office/drawing/2014/main" id="{D872736A-0BB6-4278-82DE-A4C455BFA2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3363" y="4852988"/>
              <a:ext cx="366712" cy="309562"/>
            </a:xfrm>
            <a:prstGeom prst="flowChartMagneticDisk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34" name="AutoShape 31">
              <a:extLst>
                <a:ext uri="{FF2B5EF4-FFF2-40B4-BE49-F238E27FC236}">
                  <a16:creationId xmlns:a16="http://schemas.microsoft.com/office/drawing/2014/main" id="{0D90737D-20A7-4E1C-A0F1-858F83151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5938838"/>
              <a:ext cx="366712" cy="309562"/>
            </a:xfrm>
            <a:prstGeom prst="flowChartMagneticDisk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35" name="AutoShape 32">
              <a:extLst>
                <a:ext uri="{FF2B5EF4-FFF2-40B4-BE49-F238E27FC236}">
                  <a16:creationId xmlns:a16="http://schemas.microsoft.com/office/drawing/2014/main" id="{49A22130-A025-4567-91DC-68B23673B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3767138"/>
              <a:ext cx="366712" cy="311150"/>
            </a:xfrm>
            <a:prstGeom prst="flowChartMagneticDisk">
              <a:avLst/>
            </a:prstGeom>
            <a:solidFill>
              <a:srgbClr val="99CC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1536" name="Line 33">
              <a:extLst>
                <a:ext uri="{FF2B5EF4-FFF2-40B4-BE49-F238E27FC236}">
                  <a16:creationId xmlns:a16="http://schemas.microsoft.com/office/drawing/2014/main" id="{1E9D9134-B3C3-4049-B31E-17D619F8F5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946651" y="5783263"/>
              <a:ext cx="550863" cy="30956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Line 34">
              <a:extLst>
                <a:ext uri="{FF2B5EF4-FFF2-40B4-BE49-F238E27FC236}">
                  <a16:creationId xmlns:a16="http://schemas.microsoft.com/office/drawing/2014/main" id="{AC0B7E1B-36DA-47D2-BE9C-4B12B6BFB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13363" y="3457576"/>
              <a:ext cx="366712" cy="3095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Line 35">
              <a:extLst>
                <a:ext uri="{FF2B5EF4-FFF2-40B4-BE49-F238E27FC236}">
                  <a16:creationId xmlns:a16="http://schemas.microsoft.com/office/drawing/2014/main" id="{0E2979AF-9065-41AE-8894-01FA4076CC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0800" y="4699000"/>
              <a:ext cx="279400" cy="1778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Text Box 36">
              <a:extLst>
                <a:ext uri="{FF2B5EF4-FFF2-40B4-BE49-F238E27FC236}">
                  <a16:creationId xmlns:a16="http://schemas.microsoft.com/office/drawing/2014/main" id="{C7CAD9A7-C081-40C3-A8E8-FC55B69242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789" y="5938838"/>
              <a:ext cx="1652587" cy="3095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Local Metadata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1540" name="Text Box 37">
              <a:extLst>
                <a:ext uri="{FF2B5EF4-FFF2-40B4-BE49-F238E27FC236}">
                  <a16:creationId xmlns:a16="http://schemas.microsoft.com/office/drawing/2014/main" id="{2F6D121D-49C3-4ECC-A658-BB677C7CB6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64225" y="5008563"/>
              <a:ext cx="1651000" cy="3095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Local Metadata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1541" name="Text Box 38">
              <a:extLst>
                <a:ext uri="{FF2B5EF4-FFF2-40B4-BE49-F238E27FC236}">
                  <a16:creationId xmlns:a16="http://schemas.microsoft.com/office/drawing/2014/main" id="{351674D0-CA5A-4CA3-BD0D-C308D48EE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6789" y="3922713"/>
              <a:ext cx="1652587" cy="3095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Local Metadata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</p:grpSp>
      <p:sp>
        <p:nvSpPr>
          <p:cNvPr id="38" name="Rectangle 4">
            <a:extLst>
              <a:ext uri="{FF2B5EF4-FFF2-40B4-BE49-F238E27FC236}">
                <a16:creationId xmlns:a16="http://schemas.microsoft.com/office/drawing/2014/main" id="{75504547-E15A-446C-A0AB-901E4DF5A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4EDC9-CB8A-48CC-8325-F5D67559BC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38C07-ED3E-4C5B-9080-3C23C59CC36F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A7DBB-E833-4361-8618-1AF0B488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43FD7B-DD00-43CA-82D9-BA48B65A0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Text Box 3">
            <a:extLst>
              <a:ext uri="{FF2B5EF4-FFF2-40B4-BE49-F238E27FC236}">
                <a16:creationId xmlns:a16="http://schemas.microsoft.com/office/drawing/2014/main" id="{D29808C5-E975-4A33-AC40-600F7D0A9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23558" name="Text Box 4">
            <a:extLst>
              <a:ext uri="{FF2B5EF4-FFF2-40B4-BE49-F238E27FC236}">
                <a16:creationId xmlns:a16="http://schemas.microsoft.com/office/drawing/2014/main" id="{90CD6101-F904-49B3-9122-AC00657FC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9050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3.  Types of Architecture</a:t>
            </a:r>
            <a:endParaRPr lang="en-US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23559" name="Text Box 6">
            <a:extLst>
              <a:ext uri="{FF2B5EF4-FFF2-40B4-BE49-F238E27FC236}">
                <a16:creationId xmlns:a16="http://schemas.microsoft.com/office/drawing/2014/main" id="{7961B78D-F235-413D-8E05-A26EE1148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95128" y="2438401"/>
            <a:ext cx="6834672" cy="487363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Tahoma" panose="020B0604030504040204" pitchFamily="34" charset="0"/>
              </a:rPr>
              <a:t>Hub-and-spoke Data Mart Architecture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60" name="Text Box 7">
            <a:extLst>
              <a:ext uri="{FF2B5EF4-FFF2-40B4-BE49-F238E27FC236}">
                <a16:creationId xmlns:a16="http://schemas.microsoft.com/office/drawing/2014/main" id="{7B76662B-A5F8-4A45-AAE7-B25968FF9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688" y="5846764"/>
            <a:ext cx="1382712" cy="3254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Local Metadata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61" name="Text Box 9">
            <a:extLst>
              <a:ext uri="{FF2B5EF4-FFF2-40B4-BE49-F238E27FC236}">
                <a16:creationId xmlns:a16="http://schemas.microsoft.com/office/drawing/2014/main" id="{A04B84C2-092B-4CA6-9E96-FAF36097A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7863" y="3898900"/>
            <a:ext cx="1992312" cy="3254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Local Metadata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62" name="Text Box 10">
            <a:extLst>
              <a:ext uri="{FF2B5EF4-FFF2-40B4-BE49-F238E27FC236}">
                <a16:creationId xmlns:a16="http://schemas.microsoft.com/office/drawing/2014/main" id="{FABC8E39-A698-41D2-960A-273B974EDB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6600" y="4386264"/>
            <a:ext cx="1328738" cy="649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Data Analysis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63" name="Text Box 11">
            <a:extLst>
              <a:ext uri="{FF2B5EF4-FFF2-40B4-BE49-F238E27FC236}">
                <a16:creationId xmlns:a16="http://schemas.microsoft.com/office/drawing/2014/main" id="{1F6DCF7D-6426-4737-9B38-A8BD5A9905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6600" y="3249614"/>
            <a:ext cx="1328738" cy="6492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Data Analysis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64" name="Text Box 12">
            <a:extLst>
              <a:ext uri="{FF2B5EF4-FFF2-40B4-BE49-F238E27FC236}">
                <a16:creationId xmlns:a16="http://schemas.microsoft.com/office/drawing/2014/main" id="{E1C84583-FA1A-44AB-B9C9-C34F81446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6600" y="5197475"/>
            <a:ext cx="1328738" cy="6492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Data Analysis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65" name="Text Box 13">
            <a:extLst>
              <a:ext uri="{FF2B5EF4-FFF2-40B4-BE49-F238E27FC236}">
                <a16:creationId xmlns:a16="http://schemas.microsoft.com/office/drawing/2014/main" id="{A93D7995-4E91-4859-9A4C-573659464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0388" y="5684838"/>
            <a:ext cx="1771650" cy="4873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Central               Metadata</a:t>
            </a: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23566" name="Text Box 14">
            <a:extLst>
              <a:ext uri="{FF2B5EF4-FFF2-40B4-BE49-F238E27FC236}">
                <a16:creationId xmlns:a16="http://schemas.microsoft.com/office/drawing/2014/main" id="{15C883A1-356A-4398-A2D4-21DF30FA94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038" y="4873625"/>
            <a:ext cx="1992312" cy="3238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Local Metadata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67" name="AutoShape 15">
            <a:extLst>
              <a:ext uri="{FF2B5EF4-FFF2-40B4-BE49-F238E27FC236}">
                <a16:creationId xmlns:a16="http://schemas.microsoft.com/office/drawing/2014/main" id="{79B46F33-B2DD-4EF3-AE79-78A77A7B9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3736976"/>
            <a:ext cx="508000" cy="358775"/>
          </a:xfrm>
          <a:prstGeom prst="flowChartMagneticDisk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68" name="AutoShape 16">
            <a:extLst>
              <a:ext uri="{FF2B5EF4-FFF2-40B4-BE49-F238E27FC236}">
                <a16:creationId xmlns:a16="http://schemas.microsoft.com/office/drawing/2014/main" id="{2B9F1FE8-4CB8-479B-AFC7-840FF608D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4386264"/>
            <a:ext cx="508000" cy="357187"/>
          </a:xfrm>
          <a:prstGeom prst="flowChartMagneticDisk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69" name="AutoShape 17">
            <a:extLst>
              <a:ext uri="{FF2B5EF4-FFF2-40B4-BE49-F238E27FC236}">
                <a16:creationId xmlns:a16="http://schemas.microsoft.com/office/drawing/2014/main" id="{85652BFA-C573-41F2-AE27-6BC752BC2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2313" y="5035551"/>
            <a:ext cx="508000" cy="358775"/>
          </a:xfrm>
          <a:prstGeom prst="flowChartMagneticDisk">
            <a:avLst/>
          </a:prstGeom>
          <a:solidFill>
            <a:srgbClr val="C0C0C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70" name="Text Box 18">
            <a:extLst>
              <a:ext uri="{FF2B5EF4-FFF2-40B4-BE49-F238E27FC236}">
                <a16:creationId xmlns:a16="http://schemas.microsoft.com/office/drawing/2014/main" id="{74D21EED-0F53-4A42-BF2B-3DFCB6881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26" y="3087688"/>
            <a:ext cx="1355725" cy="468312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Calibri" panose="020F0502020204030204" pitchFamily="34" charset="0"/>
              </a:rPr>
              <a:t>RDBMS</a:t>
            </a:r>
            <a:endParaRPr lang="en-US" altLang="en-US" b="1">
              <a:latin typeface="Calibri" panose="020F0502020204030204" pitchFamily="34" charset="0"/>
            </a:endParaRPr>
          </a:p>
        </p:txBody>
      </p:sp>
      <p:sp>
        <p:nvSpPr>
          <p:cNvPr id="23571" name="Line 19">
            <a:extLst>
              <a:ext uri="{FF2B5EF4-FFF2-40B4-BE49-F238E27FC236}">
                <a16:creationId xmlns:a16="http://schemas.microsoft.com/office/drawing/2014/main" id="{A61DBCAD-047B-4E49-A541-F32217F124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3300" y="3502026"/>
            <a:ext cx="820738" cy="396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2" name="Line 20">
            <a:extLst>
              <a:ext uri="{FF2B5EF4-FFF2-40B4-BE49-F238E27FC236}">
                <a16:creationId xmlns:a16="http://schemas.microsoft.com/office/drawing/2014/main" id="{86D23F36-F609-4DA1-9563-A2CB5CEE85E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13301" y="4062414"/>
            <a:ext cx="220663" cy="161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3" name="Text Box 21">
            <a:extLst>
              <a:ext uri="{FF2B5EF4-FFF2-40B4-BE49-F238E27FC236}">
                <a16:creationId xmlns:a16="http://schemas.microsoft.com/office/drawing/2014/main" id="{B4013357-368B-4650-B143-1B344959B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3964" y="3898900"/>
            <a:ext cx="1328737" cy="4699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Calibri" panose="020F0502020204030204" pitchFamily="34" charset="0"/>
              </a:rPr>
              <a:t>RDBMS</a:t>
            </a:r>
            <a:endParaRPr lang="en-US" altLang="en-US" b="1">
              <a:latin typeface="Calibri" panose="020F0502020204030204" pitchFamily="34" charset="0"/>
            </a:endParaRPr>
          </a:p>
        </p:txBody>
      </p:sp>
      <p:sp>
        <p:nvSpPr>
          <p:cNvPr id="23574" name="Text Box 22">
            <a:extLst>
              <a:ext uri="{FF2B5EF4-FFF2-40B4-BE49-F238E27FC236}">
                <a16:creationId xmlns:a16="http://schemas.microsoft.com/office/drawing/2014/main" id="{48393DFF-06AE-4B67-8A21-37BB935F24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2039" y="5197475"/>
            <a:ext cx="1133475" cy="4699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105156" tIns="52578" rIns="105156" bIns="52578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Calibri" panose="020F0502020204030204" pitchFamily="34" charset="0"/>
              </a:rPr>
              <a:t>MDB</a:t>
            </a:r>
            <a:endParaRPr lang="en-US" altLang="en-US" b="1">
              <a:latin typeface="Calibri" panose="020F0502020204030204" pitchFamily="34" charset="0"/>
            </a:endParaRPr>
          </a:p>
        </p:txBody>
      </p:sp>
      <p:sp>
        <p:nvSpPr>
          <p:cNvPr id="23575" name="Line 23">
            <a:extLst>
              <a:ext uri="{FF2B5EF4-FFF2-40B4-BE49-F238E27FC236}">
                <a16:creationId xmlns:a16="http://schemas.microsoft.com/office/drawing/2014/main" id="{FE7FD165-AA1A-4921-8C3C-C77CFEC96FD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13300" y="4386264"/>
            <a:ext cx="1328738" cy="974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6" name="Line 24">
            <a:extLst>
              <a:ext uri="{FF2B5EF4-FFF2-40B4-BE49-F238E27FC236}">
                <a16:creationId xmlns:a16="http://schemas.microsoft.com/office/drawing/2014/main" id="{7A1FF7BD-49C9-4AA0-9E9C-A845F926B80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48526" y="5360988"/>
            <a:ext cx="8858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77" name="Oval 25">
            <a:extLst>
              <a:ext uri="{FF2B5EF4-FFF2-40B4-BE49-F238E27FC236}">
                <a16:creationId xmlns:a16="http://schemas.microsoft.com/office/drawing/2014/main" id="{2CE150C4-BBD7-4350-8CC0-805591B38B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5197476"/>
            <a:ext cx="442913" cy="3143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78" name="Oval 26">
            <a:extLst>
              <a:ext uri="{FF2B5EF4-FFF2-40B4-BE49-F238E27FC236}">
                <a16:creationId xmlns:a16="http://schemas.microsoft.com/office/drawing/2014/main" id="{79F2CC82-3AC6-42B0-8227-08514205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4548189"/>
            <a:ext cx="442913" cy="31432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79" name="Line 27">
            <a:extLst>
              <a:ext uri="{FF2B5EF4-FFF2-40B4-BE49-F238E27FC236}">
                <a16:creationId xmlns:a16="http://schemas.microsoft.com/office/drawing/2014/main" id="{48010B6C-D9DA-45E7-806B-A2C5752B334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2700" y="4224338"/>
            <a:ext cx="1771650" cy="4873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0" name="Line 28">
            <a:extLst>
              <a:ext uri="{FF2B5EF4-FFF2-40B4-BE49-F238E27FC236}">
                <a16:creationId xmlns:a16="http://schemas.microsoft.com/office/drawing/2014/main" id="{7C4B19B1-936C-49F6-85A3-F018DB155695}"/>
              </a:ext>
            </a:extLst>
          </p:cNvPr>
          <p:cNvSpPr>
            <a:spLocks noChangeShapeType="1"/>
          </p:cNvSpPr>
          <p:nvPr/>
        </p:nvSpPr>
        <p:spPr bwMode="auto">
          <a:xfrm>
            <a:off x="7027864" y="3413126"/>
            <a:ext cx="1106487" cy="161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1" name="Oval 29">
            <a:extLst>
              <a:ext uri="{FF2B5EF4-FFF2-40B4-BE49-F238E27FC236}">
                <a16:creationId xmlns:a16="http://schemas.microsoft.com/office/drawing/2014/main" id="{B2577176-92CB-447C-A21B-01BA2A8A4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34351" y="3413125"/>
            <a:ext cx="442913" cy="312738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82" name="Text Box 30">
            <a:extLst>
              <a:ext uri="{FF2B5EF4-FFF2-40B4-BE49-F238E27FC236}">
                <a16:creationId xmlns:a16="http://schemas.microsoft.com/office/drawing/2014/main" id="{388E7547-63DE-4FD7-A466-C5F63B37C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138" y="3575050"/>
            <a:ext cx="665162" cy="113665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b="1">
              <a:latin typeface="Calibri" panose="020F0502020204030204" pitchFamily="34" charset="0"/>
            </a:endParaRP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Calibri" panose="020F0502020204030204" pitchFamily="34" charset="0"/>
              </a:rPr>
              <a:t>E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Calibri" panose="020F0502020204030204" pitchFamily="34" charset="0"/>
              </a:rPr>
              <a:t>T</a:t>
            </a:r>
          </a:p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Calibri" panose="020F0502020204030204" pitchFamily="34" charset="0"/>
              </a:rPr>
              <a:t>L</a:t>
            </a:r>
            <a:endParaRPr lang="en-US" altLang="en-US" b="1">
              <a:latin typeface="Calibri" panose="020F0502020204030204" pitchFamily="34" charset="0"/>
            </a:endParaRPr>
          </a:p>
        </p:txBody>
      </p:sp>
      <p:sp>
        <p:nvSpPr>
          <p:cNvPr id="23583" name="Line 31">
            <a:extLst>
              <a:ext uri="{FF2B5EF4-FFF2-40B4-BE49-F238E27FC236}">
                <a16:creationId xmlns:a16="http://schemas.microsoft.com/office/drawing/2014/main" id="{07F22F0C-CEF6-4218-803A-7A8350EF90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33800" y="4711700"/>
            <a:ext cx="414338" cy="5461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4" name="Line 32">
            <a:extLst>
              <a:ext uri="{FF2B5EF4-FFF2-40B4-BE49-F238E27FC236}">
                <a16:creationId xmlns:a16="http://schemas.microsoft.com/office/drawing/2014/main" id="{7EC781B7-B2DA-4667-9DF3-38341362E69D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3886200"/>
            <a:ext cx="338138" cy="127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5" name="Line 33">
            <a:extLst>
              <a:ext uri="{FF2B5EF4-FFF2-40B4-BE49-F238E27FC236}">
                <a16:creationId xmlns:a16="http://schemas.microsoft.com/office/drawing/2014/main" id="{A05C7040-B814-40B8-BF26-DBA0C59800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0000" y="4224338"/>
            <a:ext cx="338138" cy="3476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6" name="AutoShape 34">
            <a:extLst>
              <a:ext uri="{FF2B5EF4-FFF2-40B4-BE49-F238E27FC236}">
                <a16:creationId xmlns:a16="http://schemas.microsoft.com/office/drawing/2014/main" id="{57B8363C-D732-4EA4-9ADD-AC6327F677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9788" y="4548189"/>
            <a:ext cx="442912" cy="325437"/>
          </a:xfrm>
          <a:prstGeom prst="flowChartMagneticDisk">
            <a:avLst/>
          </a:prstGeom>
          <a:solidFill>
            <a:srgbClr val="99CC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87" name="AutoShape 35">
            <a:extLst>
              <a:ext uri="{FF2B5EF4-FFF2-40B4-BE49-F238E27FC236}">
                <a16:creationId xmlns:a16="http://schemas.microsoft.com/office/drawing/2014/main" id="{24AAD947-10F5-4BB3-B1B4-BE59CEAAC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70776" y="5846764"/>
            <a:ext cx="442913" cy="325437"/>
          </a:xfrm>
          <a:prstGeom prst="flowChartMagneticDisk">
            <a:avLst/>
          </a:prstGeom>
          <a:solidFill>
            <a:srgbClr val="99CC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88" name="AutoShape 36">
            <a:extLst>
              <a:ext uri="{FF2B5EF4-FFF2-40B4-BE49-F238E27FC236}">
                <a16:creationId xmlns:a16="http://schemas.microsoft.com/office/drawing/2014/main" id="{E0FDC224-77A9-494B-8D83-AB8490499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4951" y="3898900"/>
            <a:ext cx="442913" cy="325438"/>
          </a:xfrm>
          <a:prstGeom prst="flowChartMagneticDisk">
            <a:avLst/>
          </a:prstGeom>
          <a:solidFill>
            <a:srgbClr val="99CC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89" name="Line 37">
            <a:extLst>
              <a:ext uri="{FF2B5EF4-FFF2-40B4-BE49-F238E27FC236}">
                <a16:creationId xmlns:a16="http://schemas.microsoft.com/office/drawing/2014/main" id="{F7EE5E7F-5691-43BD-BECB-EC74ECE7B9B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05613" y="5684839"/>
            <a:ext cx="665162" cy="3254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0" name="Line 38">
            <a:extLst>
              <a:ext uri="{FF2B5EF4-FFF2-40B4-BE49-F238E27FC236}">
                <a16:creationId xmlns:a16="http://schemas.microsoft.com/office/drawing/2014/main" id="{7BAD03A4-21AC-4724-A2F9-77205E2B183E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2701" y="3575050"/>
            <a:ext cx="442913" cy="323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1" name="Line 39">
            <a:extLst>
              <a:ext uri="{FF2B5EF4-FFF2-40B4-BE49-F238E27FC236}">
                <a16:creationId xmlns:a16="http://schemas.microsoft.com/office/drawing/2014/main" id="{5B78C15B-8170-4825-B8C7-39DEF26F4790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9788" y="4386264"/>
            <a:ext cx="222250" cy="1619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2" name="Text Box 40">
            <a:extLst>
              <a:ext uri="{FF2B5EF4-FFF2-40B4-BE49-F238E27FC236}">
                <a16:creationId xmlns:a16="http://schemas.microsoft.com/office/drawing/2014/main" id="{CA7C21FA-7B50-4F2E-B047-386417BE3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9400" y="5522913"/>
            <a:ext cx="1993900" cy="4873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latin typeface="Times New Roman" panose="02020603050405020304" pitchFamily="18" charset="0"/>
              </a:rPr>
              <a:t>Source Systems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93" name="AutoShape 41">
            <a:extLst>
              <a:ext uri="{FF2B5EF4-FFF2-40B4-BE49-F238E27FC236}">
                <a16:creationId xmlns:a16="http://schemas.microsoft.com/office/drawing/2014/main" id="{DD3FF645-E7E8-41E9-99A2-2CFC7B9730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1051" y="5035550"/>
            <a:ext cx="885825" cy="649288"/>
          </a:xfrm>
          <a:prstGeom prst="flowChartMagneticDisk">
            <a:avLst/>
          </a:prstGeom>
          <a:solidFill>
            <a:srgbClr val="99CC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Perpetua" panose="02020502060401020303" pitchFamily="18" charset="0"/>
            </a:endParaRPr>
          </a:p>
        </p:txBody>
      </p:sp>
      <p:sp>
        <p:nvSpPr>
          <p:cNvPr id="23594" name="Line 42">
            <a:extLst>
              <a:ext uri="{FF2B5EF4-FFF2-40B4-BE49-F238E27FC236}">
                <a16:creationId xmlns:a16="http://schemas.microsoft.com/office/drawing/2014/main" id="{EAE87F4C-6184-4C71-A34A-744AE5C00DE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591051" y="4711700"/>
            <a:ext cx="442913" cy="3238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E905EBB5-5E31-4462-B7BE-429C137B0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A9F515-2B36-4DEE-9E2E-F608E930C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11513-3440-4825-B9C3-5DB6D5A9FD0F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EE57A-DAAA-4FB6-B170-6CA4DF3BE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7A181-1C7F-4904-BB0B-A68F9641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5" name="Text Box 3">
            <a:extLst>
              <a:ext uri="{FF2B5EF4-FFF2-40B4-BE49-F238E27FC236}">
                <a16:creationId xmlns:a16="http://schemas.microsoft.com/office/drawing/2014/main" id="{A254AEE0-3D8A-4AFD-89F5-F2460808A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37204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25606" name="Text Box 4">
            <a:extLst>
              <a:ext uri="{FF2B5EF4-FFF2-40B4-BE49-F238E27FC236}">
                <a16:creationId xmlns:a16="http://schemas.microsoft.com/office/drawing/2014/main" id="{404F7230-72DC-4EB5-A8F1-92A934634E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9050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3.  Types of Architecture</a:t>
            </a:r>
            <a:endParaRPr lang="en-US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25637" name="Text Box 37">
            <a:extLst>
              <a:ext uri="{FF2B5EF4-FFF2-40B4-BE49-F238E27FC236}">
                <a16:creationId xmlns:a16="http://schemas.microsoft.com/office/drawing/2014/main" id="{9FFFF964-550D-4741-8DD2-A91C197C4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799" y="2372041"/>
            <a:ext cx="7315199" cy="4286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Tahoma" panose="020B0604030504040204" pitchFamily="34" charset="0"/>
              </a:rPr>
              <a:t>Enterprise Warehouse with Operational Data Store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F1BF851-2DBF-42A7-81FD-ED26F700FFD2}"/>
              </a:ext>
            </a:extLst>
          </p:cNvPr>
          <p:cNvGrpSpPr/>
          <p:nvPr/>
        </p:nvGrpSpPr>
        <p:grpSpPr>
          <a:xfrm>
            <a:off x="3398837" y="2943540"/>
            <a:ext cx="6629399" cy="3214886"/>
            <a:chOff x="3398838" y="3238500"/>
            <a:chExt cx="6354762" cy="3162300"/>
          </a:xfrm>
        </p:grpSpPr>
        <p:sp>
          <p:nvSpPr>
            <p:cNvPr id="25607" name="Text Box 7">
              <a:extLst>
                <a:ext uri="{FF2B5EF4-FFF2-40B4-BE49-F238E27FC236}">
                  <a16:creationId xmlns:a16="http://schemas.microsoft.com/office/drawing/2014/main" id="{750621AC-D4DE-4F7D-B4B8-C693D73385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53450" y="5524500"/>
              <a:ext cx="12001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  <a:cs typeface="Times New Roman" panose="02020603050405020304" pitchFamily="18" charset="0"/>
                </a:rPr>
                <a:t>OLTP Tools</a:t>
              </a:r>
              <a:endParaRPr lang="en-US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608" name="Text Box 8">
              <a:extLst>
                <a:ext uri="{FF2B5EF4-FFF2-40B4-BE49-F238E27FC236}">
                  <a16:creationId xmlns:a16="http://schemas.microsoft.com/office/drawing/2014/main" id="{38059797-ACA6-4258-B3D5-C0B58C7E93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0975" y="4810125"/>
              <a:ext cx="12001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Data Analysis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5609" name="Text Box 9">
              <a:extLst>
                <a:ext uri="{FF2B5EF4-FFF2-40B4-BE49-F238E27FC236}">
                  <a16:creationId xmlns:a16="http://schemas.microsoft.com/office/drawing/2014/main" id="{DCCF2DF6-B30B-4EEC-98A4-BCF20233E9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99014" y="5381625"/>
              <a:ext cx="1400175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Central Metadata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5610" name="Text Box 10">
              <a:extLst>
                <a:ext uri="{FF2B5EF4-FFF2-40B4-BE49-F238E27FC236}">
                  <a16:creationId xmlns:a16="http://schemas.microsoft.com/office/drawing/2014/main" id="{4259F7F7-236E-4E76-A0FE-8B459E8205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00975" y="3381375"/>
              <a:ext cx="12001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Data Analysis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5611" name="AutoShape 11">
              <a:extLst>
                <a:ext uri="{FF2B5EF4-FFF2-40B4-BE49-F238E27FC236}">
                  <a16:creationId xmlns:a16="http://schemas.microsoft.com/office/drawing/2014/main" id="{5558E90D-93F7-4156-8549-DCB50A0E18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4" y="3524251"/>
              <a:ext cx="458787" cy="327025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5612" name="AutoShape 12">
              <a:extLst>
                <a:ext uri="{FF2B5EF4-FFF2-40B4-BE49-F238E27FC236}">
                  <a16:creationId xmlns:a16="http://schemas.microsoft.com/office/drawing/2014/main" id="{652814F8-55AE-47C8-872E-CCBFF3BE8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4" y="3952875"/>
              <a:ext cx="458787" cy="325438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5613" name="AutoShape 13">
              <a:extLst>
                <a:ext uri="{FF2B5EF4-FFF2-40B4-BE49-F238E27FC236}">
                  <a16:creationId xmlns:a16="http://schemas.microsoft.com/office/drawing/2014/main" id="{3770E52E-9599-4BBF-8C1B-5AFD9E10F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8864" y="4524376"/>
              <a:ext cx="458787" cy="327025"/>
            </a:xfrm>
            <a:prstGeom prst="flowChartMagneticDisk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5614" name="Line 14">
              <a:extLst>
                <a:ext uri="{FF2B5EF4-FFF2-40B4-BE49-F238E27FC236}">
                  <a16:creationId xmlns:a16="http://schemas.microsoft.com/office/drawing/2014/main" id="{4601D09C-6DC3-42A2-BF00-48E4FB619B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9038" y="3810000"/>
              <a:ext cx="4000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Line 15">
              <a:extLst>
                <a:ext uri="{FF2B5EF4-FFF2-40B4-BE49-F238E27FC236}">
                  <a16:creationId xmlns:a16="http://schemas.microsoft.com/office/drawing/2014/main" id="{0024D0DC-0411-4301-873B-A106013439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8913" y="4238625"/>
              <a:ext cx="400050" cy="571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6" name="Oval 16">
              <a:extLst>
                <a:ext uri="{FF2B5EF4-FFF2-40B4-BE49-F238E27FC236}">
                  <a16:creationId xmlns:a16="http://schemas.microsoft.com/office/drawing/2014/main" id="{EFEC2052-1E42-497A-BBA9-A45FC317CB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00925" y="3667125"/>
              <a:ext cx="400050" cy="28575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5617" name="Oval 17">
              <a:extLst>
                <a:ext uri="{FF2B5EF4-FFF2-40B4-BE49-F238E27FC236}">
                  <a16:creationId xmlns:a16="http://schemas.microsoft.com/office/drawing/2014/main" id="{23DBED6D-D5F9-42FE-95ED-1EDB872AC6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01000" y="4524375"/>
              <a:ext cx="400050" cy="28575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5618" name="Line 18">
              <a:extLst>
                <a:ext uri="{FF2B5EF4-FFF2-40B4-BE49-F238E27FC236}">
                  <a16:creationId xmlns:a16="http://schemas.microsoft.com/office/drawing/2014/main" id="{32CF2D01-1C2C-4264-98D1-1F0F58D338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3381376"/>
              <a:ext cx="400050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Line 19">
              <a:extLst>
                <a:ext uri="{FF2B5EF4-FFF2-40B4-BE49-F238E27FC236}">
                  <a16:creationId xmlns:a16="http://schemas.microsoft.com/office/drawing/2014/main" id="{33E7F422-D5A7-414C-A5F1-3BC664414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00851" y="3810000"/>
              <a:ext cx="60007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0" name="Line 20">
              <a:extLst>
                <a:ext uri="{FF2B5EF4-FFF2-40B4-BE49-F238E27FC236}">
                  <a16:creationId xmlns:a16="http://schemas.microsoft.com/office/drawing/2014/main" id="{D1C6E852-070C-465F-89F4-EA439861A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00800" y="4095750"/>
              <a:ext cx="400050" cy="2857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1" name="Text Box 21">
              <a:extLst>
                <a:ext uri="{FF2B5EF4-FFF2-40B4-BE49-F238E27FC236}">
                  <a16:creationId xmlns:a16="http://schemas.microsoft.com/office/drawing/2014/main" id="{E4978A10-9982-4FD4-9CD6-0F25428EB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98838" y="4953000"/>
              <a:ext cx="1200150" cy="5715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Source Systems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5622" name="Text Box 22">
              <a:extLst>
                <a:ext uri="{FF2B5EF4-FFF2-40B4-BE49-F238E27FC236}">
                  <a16:creationId xmlns:a16="http://schemas.microsoft.com/office/drawing/2014/main" id="{41337817-C00C-41B4-AA7D-44817D233F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8964" y="3524251"/>
              <a:ext cx="600075" cy="100012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 b="1">
                <a:latin typeface="Calibri" panose="020F0502020204030204" pitchFamily="34" charset="0"/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E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T</a:t>
              </a: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L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25623" name="Line 23">
              <a:extLst>
                <a:ext uri="{FF2B5EF4-FFF2-40B4-BE49-F238E27FC236}">
                  <a16:creationId xmlns:a16="http://schemas.microsoft.com/office/drawing/2014/main" id="{E770339F-36A9-46D0-AEF0-F28E69EC0A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913" y="3667125"/>
              <a:ext cx="4000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Line 24">
              <a:extLst>
                <a:ext uri="{FF2B5EF4-FFF2-40B4-BE49-F238E27FC236}">
                  <a16:creationId xmlns:a16="http://schemas.microsoft.com/office/drawing/2014/main" id="{949FAC8A-77BB-4B15-9DA0-36362709BC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98913" y="3952876"/>
              <a:ext cx="400050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Text Box 25">
              <a:extLst>
                <a:ext uri="{FF2B5EF4-FFF2-40B4-BE49-F238E27FC236}">
                  <a16:creationId xmlns:a16="http://schemas.microsoft.com/office/drawing/2014/main" id="{F52020FA-B567-4EBB-85A9-56F3F2A80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99089" y="3381376"/>
              <a:ext cx="1601787" cy="714375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Central Data Warehouse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25626" name="AutoShape 26">
              <a:extLst>
                <a:ext uri="{FF2B5EF4-FFF2-40B4-BE49-F238E27FC236}">
                  <a16:creationId xmlns:a16="http://schemas.microsoft.com/office/drawing/2014/main" id="{C1D68E00-4C9F-4BB8-B998-B61EE7439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9039" y="4810125"/>
              <a:ext cx="801687" cy="571500"/>
            </a:xfrm>
            <a:prstGeom prst="flowChartMagneticDisk">
              <a:avLst/>
            </a:prstGeom>
            <a:solidFill>
              <a:srgbClr val="66FF33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5627" name="Line 27">
              <a:extLst>
                <a:ext uri="{FF2B5EF4-FFF2-40B4-BE49-F238E27FC236}">
                  <a16:creationId xmlns:a16="http://schemas.microsoft.com/office/drawing/2014/main" id="{49683B6D-1DED-41E5-AC72-5ABE9C7E13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598988" y="4524375"/>
              <a:ext cx="800100" cy="2857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8" name="Text Box 28">
              <a:extLst>
                <a:ext uri="{FF2B5EF4-FFF2-40B4-BE49-F238E27FC236}">
                  <a16:creationId xmlns:a16="http://schemas.microsoft.com/office/drawing/2014/main" id="{B99BA2E0-6D68-4001-A434-2FC2AD82A5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00801" y="4381500"/>
              <a:ext cx="1223963" cy="4127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RDBMS</a:t>
              </a:r>
              <a:endParaRPr lang="en-US" altLang="en-US" b="1">
                <a:latin typeface="Calibri" panose="020F0502020204030204" pitchFamily="34" charset="0"/>
              </a:endParaRPr>
            </a:p>
          </p:txBody>
        </p:sp>
        <p:sp>
          <p:nvSpPr>
            <p:cNvPr id="25629" name="Line 29">
              <a:extLst>
                <a:ext uri="{FF2B5EF4-FFF2-40B4-BE49-F238E27FC236}">
                  <a16:creationId xmlns:a16="http://schemas.microsoft.com/office/drawing/2014/main" id="{55C0A8D9-D009-488D-AF71-E598A780B7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0950" y="4524376"/>
              <a:ext cx="400050" cy="1428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0" name="Text Box 30">
              <a:extLst>
                <a:ext uri="{FF2B5EF4-FFF2-40B4-BE49-F238E27FC236}">
                  <a16:creationId xmlns:a16="http://schemas.microsoft.com/office/drawing/2014/main" id="{00C33130-097C-4557-BF74-33E782C4A4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00925" y="4095750"/>
              <a:ext cx="1600200" cy="285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ahoma" panose="020B0604030504040204" pitchFamily="34" charset="0"/>
                </a:rPr>
                <a:t>Data Mart</a:t>
              </a:r>
              <a:endParaRPr lang="en-US" altLang="en-US">
                <a:latin typeface="Times New Roman" panose="02020603050405020304" pitchFamily="18" charset="0"/>
              </a:endParaRPr>
            </a:p>
          </p:txBody>
        </p:sp>
        <p:sp>
          <p:nvSpPr>
            <p:cNvPr id="25631" name="Text Box 31">
              <a:extLst>
                <a:ext uri="{FF2B5EF4-FFF2-40B4-BE49-F238E27FC236}">
                  <a16:creationId xmlns:a16="http://schemas.microsoft.com/office/drawing/2014/main" id="{166A1280-B612-4D7E-8D2B-6B4DADA35E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8550" y="5238750"/>
              <a:ext cx="1670050" cy="116205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105156" tIns="52578" rIns="105156" bIns="52578"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 b="1">
                  <a:latin typeface="Calibri" panose="020F0502020204030204" pitchFamily="34" charset="0"/>
                </a:rPr>
                <a:t>Operational Data Store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>
                  <a:latin typeface="Times New Roman" panose="02020603050405020304" pitchFamily="18" charset="0"/>
                </a:rPr>
                <a:t>It is a read/write data warehouse without any history or summary data sets</a:t>
              </a:r>
            </a:p>
          </p:txBody>
        </p:sp>
        <p:sp>
          <p:nvSpPr>
            <p:cNvPr id="25632" name="Line 32">
              <a:extLst>
                <a:ext uri="{FF2B5EF4-FFF2-40B4-BE49-F238E27FC236}">
                  <a16:creationId xmlns:a16="http://schemas.microsoft.com/office/drawing/2014/main" id="{41ED361B-0AD5-4EB1-B374-0E839DB7E0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9038" y="4238626"/>
              <a:ext cx="1600200" cy="10001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3" name="Oval 33">
              <a:extLst>
                <a:ext uri="{FF2B5EF4-FFF2-40B4-BE49-F238E27FC236}">
                  <a16:creationId xmlns:a16="http://schemas.microsoft.com/office/drawing/2014/main" id="{04B475D8-EC7C-4E00-BC49-5F09436B88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1025" y="5381625"/>
              <a:ext cx="400050" cy="28575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5634" name="Oval 34">
              <a:extLst>
                <a:ext uri="{FF2B5EF4-FFF2-40B4-BE49-F238E27FC236}">
                  <a16:creationId xmlns:a16="http://schemas.microsoft.com/office/drawing/2014/main" id="{0DAD155F-0D42-4041-8143-90CCE8B4A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53400" y="5791200"/>
              <a:ext cx="400050" cy="28575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  <p:sp>
          <p:nvSpPr>
            <p:cNvPr id="25635" name="Line 35">
              <a:extLst>
                <a:ext uri="{FF2B5EF4-FFF2-40B4-BE49-F238E27FC236}">
                  <a16:creationId xmlns:a16="http://schemas.microsoft.com/office/drawing/2014/main" id="{2A3ED5B0-69F0-445E-B2E1-48E94A3B8F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848601" y="5524500"/>
              <a:ext cx="352425" cy="190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6" name="Line 36">
              <a:extLst>
                <a:ext uri="{FF2B5EF4-FFF2-40B4-BE49-F238E27FC236}">
                  <a16:creationId xmlns:a16="http://schemas.microsoft.com/office/drawing/2014/main" id="{25F2A542-D37B-4DD4-AF1F-A4F7BE07B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848601" y="5715000"/>
              <a:ext cx="352425" cy="952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8" name="Oval 38">
              <a:extLst>
                <a:ext uri="{FF2B5EF4-FFF2-40B4-BE49-F238E27FC236}">
                  <a16:creationId xmlns:a16="http://schemas.microsoft.com/office/drawing/2014/main" id="{06C7FA54-5886-4389-9C6B-9B63359348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62839" y="3238500"/>
              <a:ext cx="427037" cy="28575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>
              <a:lvl1pPr>
                <a:spcBef>
                  <a:spcPts val="6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"/>
                <a:defRPr sz="24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SzPct val="80000"/>
                <a:buFont typeface="Wingdings 2" panose="05020102010507070707" pitchFamily="18" charset="2"/>
                <a:buChar char=""/>
                <a:defRPr sz="21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E0752F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FEC3AE"/>
                </a:buClr>
                <a:buSzPct val="60000"/>
                <a:buFont typeface="Wingdings" panose="05000000000000000000" pitchFamily="2" charset="2"/>
                <a:buChar char=""/>
                <a:defRPr>
                  <a:solidFill>
                    <a:schemeClr val="tx1"/>
                  </a:solidFill>
                  <a:latin typeface="Century Schoolbook" panose="020406040505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BDCAE9"/>
                </a:buClr>
                <a:buSzPct val="68000"/>
                <a:buFont typeface="Wingdings 2" panose="05020102010507070707" pitchFamily="18" charset="2"/>
                <a:buChar char=""/>
                <a:defRPr sz="1600">
                  <a:solidFill>
                    <a:schemeClr val="tx1"/>
                  </a:solidFill>
                  <a:latin typeface="Century Schoolbook" panose="020406040505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latin typeface="Perpetua" panose="02020502060401020303" pitchFamily="18" charset="0"/>
              </a:endParaRPr>
            </a:p>
          </p:txBody>
        </p:sp>
      </p:grpSp>
      <p:sp>
        <p:nvSpPr>
          <p:cNvPr id="39" name="Rectangle 4">
            <a:extLst>
              <a:ext uri="{FF2B5EF4-FFF2-40B4-BE49-F238E27FC236}">
                <a16:creationId xmlns:a16="http://schemas.microsoft.com/office/drawing/2014/main" id="{2E3AE867-DA03-45E4-960D-8A586F0D5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4953B-6674-4441-BC6E-D5BE66E0D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8491F-D33D-4D1C-BE1F-60A7453D98B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029B07-85A4-4C87-A3F3-71A4416B5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5BDF26-B0C9-4711-9CA8-0111D6592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F28615A-533E-C8F7-03FD-32891089912D}"/>
              </a:ext>
            </a:extLst>
          </p:cNvPr>
          <p:cNvCxnSpPr>
            <a:stCxn id="25631" idx="0"/>
            <a:endCxn id="25625" idx="2"/>
          </p:cNvCxnSpPr>
          <p:nvPr/>
        </p:nvCxnSpPr>
        <p:spPr>
          <a:xfrm flipH="1" flipV="1">
            <a:off x="6321040" y="3815046"/>
            <a:ext cx="848754" cy="116200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1" name="Text Box 3">
            <a:extLst>
              <a:ext uri="{FF2B5EF4-FFF2-40B4-BE49-F238E27FC236}">
                <a16:creationId xmlns:a16="http://schemas.microsoft.com/office/drawing/2014/main" id="{44236E6A-BBFC-43BA-8AAA-90DB837D9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29702" name="Text Box 4">
            <a:extLst>
              <a:ext uri="{FF2B5EF4-FFF2-40B4-BE49-F238E27FC236}">
                <a16:creationId xmlns:a16="http://schemas.microsoft.com/office/drawing/2014/main" id="{17F70844-8079-4043-8DA2-BCB2138E44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1219200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3.  Types of Architecture</a:t>
            </a:r>
            <a:endParaRPr lang="en-US" altLang="en-US" sz="2000" b="1" dirty="0">
              <a:latin typeface="Tahoma" panose="020B0604030504040204" pitchFamily="34" charset="0"/>
            </a:endParaRPr>
          </a:p>
        </p:txBody>
      </p:sp>
      <p:pic>
        <p:nvPicPr>
          <p:cNvPr id="29703" name="Picture 2">
            <a:extLst>
              <a:ext uri="{FF2B5EF4-FFF2-40B4-BE49-F238E27FC236}">
                <a16:creationId xmlns:a16="http://schemas.microsoft.com/office/drawing/2014/main" id="{D478F079-4520-4E2F-BE6F-25AA91768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2267830"/>
            <a:ext cx="5451475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4" name="Text Box 37">
            <a:extLst>
              <a:ext uri="{FF2B5EF4-FFF2-40B4-BE49-F238E27FC236}">
                <a16:creationId xmlns:a16="http://schemas.microsoft.com/office/drawing/2014/main" id="{08EF8590-D274-4487-82DA-0551E5D27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81300" y="1754738"/>
            <a:ext cx="6629400" cy="4286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Tahoma" panose="020B0604030504040204" pitchFamily="34" charset="0"/>
              </a:rPr>
              <a:t>Cloud-based Data Warehouse Architecture  -- Amazon Redshift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9705" name="Rectangle 1">
            <a:extLst>
              <a:ext uri="{FF2B5EF4-FFF2-40B4-BE49-F238E27FC236}">
                <a16:creationId xmlns:a16="http://schemas.microsoft.com/office/drawing/2014/main" id="{7A4B3E2B-2540-49EB-95F0-0AFC241EE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199" y="6019801"/>
            <a:ext cx="720885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latin typeface="Arial" panose="020B0604020202020204" pitchFamily="34" charset="0"/>
                <a:hlinkClick r:id="rId4"/>
              </a:rPr>
              <a:t>https://docs.aws.amazon.com/redshift/latest/dg/c_high_level_system_architecture.html</a:t>
            </a:r>
            <a:r>
              <a:rPr lang="en-US" altLang="en-US" sz="1200" dirty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9706" name="Rectangle 2">
            <a:extLst>
              <a:ext uri="{FF2B5EF4-FFF2-40B4-BE49-F238E27FC236}">
                <a16:creationId xmlns:a16="http://schemas.microsoft.com/office/drawing/2014/main" id="{4E0B68EA-D5AB-45AC-A49A-11D2E3ABC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2438400"/>
            <a:ext cx="2743200" cy="415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Amazon Redshift is a relational database management system (RDBMS)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Amazon Redshift is based on PostgreSQL 8.0.2 and is somewhat different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The </a:t>
            </a:r>
            <a:r>
              <a:rPr lang="en-US" altLang="en-US" sz="1200" b="1" dirty="0">
                <a:solidFill>
                  <a:srgbClr val="C00000"/>
                </a:solidFill>
                <a:latin typeface="Arial" panose="020B0604020202020204" pitchFamily="34" charset="0"/>
              </a:rPr>
              <a:t>leader node </a:t>
            </a:r>
            <a:r>
              <a:rPr lang="en-US" altLang="en-US" sz="1200" dirty="0">
                <a:latin typeface="Arial" panose="020B0604020202020204" pitchFamily="34" charset="0"/>
              </a:rPr>
              <a:t>manages communications with client programs and all communication with compute nodes.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Each </a:t>
            </a:r>
            <a:r>
              <a:rPr lang="en-US" altLang="en-US" sz="1200" b="1" dirty="0">
                <a:solidFill>
                  <a:srgbClr val="C00000"/>
                </a:solidFill>
                <a:latin typeface="Arial" panose="020B0604020202020204" pitchFamily="34" charset="0"/>
              </a:rPr>
              <a:t>compute node </a:t>
            </a:r>
            <a:r>
              <a:rPr lang="en-US" altLang="en-US" sz="1200" dirty="0">
                <a:latin typeface="Arial" panose="020B0604020202020204" pitchFamily="34" charset="0"/>
              </a:rPr>
              <a:t>has its own dedicated CPU, memory, and attached disk storage, which are determined by the node type.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A compute node is partitioned into slices.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Arial" panose="020B0604020202020204" pitchFamily="34" charset="0"/>
              </a:rPr>
              <a:t>User data is stored on the compute nodes. Your SQL client communicates with the leader node, which in turn coordinates query execution with the compute nodes.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A2326F3-6C7A-43B7-9ACF-BE2DDC7E0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5D6806-18B8-4BA9-BC52-02567EDA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8FA34-B853-4BDB-B01E-04CFFF3AEDE2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378856-33A5-475F-8BD1-CD3B28A30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FDBAE9-28E1-4B6D-8CE4-6590B5B0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7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76AA95-C866-4548-A585-9EBF043C0D53}"/>
              </a:ext>
            </a:extLst>
          </p:cNvPr>
          <p:cNvSpPr txBox="1"/>
          <p:nvPr/>
        </p:nvSpPr>
        <p:spPr>
          <a:xfrm>
            <a:off x="10284626" y="3877386"/>
            <a:ext cx="1724827" cy="2192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https://www.linkedin.com/learning/search?categoryIds=ALL&amp;contentBy=ALL&amp;continuingEducationUnits=ALL&amp;difficultyLevel=ALL&amp;durations=ALL&amp;entityType=ALL&amp;keywords=redshift%20&amp;language=en_US&amp;learningCategoryIds=ALL&amp;purchaseModel=ALL&amp;software=ALL&amp;sortBy=RELEVANCE&amp;sourceUrn=ALL&amp;spellcheck=true&amp;u=74650722 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85A21-97DF-440C-8503-B01349710C75}"/>
              </a:ext>
            </a:extLst>
          </p:cNvPr>
          <p:cNvSpPr txBox="1"/>
          <p:nvPr/>
        </p:nvSpPr>
        <p:spPr>
          <a:xfrm>
            <a:off x="10039351" y="2299621"/>
            <a:ext cx="2086112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C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https://linkedinlearning.tamu.edu/</a:t>
            </a:r>
            <a:r>
              <a:rPr lang="en-US" sz="1100" dirty="0">
                <a:solidFill>
                  <a:srgbClr val="C00000"/>
                </a:solidFill>
              </a:rPr>
              <a:t> 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C00000"/>
                </a:solidFill>
              </a:rPr>
              <a:t>Get to “Work with Redshift”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100" dirty="0">
                <a:solidFill>
                  <a:srgbClr val="C00000"/>
                </a:solidFill>
              </a:rPr>
              <a:t>Click Watch full course</a:t>
            </a:r>
          </a:p>
          <a:p>
            <a:pPr marL="231775" lvl="1" indent="-1206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C00000"/>
                </a:solidFill>
              </a:rPr>
              <a:t>Explore the AWS data warehouse</a:t>
            </a:r>
          </a:p>
          <a:p>
            <a:pPr marL="231775" lvl="1" indent="-1206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C00000"/>
                </a:solidFill>
              </a:rPr>
              <a:t>Work with Redshift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Text Box 4">
            <a:extLst>
              <a:ext uri="{FF2B5EF4-FFF2-40B4-BE49-F238E27FC236}">
                <a16:creationId xmlns:a16="http://schemas.microsoft.com/office/drawing/2014/main" id="{963FC310-144B-4E43-8E37-2479DAB57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8777" y="2478436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3.  Types of Architecture</a:t>
            </a:r>
            <a:endParaRPr lang="en-US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31751" name="Text Box 37">
            <a:extLst>
              <a:ext uri="{FF2B5EF4-FFF2-40B4-BE49-F238E27FC236}">
                <a16:creationId xmlns:a16="http://schemas.microsoft.com/office/drawing/2014/main" id="{D9E4942F-EC9B-4CE7-AC5F-240F02224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997" y="1867722"/>
            <a:ext cx="6629400" cy="4286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Tahoma" panose="020B0604030504040204" pitchFamily="34" charset="0"/>
              </a:rPr>
              <a:t>Cloud-based Data Warehouse Architecture  -- Others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042299A-9540-4AEA-80AD-B138B6724712}"/>
              </a:ext>
            </a:extLst>
          </p:cNvPr>
          <p:cNvSpPr/>
          <p:nvPr/>
        </p:nvSpPr>
        <p:spPr>
          <a:xfrm>
            <a:off x="2790997" y="3299813"/>
            <a:ext cx="86391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charset="0"/>
                <a:cs typeface="Arial" charset="0"/>
              </a:rPr>
              <a:t>Google </a:t>
            </a:r>
            <a:r>
              <a:rPr lang="en-US" dirty="0" err="1">
                <a:latin typeface="Arial" charset="0"/>
                <a:cs typeface="Arial" charset="0"/>
              </a:rPr>
              <a:t>BigQuery</a:t>
            </a:r>
            <a:r>
              <a:rPr lang="en-US" dirty="0">
                <a:latin typeface="Arial" charset="0"/>
                <a:cs typeface="Arial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>
              <a:defRPr/>
            </a:pPr>
            <a:r>
              <a:rPr lang="en-US" dirty="0">
                <a:latin typeface="Arial" charset="0"/>
                <a:cs typeface="Arial" charset="0"/>
                <a:hlinkClick r:id="rId3"/>
              </a:rPr>
              <a:t>https://www.linkedin.com/learning/google-cloud-platform-essential-training-for-administrators/bigquery?u=74650722</a:t>
            </a:r>
            <a:r>
              <a:rPr lang="en-US" dirty="0">
                <a:latin typeface="Arial" charset="0"/>
                <a:cs typeface="Arial" charset="0"/>
              </a:rPr>
              <a:t>  and then check </a:t>
            </a:r>
            <a:r>
              <a:rPr lang="en-US" dirty="0" err="1">
                <a:latin typeface="Arial" charset="0"/>
                <a:cs typeface="Arial" charset="0"/>
              </a:rPr>
              <a:t>BigQuery</a:t>
            </a:r>
            <a:r>
              <a:rPr lang="en-US" dirty="0">
                <a:latin typeface="Arial" charset="0"/>
                <a:cs typeface="Arial" charset="0"/>
              </a:rPr>
              <a:t> tab</a:t>
            </a:r>
          </a:p>
          <a:p>
            <a:pPr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B958FCAC-5579-428E-BC3C-6F083E9FCC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FAD51-DBDD-4A98-B666-39B56B365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19203-F2FC-4811-A75D-DD5444CCC47E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C30AE-E3FC-4CC7-B451-27DEA476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EAE2B-C64B-454D-B8A0-DAF9F5C7F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B43AC-1D8A-4244-B3A8-526D0BA1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50" name="Text Box 4">
            <a:extLst>
              <a:ext uri="{FF2B5EF4-FFF2-40B4-BE49-F238E27FC236}">
                <a16:creationId xmlns:a16="http://schemas.microsoft.com/office/drawing/2014/main" id="{86971B46-1BCF-364C-1E9F-B85885CE2D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8777" y="2478436"/>
            <a:ext cx="7315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Tahoma" panose="020B0604030504040204" pitchFamily="34" charset="0"/>
              </a:rPr>
              <a:t>3.  Types of Architecture</a:t>
            </a:r>
            <a:endParaRPr lang="en-US" altLang="en-US" sz="2000" b="1" dirty="0">
              <a:latin typeface="Tahoma" panose="020B0604030504040204" pitchFamily="34" charset="0"/>
            </a:endParaRPr>
          </a:p>
        </p:txBody>
      </p:sp>
      <p:sp>
        <p:nvSpPr>
          <p:cNvPr id="31751" name="Text Box 37">
            <a:extLst>
              <a:ext uri="{FF2B5EF4-FFF2-40B4-BE49-F238E27FC236}">
                <a16:creationId xmlns:a16="http://schemas.microsoft.com/office/drawing/2014/main" id="{D05B0C00-2468-75C6-91E5-37D3FEFB70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0997" y="1867722"/>
            <a:ext cx="6629400" cy="428625"/>
          </a:xfrm>
          <a:prstGeom prst="rect">
            <a:avLst/>
          </a:prstGeom>
          <a:solidFill>
            <a:schemeClr val="accent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b="1">
                <a:latin typeface="Tahoma" panose="020B0604030504040204" pitchFamily="34" charset="0"/>
              </a:rPr>
              <a:t>Cloud-based Data Warehouse Architecture  -- Others</a:t>
            </a:r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A7DDFE2-9213-8DC5-77DB-5FEED6B974B9}"/>
              </a:ext>
            </a:extLst>
          </p:cNvPr>
          <p:cNvSpPr/>
          <p:nvPr/>
        </p:nvSpPr>
        <p:spPr>
          <a:xfrm>
            <a:off x="2790997" y="3299813"/>
            <a:ext cx="863918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dirty="0">
                <a:latin typeface="Arial" charset="0"/>
                <a:cs typeface="Arial" charset="0"/>
              </a:rPr>
              <a:t>Panoply     </a:t>
            </a:r>
          </a:p>
          <a:p>
            <a:pPr eaLnBrk="1" hangingPunct="1">
              <a:defRPr/>
            </a:pPr>
            <a:r>
              <a:rPr lang="en-US" dirty="0">
                <a:latin typeface="Arial" charset="0"/>
                <a:cs typeface="Arial" charset="0"/>
                <a:hlinkClick r:id="rId3"/>
              </a:rPr>
              <a:t>https://panoply.io/data-warehouse-guide/data-warehouse-architecture-traditional-vs-cloud/</a:t>
            </a:r>
            <a:r>
              <a:rPr lang="en-US" dirty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defRPr/>
            </a:pPr>
            <a:endParaRPr lang="en-US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7D43998A-E59B-1762-DE29-AF67154258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8395D-8806-73BD-7184-C0E914B77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19203-F2FC-4811-A75D-DD5444CCC47E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898AD-5895-2EC1-76D7-2B373664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C479D-5DC9-80CD-70B0-ADAEA0498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5BD917-BEAD-8ACA-669F-0BD9FBDBD620}"/>
              </a:ext>
            </a:extLst>
          </p:cNvPr>
          <p:cNvSpPr txBox="1"/>
          <p:nvPr/>
        </p:nvSpPr>
        <p:spPr>
          <a:xfrm>
            <a:off x="2881818" y="4145109"/>
            <a:ext cx="878164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Purpose: It serves as a central repository where businesses can collect, store, and analyze structured and semi-structured data from multiple 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Deployment: 100% cloud-based, built on Amazon Redshift technology, but adds a management layer that automates many administrative tasks.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ETL/ELT: Panoply includes built-in data connectors for popular services (Salesforce, HubSpot, Google Analytics, etc.), so users can bring in data without building custom ETL pipelines.</a:t>
            </a:r>
          </a:p>
        </p:txBody>
      </p:sp>
    </p:spTree>
    <p:extLst>
      <p:ext uri="{BB962C8B-B14F-4D97-AF65-F5344CB8AC3E}">
        <p14:creationId xmlns:p14="http://schemas.microsoft.com/office/powerpoint/2010/main" val="40807162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Text Box 3">
            <a:extLst>
              <a:ext uri="{FF2B5EF4-FFF2-40B4-BE49-F238E27FC236}">
                <a16:creationId xmlns:a16="http://schemas.microsoft.com/office/drawing/2014/main" id="{DB8D116B-BC44-4098-A4AB-C193B1B746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35846" name="Rectangle 1">
            <a:extLst>
              <a:ext uri="{FF2B5EF4-FFF2-40B4-BE49-F238E27FC236}">
                <a16:creationId xmlns:a16="http://schemas.microsoft.com/office/drawing/2014/main" id="{C402CF63-F1AD-432F-BC26-00C9E49F52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382" y="1833284"/>
            <a:ext cx="8291804" cy="433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Arial" panose="020B0604020202020204" pitchFamily="34" charset="0"/>
              </a:rPr>
              <a:t>4. Focusing on Technical Architecture </a:t>
            </a:r>
            <a:endParaRPr lang="en-US" altLang="en-US" dirty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We divide the entire technical architecture into two big pieces: </a:t>
            </a:r>
            <a:r>
              <a:rPr lang="en-US" altLang="en-US" sz="1800" dirty="0">
                <a:solidFill>
                  <a:srgbClr val="C00000"/>
                </a:solidFill>
                <a:latin typeface="Arial" panose="020B0604020202020204" pitchFamily="34" charset="0"/>
              </a:rPr>
              <a:t>back room and front room.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There are two major types of components in the technical architecture: </a:t>
            </a:r>
            <a:r>
              <a:rPr lang="en-US" altLang="en-US" sz="1800" u="sng" dirty="0">
                <a:latin typeface="Arial" panose="020B0604020202020204" pitchFamily="34" charset="0"/>
              </a:rPr>
              <a:t>services</a:t>
            </a:r>
            <a:r>
              <a:rPr lang="en-US" altLang="en-US" sz="1800" dirty="0">
                <a:latin typeface="Arial" panose="020B0604020202020204" pitchFamily="34" charset="0"/>
              </a:rPr>
              <a:t> and </a:t>
            </a:r>
            <a:r>
              <a:rPr lang="en-US" altLang="en-US" sz="1800" u="sng" dirty="0">
                <a:latin typeface="Arial" panose="020B0604020202020204" pitchFamily="34" charset="0"/>
              </a:rPr>
              <a:t>data stores</a:t>
            </a:r>
            <a:r>
              <a:rPr lang="en-US" altLang="en-US" sz="1800" dirty="0">
                <a:latin typeface="Arial" panose="020B0604020202020204" pitchFamily="34" charset="0"/>
              </a:rPr>
              <a:t>.  Services are functions needed to accomplish the required tasks of the warehouse.  For example, copying tables from one to another is a data transport service.  Data stores are temporary or permanent landing places for data.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 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Key technical issues: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Metadata</a:t>
            </a:r>
          </a:p>
          <a:p>
            <a:pPr lvl="1" eaLnBrk="1" hangingPunct="1">
              <a:spcBef>
                <a:spcPct val="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latin typeface="Arial" panose="020B0604020202020204" pitchFamily="34" charset="0"/>
              </a:rPr>
              <a:t>Flexible service layers with the help of metadata catalog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9552FB7-745D-414A-B967-48005BADF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22DB50-A732-4214-AFEB-069C780B1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426EC-0DB2-4821-923C-B9BF00867624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DF8135-58FA-4988-AFED-425C446D0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150CA-A974-4606-B1EF-3D71C48D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0" name="Rectangle 2">
            <a:extLst>
              <a:ext uri="{FF2B5EF4-FFF2-40B4-BE49-F238E27FC236}">
                <a16:creationId xmlns:a16="http://schemas.microsoft.com/office/drawing/2014/main" id="{05CBF81C-EC1E-4829-B6C7-AE0EC2AD00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>
                <a:solidFill>
                  <a:srgbClr val="404040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>
                <a:solidFill>
                  <a:srgbClr val="404040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anose="020F0502020204030204" pitchFamily="34" charset="0"/>
              <a:buChar char="◦"/>
              <a:defRPr sz="1400">
                <a:solidFill>
                  <a:srgbClr val="404040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Century Gothic" panose="020B0502020202020204" pitchFamily="34" charset="0"/>
              </a:rPr>
              <a:t>Information Supply Chain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EAA6-D816-4273-96DF-608F25BF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80661-C527-4F88-8972-C1753FADA41A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B9FB6-73AF-4C2D-8CB0-6516C183C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698FB-6ECB-4464-ACEC-078CF4E66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8948160-E577-DB4C-D161-45D716359975}"/>
              </a:ext>
            </a:extLst>
          </p:cNvPr>
          <p:cNvGrpSpPr/>
          <p:nvPr/>
        </p:nvGrpSpPr>
        <p:grpSpPr>
          <a:xfrm>
            <a:off x="2222263" y="1920875"/>
            <a:ext cx="8064737" cy="4114800"/>
            <a:chOff x="2130358" y="1600200"/>
            <a:chExt cx="9252017" cy="5078313"/>
          </a:xfrm>
        </p:grpSpPr>
        <p:sp>
          <p:nvSpPr>
            <p:cNvPr id="50220" name="Oval 6">
              <a:extLst>
                <a:ext uri="{FF2B5EF4-FFF2-40B4-BE49-F238E27FC236}">
                  <a16:creationId xmlns:a16="http://schemas.microsoft.com/office/drawing/2014/main" id="{337A446A-C01C-4201-8E6A-CCBEC8A5BD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16764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221" name="Text Box 7">
              <a:extLst>
                <a:ext uri="{FF2B5EF4-FFF2-40B4-BE49-F238E27FC236}">
                  <a16:creationId xmlns:a16="http://schemas.microsoft.com/office/drawing/2014/main" id="{A28970DA-AD02-472B-ABE9-AE812B171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1905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Data Source</a:t>
              </a:r>
            </a:p>
          </p:txBody>
        </p:sp>
        <p:sp>
          <p:nvSpPr>
            <p:cNvPr id="50218" name="Oval 9">
              <a:extLst>
                <a:ext uri="{FF2B5EF4-FFF2-40B4-BE49-F238E27FC236}">
                  <a16:creationId xmlns:a16="http://schemas.microsoft.com/office/drawing/2014/main" id="{AAE75B0F-3A98-4738-9D5B-8C4B72D71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28194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219" name="Text Box 10">
              <a:extLst>
                <a:ext uri="{FF2B5EF4-FFF2-40B4-BE49-F238E27FC236}">
                  <a16:creationId xmlns:a16="http://schemas.microsoft.com/office/drawing/2014/main" id="{61B425C4-15E3-4E6F-9D54-8A998851CD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8400" y="30480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Data Source</a:t>
              </a:r>
            </a:p>
          </p:txBody>
        </p:sp>
        <p:sp>
          <p:nvSpPr>
            <p:cNvPr id="50216" name="Oval 12">
              <a:extLst>
                <a:ext uri="{FF2B5EF4-FFF2-40B4-BE49-F238E27FC236}">
                  <a16:creationId xmlns:a16="http://schemas.microsoft.com/office/drawing/2014/main" id="{0166A516-9CA6-4893-B214-933EE2F634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41910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217" name="Text Box 13">
              <a:extLst>
                <a:ext uri="{FF2B5EF4-FFF2-40B4-BE49-F238E27FC236}">
                  <a16:creationId xmlns:a16="http://schemas.microsoft.com/office/drawing/2014/main" id="{ECC0E2A6-D5B5-401A-B9E3-1BAE36FB8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44196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Data Source</a:t>
              </a:r>
            </a:p>
          </p:txBody>
        </p:sp>
        <p:sp>
          <p:nvSpPr>
            <p:cNvPr id="50214" name="Oval 15">
              <a:extLst>
                <a:ext uri="{FF2B5EF4-FFF2-40B4-BE49-F238E27FC236}">
                  <a16:creationId xmlns:a16="http://schemas.microsoft.com/office/drawing/2014/main" id="{AF3E6F45-E3DE-40F9-9AB3-FDCA7B2818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5334000"/>
              <a:ext cx="914400" cy="91440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215" name="Text Box 16">
              <a:extLst>
                <a:ext uri="{FF2B5EF4-FFF2-40B4-BE49-F238E27FC236}">
                  <a16:creationId xmlns:a16="http://schemas.microsoft.com/office/drawing/2014/main" id="{DCB565B8-367F-489A-92F4-DE9BC6839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4600" y="5562600"/>
              <a:ext cx="762000" cy="457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Data Source</a:t>
              </a:r>
            </a:p>
          </p:txBody>
        </p:sp>
        <p:sp>
          <p:nvSpPr>
            <p:cNvPr id="50186" name="Text Box 17">
              <a:extLst>
                <a:ext uri="{FF2B5EF4-FFF2-40B4-BE49-F238E27FC236}">
                  <a16:creationId xmlns:a16="http://schemas.microsoft.com/office/drawing/2014/main" id="{6C88BEE8-CB1A-44C3-BA68-DA2850BBE4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43400" y="2743201"/>
              <a:ext cx="1295400" cy="466725"/>
            </a:xfrm>
            <a:prstGeom prst="rect">
              <a:avLst/>
            </a:prstGeom>
            <a:solidFill>
              <a:srgbClr val="AAAA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Operational Data Store</a:t>
              </a:r>
            </a:p>
          </p:txBody>
        </p:sp>
        <p:sp>
          <p:nvSpPr>
            <p:cNvPr id="50187" name="Text Box 18">
              <a:extLst>
                <a:ext uri="{FF2B5EF4-FFF2-40B4-BE49-F238E27FC236}">
                  <a16:creationId xmlns:a16="http://schemas.microsoft.com/office/drawing/2014/main" id="{B38F7113-F759-4069-BE0C-E8E5BFFE2C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72200" y="3200400"/>
              <a:ext cx="1371600" cy="1016000"/>
            </a:xfrm>
            <a:prstGeom prst="rect">
              <a:avLst/>
            </a:prstGeom>
            <a:solidFill>
              <a:srgbClr val="C6C7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Enterprise-wide Data Warehouse</a:t>
              </a:r>
            </a:p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2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188" name="Text Box 19">
              <a:extLst>
                <a:ext uri="{FF2B5EF4-FFF2-40B4-BE49-F238E27FC236}">
                  <a16:creationId xmlns:a16="http://schemas.microsoft.com/office/drawing/2014/main" id="{269F661A-563D-4A26-8854-10288070F3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2667001"/>
              <a:ext cx="1371600" cy="461665"/>
            </a:xfrm>
            <a:prstGeom prst="rect">
              <a:avLst/>
            </a:prstGeom>
            <a:solidFill>
              <a:srgbClr val="C6C7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Arial" panose="020B0604020202020204" pitchFamily="34" charset="0"/>
                </a:rPr>
                <a:t>Dependent Data Mart</a:t>
              </a:r>
            </a:p>
          </p:txBody>
        </p:sp>
        <p:sp>
          <p:nvSpPr>
            <p:cNvPr id="50181" name="Rectangle 4">
              <a:extLst>
                <a:ext uri="{FF2B5EF4-FFF2-40B4-BE49-F238E27FC236}">
                  <a16:creationId xmlns:a16="http://schemas.microsoft.com/office/drawing/2014/main" id="{80E37AD8-D555-41B9-8CF1-14C29AB002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80038" y="2427515"/>
              <a:ext cx="1371600" cy="2743200"/>
            </a:xfrm>
            <a:prstGeom prst="rect">
              <a:avLst/>
            </a:prstGeom>
            <a:solidFill>
              <a:srgbClr val="EEA878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lang="en-US" altLang="en-US" sz="1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0192" name="Text Box 23">
              <a:extLst>
                <a:ext uri="{FF2B5EF4-FFF2-40B4-BE49-F238E27FC236}">
                  <a16:creationId xmlns:a16="http://schemas.microsoft.com/office/drawing/2014/main" id="{5C44BF2A-1247-4659-A811-52F759C1B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12222" y="2693438"/>
              <a:ext cx="838200" cy="2841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analysis</a:t>
              </a:r>
            </a:p>
          </p:txBody>
        </p:sp>
        <p:sp>
          <p:nvSpPr>
            <p:cNvPr id="50193" name="Text Box 24">
              <a:extLst>
                <a:ext uri="{FF2B5EF4-FFF2-40B4-BE49-F238E27FC236}">
                  <a16:creationId xmlns:a16="http://schemas.microsoft.com/office/drawing/2014/main" id="{6953641E-606A-473E-9754-26F3E5641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12222" y="3303038"/>
              <a:ext cx="838200" cy="2841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reporting</a:t>
              </a:r>
            </a:p>
          </p:txBody>
        </p:sp>
        <p:sp>
          <p:nvSpPr>
            <p:cNvPr id="50194" name="Text Box 25">
              <a:extLst>
                <a:ext uri="{FF2B5EF4-FFF2-40B4-BE49-F238E27FC236}">
                  <a16:creationId xmlns:a16="http://schemas.microsoft.com/office/drawing/2014/main" id="{F782C92D-9B00-4CE8-A50F-F5B53BA8A3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12222" y="3912638"/>
              <a:ext cx="1066800" cy="2841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visualization</a:t>
              </a:r>
            </a:p>
          </p:txBody>
        </p:sp>
        <p:sp>
          <p:nvSpPr>
            <p:cNvPr id="50195" name="Text Box 26">
              <a:extLst>
                <a:ext uri="{FF2B5EF4-FFF2-40B4-BE49-F238E27FC236}">
                  <a16:creationId xmlns:a16="http://schemas.microsoft.com/office/drawing/2014/main" id="{42E19B8C-F8A2-4BAC-AB19-C87F43C427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12222" y="4446038"/>
              <a:ext cx="838200" cy="4667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Data mining</a:t>
              </a:r>
            </a:p>
          </p:txBody>
        </p:sp>
        <p:sp>
          <p:nvSpPr>
            <p:cNvPr id="50196" name="Line 27">
              <a:extLst>
                <a:ext uri="{FF2B5EF4-FFF2-40B4-BE49-F238E27FC236}">
                  <a16:creationId xmlns:a16="http://schemas.microsoft.com/office/drawing/2014/main" id="{88833A2C-123F-406A-91D6-85B35377D1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00400" y="3810000"/>
              <a:ext cx="1143000" cy="1752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7" name="Line 28">
              <a:extLst>
                <a:ext uri="{FF2B5EF4-FFF2-40B4-BE49-F238E27FC236}">
                  <a16:creationId xmlns:a16="http://schemas.microsoft.com/office/drawing/2014/main" id="{3A35B5F0-FED9-476C-98C1-F4CA02E414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76600" y="3733800"/>
              <a:ext cx="1066800" cy="762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8" name="Line 29">
              <a:extLst>
                <a:ext uri="{FF2B5EF4-FFF2-40B4-BE49-F238E27FC236}">
                  <a16:creationId xmlns:a16="http://schemas.microsoft.com/office/drawing/2014/main" id="{9C11A1E0-3CFB-4B58-A34D-E26D1E4944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3276600"/>
              <a:ext cx="1143000" cy="457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199" name="Line 30">
              <a:extLst>
                <a:ext uri="{FF2B5EF4-FFF2-40B4-BE49-F238E27FC236}">
                  <a16:creationId xmlns:a16="http://schemas.microsoft.com/office/drawing/2014/main" id="{B2EEE278-169B-46B9-9BCE-5B7A0069FC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00400" y="2286000"/>
              <a:ext cx="1143000" cy="1447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0" name="Line 32">
              <a:extLst>
                <a:ext uri="{FF2B5EF4-FFF2-40B4-BE49-F238E27FC236}">
                  <a16:creationId xmlns:a16="http://schemas.microsoft.com/office/drawing/2014/main" id="{5EDD225A-0466-42DB-8237-F369E06DD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2895600"/>
              <a:ext cx="533400" cy="838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1" name="Line 33">
              <a:extLst>
                <a:ext uri="{FF2B5EF4-FFF2-40B4-BE49-F238E27FC236}">
                  <a16:creationId xmlns:a16="http://schemas.microsoft.com/office/drawing/2014/main" id="{07B75BD3-3E11-442C-A187-C7FD2FBC25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43800" y="3505200"/>
              <a:ext cx="533400" cy="228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2" name="Line 34">
              <a:extLst>
                <a:ext uri="{FF2B5EF4-FFF2-40B4-BE49-F238E27FC236}">
                  <a16:creationId xmlns:a16="http://schemas.microsoft.com/office/drawing/2014/main" id="{5BE4AD54-9527-4750-BAE9-EFA4727B57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3733800"/>
              <a:ext cx="533400" cy="381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3" name="Line 35">
              <a:extLst>
                <a:ext uri="{FF2B5EF4-FFF2-40B4-BE49-F238E27FC236}">
                  <a16:creationId xmlns:a16="http://schemas.microsoft.com/office/drawing/2014/main" id="{BC8F590F-FB82-4249-B1B8-53A81D388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43800" y="3733800"/>
              <a:ext cx="533400" cy="1066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4" name="Line 36">
              <a:extLst>
                <a:ext uri="{FF2B5EF4-FFF2-40B4-BE49-F238E27FC236}">
                  <a16:creationId xmlns:a16="http://schemas.microsoft.com/office/drawing/2014/main" id="{70DB45C7-B966-461E-9FB8-277C442C3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2736" y="2802294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5" name="Line 37">
              <a:extLst>
                <a:ext uri="{FF2B5EF4-FFF2-40B4-BE49-F238E27FC236}">
                  <a16:creationId xmlns:a16="http://schemas.microsoft.com/office/drawing/2014/main" id="{2B18811B-6B53-459E-98A3-1D2CEB14D9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2736" y="3408784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6" name="Line 38">
              <a:extLst>
                <a:ext uri="{FF2B5EF4-FFF2-40B4-BE49-F238E27FC236}">
                  <a16:creationId xmlns:a16="http://schemas.microsoft.com/office/drawing/2014/main" id="{708D6A59-49C7-4BDF-9608-9F4FBAB0C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72736" y="4058038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7" name="Line 39">
              <a:extLst>
                <a:ext uri="{FF2B5EF4-FFF2-40B4-BE49-F238E27FC236}">
                  <a16:creationId xmlns:a16="http://schemas.microsoft.com/office/drawing/2014/main" id="{05D606A1-E3FF-4820-B6DD-E63A274078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35415" y="4686300"/>
              <a:ext cx="3048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09" name="Text Box 41">
              <a:extLst>
                <a:ext uri="{FF2B5EF4-FFF2-40B4-BE49-F238E27FC236}">
                  <a16:creationId xmlns:a16="http://schemas.microsoft.com/office/drawing/2014/main" id="{B6EAAD34-D231-43A3-BEC7-68EF787A50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9600" y="4191001"/>
              <a:ext cx="1295400" cy="466725"/>
            </a:xfrm>
            <a:prstGeom prst="rect">
              <a:avLst/>
            </a:prstGeom>
            <a:solidFill>
              <a:srgbClr val="AAAAB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>
                  <a:solidFill>
                    <a:schemeClr val="tx1"/>
                  </a:solidFill>
                  <a:latin typeface="Arial" panose="020B0604020202020204" pitchFamily="34" charset="0"/>
                </a:rPr>
                <a:t>Staging Area Tables and files</a:t>
              </a:r>
            </a:p>
          </p:txBody>
        </p:sp>
        <p:sp>
          <p:nvSpPr>
            <p:cNvPr id="50210" name="AutoShape 48">
              <a:extLst>
                <a:ext uri="{FF2B5EF4-FFF2-40B4-BE49-F238E27FC236}">
                  <a16:creationId xmlns:a16="http://schemas.microsoft.com/office/drawing/2014/main" id="{2941F721-9933-4E18-BAC6-6C578F2C6EB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4418013" y="3652838"/>
              <a:ext cx="454025" cy="61595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1" name="AutoShape 50">
              <a:extLst>
                <a:ext uri="{FF2B5EF4-FFF2-40B4-BE49-F238E27FC236}">
                  <a16:creationId xmlns:a16="http://schemas.microsoft.com/office/drawing/2014/main" id="{4F10EA57-C519-47E6-BFC3-33AA9DECAE4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595722" flipH="1">
              <a:off x="4344988" y="3198813"/>
              <a:ext cx="530225" cy="533400"/>
            </a:xfrm>
            <a:custGeom>
              <a:avLst/>
              <a:gdLst>
                <a:gd name="T0" fmla="*/ 2147483646 w 21600"/>
                <a:gd name="T1" fmla="*/ 0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7 w 21600"/>
                <a:gd name="T13" fmla="*/ 2912 h 21600"/>
                <a:gd name="T14" fmla="*/ 18227 w 21600"/>
                <a:gd name="T15" fmla="*/ 9246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26" y="0"/>
                  </a:lnTo>
                  <a:lnTo>
                    <a:pt x="15126" y="2912"/>
                  </a:lnTo>
                  <a:lnTo>
                    <a:pt x="12427" y="2912"/>
                  </a:lnTo>
                  <a:cubicBezTo>
                    <a:pt x="5564" y="2912"/>
                    <a:pt x="0" y="7052"/>
                    <a:pt x="0" y="12158"/>
                  </a:cubicBezTo>
                  <a:lnTo>
                    <a:pt x="0" y="21600"/>
                  </a:lnTo>
                  <a:lnTo>
                    <a:pt x="6474" y="21600"/>
                  </a:lnTo>
                  <a:lnTo>
                    <a:pt x="6474" y="12158"/>
                  </a:lnTo>
                  <a:cubicBezTo>
                    <a:pt x="6474" y="10550"/>
                    <a:pt x="9139" y="9246"/>
                    <a:pt x="12427" y="9246"/>
                  </a:cubicBezTo>
                  <a:lnTo>
                    <a:pt x="15126" y="9246"/>
                  </a:lnTo>
                  <a:lnTo>
                    <a:pt x="15126" y="12158"/>
                  </a:lnTo>
                  <a:lnTo>
                    <a:pt x="21600" y="6079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0212" name="Line 51">
              <a:extLst>
                <a:ext uri="{FF2B5EF4-FFF2-40B4-BE49-F238E27FC236}">
                  <a16:creationId xmlns:a16="http://schemas.microsoft.com/office/drawing/2014/main" id="{B1738988-9AD9-43F4-9111-FBB8A57F0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38800" y="2971800"/>
              <a:ext cx="5334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13" name="Line 52">
              <a:extLst>
                <a:ext uri="{FF2B5EF4-FFF2-40B4-BE49-F238E27FC236}">
                  <a16:creationId xmlns:a16="http://schemas.microsoft.com/office/drawing/2014/main" id="{0004F7FD-EBCF-4727-98DC-A46A6A00FD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15000" y="3733800"/>
              <a:ext cx="457200" cy="6858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Box 19">
              <a:extLst>
                <a:ext uri="{FF2B5EF4-FFF2-40B4-BE49-F238E27FC236}">
                  <a16:creationId xmlns:a16="http://schemas.microsoft.com/office/drawing/2014/main" id="{C8BBC9AE-5DD4-49BD-9121-4ECE738BAD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200" y="3297594"/>
              <a:ext cx="1371600" cy="461665"/>
            </a:xfrm>
            <a:prstGeom prst="rect">
              <a:avLst/>
            </a:prstGeom>
            <a:solidFill>
              <a:srgbClr val="C6C7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Arial" panose="020B0604020202020204" pitchFamily="34" charset="0"/>
                </a:rPr>
                <a:t>Dependent Data Mart</a:t>
              </a:r>
            </a:p>
          </p:txBody>
        </p:sp>
        <p:sp>
          <p:nvSpPr>
            <p:cNvPr id="48" name="Text Box 19">
              <a:extLst>
                <a:ext uri="{FF2B5EF4-FFF2-40B4-BE49-F238E27FC236}">
                  <a16:creationId xmlns:a16="http://schemas.microsoft.com/office/drawing/2014/main" id="{00C1B118-5968-4358-BE03-6394CC2DC2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77199" y="3845867"/>
              <a:ext cx="1371600" cy="461665"/>
            </a:xfrm>
            <a:prstGeom prst="rect">
              <a:avLst/>
            </a:prstGeom>
            <a:solidFill>
              <a:srgbClr val="C6C7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Arial" panose="020B0604020202020204" pitchFamily="34" charset="0"/>
                </a:rPr>
                <a:t>Dependent Data Mart</a:t>
              </a:r>
            </a:p>
          </p:txBody>
        </p:sp>
        <p:sp>
          <p:nvSpPr>
            <p:cNvPr id="49" name="Text Box 19">
              <a:extLst>
                <a:ext uri="{FF2B5EF4-FFF2-40B4-BE49-F238E27FC236}">
                  <a16:creationId xmlns:a16="http://schemas.microsoft.com/office/drawing/2014/main" id="{90A09860-541C-4C72-9FA9-190E0F7598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06749" y="4513198"/>
              <a:ext cx="1371600" cy="461665"/>
            </a:xfrm>
            <a:prstGeom prst="rect">
              <a:avLst/>
            </a:prstGeom>
            <a:solidFill>
              <a:srgbClr val="C6C7C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200"/>
                </a:spcBef>
                <a:spcAft>
                  <a:spcPts val="200"/>
                </a:spcAft>
                <a:buClr>
                  <a:schemeClr val="accent1"/>
                </a:buClr>
                <a:buSzPct val="100000"/>
                <a:buFont typeface="Calibri" panose="020F0502020204030204" pitchFamily="34" charset="0"/>
                <a:buChar char=" "/>
                <a:defRPr sz="2000">
                  <a:solidFill>
                    <a:srgbClr val="404040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>
                  <a:solidFill>
                    <a:srgbClr val="404040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5pPr>
              <a:lvl6pPr marL="25146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6pPr>
              <a:lvl7pPr marL="29718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7pPr>
              <a:lvl8pPr marL="34290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8pPr>
              <a:lvl9pPr marL="3886200" indent="-228600" defTabSz="457200" eaLnBrk="0" fontAlgn="base" hangingPunct="0">
                <a:lnSpc>
                  <a:spcPct val="90000"/>
                </a:lnSpc>
                <a:spcBef>
                  <a:spcPts val="200"/>
                </a:spcBef>
                <a:spcAft>
                  <a:spcPts val="400"/>
                </a:spcAft>
                <a:buClr>
                  <a:schemeClr val="accent1"/>
                </a:buClr>
                <a:buFont typeface="Calibri" panose="020F0502020204030204" pitchFamily="34" charset="0"/>
                <a:buChar char="◦"/>
                <a:defRPr sz="1400">
                  <a:solidFill>
                    <a:srgbClr val="404040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lang="en-US" altLang="en-US" sz="1200" dirty="0">
                  <a:solidFill>
                    <a:schemeClr val="tx1"/>
                  </a:solidFill>
                  <a:latin typeface="Arial" panose="020B0604020202020204" pitchFamily="34" charset="0"/>
                </a:rPr>
                <a:t>Dependent Data Mart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C9F311F-EBE0-4D3E-98C0-54A9DE52DD23}"/>
                </a:ext>
              </a:extLst>
            </p:cNvPr>
            <p:cNvSpPr txBox="1"/>
            <p:nvPr/>
          </p:nvSpPr>
          <p:spPr>
            <a:xfrm>
              <a:off x="2130358" y="1600200"/>
              <a:ext cx="5514550" cy="5078313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Back room Technical Architecture</a:t>
              </a: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E8BA7A8-9E75-4B02-A226-D7AC17773CAF}"/>
                </a:ext>
              </a:extLst>
            </p:cNvPr>
            <p:cNvSpPr txBox="1"/>
            <p:nvPr/>
          </p:nvSpPr>
          <p:spPr>
            <a:xfrm>
              <a:off x="7817523" y="1734740"/>
              <a:ext cx="3564852" cy="3970318"/>
            </a:xfrm>
            <a:prstGeom prst="rect">
              <a:avLst/>
            </a:prstGeom>
            <a:noFill/>
            <a:ln w="28575">
              <a:solidFill>
                <a:srgbClr val="C0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C00000"/>
                  </a:solidFill>
                </a:rPr>
                <a:t>Front room Technical Architecture</a:t>
              </a: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  <a:p>
              <a:pPr algn="ctr"/>
              <a:endParaRPr lang="en-US" b="1" dirty="0">
                <a:solidFill>
                  <a:srgbClr val="C00000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0FAE53D-FE0E-4F39-AE52-7026E0C5936D}"/>
                </a:ext>
              </a:extLst>
            </p:cNvPr>
            <p:cNvSpPr txBox="1"/>
            <p:nvPr/>
          </p:nvSpPr>
          <p:spPr>
            <a:xfrm>
              <a:off x="6233747" y="4114800"/>
              <a:ext cx="1182559" cy="523220"/>
            </a:xfrm>
            <a:prstGeom prst="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C00000"/>
                  </a:solidFill>
                </a:rPr>
                <a:t>Independent data marts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3" name="Text Box 3">
            <a:extLst>
              <a:ext uri="{FF2B5EF4-FFF2-40B4-BE49-F238E27FC236}">
                <a16:creationId xmlns:a16="http://schemas.microsoft.com/office/drawing/2014/main" id="{776005DC-290F-4FD7-A87A-6796F98E39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37894" name="Rectangle 5">
            <a:extLst>
              <a:ext uri="{FF2B5EF4-FFF2-40B4-BE49-F238E27FC236}">
                <a16:creationId xmlns:a16="http://schemas.microsoft.com/office/drawing/2014/main" id="{EC105035-D1F5-4FA1-9733-34F4534A66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0092" y="1869707"/>
            <a:ext cx="9274628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4.1.   Back Room Technical Architecture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dirty="0">
                <a:latin typeface="Times New Roman" panose="02020603050405020304" pitchFamily="18" charset="0"/>
              </a:rPr>
              <a:t>This is the place where data staging takes place.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dirty="0">
                <a:latin typeface="Times New Roman" panose="02020603050405020304" pitchFamily="18" charset="0"/>
              </a:rPr>
              <a:t>Components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dirty="0">
                <a:latin typeface="Times New Roman" panose="02020603050405020304" pitchFamily="18" charset="0"/>
              </a:rPr>
              <a:t>4.1.1.  Data Stores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Source Systems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Data Staging Area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Presentation Servers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dirty="0">
                <a:latin typeface="Times New Roman" panose="02020603050405020304" pitchFamily="18" charset="0"/>
              </a:rPr>
              <a:t>4.1.2.  Data Staging Services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Extraction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Replication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Transformation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Data loading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Data staging job control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Backup and recovery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dirty="0">
                <a:latin typeface="Times New Roman" panose="02020603050405020304" pitchFamily="18" charset="0"/>
              </a:rPr>
              <a:t>Archive and retrieval</a:t>
            </a: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FEF580F-E736-44B6-A6CA-DE16F9A00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4C4BFB-A0A4-4683-BC4B-DE30D8B2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E20DF-C877-4807-A19F-66A71B218273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F31064-3204-4942-96F3-100A40667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DBE6E1-2E59-4BF8-B443-097FF4D3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1" name="Rectangle 5">
            <a:extLst>
              <a:ext uri="{FF2B5EF4-FFF2-40B4-BE49-F238E27FC236}">
                <a16:creationId xmlns:a16="http://schemas.microsoft.com/office/drawing/2014/main" id="{CC48A6F2-E0C0-43D9-9224-86BD70FBA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1876425"/>
            <a:ext cx="9171992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4.1.1.  Source Systems (Data Store)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 Most transaction systems are source systems.  Examples are older legacy systems, IMS, ISMS, VSAM, flat files 	and DB2 systems.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Sometimes they are batch reports are sources also.  Try to reverse-engineer these.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 Data Models used in this stage are hierarchical, fully denormalized flat files, third normal forms etc.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C70161D-6912-413E-8E1A-4B60647466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951F22-1E16-4A18-BAA1-A12751948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0FCFF-380B-468B-AC14-0D2ED01836BD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059202-EFCA-4EA8-90A9-6631D7D9C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1CF9D-CF09-40F3-BAA3-F98210FB6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9" name="Rectangle 3">
            <a:extLst>
              <a:ext uri="{FF2B5EF4-FFF2-40B4-BE49-F238E27FC236}">
                <a16:creationId xmlns:a16="http://schemas.microsoft.com/office/drawing/2014/main" id="{D4519748-1FAF-44AF-BC9D-23F8E662C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5453" y="1876425"/>
            <a:ext cx="9881118" cy="26161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4.1.1.  Source Systems (Data Store)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 Other examples of source systems are: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Client-server based ERP systems (ERP cannot support decision support)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Reporting Instance (another copy of operational data for reporting purposes only)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Operational data store (ODS) (it is a subject-oriented, integrated, frequently updated store of detailed data to support transaction systems with integrated data.)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CBA0289-9C63-4590-927F-7502FC2441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838D7E-69B5-42B9-BCE1-77D35EE7B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420CE-EB4E-4EC8-BC8E-017AAFE0737F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0FDE08-FCD8-4BC4-A041-DDD7C0F1C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8532E5-4A50-4343-813E-F7F7E23F1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7" name="Rectangle 4">
            <a:extLst>
              <a:ext uri="{FF2B5EF4-FFF2-40B4-BE49-F238E27FC236}">
                <a16:creationId xmlns:a16="http://schemas.microsoft.com/office/drawing/2014/main" id="{103B8BB4-4CDF-43C5-B594-AABFB0498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171" y="1828800"/>
            <a:ext cx="1004907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4.1.1.  Data Staging Area (Data Store)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It is a construction site for the warehouse.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Investment in data staging, that services a broad range of transformation requirements, will </a:t>
            </a:r>
            <a:r>
              <a:rPr lang="en-US" altLang="en-US" sz="2000" b="1" dirty="0">
                <a:latin typeface="Times New Roman" panose="02020603050405020304" pitchFamily="18" charset="0"/>
              </a:rPr>
              <a:t>avoid</a:t>
            </a:r>
            <a:r>
              <a:rPr lang="en-US" altLang="en-US" sz="2000" dirty="0">
                <a:latin typeface="Times New Roman" panose="02020603050405020304" pitchFamily="18" charset="0"/>
              </a:rPr>
              <a:t> requiring each business process to invest understanding of the sources.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create dimensions at this stage in flat files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keep things available for emergency recovery operations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Storage Types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flat files -- probably fastest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relations -- not very efficient, slow; but tools are available to work with relations.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Data Models  -- mostly 3NFs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5974D78-2173-42C8-8324-B5C248051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94A40-2FDF-4976-9EF5-06D1FE1E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673C6-DCBB-4CBC-8C0D-FF91AC15CA04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0009A6-AE8E-4091-8E00-5FCC4514E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190FE-00C4-4B55-A3DA-0B793B4D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5" name="Text Box 3">
            <a:extLst>
              <a:ext uri="{FF2B5EF4-FFF2-40B4-BE49-F238E27FC236}">
                <a16:creationId xmlns:a16="http://schemas.microsoft.com/office/drawing/2014/main" id="{A5093E95-3BF6-4A0A-AE17-78AE0051F4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46086" name="Rectangle 4">
            <a:extLst>
              <a:ext uri="{FF2B5EF4-FFF2-40B4-BE49-F238E27FC236}">
                <a16:creationId xmlns:a16="http://schemas.microsoft.com/office/drawing/2014/main" id="{2B69CC21-6D4F-46E4-884C-B86DE4849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9509" y="1752601"/>
            <a:ext cx="9582539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4.1.2.  Data Staging Services </a:t>
            </a:r>
            <a:endParaRPr lang="en-US" altLang="en-US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Overall requirements for data staging services -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Productivity support.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code library check in/check out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version control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development tools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Usability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the data staging system must be usable.  Should have GUI, documentation tools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Metadata driven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SQL code and Cobol code must be driven by the metadata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0A49F75-F3BA-44F3-996E-738875778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BECB1-52DF-41CF-AFC6-885EF3AB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11C5-8120-469F-8092-B9077619592A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3FC46-1660-46AC-80E1-0F0DC44E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BC5E5-8226-4812-9EA2-070DC3042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Text Box 3">
            <a:extLst>
              <a:ext uri="{FF2B5EF4-FFF2-40B4-BE49-F238E27FC236}">
                <a16:creationId xmlns:a16="http://schemas.microsoft.com/office/drawing/2014/main" id="{91F31C43-375D-427D-B022-1677D91C4C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48134" name="Rectangle 4">
            <a:extLst>
              <a:ext uri="{FF2B5EF4-FFF2-40B4-BE49-F238E27FC236}">
                <a16:creationId xmlns:a16="http://schemas.microsoft.com/office/drawing/2014/main" id="{30D528FE-DBC7-4B1C-A23F-A9452E881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0097" y="1828801"/>
            <a:ext cx="9526555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Service 1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: 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Extraction Services</a:t>
            </a:r>
            <a:endParaRPr lang="en-US" altLang="en-US" sz="20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60% of the DW development hours are spent on the extract process.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Most often, the challenge is determining </a:t>
            </a:r>
            <a:r>
              <a:rPr lang="en-US" altLang="en-US" sz="2000" b="1" dirty="0">
                <a:latin typeface="Times New Roman" panose="02020603050405020304" pitchFamily="18" charset="0"/>
              </a:rPr>
              <a:t>what data to extract and what kinds of filters to apply</a:t>
            </a:r>
            <a:r>
              <a:rPr lang="en-US" altLang="en-US" sz="2000" dirty="0">
                <a:latin typeface="Times New Roman" panose="02020603050405020304" pitchFamily="18" charset="0"/>
              </a:rPr>
              <a:t>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Most extract processes generate temporary load files that become the input data to the next activity downstream.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Most extracts are based on the host platform and are designed to get the data out of the source and into a simplified and easily accessible form.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Data needs to be pulled from the multiple systems built with multiple data stores hosted on multiple platforms ...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53FA642-FECE-41C2-8EDC-EFC061E01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6491B6-163A-4390-9161-9FB98EC0C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1C73E-C631-47C6-8679-B4DFF0C345DF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9E46A6-B455-421B-A7BA-0F57367D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1D1B28-6AC5-4570-9D80-E6DAD96C3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1" name="Text Box 3">
            <a:extLst>
              <a:ext uri="{FF2B5EF4-FFF2-40B4-BE49-F238E27FC236}">
                <a16:creationId xmlns:a16="http://schemas.microsoft.com/office/drawing/2014/main" id="{C6B722D2-75FF-482E-B8D3-4F8E063DB5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50182" name="Rectangle 4">
            <a:extLst>
              <a:ext uri="{FF2B5EF4-FFF2-40B4-BE49-F238E27FC236}">
                <a16:creationId xmlns:a16="http://schemas.microsoft.com/office/drawing/2014/main" id="{DAC9BE63-5D75-4856-AB22-C32121973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1477" y="1828800"/>
            <a:ext cx="9685175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Service 1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: 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Extraction Services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Generating codes to extract files.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Types of extracts: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incremental loads  (only the records that have changed or have been added since the previous load)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transaction events (we may want all kinds of events like insertion, deletion and modification)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full refresh (sometimes it is better to pull the full table rather than worry about figuring out what has changed)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5A9200A-A6D9-4730-B90F-3B9FF643C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1203D-BD0F-4C1F-A94A-EAAA5CEC9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F59A9-A426-4A9A-AFDB-C2C0705BD334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E6027-57CA-4197-84F1-A1FE3072E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126E3-33E4-4C89-AAF4-AD556CDB2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Text Box 3">
            <a:extLst>
              <a:ext uri="{FF2B5EF4-FFF2-40B4-BE49-F238E27FC236}">
                <a16:creationId xmlns:a16="http://schemas.microsoft.com/office/drawing/2014/main" id="{84695FE7-3A5E-41E4-A6A8-7923CB2872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52230" name="Rectangle 4">
            <a:extLst>
              <a:ext uri="{FF2B5EF4-FFF2-40B4-BE49-F238E27FC236}">
                <a16:creationId xmlns:a16="http://schemas.microsoft.com/office/drawing/2014/main" id="{BE10323D-F12F-4BB7-96DB-ACC9B4901B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5453" y="1828801"/>
            <a:ext cx="803054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Service 2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: 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Replication Services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It may mean to continuously update a table in the staging database during the day, so it is up-to-date and available to support the data staging process at night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484B645-D4ED-4B56-8143-09C96D2AD9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74CD2-BEBF-450D-911F-260CE274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E70C55-A3A6-41F7-A0A6-7FFDE831BD5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482D-EA05-48B5-AAE3-283C2314A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E1198-326F-4426-8ED8-5FA2942D5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7" name="Text Box 3">
            <a:extLst>
              <a:ext uri="{FF2B5EF4-FFF2-40B4-BE49-F238E27FC236}">
                <a16:creationId xmlns:a16="http://schemas.microsoft.com/office/drawing/2014/main" id="{5711B4DB-E820-468F-BC4D-8CCF8526C2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54278" name="Rectangle 4">
            <a:extLst>
              <a:ext uri="{FF2B5EF4-FFF2-40B4-BE49-F238E27FC236}">
                <a16:creationId xmlns:a16="http://schemas.microsoft.com/office/drawing/2014/main" id="{A4E9423D-099B-4AA7-82AC-012EBDEAFA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1518" y="1828801"/>
            <a:ext cx="9806474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Service 3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: 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Transformation Services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Once the data is extracted from the source system, a range of unnatural acts is performed on it to convert it into something presentable to the users and valuable to the business.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Following is a tentative list of transformation that may need to be included in the warehouse.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integration (involves generating surrogate keys, mapping keys from one system to another, etc.)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slowly changing dimension maintenance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referential integrity checking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25B40E1-6A66-45C4-A756-15ECB1B59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8DA61-35BD-4C63-9B4F-903089C0A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F5CF5-846A-46D9-B1BC-8FD7CE9EA926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E5A1BC-DEBF-4EF5-A400-9E74E1B9F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D54ADC-756A-4E90-B832-23729B97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5" name="Text Box 3">
            <a:extLst>
              <a:ext uri="{FF2B5EF4-FFF2-40B4-BE49-F238E27FC236}">
                <a16:creationId xmlns:a16="http://schemas.microsoft.com/office/drawing/2014/main" id="{C5885660-64E7-4F9A-9B4B-7EAF56148B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56326" name="Rectangle 4">
            <a:extLst>
              <a:ext uri="{FF2B5EF4-FFF2-40B4-BE49-F238E27FC236}">
                <a16:creationId xmlns:a16="http://schemas.microsoft.com/office/drawing/2014/main" id="{EE171340-1791-4ADB-8B49-77AD52123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7502" y="1828800"/>
            <a:ext cx="9722498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Service 3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: 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Transformation Services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denormalization 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renormalization (source may come as a denormalized flat file and we need to normalize parts of it)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cleansing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merge/purge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data type conversion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calculation, derivation and allocation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aggregation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etc.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6CFC965-8D05-47AB-9F6E-C3274023F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E24DD4-9B6A-4638-B42B-FB2221CF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4172D8-3648-426F-AC1D-8A4E16994C6F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AC4DBB-E0A3-476B-8AA5-25809305C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6EDDC6-81B3-46B2-A323-C132EE07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21</a:t>
            </a:fld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3" name="Text Box 3">
            <a:extLst>
              <a:ext uri="{FF2B5EF4-FFF2-40B4-BE49-F238E27FC236}">
                <a16:creationId xmlns:a16="http://schemas.microsoft.com/office/drawing/2014/main" id="{281752C5-8AB5-4915-B95F-0F375C71B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2667001"/>
            <a:ext cx="6934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>
              <a:latin typeface="Tahoma" panose="020B0604030504040204" pitchFamily="34" charset="0"/>
            </a:endParaRPr>
          </a:p>
        </p:txBody>
      </p:sp>
      <p:sp>
        <p:nvSpPr>
          <p:cNvPr id="58374" name="Rectangle 4">
            <a:extLst>
              <a:ext uri="{FF2B5EF4-FFF2-40B4-BE49-F238E27FC236}">
                <a16:creationId xmlns:a16="http://schemas.microsoft.com/office/drawing/2014/main" id="{959E0843-CE22-4A40-8F0F-9AC418AD32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2857" y="1828800"/>
            <a:ext cx="9881119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Service 3</a:t>
            </a:r>
            <a:r>
              <a:rPr lang="en-US" altLang="en-US" sz="2000" dirty="0">
                <a:solidFill>
                  <a:srgbClr val="C00000"/>
                </a:solidFill>
                <a:latin typeface="Times New Roman" panose="02020603050405020304" pitchFamily="18" charset="0"/>
              </a:rPr>
              <a:t>:  </a:t>
            </a: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Data Loading Services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  The capability that you need during the data loading process are a function of target platform. 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Support for multiple targets (atomic data marts may be on one DBMS and the business process data marts may be on another.  Each may have its own syntax.)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Load optimization (Most DBMS has bulk loading capabilities that can be scripted and invoked by the data staging tool through an API.)</a:t>
            </a:r>
          </a:p>
          <a:p>
            <a:pPr lvl="1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</a:rPr>
              <a:t> Load process support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EA43D0-CAFF-42D5-A506-A04297F3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3119D0-07F4-4E2C-8575-B295B7E40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0474-570A-497D-8058-0105C67A8C97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A62B79-D410-49F4-B557-C728B9205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80B4F0-979D-47C6-8708-AFE17A732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22</a:t>
            </a:fld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7" name="Rectangle 3">
            <a:extLst>
              <a:ext uri="{FF2B5EF4-FFF2-40B4-BE49-F238E27FC236}">
                <a16:creationId xmlns:a16="http://schemas.microsoft.com/office/drawing/2014/main" id="{BF9B4AB6-76CB-437E-B92E-A997D84543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4824" y="1828800"/>
            <a:ext cx="9563878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ETL Tools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b="1" dirty="0">
                <a:latin typeface="Times New Roman" panose="02020603050405020304" pitchFamily="18" charset="0"/>
              </a:rPr>
              <a:t>  First Generation ETL Tools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 used mostly Cobol as source code since data was originally stored in the main frame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generated mostly Cobol 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performance was very good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Limitations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needed an in-depth knowledge of programming on the different platforms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maintenance is difficult because the code was disseminated to different platforms and differed with the type of sources and target.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0FFB8E6-04A9-4215-A433-168562D02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917C83-8849-453A-9EDB-3EC27F84A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B61B7-E307-4F50-AC50-253D73B4211D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E5A5CF-27B2-45FD-BCF3-1A11202A1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468CF3-07D3-48B4-8D26-E030C4EBA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3">
            <a:extLst>
              <a:ext uri="{FF2B5EF4-FFF2-40B4-BE49-F238E27FC236}">
                <a16:creationId xmlns:a16="http://schemas.microsoft.com/office/drawing/2014/main" id="{4D0F7303-0A86-43CB-BF9A-732D6D086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545" y="1808152"/>
            <a:ext cx="9744137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ETL Tools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800" b="1" dirty="0">
                <a:latin typeface="Times New Roman" panose="02020603050405020304" pitchFamily="18" charset="0"/>
              </a:rPr>
              <a:t>  </a:t>
            </a:r>
            <a:r>
              <a:rPr lang="en-US" altLang="en-US" sz="1400" b="1" dirty="0">
                <a:latin typeface="Times New Roman" panose="02020603050405020304" pitchFamily="18" charset="0"/>
              </a:rPr>
              <a:t>Second Generation ETL Tools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 generation and compilation of source code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 use of intermediate files to pass data from the extraction to the transformation process, and from transformation process to the load process.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 use of single-threaded engines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 lack of support for parallelism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 Advantages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tools are mature as they are out there for 20 years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tools are good for extracting data from the legacy systems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 Limitations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high cost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use of intermediate files limits the throughput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 significant number of metadata must be generated manually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1400" dirty="0">
                <a:latin typeface="Times New Roman" panose="02020603050405020304" pitchFamily="18" charset="0"/>
              </a:rPr>
              <a:t>  Examples: 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PASSPORT from Carleton Corporation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Prism from Ardent Software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Times New Roman" panose="02020603050405020304" pitchFamily="18" charset="0"/>
              </a:rPr>
              <a:t>SAS/Warehouse Administrator from SAS Institute, Inc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BCA98C5-43C9-49F5-99B7-742287757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6399AF-BB36-4590-B4E7-B98B89FB6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041774-0F4B-4C86-A5A8-9D15799A0F2D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23C26-8C93-46C3-80F2-343289492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FBF22-6EB3-4A7D-9EB2-37EFDEDA3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61" name="Rectangle 3">
            <a:extLst>
              <a:ext uri="{FF2B5EF4-FFF2-40B4-BE49-F238E27FC236}">
                <a16:creationId xmlns:a16="http://schemas.microsoft.com/office/drawing/2014/main" id="{341FA4FC-EEAF-4537-9885-010DEB40CC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5535" y="1828800"/>
            <a:ext cx="9881118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ETL Tools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 Third Generation ETL Tools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extract program is generated automatically as executable code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extraction/transformation/load process runs on a server platform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functions supported include monitoring, scheduling, 	extraction, scrubbing, transformation, bulk load, 	etc.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higher throughput because data are not written to intermediate files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higher percentage of metadata is generated automatically.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BF16894-703E-48AD-9EA9-791BF07939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F70B56-8B7D-4EC8-BF2D-D8567348C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AC65A-60F5-4529-ABA0-2C39B7848292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3A1C31-A2B3-486B-AFFF-46B8FF953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1CA646-ADDE-4884-A9F6-03413D22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25</a:t>
            </a:fld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9" name="Rectangle 3">
            <a:extLst>
              <a:ext uri="{FF2B5EF4-FFF2-40B4-BE49-F238E27FC236}">
                <a16:creationId xmlns:a16="http://schemas.microsoft.com/office/drawing/2014/main" id="{867EAA6A-8889-4FE5-98C8-9A54B0E15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7501" y="1828800"/>
            <a:ext cx="9713167" cy="4462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ETL Tools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Advantages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lower cost suites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products are easy to learn and need very little training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ETL functions are highly integrated, etc.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Limitations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some 2nd generation ETL tools are limited to RDBMS source databases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not mature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Examples:  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en-US" sz="2000" dirty="0" err="1">
                <a:latin typeface="Times New Roman" panose="02020603050405020304" pitchFamily="18" charset="0"/>
              </a:rPr>
              <a:t>PowerMart</a:t>
            </a:r>
            <a:r>
              <a:rPr lang="en-US" altLang="en-US" sz="2000" dirty="0">
                <a:latin typeface="Times New Roman" panose="02020603050405020304" pitchFamily="18" charset="0"/>
              </a:rPr>
              <a:t> from Informatica 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Ardent 3.5 DataStage from Ardent Software Inc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 err="1">
                <a:latin typeface="Times New Roman" panose="02020603050405020304" pitchFamily="18" charset="0"/>
              </a:rPr>
              <a:t>Sagent</a:t>
            </a:r>
            <a:r>
              <a:rPr lang="en-US" altLang="en-US" sz="2000" dirty="0">
                <a:latin typeface="Times New Roman" panose="02020603050405020304" pitchFamily="18" charset="0"/>
              </a:rPr>
              <a:t> Data Mart Solution from </a:t>
            </a:r>
            <a:r>
              <a:rPr lang="en-US" altLang="en-US" sz="2000" dirty="0" err="1">
                <a:latin typeface="Times New Roman" panose="02020603050405020304" pitchFamily="18" charset="0"/>
              </a:rPr>
              <a:t>Sagent</a:t>
            </a:r>
            <a:r>
              <a:rPr lang="en-US" altLang="en-US" sz="2000" dirty="0">
                <a:latin typeface="Times New Roman" panose="02020603050405020304" pitchFamily="18" charset="0"/>
              </a:rPr>
              <a:t> Technology</a:t>
            </a:r>
            <a:endParaRPr lang="en-US" altLang="en-US" sz="2400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3DA0616-6B84-43FF-9A52-CC11CED22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9B9823-96C1-45E7-9839-8E762500E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C3FB58E-1659-45EC-A9A5-17E93ED51D69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4D5C72-4993-4BDB-B72F-D968AEC2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Arun Sen Texas A&amp;M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25BF2-719E-4B40-91D1-8AC0DB77C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B9B208-317E-451A-9B7B-F240F58E3699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Rectangle 3">
            <a:extLst>
              <a:ext uri="{FF2B5EF4-FFF2-40B4-BE49-F238E27FC236}">
                <a16:creationId xmlns:a16="http://schemas.microsoft.com/office/drawing/2014/main" id="{54FE669F-3C7B-4C87-AD0C-8C55BB2E0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4231" y="1872697"/>
            <a:ext cx="92775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Arial" charset="0"/>
              </a:rPr>
              <a:t>Current Well-known ETL Tools (2025)</a:t>
            </a:r>
            <a:endParaRPr lang="en-US" b="1" dirty="0">
              <a:solidFill>
                <a:srgbClr val="C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9D04932-D700-4160-A6FB-602A62C76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BF304D-97CD-435C-A770-6442F2DA6239}"/>
              </a:ext>
            </a:extLst>
          </p:cNvPr>
          <p:cNvSpPr txBox="1"/>
          <p:nvPr/>
        </p:nvSpPr>
        <p:spPr>
          <a:xfrm>
            <a:off x="4619624" y="5827715"/>
            <a:ext cx="6975745" cy="3693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https://www.passionned.com/products/etl-data-integration-guide/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47AACD-B0E6-4863-90D1-B0C163C86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FF21617-A6F3-4739-8BA8-CCC42402EDC3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2372FD-B947-40A1-99F1-09B3ECF4D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Arun Sen Texas A&amp;M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72D64E-F6D1-4514-B6CB-EE1163D51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B9B208-317E-451A-9B7B-F240F58E3699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EF14BE-8FA9-63DA-CA6B-EFD33DC51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4656" y="2342851"/>
            <a:ext cx="7842687" cy="322212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3">
            <a:extLst>
              <a:ext uri="{FF2B5EF4-FFF2-40B4-BE49-F238E27FC236}">
                <a16:creationId xmlns:a16="http://schemas.microsoft.com/office/drawing/2014/main" id="{98DBE8AE-BF93-40A7-9E77-A93BE18F9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8882" y="1819836"/>
            <a:ext cx="10123714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5.  Presentation Server (Data Warehouse/Data Mart)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These are the target platforms where the data is stored for direct querying by end users, reporting systems and other end-user tools.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 Two kinds of Presentation Servers: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 Enterprise-wide Data Warehouse (</a:t>
            </a:r>
            <a:r>
              <a:rPr lang="en-US" altLang="en-US" sz="2000" dirty="0" err="1">
                <a:latin typeface="Times New Roman" panose="02020603050405020304" pitchFamily="18" charset="0"/>
              </a:rPr>
              <a:t>Inmon</a:t>
            </a:r>
            <a:r>
              <a:rPr lang="en-US" altLang="en-US" sz="2000" dirty="0">
                <a:latin typeface="Times New Roman" panose="02020603050405020304" pitchFamily="18" charset="0"/>
              </a:rPr>
              <a:t>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  Data warehouse is a collection of data marts that sit on a bus  (Kimball)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There are two kinds of data marts: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Atomic data marts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it holds data at the lowest-common-denominator level i.e., lowest level of detail necessary to meet most of the high-value business requirements.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Atomic data marts </a:t>
            </a:r>
            <a:r>
              <a:rPr lang="en-US" altLang="en-US" sz="2000" b="1" dirty="0">
                <a:latin typeface="Times New Roman" panose="02020603050405020304" pitchFamily="18" charset="0"/>
              </a:rPr>
              <a:t>should be relational</a:t>
            </a:r>
            <a:r>
              <a:rPr lang="en-US" altLang="en-US" sz="2000" dirty="0">
                <a:latin typeface="Times New Roman" panose="02020603050405020304" pitchFamily="18" charset="0"/>
              </a:rPr>
              <a:t> due to the details in the data.  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Atomic data marts should be built around dimensional model with details.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3C1A3BF-0C24-4B36-85B3-247AD2062E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05C15-4B85-4308-8D0F-9D25BA6CC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DFB70FF-997A-4A73-B76D-E20BA705D3B1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B595B0-6D9E-47F3-8C43-1E415216A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Arun Sen Texas A&amp;M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6DA798-DE70-4CDE-B723-06DE8BBC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B9B208-317E-451A-9B7B-F240F58E3699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7" name="Heptagon 6">
            <a:extLst>
              <a:ext uri="{FF2B5EF4-FFF2-40B4-BE49-F238E27FC236}">
                <a16:creationId xmlns:a16="http://schemas.microsoft.com/office/drawing/2014/main" id="{3D606A20-3722-4395-826D-E7BEBE11C079}"/>
              </a:ext>
            </a:extLst>
          </p:cNvPr>
          <p:cNvSpPr/>
          <p:nvPr/>
        </p:nvSpPr>
        <p:spPr>
          <a:xfrm>
            <a:off x="11168988" y="224174"/>
            <a:ext cx="686148" cy="562707"/>
          </a:xfrm>
          <a:prstGeom prst="heptagon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00" b="1" dirty="0">
                <a:solidFill>
                  <a:srgbClr val="FF0000"/>
                </a:solidFill>
              </a:rPr>
              <a:t>start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3" name="Rectangle 3">
            <a:extLst>
              <a:ext uri="{FF2B5EF4-FFF2-40B4-BE49-F238E27FC236}">
                <a16:creationId xmlns:a16="http://schemas.microsoft.com/office/drawing/2014/main" id="{CA0BEBC9-4EEF-49E6-B21D-6ADDD78DD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873" y="1752601"/>
            <a:ext cx="9825135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5.  Presentation Server (Data Warehouse/Data Mart)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Aggregated business process data marts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The data related to each core business process is called a business process data mart.  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For example, Marketing might like to analyze the data to get a sense for promotional effectiveness.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Business process data marts </a:t>
            </a:r>
            <a:r>
              <a:rPr lang="en-US" altLang="en-US" sz="2000" b="1" dirty="0">
                <a:latin typeface="Times New Roman" panose="02020603050405020304" pitchFamily="18" charset="0"/>
              </a:rPr>
              <a:t>should be either relational or proprietary Multidimensional OLAP databases</a:t>
            </a:r>
            <a:r>
              <a:rPr lang="en-US" altLang="en-US" sz="2000" dirty="0">
                <a:latin typeface="Times New Roman" panose="02020603050405020304" pitchFamily="18" charset="0"/>
              </a:rPr>
              <a:t>.  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Business process data marts should be built around same dimensional structure of the data in the atomic data mart.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5DE5DD5-A9EC-452A-889A-42E82B795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34BFA-897B-4880-8A60-6C26350C8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9E7D02-F920-4578-BBEC-856A45B57C0E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71E93-A2FC-42CA-9859-1F0F6F0E6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D21703-CBF5-4505-8B84-03D70CD3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29</a:t>
            </a:fld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1" name="Rectangle 3">
            <a:extLst>
              <a:ext uri="{FF2B5EF4-FFF2-40B4-BE49-F238E27FC236}">
                <a16:creationId xmlns:a16="http://schemas.microsoft.com/office/drawing/2014/main" id="{F2BE6ED9-FB2C-4C68-8A84-EB3B3EF52A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808" y="1752601"/>
            <a:ext cx="810519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5.  Presentation Server (Data Warehouse/Data Mart)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E404D46-2710-4FC2-8EC4-E93BF49E664F}"/>
              </a:ext>
            </a:extLst>
          </p:cNvPr>
          <p:cNvSpPr/>
          <p:nvPr/>
        </p:nvSpPr>
        <p:spPr>
          <a:xfrm>
            <a:off x="8000388" y="2605571"/>
            <a:ext cx="3874068" cy="2516073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050" dirty="0">
                <a:latin typeface="Arial" charset="0"/>
                <a:cs typeface="Arial" charset="0"/>
              </a:rPr>
              <a:t>https://www.informatica.com/data-integration-magic-quadrant.html?formid=26118&amp;programName=24Q4-DPDS-NAM-CLO-NP-NI-NV-GartnerQuadrantDatIntgrtn-0-PT5088-G&amp;utm_source=google&amp;utm_medium=paid_search&amp;utm_campaign=24Q4-DPDS-NAM-CLO-NP-NI-NV-GartnerQuadrantDatIntgrtn-0-PT5088-G&amp;utm_country=us&amp;utm_creative=Cloud-IT_Data-Integration_NB_Exact_Google_Search_NAM_US_Leads_CPA_English&amp;utm_journey=clo&amp;utm_cost=cpc&amp;utm_term=gartner%20magic%20quadrant%20for%20data%20integration%20tools&amp;gad_source=1&amp;gad_campaignid=21156044056&amp;gbraid=0AAAAADnfLNN_ndzqtSs-7tzrQo0zz6VHH&amp;gclid=CjwKCAjwisnGBhAXEiwA0zEOR3umsutTbrJZHYbyGLWc1j76ojo_O6nBYjsCs7UtLZ9iY8m4aKFMYBoC1zAQAvD</a:t>
            </a:r>
            <a:r>
              <a:rPr lang="en-US" sz="1050">
                <a:latin typeface="Arial" charset="0"/>
                <a:cs typeface="Arial" charset="0"/>
              </a:rPr>
              <a:t>_BwE </a:t>
            </a:r>
            <a:endParaRPr lang="en-US" sz="1050" dirty="0">
              <a:latin typeface="Arial" charset="0"/>
              <a:cs typeface="Arial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00C19198-28C1-4B44-AB6B-DD7D7725B4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9DCD4-2408-457C-A5F0-4A678AA28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484E0-A896-40B1-88BF-041BE733D07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F224B-9356-4E55-B5C9-10C9DC67E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7F43A-CD07-445C-BDF4-7C4811EFD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DA0B31-3727-5327-6531-E06E09C73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6185" y="2121933"/>
            <a:ext cx="4314203" cy="41162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9" name="Rectangle 3">
            <a:extLst>
              <a:ext uri="{FF2B5EF4-FFF2-40B4-BE49-F238E27FC236}">
                <a16:creationId xmlns:a16="http://schemas.microsoft.com/office/drawing/2014/main" id="{963589DB-CBB3-4EAB-BEB9-2AF9424DA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4237" y="1828801"/>
            <a:ext cx="10021077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1:	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Conventional RDBMSs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combination with ROLAP tools</a:t>
            </a:r>
            <a:endParaRPr lang="en-US" altLang="en-US" sz="2000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Strengths: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No size limit on target database (scalable to terabytes)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No need for proprietary databases and tools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RDBMSs have been enhanced to support the specialized requirements for DW.  Techniques include parallel query execution, parallel data management, bit-mapped indexes, SQL extensions for OLAP, etc.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Ad hoc queries can be directed to any data in the DW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Detailed data and aggregated data can be stored in the same database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DEE32C9-17A7-43F2-A028-8DF28EB61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19BB0-2B4C-4463-B26E-01164E97B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4CC96-8A9A-4768-9476-C0ECF3CF0393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1BC654-D472-4AB8-BFA2-2F6BA5EAE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ABB78F-829F-4184-9AE1-55AAF709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31</a:t>
            </a:fld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D3080DA-305E-4FB3-8D51-B8E0F159551D}"/>
              </a:ext>
            </a:extLst>
          </p:cNvPr>
          <p:cNvGrpSpPr/>
          <p:nvPr/>
        </p:nvGrpSpPr>
        <p:grpSpPr>
          <a:xfrm>
            <a:off x="8410470" y="5864384"/>
            <a:ext cx="1976666" cy="416353"/>
            <a:chOff x="8410470" y="5864384"/>
            <a:chExt cx="1976666" cy="416353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8F5DA22-3BAA-4A74-B123-B23021557814}"/>
                </a:ext>
              </a:extLst>
            </p:cNvPr>
            <p:cNvSpPr txBox="1"/>
            <p:nvPr/>
          </p:nvSpPr>
          <p:spPr>
            <a:xfrm>
              <a:off x="8410470" y="5864384"/>
              <a:ext cx="62299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C00000"/>
                  </a:solidFill>
                </a:rPr>
                <a:t>DBMS Engine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3C350EA-8BA4-4A1B-ACCE-D4B6E9005505}"/>
                </a:ext>
              </a:extLst>
            </p:cNvPr>
            <p:cNvSpPr txBox="1"/>
            <p:nvPr/>
          </p:nvSpPr>
          <p:spPr>
            <a:xfrm>
              <a:off x="9764138" y="5880627"/>
              <a:ext cx="62299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C00000"/>
                  </a:solidFill>
                </a:rPr>
                <a:t>ROLAP Engine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307D1ABB-9774-4DB3-9CAE-0D4571BF4CFB}"/>
                </a:ext>
              </a:extLst>
            </p:cNvPr>
            <p:cNvCxnSpPr>
              <a:stCxn id="2" idx="3"/>
              <a:endCxn id="8" idx="1"/>
            </p:cNvCxnSpPr>
            <p:nvPr/>
          </p:nvCxnSpPr>
          <p:spPr>
            <a:xfrm>
              <a:off x="9033468" y="6064439"/>
              <a:ext cx="730670" cy="16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0467B63-C4F4-4D65-BA93-A8BAA32892AB}"/>
                </a:ext>
              </a:extLst>
            </p:cNvPr>
            <p:cNvCxnSpPr>
              <a:cxnSpLocks/>
              <a:stCxn id="8" idx="1"/>
              <a:endCxn id="2" idx="3"/>
            </p:cNvCxnSpPr>
            <p:nvPr/>
          </p:nvCxnSpPr>
          <p:spPr>
            <a:xfrm flipH="1" flipV="1">
              <a:off x="9033468" y="6064439"/>
              <a:ext cx="730670" cy="16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7" name="Rectangle 3">
            <a:extLst>
              <a:ext uri="{FF2B5EF4-FFF2-40B4-BE49-F238E27FC236}">
                <a16:creationId xmlns:a16="http://schemas.microsoft.com/office/drawing/2014/main" id="{E6897881-8572-4EB1-AA1E-6D2B867B7D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212" y="1828801"/>
            <a:ext cx="9657184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1: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	Conventional RDBMSs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combination with ROLAP tools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Strengths: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High-speed query processing using symmetric multiprocessors (SMP), massively parallel processors (MPP), and clustered multiprocessors (NUMA).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Availability of front-end ROLAP tools from multiple vendors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ROLAP tools support multi-dimensional analysis of relational data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Supports open systems standards such as OLE  DB, ODBC, SQL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Portable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7185264-645B-4DB9-BC86-A5745BF2C1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F87B12-96F2-400E-B9A9-A67ACDB4B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8A64E-A24A-4536-B240-461A6BA0E91B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4E2202-9195-4FAC-A7BA-9480CF23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BB3ECD-81AB-4183-A748-2AEDF4E09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32</a:t>
            </a:fld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5" name="Rectangle 3">
            <a:extLst>
              <a:ext uri="{FF2B5EF4-FFF2-40B4-BE49-F238E27FC236}">
                <a16:creationId xmlns:a16="http://schemas.microsoft.com/office/drawing/2014/main" id="{FA4D07D0-AA5E-4FAA-B68B-46020B6AA9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3567" y="1828801"/>
            <a:ext cx="9805117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1: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	Convention</a:t>
            </a:r>
            <a:r>
              <a:rPr lang="en-US" altLang="en-US" sz="2400" i="1" dirty="0">
                <a:latin typeface="Times New Roman" panose="02020603050405020304" pitchFamily="18" charset="0"/>
              </a:rPr>
              <a:t>al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RDBMSs in </a:t>
            </a:r>
            <a:r>
              <a:rPr lang="en-US" altLang="en-US" sz="2000" b="1" i="1" dirty="0">
                <a:latin typeface="Times New Roman" panose="02020603050405020304" pitchFamily="18" charset="0"/>
              </a:rPr>
              <a:t>combination with ROLAP tools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Limitations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Originally designed for OLTP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Slower than MDB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SQL is not designed for calculations and OLAP 	functions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Sophisticated techniques are required to generate SQL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Examples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Oracle, IBM DB2</a:t>
            </a:r>
            <a:r>
              <a:rPr lang="en-US" altLang="en-US" sz="2000">
                <a:latin typeface="Times New Roman" panose="02020603050405020304" pitchFamily="18" charset="0"/>
              </a:rPr>
              <a:t>, Teradata, </a:t>
            </a:r>
            <a:r>
              <a:rPr lang="en-US" altLang="en-US" sz="2000" dirty="0">
                <a:latin typeface="Times New Roman" panose="02020603050405020304" pitchFamily="18" charset="0"/>
              </a:rPr>
              <a:t>SQL Server  (Microsoft), Redbrick DW (Informix Software), CA-</a:t>
            </a:r>
            <a:r>
              <a:rPr lang="en-US" altLang="en-US" sz="2000" dirty="0" err="1">
                <a:latin typeface="Times New Roman" panose="02020603050405020304" pitchFamily="18" charset="0"/>
              </a:rPr>
              <a:t>OpenIngres</a:t>
            </a:r>
            <a:r>
              <a:rPr lang="en-US" altLang="en-US" sz="2000" dirty="0">
                <a:latin typeface="Times New Roman" panose="02020603050405020304" pitchFamily="18" charset="0"/>
              </a:rPr>
              <a:t> (from Computer Associates), Sybase Adaptive Server Enterprise etc.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02CBEFC-8E53-42BD-9A23-158C248E5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25BCF-18A8-4CA4-AA1B-B872008E5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5EA6C7-9B40-422E-8895-1085A2B4ACB4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8C5B5-7A61-47FF-A07E-86497FA45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B3E034-7822-466E-8569-48EC95073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33</a:t>
            </a:fld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3">
            <a:extLst>
              <a:ext uri="{FF2B5EF4-FFF2-40B4-BE49-F238E27FC236}">
                <a16:creationId xmlns:a16="http://schemas.microsoft.com/office/drawing/2014/main" id="{B75184F5-CAF7-44BF-918B-06745BF5F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49" y="1828801"/>
            <a:ext cx="9191625" cy="2985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2: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	 Multidimensional DBMS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 multidimensional DB is a data structure with three or more independent dimensions.  MDDBs do not use relational tables, but store data in multidimensional arrays.  A spreadsheet is a 2-dim array.  MDDBs are similar to spreadsheet, but they store data in three or more dimensions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r>
              <a:rPr lang="en-US" altLang="en-US" sz="2000" dirty="0">
                <a:latin typeface="Times New Roman" panose="02020603050405020304" pitchFamily="18" charset="0"/>
              </a:rPr>
              <a:t>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MDB/MDDB arrays are recommended for relatively small data marts ( &lt; 50 GB) where performance is critical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4AF91FBA-6947-4062-8408-B5A34C17B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71DF1A-5500-4845-B649-569E3BD26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EA7D3A-2B71-4D37-AF1C-22F2E92A58F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08F8DC-1E5E-4FA0-AEC8-5FDC5D122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DA4E2B-4238-4EB3-83D6-0DD48B674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34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F294892-E971-4224-BE4B-D4945BCAE6DB}"/>
              </a:ext>
            </a:extLst>
          </p:cNvPr>
          <p:cNvGrpSpPr/>
          <p:nvPr/>
        </p:nvGrpSpPr>
        <p:grpSpPr>
          <a:xfrm>
            <a:off x="8410470" y="5864384"/>
            <a:ext cx="1976666" cy="416353"/>
            <a:chOff x="8410470" y="5864384"/>
            <a:chExt cx="1976666" cy="41635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99484BE-7C82-461D-91DE-6EEC0262237D}"/>
                </a:ext>
              </a:extLst>
            </p:cNvPr>
            <p:cNvSpPr txBox="1"/>
            <p:nvPr/>
          </p:nvSpPr>
          <p:spPr>
            <a:xfrm>
              <a:off x="8410470" y="5864384"/>
              <a:ext cx="62299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C00000"/>
                  </a:solidFill>
                </a:rPr>
                <a:t>DBMS Engine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1706838-5B70-49E5-AB7D-369F09C1DB33}"/>
                </a:ext>
              </a:extLst>
            </p:cNvPr>
            <p:cNvSpPr txBox="1"/>
            <p:nvPr/>
          </p:nvSpPr>
          <p:spPr>
            <a:xfrm>
              <a:off x="9764138" y="5880627"/>
              <a:ext cx="622998" cy="4001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000" b="1" dirty="0">
                  <a:solidFill>
                    <a:srgbClr val="C00000"/>
                  </a:solidFill>
                </a:rPr>
                <a:t>MDDB Engine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55BDD43-9E24-4EF1-95B0-90A32D71E65B}"/>
                </a:ext>
              </a:extLst>
            </p:cNvPr>
            <p:cNvCxnSpPr>
              <a:stCxn id="8" idx="3"/>
              <a:endCxn id="9" idx="1"/>
            </p:cNvCxnSpPr>
            <p:nvPr/>
          </p:nvCxnSpPr>
          <p:spPr>
            <a:xfrm>
              <a:off x="9033468" y="6064439"/>
              <a:ext cx="730670" cy="16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D985565-4566-45A8-8CC2-61BAC48DB7C8}"/>
                </a:ext>
              </a:extLst>
            </p:cNvPr>
            <p:cNvCxnSpPr>
              <a:cxnSpLocks/>
              <a:stCxn id="9" idx="1"/>
              <a:endCxn id="8" idx="3"/>
            </p:cNvCxnSpPr>
            <p:nvPr/>
          </p:nvCxnSpPr>
          <p:spPr>
            <a:xfrm flipH="1" flipV="1">
              <a:off x="9033468" y="6064439"/>
              <a:ext cx="730670" cy="1624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41" name="Rectangle 3">
            <a:extLst>
              <a:ext uri="{FF2B5EF4-FFF2-40B4-BE49-F238E27FC236}">
                <a16:creationId xmlns:a16="http://schemas.microsoft.com/office/drawing/2014/main" id="{87EE5131-9302-4BEB-9DF3-5F814484C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5" y="1828800"/>
            <a:ext cx="8334375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2: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	 Multidimensional DBMS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Components of a MDB include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Relational DBMS to store detailed data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MDDB server to store aggregate data (contains base data, pre-calculated results stored in MD array and an indexing structure required to store the data)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Metadata (local data definitions and semantics in business terms)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6A547E9-FC55-4730-8242-906C7FA8D6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CF738A-8C36-413B-B6D3-ED3C3E9DC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5BCFC-F2A0-4D7B-8E55-6F67F42AE114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A5BCB1-117D-4F60-B5FD-D3178991A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4D4636-D12F-4F97-B3BB-43116C888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35</a:t>
            </a:fld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9" name="Rectangle 3">
            <a:extLst>
              <a:ext uri="{FF2B5EF4-FFF2-40B4-BE49-F238E27FC236}">
                <a16:creationId xmlns:a16="http://schemas.microsoft.com/office/drawing/2014/main" id="{AB87E9DC-E5A8-4DB6-B864-B7FF7240FC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1828801"/>
            <a:ext cx="8239125" cy="39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2: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Multidimensional DBMS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Multidimensional viewer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Types of data stored in a multidimensional array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base data - historical data that have not been aggregated into arrays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pre-computed aggregates or summaries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derived or calculated data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indexes used to locate blocks of data in the array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It typically takes 8-10 hours to pre-compute aggregated data, derived data and indexes for a larger multidimensional array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7D18342C-438A-4A71-A622-DA77E3609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ACC74A-5B7E-48EA-9264-3A3783AF7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A575BE-7E96-473A-B4F0-63161F0C0389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8151EC-AD90-4BD0-9DD5-0566376B9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E8CFBD-B792-4E59-85C2-9D521AED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36</a:t>
            </a:fld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7" name="Rectangle 3">
            <a:extLst>
              <a:ext uri="{FF2B5EF4-FFF2-40B4-BE49-F238E27FC236}">
                <a16:creationId xmlns:a16="http://schemas.microsoft.com/office/drawing/2014/main" id="{2570A51B-6840-4519-9E44-501A2EE49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8825" y="1828801"/>
            <a:ext cx="8734425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2: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	 Multidimensional DBMS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Strengths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High performance (sub-second response to queries and OLAP analysis), sophisticated multidimensional calculations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Optimized for OLAP and not constrained by limitations of SQL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Support for several complex DSS queries (e.g., trend analysis, drill down, etc.)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Advanced indexing options (B-Trees and bitmaps)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No complex RDBMS functions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AA05D2B0-BB61-442C-839C-CF8BD4C02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BEC64-EC35-4F69-8676-F8FD96B3C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F2895-8361-40AD-9D71-DE1669E46584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9DD18-8AD5-4A2E-B4D0-63BBA1E6D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7A4CC-D896-4E4E-A372-1601BBB77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37</a:t>
            </a:fld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5" name="Rectangle 3">
            <a:extLst>
              <a:ext uri="{FF2B5EF4-FFF2-40B4-BE49-F238E27FC236}">
                <a16:creationId xmlns:a16="http://schemas.microsoft.com/office/drawing/2014/main" id="{1C52EC53-82B4-4BC2-8D37-A4DB8AC27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1175" y="1828800"/>
            <a:ext cx="9610725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2: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	 Multidimensional DBMS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Limitations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Requires yet another proprietary DB solution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Max size of 3 GB of raw data, which may expand by a factor of 10 to 100 for calculated data.  Size limit is due to time to pre-compute.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Most MDBs cannot load data incrementally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Static, pre-computed dimensions and calculations.  Lack of support for dynamic changes in dimension structure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Lack of standard multidimensional model or access method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1EE98366-0C66-4AB9-B322-C5B11602C2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857CBF-4581-4856-B1D0-6F0DDCB4C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E12FE8-265F-4FB4-93BA-69FD738FB661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1B9CF1-7DBA-4F55-9759-B7D09F0CE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FD001-C8CA-4DA8-BB7C-CC21BD7A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38</a:t>
            </a:fld>
            <a:endParaRPr 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3" name="Rectangle 3">
            <a:extLst>
              <a:ext uri="{FF2B5EF4-FFF2-40B4-BE49-F238E27FC236}">
                <a16:creationId xmlns:a16="http://schemas.microsoft.com/office/drawing/2014/main" id="{E78FF531-2CCE-4111-BEE9-36999CEEE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66900" y="1828801"/>
            <a:ext cx="9421784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2: 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Multidimensional DBMS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Examples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SAS Multidimensional Database Server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Focus/Fusion from Information Builders, etc.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Essbase from Hyperion Solutions Corp.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6733A231-75D3-4DD6-A49B-1B4D3A74E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D2F9D9-2F8F-4994-BC05-FD8641AA6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18EB0C-194A-459F-A3D6-597F2ECBA2CE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B4B94-5EA5-4A9A-BC46-AD51F331C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A9B70B-56D0-44CF-865B-E4DB8BAA8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39</a:t>
            </a:fld>
            <a:endParaRPr lang="en-U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7" name="Rectangle 3">
            <a:extLst>
              <a:ext uri="{FF2B5EF4-FFF2-40B4-BE49-F238E27FC236}">
                <a16:creationId xmlns:a16="http://schemas.microsoft.com/office/drawing/2014/main" id="{FFB98986-3C87-4772-8538-FB3468FA5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28800"/>
            <a:ext cx="9620250" cy="36009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Choice 3:</a:t>
            </a:r>
            <a:r>
              <a:rPr lang="en-US" altLang="en-US" sz="2400" b="1" i="1" dirty="0">
                <a:latin typeface="Times New Roman" panose="02020603050405020304" pitchFamily="18" charset="0"/>
              </a:rPr>
              <a:t>	 Hybrid OLAP (HOLAP)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Combination of RDBMS and MDB (best of both worlds), controlled by OLAP server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RDBMS used for detailed data stored in large databases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MDB used for fast, read/write OLAP analysis and calculations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OLAP server routes queries to either RDBMS or MDB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Result set form RDBMS may be processed on-the-fly in server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Examples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Microsoft SQL Server OLAP Services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IBM DB2 OLAP Server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03D2CB46-1DF8-4C6C-A15F-7BE2AA5CAC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DD527A-FEE2-42C6-9C50-A2A0FF52C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62DC26F-161B-4AC3-9529-C955650094B1}" type="datetime1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7BFCFC-AB85-4D30-BA38-34A5AAC0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Copyright (c) Arun Sen Texas A&amp;M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E1FAEF-2804-44F2-B733-9782E85C8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EB9B208-317E-451A-9B7B-F240F58E3699}" type="slidenum">
              <a:rPr lang="en-US" altLang="en-US" smtClean="0"/>
              <a:pPr>
                <a:defRPr/>
              </a:pPr>
              <a:t>40</a:t>
            </a:fld>
            <a:endParaRPr lang="en-US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5" name="Rectangle 3">
            <a:extLst>
              <a:ext uri="{FF2B5EF4-FFF2-40B4-BE49-F238E27FC236}">
                <a16:creationId xmlns:a16="http://schemas.microsoft.com/office/drawing/2014/main" id="{E8E1D94E-F28D-463B-88A6-059EBC832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28801"/>
            <a:ext cx="9563100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b="1" dirty="0">
                <a:solidFill>
                  <a:srgbClr val="C00000"/>
                </a:solidFill>
                <a:latin typeface="Times New Roman" panose="02020603050405020304" pitchFamily="18" charset="0"/>
              </a:rPr>
              <a:t>Selection of Target DBMS for DW/DM</a:t>
            </a: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400" b="1" dirty="0">
                <a:latin typeface="Times New Roman" panose="02020603050405020304" pitchFamily="18" charset="0"/>
              </a:rPr>
              <a:t>Recommendations </a:t>
            </a:r>
            <a:endParaRPr lang="en-US" altLang="en-US" sz="2000" i="1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Use RDBMS and ROLAP tools to provide multidimensional views of large relational target databases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Use RDBS features, such as parallelization, and bit-mapped indexes, to provide acceptable performance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Use MDB for high-performance analysis of moderate size databases.  MDBs are often used for data marts.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Use hybrid approach for applications that require access to detail data and fast OLAP computations.</a:t>
            </a:r>
            <a:endParaRPr lang="en-US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394BED9-1031-4311-9683-ABF5748E1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21FA21-1E3D-46A7-BB24-844F69F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DA0A37-BE92-44B5-80BD-C5DB92C50A23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5891C0-BBC7-4AFC-9A4F-4A83E0491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914B2-A580-42E7-97E3-4E09E6B03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41</a:t>
            </a:fld>
            <a:endParaRPr 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3" name="Rectangle 3">
            <a:extLst>
              <a:ext uri="{FF2B5EF4-FFF2-40B4-BE49-F238E27FC236}">
                <a16:creationId xmlns:a16="http://schemas.microsoft.com/office/drawing/2014/main" id="{BC4431B2-DDAE-4520-A023-C0721324E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604" y="1940770"/>
            <a:ext cx="9382125" cy="3847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Tahoma" panose="020B0604030504040204" pitchFamily="34" charset="0"/>
              </a:rPr>
              <a:t>4.2.   Front Room Technical Architecture</a:t>
            </a:r>
            <a:endParaRPr lang="en-US" altLang="en-US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This is the public face of the warehouse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Data Access Service is needed to help people get the information they need from the warehouse </a:t>
            </a: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Components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Types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Access Tool Data Stores (temporary storage)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Standard Reporting Data Stores 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Personal Data Marts 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Disposable Data Marts</a:t>
            </a:r>
          </a:p>
          <a:p>
            <a:pPr lvl="4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Application Models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144BA1EE-30CD-4A7B-941E-6327AAC325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69B11C-0219-473B-84FF-EA3EDBCD3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3DD50-6674-4EE1-AD0E-54A6C9A1CD83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FD2DB9-A625-41C8-BC71-BBA01BA59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5C2C88-FE13-4D4E-9C61-7FD1CF723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42</a:t>
            </a:fld>
            <a:endParaRPr 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1" name="Rectangle 3">
            <a:extLst>
              <a:ext uri="{FF2B5EF4-FFF2-40B4-BE49-F238E27FC236}">
                <a16:creationId xmlns:a16="http://schemas.microsoft.com/office/drawing/2014/main" id="{76E6E093-DBBC-475C-A3D2-F93D8FDAC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025" y="1828800"/>
            <a:ext cx="9564659" cy="421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dirty="0">
                <a:solidFill>
                  <a:srgbClr val="C00000"/>
                </a:solidFill>
                <a:latin typeface="Tahoma" panose="020B0604030504040204" pitchFamily="34" charset="0"/>
              </a:rPr>
              <a:t>4.2.   Focusing on Front Room Technical Architecture</a:t>
            </a:r>
            <a:endParaRPr lang="en-US" altLang="en-US" sz="1600" dirty="0">
              <a:solidFill>
                <a:srgbClr val="C00000"/>
              </a:solidFill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Services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Remember that there are different user types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Warehouse browsing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Activity monitoring 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Query management 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Standard reporting 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Data access tool capabilities (include OLAP tools, data mining, data 	visualization, and other data access tools)</a:t>
            </a:r>
          </a:p>
          <a:p>
            <a:pPr lvl="3">
              <a:spcBef>
                <a:spcPct val="0"/>
              </a:spcBef>
              <a:buClrTx/>
              <a:buSzTx/>
              <a:buFont typeface="Symbol" panose="05050102010706020507" pitchFamily="18" charset="2"/>
              <a:buChar char="·"/>
            </a:pPr>
            <a:r>
              <a:rPr lang="en-US" altLang="en-US" sz="2000" dirty="0">
                <a:latin typeface="Times New Roman" panose="02020603050405020304" pitchFamily="18" charset="0"/>
              </a:rPr>
              <a:t>Web implications of data access</a:t>
            </a:r>
          </a:p>
          <a:p>
            <a:pPr lvl="3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 b="1" dirty="0">
              <a:latin typeface="Times New Roman" panose="02020603050405020304" pitchFamily="18" charset="0"/>
            </a:endParaRPr>
          </a:p>
          <a:p>
            <a:pPr lvl="1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  <a:p>
            <a:pPr lvl="2">
              <a:spcBef>
                <a:spcPct val="0"/>
              </a:spcBef>
              <a:buClrTx/>
              <a:buSzTx/>
              <a:buFont typeface="Symbol" panose="05050102010706020507" pitchFamily="18" charset="2"/>
              <a:buNone/>
            </a:pPr>
            <a:endParaRPr lang="en-US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572DE980-ECDE-46C9-B954-7D1AC2598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650" y="304800"/>
            <a:ext cx="9898034" cy="96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ts val="6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 sz="2400">
                <a:solidFill>
                  <a:schemeClr val="tx1"/>
                </a:solidFill>
                <a:latin typeface="Century Schoolbook" panose="020406040505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80000"/>
              <a:buFont typeface="Wingdings 2" panose="05020102010507070707" pitchFamily="18" charset="2"/>
              <a:buChar char=""/>
              <a:defRPr sz="2100">
                <a:solidFill>
                  <a:schemeClr val="tx1"/>
                </a:solidFill>
                <a:latin typeface="Century Schoolbook" panose="020406040505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rgbClr val="E0752F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rgbClr val="FEC3AE"/>
              </a:buClr>
              <a:buSzPct val="60000"/>
              <a:buFont typeface="Wingdings" panose="05000000000000000000" pitchFamily="2" charset="2"/>
              <a:buChar char=""/>
              <a:defRPr>
                <a:solidFill>
                  <a:schemeClr val="tx1"/>
                </a:solidFill>
                <a:latin typeface="Century Schoolbook" panose="020406040505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DCAE9"/>
              </a:buClr>
              <a:buSzPct val="68000"/>
              <a:buFont typeface="Wingdings 2" panose="05020102010507070707" pitchFamily="18" charset="2"/>
              <a:buChar char=""/>
              <a:defRPr sz="1600">
                <a:solidFill>
                  <a:schemeClr val="tx1"/>
                </a:solidFill>
                <a:latin typeface="Century Schoolbook" panose="020406040505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900" b="1" dirty="0">
                <a:solidFill>
                  <a:srgbClr val="C00000"/>
                </a:solidFill>
                <a:latin typeface="Tahoma" panose="020B0604030504040204" pitchFamily="34" charset="0"/>
              </a:rPr>
              <a:t>Task 2.  Choice of Data Warehouse Architecture</a:t>
            </a:r>
            <a:endParaRPr lang="en-US" altLang="en-US" sz="2500" b="1" dirty="0">
              <a:solidFill>
                <a:srgbClr val="C00000"/>
              </a:solidFill>
              <a:latin typeface="Tahoma" panose="020B060403050404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AB9B2A-058D-4676-9A91-544B34CC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A166-FB23-49E6-855A-41F79C80D4F0}" type="datetime1">
              <a:rPr lang="en-US" smtClean="0"/>
              <a:t>2/1/2026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3A0197-16AA-4DE7-AF5E-60691C34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(c) Arun Sen Texas A&amp;M University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F9409-D8FB-4184-B46F-1D3A3A28B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43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4460</TotalTime>
  <Words>4055</Words>
  <Application>Microsoft Office PowerPoint</Application>
  <PresentationFormat>Widescreen</PresentationFormat>
  <Paragraphs>625</Paragraphs>
  <Slides>43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Calibri Light</vt:lpstr>
      <vt:lpstr>Century Gothic</vt:lpstr>
      <vt:lpstr>Perpetua</vt:lpstr>
      <vt:lpstr>Symbol</vt:lpstr>
      <vt:lpstr>Tahoma</vt:lpstr>
      <vt:lpstr>Times New Roman</vt:lpstr>
      <vt:lpstr>Retrospect</vt:lpstr>
      <vt:lpstr>       Task 2.  choice of architecture in  Data Warehousing Process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Tasks in Data Warehousing Process</dc:title>
  <dc:creator>Sen, Arun</dc:creator>
  <cp:lastModifiedBy>Arun Sen</cp:lastModifiedBy>
  <cp:revision>99</cp:revision>
  <dcterms:created xsi:type="dcterms:W3CDTF">2021-06-01T20:42:09Z</dcterms:created>
  <dcterms:modified xsi:type="dcterms:W3CDTF">2026-02-02T00:08:00Z</dcterms:modified>
</cp:coreProperties>
</file>