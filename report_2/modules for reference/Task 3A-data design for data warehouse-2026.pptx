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1" r:id="rId1"/>
  </p:sldMasterIdLst>
  <p:notesMasterIdLst>
    <p:notesMasterId r:id="rId94"/>
  </p:notesMasterIdLst>
  <p:handoutMasterIdLst>
    <p:handoutMasterId r:id="rId95"/>
  </p:handoutMasterIdLst>
  <p:sldIdLst>
    <p:sldId id="256" r:id="rId2"/>
    <p:sldId id="522" r:id="rId3"/>
    <p:sldId id="275" r:id="rId4"/>
    <p:sldId id="274" r:id="rId5"/>
    <p:sldId id="390" r:id="rId6"/>
    <p:sldId id="491" r:id="rId7"/>
    <p:sldId id="523" r:id="rId8"/>
    <p:sldId id="517" r:id="rId9"/>
    <p:sldId id="519" r:id="rId10"/>
    <p:sldId id="518" r:id="rId11"/>
    <p:sldId id="520" r:id="rId12"/>
    <p:sldId id="380" r:id="rId13"/>
    <p:sldId id="429" r:id="rId14"/>
    <p:sldId id="432" r:id="rId15"/>
    <p:sldId id="433" r:id="rId16"/>
    <p:sldId id="430" r:id="rId17"/>
    <p:sldId id="431" r:id="rId18"/>
    <p:sldId id="492" r:id="rId19"/>
    <p:sldId id="524" r:id="rId20"/>
    <p:sldId id="315" r:id="rId21"/>
    <p:sldId id="381" r:id="rId22"/>
    <p:sldId id="513" r:id="rId23"/>
    <p:sldId id="382" r:id="rId24"/>
    <p:sldId id="383" r:id="rId25"/>
    <p:sldId id="385" r:id="rId26"/>
    <p:sldId id="495" r:id="rId27"/>
    <p:sldId id="387" r:id="rId28"/>
    <p:sldId id="386" r:id="rId29"/>
    <p:sldId id="509" r:id="rId30"/>
    <p:sldId id="510" r:id="rId31"/>
    <p:sldId id="397" r:id="rId32"/>
    <p:sldId id="388" r:id="rId33"/>
    <p:sldId id="486" r:id="rId34"/>
    <p:sldId id="394" r:id="rId35"/>
    <p:sldId id="485" r:id="rId36"/>
    <p:sldId id="395" r:id="rId37"/>
    <p:sldId id="396" r:id="rId38"/>
    <p:sldId id="488" r:id="rId39"/>
    <p:sldId id="443" r:id="rId40"/>
    <p:sldId id="489" r:id="rId41"/>
    <p:sldId id="490" r:id="rId42"/>
    <p:sldId id="391" r:id="rId43"/>
    <p:sldId id="392" r:id="rId44"/>
    <p:sldId id="511" r:id="rId45"/>
    <p:sldId id="512" r:id="rId46"/>
    <p:sldId id="393" r:id="rId47"/>
    <p:sldId id="384" r:id="rId48"/>
    <p:sldId id="398" r:id="rId49"/>
    <p:sldId id="399" r:id="rId50"/>
    <p:sldId id="400" r:id="rId51"/>
    <p:sldId id="401" r:id="rId52"/>
    <p:sldId id="406" r:id="rId53"/>
    <p:sldId id="402" r:id="rId54"/>
    <p:sldId id="404" r:id="rId55"/>
    <p:sldId id="405" r:id="rId56"/>
    <p:sldId id="322" r:id="rId57"/>
    <p:sldId id="407" r:id="rId58"/>
    <p:sldId id="408" r:id="rId59"/>
    <p:sldId id="444" r:id="rId60"/>
    <p:sldId id="412" r:id="rId61"/>
    <p:sldId id="525" r:id="rId62"/>
    <p:sldId id="410" r:id="rId63"/>
    <p:sldId id="413" r:id="rId64"/>
    <p:sldId id="416" r:id="rId65"/>
    <p:sldId id="414" r:id="rId66"/>
    <p:sldId id="496" r:id="rId67"/>
    <p:sldId id="417" r:id="rId68"/>
    <p:sldId id="418" r:id="rId69"/>
    <p:sldId id="484" r:id="rId70"/>
    <p:sldId id="419" r:id="rId71"/>
    <p:sldId id="420" r:id="rId72"/>
    <p:sldId id="421" r:id="rId73"/>
    <p:sldId id="422" r:id="rId74"/>
    <p:sldId id="526" r:id="rId75"/>
    <p:sldId id="409" r:id="rId76"/>
    <p:sldId id="514" r:id="rId77"/>
    <p:sldId id="515" r:id="rId78"/>
    <p:sldId id="516" r:id="rId79"/>
    <p:sldId id="423" r:id="rId80"/>
    <p:sldId id="424" r:id="rId81"/>
    <p:sldId id="497" r:id="rId82"/>
    <p:sldId id="498" r:id="rId83"/>
    <p:sldId id="499" r:id="rId84"/>
    <p:sldId id="500" r:id="rId85"/>
    <p:sldId id="501" r:id="rId86"/>
    <p:sldId id="502" r:id="rId87"/>
    <p:sldId id="505" r:id="rId88"/>
    <p:sldId id="503" r:id="rId89"/>
    <p:sldId id="504" r:id="rId90"/>
    <p:sldId id="506" r:id="rId91"/>
    <p:sldId id="507" r:id="rId92"/>
    <p:sldId id="508" r:id="rId9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e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96" autoAdjust="0"/>
    <p:restoredTop sz="94660"/>
  </p:normalViewPr>
  <p:slideViewPr>
    <p:cSldViewPr snapToGrid="0">
      <p:cViewPr varScale="1">
        <p:scale>
          <a:sx n="98" d="100"/>
          <a:sy n="98" d="100"/>
        </p:scale>
        <p:origin x="120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C93F7C-9321-4EE7-9207-1360FA6988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E65E8CE-2FF7-4DB5-ACCD-31F9B146FE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6/1/2021</a:t>
            </a:r>
          </a:p>
        </p:txBody>
      </p:sp>
      <p:sp>
        <p:nvSpPr>
          <p:cNvPr id="4" name="Footer Placeholder 3">
            <a:extLst>
              <a:ext uri="{FF2B5EF4-FFF2-40B4-BE49-F238E27FC236}">
                <a16:creationId xmlns:a16="http://schemas.microsoft.com/office/drawing/2014/main" id="{5600C2E8-8FC1-4081-9B10-60593EB27B5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F7F13FB-0351-4C97-B399-34DF69722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C4CABC-5F2D-4D27-8A5D-09800E473BCB}" type="slidenum">
              <a:rPr lang="en-US" smtClean="0"/>
              <a:t>‹#›</a:t>
            </a:fld>
            <a:endParaRPr lang="en-US"/>
          </a:p>
        </p:txBody>
      </p:sp>
    </p:spTree>
    <p:extLst>
      <p:ext uri="{BB962C8B-B14F-4D97-AF65-F5344CB8AC3E}">
        <p14:creationId xmlns:p14="http://schemas.microsoft.com/office/powerpoint/2010/main" val="270059092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6/1/2021</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AD520-69ED-4815-A760-D3BDB7B68195}" type="slidenum">
              <a:rPr lang="en-US" smtClean="0"/>
              <a:t>‹#›</a:t>
            </a:fld>
            <a:endParaRPr lang="en-US"/>
          </a:p>
        </p:txBody>
      </p:sp>
    </p:spTree>
    <p:extLst>
      <p:ext uri="{BB962C8B-B14F-4D97-AF65-F5344CB8AC3E}">
        <p14:creationId xmlns:p14="http://schemas.microsoft.com/office/powerpoint/2010/main" val="2213853455"/>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3462EE5-37C5-E7F6-7006-A6C296CDAAF8}"/>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BB9650F3-5404-8A9F-3AC0-121391E459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a:extLst>
              <a:ext uri="{FF2B5EF4-FFF2-40B4-BE49-F238E27FC236}">
                <a16:creationId xmlns:a16="http://schemas.microsoft.com/office/drawing/2014/main" id="{16A6737F-C5BD-ED71-016C-855958AC40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3131E53-5111-45EE-8C25-38911F7ABA69}" type="slidenum">
              <a:rPr lang="en-US" altLang="en-US" smtClean="0"/>
              <a:pPr fontAlgn="base">
                <a:spcBef>
                  <a:spcPct val="0"/>
                </a:spcBef>
                <a:spcAft>
                  <a:spcPct val="0"/>
                </a:spcAft>
              </a:pPr>
              <a:t>3</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E01BAD28-FE07-0294-27C1-A9AB7C1AD6B6}"/>
              </a:ext>
            </a:extLst>
          </p:cNvPr>
          <p:cNvSpPr>
            <a:spLocks noGrp="1" noRot="1" noChangeAspect="1" noChangeArrowheads="1" noTextEdit="1"/>
          </p:cNvSpPr>
          <p:nvPr>
            <p:ph type="sldImg"/>
          </p:nvPr>
        </p:nvSpPr>
        <p:spPr>
          <a:ln/>
        </p:spPr>
      </p:sp>
      <p:sp>
        <p:nvSpPr>
          <p:cNvPr id="13315" name="Notes Placeholder 2">
            <a:extLst>
              <a:ext uri="{FF2B5EF4-FFF2-40B4-BE49-F238E27FC236}">
                <a16:creationId xmlns:a16="http://schemas.microsoft.com/office/drawing/2014/main" id="{642DF70D-D93A-68CF-43FA-84B83AB4E8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316" name="Slide Number Placeholder 3">
            <a:extLst>
              <a:ext uri="{FF2B5EF4-FFF2-40B4-BE49-F238E27FC236}">
                <a16:creationId xmlns:a16="http://schemas.microsoft.com/office/drawing/2014/main" id="{3C0F9D4C-F675-B20B-9C52-32981E2D0B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FD890A5E-5A13-48A8-B1BE-0D07A48B567E}" type="slidenum">
              <a:rPr lang="en-US" altLang="en-US" smtClean="0"/>
              <a:pPr fontAlgn="base">
                <a:spcBef>
                  <a:spcPct val="0"/>
                </a:spcBef>
                <a:spcAft>
                  <a:spcPct val="0"/>
                </a:spcAft>
              </a:pPr>
              <a:t>4</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69773B84-F3FB-4B02-A482-4C1D923EFC3C}"/>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a16="http://schemas.microsoft.com/office/drawing/2014/main" id="{C6CAAB55-9917-E9F1-E205-D47DD15BA2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5364" name="Slide Number Placeholder 3">
            <a:extLst>
              <a:ext uri="{FF2B5EF4-FFF2-40B4-BE49-F238E27FC236}">
                <a16:creationId xmlns:a16="http://schemas.microsoft.com/office/drawing/2014/main" id="{5579AAD4-8402-691C-E803-30DC00FFC94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3F2089E-1C94-4D97-AB1A-2F4B1ED4D76D}" type="slidenum">
              <a:rPr lang="en-US" altLang="en-US" smtClean="0"/>
              <a:pPr fontAlgn="base">
                <a:spcBef>
                  <a:spcPct val="0"/>
                </a:spcBef>
                <a:spcAft>
                  <a:spcPct val="0"/>
                </a:spcAft>
              </a:pPr>
              <a:t>5</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A626EAB-F8A2-4E9E-D561-57CFD1726309}"/>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C60E9CC2-FCFF-3BE0-ECB2-081A3AFD07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412" name="Slide Number Placeholder 3">
            <a:extLst>
              <a:ext uri="{FF2B5EF4-FFF2-40B4-BE49-F238E27FC236}">
                <a16:creationId xmlns:a16="http://schemas.microsoft.com/office/drawing/2014/main" id="{C6870BAD-3045-68B7-1B05-D81C985200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8079CB61-4B78-4C6A-AFB7-9081CC9D02AC}" type="slidenum">
              <a:rPr lang="en-US" altLang="en-US" smtClean="0"/>
              <a:pPr fontAlgn="base">
                <a:spcBef>
                  <a:spcPct val="0"/>
                </a:spcBef>
                <a:spcAft>
                  <a:spcPct val="0"/>
                </a:spcAft>
              </a:pPr>
              <a:t>6</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D5D39FEC-31F1-7E23-EA5B-411D7724F8ED}"/>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56078E56-D535-E348-9637-DC99867356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5AA80063-5E99-988C-AF4C-8D1464BA2B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148951C8-86F9-428A-93C2-2DA6FC310159}" type="slidenum">
              <a:rPr lang="en-US" altLang="en-US" smtClean="0"/>
              <a:pPr fontAlgn="base">
                <a:spcBef>
                  <a:spcPct val="0"/>
                </a:spcBef>
                <a:spcAft>
                  <a:spcPct val="0"/>
                </a:spcAft>
              </a:pPr>
              <a:t>7</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037CD56-9F18-8C38-FB55-53A88820C9FD}"/>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23CF84DB-A0EB-0406-B635-63B64E6341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1508" name="Slide Number Placeholder 3">
            <a:extLst>
              <a:ext uri="{FF2B5EF4-FFF2-40B4-BE49-F238E27FC236}">
                <a16:creationId xmlns:a16="http://schemas.microsoft.com/office/drawing/2014/main" id="{EA3D8AAF-54B6-A64D-3857-85B0264605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E7BA7B1-DFA7-463C-B069-19506A3CE7FD}" type="slidenum">
              <a:rPr lang="en-US" altLang="en-US" smtClean="0"/>
              <a:pPr fontAlgn="base">
                <a:spcBef>
                  <a:spcPct val="0"/>
                </a:spcBef>
                <a:spcAft>
                  <a:spcPct val="0"/>
                </a:spcAft>
              </a:pPr>
              <a:t>8</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47B3C68C-A210-035A-1842-E8BBC1BB3389}"/>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AE075FB2-2E8B-B4BE-96FC-54B1EFC959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3556" name="Slide Number Placeholder 3">
            <a:extLst>
              <a:ext uri="{FF2B5EF4-FFF2-40B4-BE49-F238E27FC236}">
                <a16:creationId xmlns:a16="http://schemas.microsoft.com/office/drawing/2014/main" id="{8C4D7818-1A62-7A4B-8343-C2CDD0C34F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4EC18447-9426-4E60-8B98-15C74FD5231D}" type="slidenum">
              <a:rPr lang="en-US" altLang="en-US" smtClean="0"/>
              <a:pPr fontAlgn="base">
                <a:spcBef>
                  <a:spcPct val="0"/>
                </a:spcBef>
                <a:spcAft>
                  <a:spcPct val="0"/>
                </a:spcAft>
              </a:pPr>
              <a:t>9</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F14553FA-5838-2E89-329A-81BE3F046F0E}"/>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06A2F184-D81C-1971-FB06-B406C05AE0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5604" name="Slide Number Placeholder 3">
            <a:extLst>
              <a:ext uri="{FF2B5EF4-FFF2-40B4-BE49-F238E27FC236}">
                <a16:creationId xmlns:a16="http://schemas.microsoft.com/office/drawing/2014/main" id="{9ED0BDD5-D596-4FA6-F6FC-A9EF76CFE7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96C9A4F-770E-4304-B7C6-8CC286653805}" type="slidenum">
              <a:rPr lang="en-US" altLang="en-US" smtClean="0"/>
              <a:pPr fontAlgn="base">
                <a:spcBef>
                  <a:spcPct val="0"/>
                </a:spcBef>
                <a:spcAft>
                  <a:spcPct val="0"/>
                </a:spcAft>
              </a:pPr>
              <a:t>10</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BA3130F7-F0C3-21DA-727A-436319901305}"/>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B0D8E6AD-9DF9-91E0-0A8A-CF93D8312E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2" name="Slide Number Placeholder 3">
            <a:extLst>
              <a:ext uri="{FF2B5EF4-FFF2-40B4-BE49-F238E27FC236}">
                <a16:creationId xmlns:a16="http://schemas.microsoft.com/office/drawing/2014/main" id="{3EA59516-F58E-D5C5-787F-BDD563519E2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82BB102-7170-48D2-8473-1C8EAA14FA4D}" type="slidenum">
              <a:rPr lang="en-US" altLang="en-US" smtClean="0"/>
              <a:pPr fontAlgn="base">
                <a:spcBef>
                  <a:spcPct val="0"/>
                </a:spcBef>
                <a:spcAft>
                  <a:spcPct val="0"/>
                </a:spcAft>
              </a:pPr>
              <a:t>11</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BEE2488E-4B27-3C12-51B7-8B0820E422D6}"/>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46169393-42CF-7C88-A295-35116F6217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9700" name="Slide Number Placeholder 3">
            <a:extLst>
              <a:ext uri="{FF2B5EF4-FFF2-40B4-BE49-F238E27FC236}">
                <a16:creationId xmlns:a16="http://schemas.microsoft.com/office/drawing/2014/main" id="{67349009-5E03-91EB-9B49-97FA5CADC6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B0252A7-93CC-45ED-8A0A-53F25B2F8717}" type="slidenum">
              <a:rPr lang="en-US" altLang="en-US" smtClean="0"/>
              <a:pPr fontAlgn="base">
                <a:spcBef>
                  <a:spcPct val="0"/>
                </a:spcBef>
                <a:spcAft>
                  <a:spcPct val="0"/>
                </a:spcAft>
              </a:pPr>
              <a:t>12</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5BC144B2-4A37-9B93-5F9D-E3ECCD012129}"/>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56BF0EBF-421E-FC80-0505-3A9879984F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1748" name="Slide Number Placeholder 3">
            <a:extLst>
              <a:ext uri="{FF2B5EF4-FFF2-40B4-BE49-F238E27FC236}">
                <a16:creationId xmlns:a16="http://schemas.microsoft.com/office/drawing/2014/main" id="{9C86D330-49D9-4ADB-C2A9-09F3BC17EB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F4C4FD2D-6108-424A-8393-53CFBB1DBD8E}" type="slidenum">
              <a:rPr lang="en-US" altLang="en-US" smtClean="0"/>
              <a:pPr fontAlgn="base">
                <a:spcBef>
                  <a:spcPct val="0"/>
                </a:spcBef>
                <a:spcAft>
                  <a:spcPct val="0"/>
                </a:spcAft>
              </a:pPr>
              <a:t>13</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6F980858-8307-D119-F7DC-2456180BE448}"/>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DCADE90D-029D-50CA-CE5F-5AE4A212E8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3796" name="Slide Number Placeholder 3">
            <a:extLst>
              <a:ext uri="{FF2B5EF4-FFF2-40B4-BE49-F238E27FC236}">
                <a16:creationId xmlns:a16="http://schemas.microsoft.com/office/drawing/2014/main" id="{7CF01EAC-241C-BCBA-07A6-B75B115FEE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62B0463-3130-42BE-BBCD-6588D029438B}" type="slidenum">
              <a:rPr lang="en-US" altLang="en-US" smtClean="0"/>
              <a:pPr fontAlgn="base">
                <a:spcBef>
                  <a:spcPct val="0"/>
                </a:spcBef>
                <a:spcAft>
                  <a:spcPct val="0"/>
                </a:spcAft>
              </a:pPr>
              <a:t>14</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FF15F319-F925-B854-EC3B-7A6C9DA197D9}"/>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A2BCCA54-4F4A-A685-36AB-9A5660E134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5844" name="Slide Number Placeholder 3">
            <a:extLst>
              <a:ext uri="{FF2B5EF4-FFF2-40B4-BE49-F238E27FC236}">
                <a16:creationId xmlns:a16="http://schemas.microsoft.com/office/drawing/2014/main" id="{56F3374F-A529-A3CE-AF4C-16B3B12D4E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CB9BDB4-7540-4758-A0D0-CF7EF3293C56}" type="slidenum">
              <a:rPr lang="en-US" altLang="en-US" smtClean="0"/>
              <a:pPr fontAlgn="base">
                <a:spcBef>
                  <a:spcPct val="0"/>
                </a:spcBef>
                <a:spcAft>
                  <a:spcPct val="0"/>
                </a:spcAft>
              </a:pPr>
              <a:t>15</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0809C0AD-9583-1422-BD47-044FDE1A0C44}"/>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9D7070C7-F4D2-1D4F-4572-2A0EF70E71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7892" name="Slide Number Placeholder 3">
            <a:extLst>
              <a:ext uri="{FF2B5EF4-FFF2-40B4-BE49-F238E27FC236}">
                <a16:creationId xmlns:a16="http://schemas.microsoft.com/office/drawing/2014/main" id="{3A89DE3D-7ECC-9EFC-F3DE-55F9921719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7ECF2C1-F57B-40E4-BE55-4248C34A4E5B}" type="slidenum">
              <a:rPr lang="en-US" altLang="en-US" smtClean="0"/>
              <a:pPr fontAlgn="base">
                <a:spcBef>
                  <a:spcPct val="0"/>
                </a:spcBef>
                <a:spcAft>
                  <a:spcPct val="0"/>
                </a:spcAft>
              </a:pPr>
              <a:t>16</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6CBC2BA1-C86F-E8FE-A42E-94FC0AD26C3B}"/>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33739CE0-E022-AE52-6333-E37451B0C0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9940" name="Slide Number Placeholder 3">
            <a:extLst>
              <a:ext uri="{FF2B5EF4-FFF2-40B4-BE49-F238E27FC236}">
                <a16:creationId xmlns:a16="http://schemas.microsoft.com/office/drawing/2014/main" id="{4B9C9A16-402E-F58C-834E-DA2E42C2F1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F08E623-4204-4E70-A61A-529D3D38CAAB}" type="slidenum">
              <a:rPr lang="en-US" altLang="en-US" smtClean="0"/>
              <a:pPr fontAlgn="base">
                <a:spcBef>
                  <a:spcPct val="0"/>
                </a:spcBef>
                <a:spcAft>
                  <a:spcPct val="0"/>
                </a:spcAft>
              </a:pPr>
              <a:t>17</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ADFA4158-5324-6A43-E46D-BE650A3D2F5B}"/>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CB9F78CF-AC70-EA1A-1C43-B437EFA9B4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1988" name="Slide Number Placeholder 3">
            <a:extLst>
              <a:ext uri="{FF2B5EF4-FFF2-40B4-BE49-F238E27FC236}">
                <a16:creationId xmlns:a16="http://schemas.microsoft.com/office/drawing/2014/main" id="{0614EAB9-740C-CE8E-6E10-10E1BB245D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DD8DAB9-431A-4B28-B3D1-0D0143602F70}" type="slidenum">
              <a:rPr lang="en-US" altLang="en-US" smtClean="0"/>
              <a:pPr fontAlgn="base">
                <a:spcBef>
                  <a:spcPct val="0"/>
                </a:spcBef>
                <a:spcAft>
                  <a:spcPct val="0"/>
                </a:spcAft>
              </a:pPr>
              <a:t>18</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4AEBCEE5-BA41-2F9F-36BF-09B4F59DE2DC}"/>
              </a:ext>
            </a:extLst>
          </p:cNvPr>
          <p:cNvSpPr>
            <a:spLocks noGrp="1" noRot="1" noChangeAspect="1" noChangeArrowheads="1" noTextEdit="1"/>
          </p:cNvSpPr>
          <p:nvPr>
            <p:ph type="sldImg"/>
          </p:nvPr>
        </p:nvSpPr>
        <p:spPr>
          <a:ln/>
        </p:spPr>
      </p:sp>
      <p:sp>
        <p:nvSpPr>
          <p:cNvPr id="45059" name="Notes Placeholder 2">
            <a:extLst>
              <a:ext uri="{FF2B5EF4-FFF2-40B4-BE49-F238E27FC236}">
                <a16:creationId xmlns:a16="http://schemas.microsoft.com/office/drawing/2014/main" id="{7FEC4A89-5C0B-12C6-E625-2EFF11C127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a:extLst>
              <a:ext uri="{FF2B5EF4-FFF2-40B4-BE49-F238E27FC236}">
                <a16:creationId xmlns:a16="http://schemas.microsoft.com/office/drawing/2014/main" id="{47288DCF-F1E7-D0D2-B0EB-23FA48D3FB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F6EB4D80-0CB0-4C4D-BF46-968215EC6296}" type="slidenum">
              <a:rPr lang="en-US" altLang="en-US" smtClean="0"/>
              <a:pPr fontAlgn="base">
                <a:spcBef>
                  <a:spcPct val="0"/>
                </a:spcBef>
                <a:spcAft>
                  <a:spcPct val="0"/>
                </a:spcAft>
              </a:pPr>
              <a:t>20</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F46189AA-0FD4-41D7-84E8-00653A9D17B2}"/>
              </a:ext>
            </a:extLst>
          </p:cNvPr>
          <p:cNvSpPr>
            <a:spLocks noGrp="1" noRot="1" noChangeAspect="1" noChangeArrowheads="1" noTextEdit="1"/>
          </p:cNvSpPr>
          <p:nvPr>
            <p:ph type="sldImg"/>
          </p:nvPr>
        </p:nvSpPr>
        <p:spPr>
          <a:ln/>
        </p:spPr>
      </p:sp>
      <p:sp>
        <p:nvSpPr>
          <p:cNvPr id="47107" name="Notes Placeholder 2">
            <a:extLst>
              <a:ext uri="{FF2B5EF4-FFF2-40B4-BE49-F238E27FC236}">
                <a16:creationId xmlns:a16="http://schemas.microsoft.com/office/drawing/2014/main" id="{6A3224C0-D630-BC5F-2E0F-10C7C3BDC5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8" name="Slide Number Placeholder 3">
            <a:extLst>
              <a:ext uri="{FF2B5EF4-FFF2-40B4-BE49-F238E27FC236}">
                <a16:creationId xmlns:a16="http://schemas.microsoft.com/office/drawing/2014/main" id="{DAFD33A9-8AA8-DF09-00C5-A882C2A955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FDBA4FF-7C90-4E2B-A190-56F8A0DEABA7}" type="slidenum">
              <a:rPr lang="en-US" altLang="en-US" smtClean="0"/>
              <a:pPr fontAlgn="base">
                <a:spcBef>
                  <a:spcPct val="0"/>
                </a:spcBef>
                <a:spcAft>
                  <a:spcPct val="0"/>
                </a:spcAft>
              </a:pPr>
              <a:t>21</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94E36833-EDA9-3133-829B-C4FFD8AFACCD}"/>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00D464FA-BD2F-EB4B-F6E7-9B344A73F5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a:extLst>
              <a:ext uri="{FF2B5EF4-FFF2-40B4-BE49-F238E27FC236}">
                <a16:creationId xmlns:a16="http://schemas.microsoft.com/office/drawing/2014/main" id="{3959215E-5D5E-34A0-86A6-F2C1D65FF1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EE1A0D8-7E9C-4B9D-A4C2-D5AC90A66918}" type="slidenum">
              <a:rPr lang="en-US" altLang="en-US" smtClean="0"/>
              <a:pPr fontAlgn="base">
                <a:spcBef>
                  <a:spcPct val="0"/>
                </a:spcBef>
                <a:spcAft>
                  <a:spcPct val="0"/>
                </a:spcAft>
              </a:pPr>
              <a:t>22</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72C12052-491B-EFF2-4FD3-CD0D49B3A667}"/>
              </a:ext>
            </a:extLst>
          </p:cNvPr>
          <p:cNvSpPr>
            <a:spLocks noGrp="1" noRot="1" noChangeAspect="1" noChangeArrowheads="1" noTextEdit="1"/>
          </p:cNvSpPr>
          <p:nvPr>
            <p:ph type="sldImg"/>
          </p:nvPr>
        </p:nvSpPr>
        <p:spPr>
          <a:ln/>
        </p:spPr>
      </p:sp>
      <p:sp>
        <p:nvSpPr>
          <p:cNvPr id="51203" name="Notes Placeholder 2">
            <a:extLst>
              <a:ext uri="{FF2B5EF4-FFF2-40B4-BE49-F238E27FC236}">
                <a16:creationId xmlns:a16="http://schemas.microsoft.com/office/drawing/2014/main" id="{DBEB28CE-A09C-996C-A302-4E4D7F88C4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1204" name="Slide Number Placeholder 3">
            <a:extLst>
              <a:ext uri="{FF2B5EF4-FFF2-40B4-BE49-F238E27FC236}">
                <a16:creationId xmlns:a16="http://schemas.microsoft.com/office/drawing/2014/main" id="{215A60F6-AA01-7533-67C7-BB21D0CE73B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D59579E-C8FD-47B8-B067-7FBED574CA8B}" type="slidenum">
              <a:rPr lang="en-US" altLang="en-US" smtClean="0"/>
              <a:pPr fontAlgn="base">
                <a:spcBef>
                  <a:spcPct val="0"/>
                </a:spcBef>
                <a:spcAft>
                  <a:spcPct val="0"/>
                </a:spcAft>
              </a:pPr>
              <a:t>23</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EEA3A5D1-7DB2-9721-0E6C-671C2ED0488C}"/>
              </a:ext>
            </a:extLst>
          </p:cNvPr>
          <p:cNvSpPr>
            <a:spLocks noGrp="1" noRot="1" noChangeAspect="1" noChangeArrowheads="1" noTextEdit="1"/>
          </p:cNvSpPr>
          <p:nvPr>
            <p:ph type="sldImg"/>
          </p:nvPr>
        </p:nvSpPr>
        <p:spPr>
          <a:ln/>
        </p:spPr>
      </p:sp>
      <p:sp>
        <p:nvSpPr>
          <p:cNvPr id="53251" name="Notes Placeholder 2">
            <a:extLst>
              <a:ext uri="{FF2B5EF4-FFF2-40B4-BE49-F238E27FC236}">
                <a16:creationId xmlns:a16="http://schemas.microsoft.com/office/drawing/2014/main" id="{450843AD-94F4-EF25-96AA-D589F08F96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3252" name="Slide Number Placeholder 3">
            <a:extLst>
              <a:ext uri="{FF2B5EF4-FFF2-40B4-BE49-F238E27FC236}">
                <a16:creationId xmlns:a16="http://schemas.microsoft.com/office/drawing/2014/main" id="{15ECBEEE-BA8A-9961-99A1-5A9874E3FC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2241E9F-B1C7-47FE-8909-AFA5BB8D0EA9}" type="slidenum">
              <a:rPr lang="en-US" altLang="en-US" smtClean="0"/>
              <a:pPr fontAlgn="base">
                <a:spcBef>
                  <a:spcPct val="0"/>
                </a:spcBef>
                <a:spcAft>
                  <a:spcPct val="0"/>
                </a:spcAft>
              </a:pPr>
              <a:t>24</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00A7889A-EE33-E9EC-51A4-3B7E1AA51B76}"/>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9746FB0E-FADF-28DB-6F12-A9EFB3F777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5300" name="Slide Number Placeholder 3">
            <a:extLst>
              <a:ext uri="{FF2B5EF4-FFF2-40B4-BE49-F238E27FC236}">
                <a16:creationId xmlns:a16="http://schemas.microsoft.com/office/drawing/2014/main" id="{93ABD54B-3980-DFB2-4807-96626FEFE4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C967ABD-EEE7-4793-868F-6628818E0A39}" type="slidenum">
              <a:rPr lang="en-US" altLang="en-US" smtClean="0"/>
              <a:pPr fontAlgn="base">
                <a:spcBef>
                  <a:spcPct val="0"/>
                </a:spcBef>
                <a:spcAft>
                  <a:spcPct val="0"/>
                </a:spcAft>
              </a:pPr>
              <a:t>25</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F3F1C35B-091E-3D52-A8A6-13ED67373639}"/>
              </a:ext>
            </a:extLst>
          </p:cNvPr>
          <p:cNvSpPr>
            <a:spLocks noGrp="1" noRot="1" noChangeAspect="1" noChangeArrowheads="1" noTextEdit="1"/>
          </p:cNvSpPr>
          <p:nvPr>
            <p:ph type="sldImg"/>
          </p:nvPr>
        </p:nvSpPr>
        <p:spPr>
          <a:ln/>
        </p:spPr>
      </p:sp>
      <p:sp>
        <p:nvSpPr>
          <p:cNvPr id="57347" name="Notes Placeholder 2">
            <a:extLst>
              <a:ext uri="{FF2B5EF4-FFF2-40B4-BE49-F238E27FC236}">
                <a16:creationId xmlns:a16="http://schemas.microsoft.com/office/drawing/2014/main" id="{A5070B4B-F961-2B14-B854-348557653CC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7348" name="Slide Number Placeholder 3">
            <a:extLst>
              <a:ext uri="{FF2B5EF4-FFF2-40B4-BE49-F238E27FC236}">
                <a16:creationId xmlns:a16="http://schemas.microsoft.com/office/drawing/2014/main" id="{AF34A0F1-84F7-AB69-D0DE-2E1C9BE216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AB5158F8-9FD4-47E1-9FA5-F3E74874B7A5}" type="slidenum">
              <a:rPr lang="en-US" altLang="en-US" smtClean="0"/>
              <a:pPr fontAlgn="base">
                <a:spcBef>
                  <a:spcPct val="0"/>
                </a:spcBef>
                <a:spcAft>
                  <a:spcPct val="0"/>
                </a:spcAft>
              </a:pPr>
              <a:t>26</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203CEFFA-08E5-D76F-76C7-CADADCDD78ED}"/>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08495A50-40D3-6E42-2DEF-BA1C6D9690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9396" name="Slide Number Placeholder 3">
            <a:extLst>
              <a:ext uri="{FF2B5EF4-FFF2-40B4-BE49-F238E27FC236}">
                <a16:creationId xmlns:a16="http://schemas.microsoft.com/office/drawing/2014/main" id="{0355D8CA-6F40-AA30-BF45-7AB0D2DDC1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AE6D126-D195-4CD5-9ED2-A68F037EF467}" type="slidenum">
              <a:rPr lang="en-US" altLang="en-US" smtClean="0"/>
              <a:pPr fontAlgn="base">
                <a:spcBef>
                  <a:spcPct val="0"/>
                </a:spcBef>
                <a:spcAft>
                  <a:spcPct val="0"/>
                </a:spcAft>
              </a:pPr>
              <a:t>27</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37912C6B-EF6A-996B-964B-E764FAECBF20}"/>
              </a:ext>
            </a:extLst>
          </p:cNvPr>
          <p:cNvSpPr>
            <a:spLocks noGrp="1" noRot="1" noChangeAspect="1" noChangeArrowheads="1" noTextEdit="1"/>
          </p:cNvSpPr>
          <p:nvPr>
            <p:ph type="sldImg"/>
          </p:nvPr>
        </p:nvSpPr>
        <p:spPr>
          <a:ln/>
        </p:spPr>
      </p:sp>
      <p:sp>
        <p:nvSpPr>
          <p:cNvPr id="61443" name="Notes Placeholder 2">
            <a:extLst>
              <a:ext uri="{FF2B5EF4-FFF2-40B4-BE49-F238E27FC236}">
                <a16:creationId xmlns:a16="http://schemas.microsoft.com/office/drawing/2014/main" id="{B3BE2455-0421-9AA2-66E8-E97C39CC99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1444" name="Slide Number Placeholder 3">
            <a:extLst>
              <a:ext uri="{FF2B5EF4-FFF2-40B4-BE49-F238E27FC236}">
                <a16:creationId xmlns:a16="http://schemas.microsoft.com/office/drawing/2014/main" id="{9DE895F0-9FDC-481A-11B5-B0A304EDB6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35696F0-5A56-4415-8E71-F919B34E94E9}" type="slidenum">
              <a:rPr lang="en-US" altLang="en-US" smtClean="0"/>
              <a:pPr fontAlgn="base">
                <a:spcBef>
                  <a:spcPct val="0"/>
                </a:spcBef>
                <a:spcAft>
                  <a:spcPct val="0"/>
                </a:spcAft>
              </a:pPr>
              <a:t>28</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94CF273F-8F8B-3493-9436-DC75ADE8AB39}"/>
              </a:ext>
            </a:extLst>
          </p:cNvPr>
          <p:cNvSpPr>
            <a:spLocks noGrp="1" noRot="1" noChangeAspect="1" noChangeArrowheads="1" noTextEdit="1"/>
          </p:cNvSpPr>
          <p:nvPr>
            <p:ph type="sldImg"/>
          </p:nvPr>
        </p:nvSpPr>
        <p:spPr>
          <a:ln/>
        </p:spPr>
      </p:sp>
      <p:sp>
        <p:nvSpPr>
          <p:cNvPr id="63491" name="Notes Placeholder 2">
            <a:extLst>
              <a:ext uri="{FF2B5EF4-FFF2-40B4-BE49-F238E27FC236}">
                <a16:creationId xmlns:a16="http://schemas.microsoft.com/office/drawing/2014/main" id="{B56198B0-6E3B-0D5C-9721-83B03C2170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a:extLst>
              <a:ext uri="{FF2B5EF4-FFF2-40B4-BE49-F238E27FC236}">
                <a16:creationId xmlns:a16="http://schemas.microsoft.com/office/drawing/2014/main" id="{26A5E0F2-EDE0-15B6-3F58-5F75E66230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4E3EA55-40F6-422F-97CF-10712AF19ED8}" type="slidenum">
              <a:rPr lang="en-US" altLang="en-US" smtClean="0"/>
              <a:pPr fontAlgn="base">
                <a:spcBef>
                  <a:spcPct val="0"/>
                </a:spcBef>
                <a:spcAft>
                  <a:spcPct val="0"/>
                </a:spcAft>
              </a:pPr>
              <a:t>29</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5EC998E2-94F4-EE3C-B563-5FCF4673B7C6}"/>
              </a:ext>
            </a:extLst>
          </p:cNvPr>
          <p:cNvSpPr>
            <a:spLocks noGrp="1" noRot="1" noChangeAspect="1" noChangeArrowheads="1" noTextEdit="1"/>
          </p:cNvSpPr>
          <p:nvPr>
            <p:ph type="sldImg"/>
          </p:nvPr>
        </p:nvSpPr>
        <p:spPr>
          <a:ln/>
        </p:spPr>
      </p:sp>
      <p:sp>
        <p:nvSpPr>
          <p:cNvPr id="65539" name="Notes Placeholder 2">
            <a:extLst>
              <a:ext uri="{FF2B5EF4-FFF2-40B4-BE49-F238E27FC236}">
                <a16:creationId xmlns:a16="http://schemas.microsoft.com/office/drawing/2014/main" id="{36629AE5-4442-7EB5-F1ED-EE19208648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5540" name="Slide Number Placeholder 3">
            <a:extLst>
              <a:ext uri="{FF2B5EF4-FFF2-40B4-BE49-F238E27FC236}">
                <a16:creationId xmlns:a16="http://schemas.microsoft.com/office/drawing/2014/main" id="{39A67774-1DC0-6641-057A-45A87D196B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B24F0BB8-5440-4DD0-91E7-3BC6443955CE}" type="slidenum">
              <a:rPr lang="en-US" altLang="en-US" smtClean="0"/>
              <a:pPr fontAlgn="base">
                <a:spcBef>
                  <a:spcPct val="0"/>
                </a:spcBef>
                <a:spcAft>
                  <a:spcPct val="0"/>
                </a:spcAft>
              </a:pPr>
              <a:t>30</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48CFF959-9680-9DCC-191B-82DEB728887A}"/>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a16="http://schemas.microsoft.com/office/drawing/2014/main" id="{E98ABB7A-A757-F8DF-8B0A-BDA2E1F8031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7588" name="Slide Number Placeholder 3">
            <a:extLst>
              <a:ext uri="{FF2B5EF4-FFF2-40B4-BE49-F238E27FC236}">
                <a16:creationId xmlns:a16="http://schemas.microsoft.com/office/drawing/2014/main" id="{EAE3DB98-A103-BC5D-3CD6-D829390427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C9C3230-A833-4A83-A9E9-FA31BC786E99}" type="slidenum">
              <a:rPr lang="en-US" altLang="en-US" smtClean="0"/>
              <a:pPr fontAlgn="base">
                <a:spcBef>
                  <a:spcPct val="0"/>
                </a:spcBef>
                <a:spcAft>
                  <a:spcPct val="0"/>
                </a:spcAft>
              </a:pPr>
              <a:t>31</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AB1A1D30-FD9D-1F8C-FD13-895941475FBA}"/>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a16="http://schemas.microsoft.com/office/drawing/2014/main" id="{8B5C36AA-EC1B-BD6F-65D2-11B048C6A6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9636" name="Slide Number Placeholder 3">
            <a:extLst>
              <a:ext uri="{FF2B5EF4-FFF2-40B4-BE49-F238E27FC236}">
                <a16:creationId xmlns:a16="http://schemas.microsoft.com/office/drawing/2014/main" id="{35F509E6-01E4-E242-DC16-1DBD327ABA4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FD865C4-5083-45E8-AEF3-B7FAD7C8B702}" type="slidenum">
              <a:rPr lang="en-US" altLang="en-US" smtClean="0"/>
              <a:pPr fontAlgn="base">
                <a:spcBef>
                  <a:spcPct val="0"/>
                </a:spcBef>
                <a:spcAft>
                  <a:spcPct val="0"/>
                </a:spcAft>
              </a:pPr>
              <a:t>32</a:t>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81D1EE82-17E8-BC3D-5F0E-4214F8C80F9D}"/>
              </a:ext>
            </a:extLst>
          </p:cNvPr>
          <p:cNvSpPr>
            <a:spLocks noGrp="1" noRot="1" noChangeAspect="1" noChangeArrowheads="1" noTextEdit="1"/>
          </p:cNvSpPr>
          <p:nvPr>
            <p:ph type="sldImg"/>
          </p:nvPr>
        </p:nvSpPr>
        <p:spPr>
          <a:ln/>
        </p:spPr>
      </p:sp>
      <p:sp>
        <p:nvSpPr>
          <p:cNvPr id="75779" name="Notes Placeholder 2">
            <a:extLst>
              <a:ext uri="{FF2B5EF4-FFF2-40B4-BE49-F238E27FC236}">
                <a16:creationId xmlns:a16="http://schemas.microsoft.com/office/drawing/2014/main" id="{034EFCE4-E1BE-7D27-57FC-B420F8EB21B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5780" name="Slide Number Placeholder 3">
            <a:extLst>
              <a:ext uri="{FF2B5EF4-FFF2-40B4-BE49-F238E27FC236}">
                <a16:creationId xmlns:a16="http://schemas.microsoft.com/office/drawing/2014/main" id="{FC664D26-FFF6-439F-1A88-07430B6FF5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7AA8E61-9667-413B-ACD4-C7D67209BDBD}" type="slidenum">
              <a:rPr lang="en-US" altLang="en-US" smtClean="0"/>
              <a:pPr fontAlgn="base">
                <a:spcBef>
                  <a:spcPct val="0"/>
                </a:spcBef>
                <a:spcAft>
                  <a:spcPct val="0"/>
                </a:spcAft>
              </a:pPr>
              <a:t>33</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F18CF3DD-D466-1180-4B50-86454D0EE6A3}"/>
              </a:ext>
            </a:extLst>
          </p:cNvPr>
          <p:cNvSpPr>
            <a:spLocks noGrp="1" noRot="1" noChangeAspect="1" noChangeArrowheads="1" noTextEdit="1"/>
          </p:cNvSpPr>
          <p:nvPr>
            <p:ph type="sldImg"/>
          </p:nvPr>
        </p:nvSpPr>
        <p:spPr>
          <a:ln/>
        </p:spPr>
      </p:sp>
      <p:sp>
        <p:nvSpPr>
          <p:cNvPr id="71683" name="Notes Placeholder 2">
            <a:extLst>
              <a:ext uri="{FF2B5EF4-FFF2-40B4-BE49-F238E27FC236}">
                <a16:creationId xmlns:a16="http://schemas.microsoft.com/office/drawing/2014/main" id="{D2E34D49-6D40-0C03-2802-F11E89E202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684" name="Slide Number Placeholder 3">
            <a:extLst>
              <a:ext uri="{FF2B5EF4-FFF2-40B4-BE49-F238E27FC236}">
                <a16:creationId xmlns:a16="http://schemas.microsoft.com/office/drawing/2014/main" id="{2E4DF550-AC89-06AE-3A1A-F8FCDA61C7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F68AFBE0-F175-4C01-9EFE-0BF45E6DF9C9}" type="slidenum">
              <a:rPr lang="en-US" altLang="en-US" smtClean="0"/>
              <a:pPr fontAlgn="base">
                <a:spcBef>
                  <a:spcPct val="0"/>
                </a:spcBef>
                <a:spcAft>
                  <a:spcPct val="0"/>
                </a:spcAft>
              </a:pPr>
              <a:t>34</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04F52004-9852-8A25-33B4-746FE1C98ACD}"/>
              </a:ext>
            </a:extLst>
          </p:cNvPr>
          <p:cNvSpPr>
            <a:spLocks noGrp="1" noRot="1" noChangeAspect="1" noChangeArrowheads="1" noTextEdit="1"/>
          </p:cNvSpPr>
          <p:nvPr>
            <p:ph type="sldImg"/>
          </p:nvPr>
        </p:nvSpPr>
        <p:spPr>
          <a:ln/>
        </p:spPr>
      </p:sp>
      <p:sp>
        <p:nvSpPr>
          <p:cNvPr id="73731" name="Notes Placeholder 2">
            <a:extLst>
              <a:ext uri="{FF2B5EF4-FFF2-40B4-BE49-F238E27FC236}">
                <a16:creationId xmlns:a16="http://schemas.microsoft.com/office/drawing/2014/main" id="{BCBC28F4-12F4-D53E-AB9C-823A916A62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3732" name="Slide Number Placeholder 3">
            <a:extLst>
              <a:ext uri="{FF2B5EF4-FFF2-40B4-BE49-F238E27FC236}">
                <a16:creationId xmlns:a16="http://schemas.microsoft.com/office/drawing/2014/main" id="{F932679A-BCA6-8DB0-D9F8-6D72703595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0BEAAD6-71BE-44B0-80EC-A10325E27FA9}" type="slidenum">
              <a:rPr lang="en-US" altLang="en-US" smtClean="0"/>
              <a:pPr fontAlgn="base">
                <a:spcBef>
                  <a:spcPct val="0"/>
                </a:spcBef>
                <a:spcAft>
                  <a:spcPct val="0"/>
                </a:spcAft>
              </a:pPr>
              <a:t>35</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47C9D2AB-8CA2-86B1-52CA-7A90A6EF5A78}"/>
              </a:ext>
            </a:extLst>
          </p:cNvPr>
          <p:cNvSpPr>
            <a:spLocks noGrp="1" noRot="1" noChangeAspect="1" noChangeArrowheads="1" noTextEdit="1"/>
          </p:cNvSpPr>
          <p:nvPr>
            <p:ph type="sldImg"/>
          </p:nvPr>
        </p:nvSpPr>
        <p:spPr>
          <a:ln/>
        </p:spPr>
      </p:sp>
      <p:sp>
        <p:nvSpPr>
          <p:cNvPr id="77827" name="Notes Placeholder 2">
            <a:extLst>
              <a:ext uri="{FF2B5EF4-FFF2-40B4-BE49-F238E27FC236}">
                <a16:creationId xmlns:a16="http://schemas.microsoft.com/office/drawing/2014/main" id="{459ACC98-7739-AB38-189B-04DB7C91F2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7828" name="Slide Number Placeholder 3">
            <a:extLst>
              <a:ext uri="{FF2B5EF4-FFF2-40B4-BE49-F238E27FC236}">
                <a16:creationId xmlns:a16="http://schemas.microsoft.com/office/drawing/2014/main" id="{36C16F2D-677C-A5E2-0A7A-BCB281A5F0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0E942FC-658D-4567-826C-10F3F2D50F1F}" type="slidenum">
              <a:rPr lang="en-US" altLang="en-US" smtClean="0"/>
              <a:pPr fontAlgn="base">
                <a:spcBef>
                  <a:spcPct val="0"/>
                </a:spcBef>
                <a:spcAft>
                  <a:spcPct val="0"/>
                </a:spcAft>
              </a:pPr>
              <a:t>36</a:t>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BE12C6AB-271F-A796-7224-3E721007FFB7}"/>
              </a:ext>
            </a:extLst>
          </p:cNvPr>
          <p:cNvSpPr>
            <a:spLocks noGrp="1" noRot="1" noChangeAspect="1" noChangeArrowheads="1" noTextEdit="1"/>
          </p:cNvSpPr>
          <p:nvPr>
            <p:ph type="sldImg"/>
          </p:nvPr>
        </p:nvSpPr>
        <p:spPr>
          <a:ln/>
        </p:spPr>
      </p:sp>
      <p:sp>
        <p:nvSpPr>
          <p:cNvPr id="79875" name="Notes Placeholder 2">
            <a:extLst>
              <a:ext uri="{FF2B5EF4-FFF2-40B4-BE49-F238E27FC236}">
                <a16:creationId xmlns:a16="http://schemas.microsoft.com/office/drawing/2014/main" id="{6DBC17D2-645E-1DFC-51CF-3AF2BDDFA8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9876" name="Slide Number Placeholder 3">
            <a:extLst>
              <a:ext uri="{FF2B5EF4-FFF2-40B4-BE49-F238E27FC236}">
                <a16:creationId xmlns:a16="http://schemas.microsoft.com/office/drawing/2014/main" id="{0676A0EC-E363-A0F5-F40F-049CEF37585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D3AB8D0-CFD3-43D5-834E-7FE0CAEE9BB9}" type="slidenum">
              <a:rPr lang="en-US" altLang="en-US" smtClean="0"/>
              <a:pPr fontAlgn="base">
                <a:spcBef>
                  <a:spcPct val="0"/>
                </a:spcBef>
                <a:spcAft>
                  <a:spcPct val="0"/>
                </a:spcAft>
              </a:pPr>
              <a:t>37</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20B52D34-E75F-4456-E634-806D182850C6}"/>
              </a:ext>
            </a:extLst>
          </p:cNvPr>
          <p:cNvSpPr>
            <a:spLocks noGrp="1" noRot="1" noChangeAspect="1" noChangeArrowheads="1" noTextEdit="1"/>
          </p:cNvSpPr>
          <p:nvPr>
            <p:ph type="sldImg"/>
          </p:nvPr>
        </p:nvSpPr>
        <p:spPr>
          <a:ln/>
        </p:spPr>
      </p:sp>
      <p:sp>
        <p:nvSpPr>
          <p:cNvPr id="81923" name="Notes Placeholder 2">
            <a:extLst>
              <a:ext uri="{FF2B5EF4-FFF2-40B4-BE49-F238E27FC236}">
                <a16:creationId xmlns:a16="http://schemas.microsoft.com/office/drawing/2014/main" id="{BAF01D9C-114E-388D-A760-A2A6A96A7E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1924" name="Slide Number Placeholder 3">
            <a:extLst>
              <a:ext uri="{FF2B5EF4-FFF2-40B4-BE49-F238E27FC236}">
                <a16:creationId xmlns:a16="http://schemas.microsoft.com/office/drawing/2014/main" id="{E618C3FD-DF35-E652-D62C-4FDF6A0E15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DFDA941F-554C-4B61-AD6A-7E61611BA32F}" type="slidenum">
              <a:rPr lang="en-US" altLang="en-US" smtClean="0"/>
              <a:pPr fontAlgn="base">
                <a:spcBef>
                  <a:spcPct val="0"/>
                </a:spcBef>
                <a:spcAft>
                  <a:spcPct val="0"/>
                </a:spcAft>
              </a:pPr>
              <a:t>38</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BF1CF565-C5B8-C772-5650-BD8189C7460D}"/>
              </a:ext>
            </a:extLst>
          </p:cNvPr>
          <p:cNvSpPr>
            <a:spLocks noGrp="1" noRot="1" noChangeAspect="1" noChangeArrowheads="1" noTextEdit="1"/>
          </p:cNvSpPr>
          <p:nvPr>
            <p:ph type="sldImg"/>
          </p:nvPr>
        </p:nvSpPr>
        <p:spPr>
          <a:ln/>
        </p:spPr>
      </p:sp>
      <p:sp>
        <p:nvSpPr>
          <p:cNvPr id="83971" name="Notes Placeholder 2">
            <a:extLst>
              <a:ext uri="{FF2B5EF4-FFF2-40B4-BE49-F238E27FC236}">
                <a16:creationId xmlns:a16="http://schemas.microsoft.com/office/drawing/2014/main" id="{5C0E9F65-42B3-F00B-587F-9C1D360D8F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3972" name="Slide Number Placeholder 3">
            <a:extLst>
              <a:ext uri="{FF2B5EF4-FFF2-40B4-BE49-F238E27FC236}">
                <a16:creationId xmlns:a16="http://schemas.microsoft.com/office/drawing/2014/main" id="{E751F3B6-BFB3-0EB5-5C35-458E75B8CA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57152A6-244C-4988-8906-96052CE89ED2}" type="slidenum">
              <a:rPr lang="en-US" altLang="en-US" smtClean="0"/>
              <a:pPr fontAlgn="base">
                <a:spcBef>
                  <a:spcPct val="0"/>
                </a:spcBef>
                <a:spcAft>
                  <a:spcPct val="0"/>
                </a:spcAft>
              </a:pPr>
              <a:t>39</a:t>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558F7557-520F-7BAB-6956-FA7254815947}"/>
              </a:ext>
            </a:extLst>
          </p:cNvPr>
          <p:cNvSpPr>
            <a:spLocks noGrp="1" noRot="1" noChangeAspect="1" noChangeArrowheads="1" noTextEdit="1"/>
          </p:cNvSpPr>
          <p:nvPr>
            <p:ph type="sldImg"/>
          </p:nvPr>
        </p:nvSpPr>
        <p:spPr>
          <a:ln/>
        </p:spPr>
      </p:sp>
      <p:sp>
        <p:nvSpPr>
          <p:cNvPr id="86019" name="Notes Placeholder 2">
            <a:extLst>
              <a:ext uri="{FF2B5EF4-FFF2-40B4-BE49-F238E27FC236}">
                <a16:creationId xmlns:a16="http://schemas.microsoft.com/office/drawing/2014/main" id="{542D47E2-FDCC-260A-8106-776077505A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6020" name="Slide Number Placeholder 3">
            <a:extLst>
              <a:ext uri="{FF2B5EF4-FFF2-40B4-BE49-F238E27FC236}">
                <a16:creationId xmlns:a16="http://schemas.microsoft.com/office/drawing/2014/main" id="{431953CE-5BDD-F9F5-0BC2-6B3563B92F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22EE9D3-A80B-4078-8F71-B0C17B38F4FD}" type="slidenum">
              <a:rPr lang="en-US" altLang="en-US" smtClean="0"/>
              <a:pPr fontAlgn="base">
                <a:spcBef>
                  <a:spcPct val="0"/>
                </a:spcBef>
                <a:spcAft>
                  <a:spcPct val="0"/>
                </a:spcAft>
              </a:pPr>
              <a:t>40</a:t>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43CD3E20-2584-CB88-6C14-B25215B863F6}"/>
              </a:ext>
            </a:extLst>
          </p:cNvPr>
          <p:cNvSpPr>
            <a:spLocks noGrp="1" noRot="1" noChangeAspect="1" noChangeArrowheads="1" noTextEdit="1"/>
          </p:cNvSpPr>
          <p:nvPr>
            <p:ph type="sldImg"/>
          </p:nvPr>
        </p:nvSpPr>
        <p:spPr>
          <a:ln/>
        </p:spPr>
      </p:sp>
      <p:sp>
        <p:nvSpPr>
          <p:cNvPr id="88067" name="Notes Placeholder 2">
            <a:extLst>
              <a:ext uri="{FF2B5EF4-FFF2-40B4-BE49-F238E27FC236}">
                <a16:creationId xmlns:a16="http://schemas.microsoft.com/office/drawing/2014/main" id="{8873887A-B8CB-BB5D-4EE2-2D7EF8EA62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8068" name="Slide Number Placeholder 3">
            <a:extLst>
              <a:ext uri="{FF2B5EF4-FFF2-40B4-BE49-F238E27FC236}">
                <a16:creationId xmlns:a16="http://schemas.microsoft.com/office/drawing/2014/main" id="{887D6704-1D56-7932-5191-30D823E88D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D5B017C6-91C6-4754-A824-FB4B9CC47709}" type="slidenum">
              <a:rPr lang="en-US" altLang="en-US" smtClean="0"/>
              <a:pPr fontAlgn="base">
                <a:spcBef>
                  <a:spcPct val="0"/>
                </a:spcBef>
                <a:spcAft>
                  <a:spcPct val="0"/>
                </a:spcAft>
              </a:pPr>
              <a:t>41</a:t>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A0C231F5-0B61-6801-25AF-36DB186B32B8}"/>
              </a:ext>
            </a:extLst>
          </p:cNvPr>
          <p:cNvSpPr>
            <a:spLocks noGrp="1" noRot="1" noChangeAspect="1" noChangeArrowheads="1" noTextEdit="1"/>
          </p:cNvSpPr>
          <p:nvPr>
            <p:ph type="sldImg"/>
          </p:nvPr>
        </p:nvSpPr>
        <p:spPr>
          <a:ln/>
        </p:spPr>
      </p:sp>
      <p:sp>
        <p:nvSpPr>
          <p:cNvPr id="90115" name="Notes Placeholder 2">
            <a:extLst>
              <a:ext uri="{FF2B5EF4-FFF2-40B4-BE49-F238E27FC236}">
                <a16:creationId xmlns:a16="http://schemas.microsoft.com/office/drawing/2014/main" id="{AF16A11A-D33A-3B64-1852-9B2F2C89D8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0116" name="Slide Number Placeholder 3">
            <a:extLst>
              <a:ext uri="{FF2B5EF4-FFF2-40B4-BE49-F238E27FC236}">
                <a16:creationId xmlns:a16="http://schemas.microsoft.com/office/drawing/2014/main" id="{9AD50903-C997-0946-616C-F2B142AD9B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68EC389-AA61-4A99-A0C1-90D79CD9CD03}" type="slidenum">
              <a:rPr lang="en-US" altLang="en-US" smtClean="0"/>
              <a:pPr fontAlgn="base">
                <a:spcBef>
                  <a:spcPct val="0"/>
                </a:spcBef>
                <a:spcAft>
                  <a:spcPct val="0"/>
                </a:spcAft>
              </a:pPr>
              <a:t>42</a:t>
            </a:fld>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1161B519-197D-05F9-E18B-E7960A0866CA}"/>
              </a:ext>
            </a:extLst>
          </p:cNvPr>
          <p:cNvSpPr>
            <a:spLocks noGrp="1" noRot="1" noChangeAspect="1" noChangeArrowheads="1" noTextEdit="1"/>
          </p:cNvSpPr>
          <p:nvPr>
            <p:ph type="sldImg"/>
          </p:nvPr>
        </p:nvSpPr>
        <p:spPr>
          <a:ln/>
        </p:spPr>
      </p:sp>
      <p:sp>
        <p:nvSpPr>
          <p:cNvPr id="92163" name="Notes Placeholder 2">
            <a:extLst>
              <a:ext uri="{FF2B5EF4-FFF2-40B4-BE49-F238E27FC236}">
                <a16:creationId xmlns:a16="http://schemas.microsoft.com/office/drawing/2014/main" id="{98C7C84D-5D3F-0D15-18A5-E0A14B140C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164" name="Slide Number Placeholder 3">
            <a:extLst>
              <a:ext uri="{FF2B5EF4-FFF2-40B4-BE49-F238E27FC236}">
                <a16:creationId xmlns:a16="http://schemas.microsoft.com/office/drawing/2014/main" id="{CCC48614-0DAC-50E1-0D8B-302CFD9718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A37F6077-0B50-4F54-948F-729321D2FB20}" type="slidenum">
              <a:rPr lang="en-US" altLang="en-US" smtClean="0"/>
              <a:pPr fontAlgn="base">
                <a:spcBef>
                  <a:spcPct val="0"/>
                </a:spcBef>
                <a:spcAft>
                  <a:spcPct val="0"/>
                </a:spcAft>
              </a:pPr>
              <a:t>43</a:t>
            </a:fld>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ED31FDA0-010B-1477-E2EB-6335683E8245}"/>
              </a:ext>
            </a:extLst>
          </p:cNvPr>
          <p:cNvSpPr>
            <a:spLocks noGrp="1" noRot="1" noChangeAspect="1" noChangeArrowheads="1" noTextEdit="1"/>
          </p:cNvSpPr>
          <p:nvPr>
            <p:ph type="sldImg"/>
          </p:nvPr>
        </p:nvSpPr>
        <p:spPr>
          <a:ln/>
        </p:spPr>
      </p:sp>
      <p:sp>
        <p:nvSpPr>
          <p:cNvPr id="94211" name="Notes Placeholder 2">
            <a:extLst>
              <a:ext uri="{FF2B5EF4-FFF2-40B4-BE49-F238E27FC236}">
                <a16:creationId xmlns:a16="http://schemas.microsoft.com/office/drawing/2014/main" id="{AED3105C-A7DB-7944-EFD6-A248F87DDC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4212" name="Slide Number Placeholder 3">
            <a:extLst>
              <a:ext uri="{FF2B5EF4-FFF2-40B4-BE49-F238E27FC236}">
                <a16:creationId xmlns:a16="http://schemas.microsoft.com/office/drawing/2014/main" id="{C43FC529-F6BD-889C-5BDD-C431B11107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1807DDA-51ED-4745-8A21-9C76814B155A}" type="slidenum">
              <a:rPr lang="en-US" altLang="en-US" smtClean="0"/>
              <a:pPr fontAlgn="base">
                <a:spcBef>
                  <a:spcPct val="0"/>
                </a:spcBef>
                <a:spcAft>
                  <a:spcPct val="0"/>
                </a:spcAft>
              </a:pPr>
              <a:t>44</a:t>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343DF710-9B29-AEFE-8F3E-809E05537197}"/>
              </a:ext>
            </a:extLst>
          </p:cNvPr>
          <p:cNvSpPr>
            <a:spLocks noGrp="1" noRot="1" noChangeAspect="1" noChangeArrowheads="1" noTextEdit="1"/>
          </p:cNvSpPr>
          <p:nvPr>
            <p:ph type="sldImg"/>
          </p:nvPr>
        </p:nvSpPr>
        <p:spPr>
          <a:ln/>
        </p:spPr>
      </p:sp>
      <p:sp>
        <p:nvSpPr>
          <p:cNvPr id="96259" name="Notes Placeholder 2">
            <a:extLst>
              <a:ext uri="{FF2B5EF4-FFF2-40B4-BE49-F238E27FC236}">
                <a16:creationId xmlns:a16="http://schemas.microsoft.com/office/drawing/2014/main" id="{1AAB3B38-FD36-767F-1B46-C2BA33E83D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6260" name="Slide Number Placeholder 3">
            <a:extLst>
              <a:ext uri="{FF2B5EF4-FFF2-40B4-BE49-F238E27FC236}">
                <a16:creationId xmlns:a16="http://schemas.microsoft.com/office/drawing/2014/main" id="{31E64522-55C0-0EE3-59F9-93D5483653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1E5C9AD6-9B0C-4F2E-9315-5518D648E36E}" type="slidenum">
              <a:rPr lang="en-US" altLang="en-US" smtClean="0"/>
              <a:pPr fontAlgn="base">
                <a:spcBef>
                  <a:spcPct val="0"/>
                </a:spcBef>
                <a:spcAft>
                  <a:spcPct val="0"/>
                </a:spcAft>
              </a:pPr>
              <a:t>45</a:t>
            </a:fld>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7FF0A098-2954-021E-8D3D-DBA53E6D89C4}"/>
              </a:ext>
            </a:extLst>
          </p:cNvPr>
          <p:cNvSpPr>
            <a:spLocks noGrp="1" noRot="1" noChangeAspect="1" noChangeArrowheads="1" noTextEdit="1"/>
          </p:cNvSpPr>
          <p:nvPr>
            <p:ph type="sldImg"/>
          </p:nvPr>
        </p:nvSpPr>
        <p:spPr>
          <a:ln/>
        </p:spPr>
      </p:sp>
      <p:sp>
        <p:nvSpPr>
          <p:cNvPr id="98307" name="Notes Placeholder 2">
            <a:extLst>
              <a:ext uri="{FF2B5EF4-FFF2-40B4-BE49-F238E27FC236}">
                <a16:creationId xmlns:a16="http://schemas.microsoft.com/office/drawing/2014/main" id="{C4C103FE-88DC-045F-A8E3-593E8860894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8308" name="Slide Number Placeholder 3">
            <a:extLst>
              <a:ext uri="{FF2B5EF4-FFF2-40B4-BE49-F238E27FC236}">
                <a16:creationId xmlns:a16="http://schemas.microsoft.com/office/drawing/2014/main" id="{0099C8D2-739D-DEA0-6B1B-0D91F336E4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BA405AA-285C-425B-ADB8-3B19C4B15BC6}" type="slidenum">
              <a:rPr lang="en-US" altLang="en-US" smtClean="0"/>
              <a:pPr fontAlgn="base">
                <a:spcBef>
                  <a:spcPct val="0"/>
                </a:spcBef>
                <a:spcAft>
                  <a:spcPct val="0"/>
                </a:spcAft>
              </a:pPr>
              <a:t>46</a:t>
            </a:fld>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3825A6AA-EAE2-8205-779E-45CE0CD86223}"/>
              </a:ext>
            </a:extLst>
          </p:cNvPr>
          <p:cNvSpPr>
            <a:spLocks noGrp="1" noRot="1" noChangeAspect="1" noChangeArrowheads="1" noTextEdit="1"/>
          </p:cNvSpPr>
          <p:nvPr>
            <p:ph type="sldImg"/>
          </p:nvPr>
        </p:nvSpPr>
        <p:spPr>
          <a:ln/>
        </p:spPr>
      </p:sp>
      <p:sp>
        <p:nvSpPr>
          <p:cNvPr id="100355" name="Notes Placeholder 2">
            <a:extLst>
              <a:ext uri="{FF2B5EF4-FFF2-40B4-BE49-F238E27FC236}">
                <a16:creationId xmlns:a16="http://schemas.microsoft.com/office/drawing/2014/main" id="{7F1CA432-B7B4-739C-0B9E-9E8D8978F8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0356" name="Slide Number Placeholder 3">
            <a:extLst>
              <a:ext uri="{FF2B5EF4-FFF2-40B4-BE49-F238E27FC236}">
                <a16:creationId xmlns:a16="http://schemas.microsoft.com/office/drawing/2014/main" id="{3EE23555-FBB4-3C3D-662C-BA696B24644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5447E84-2B0A-4C20-9398-304D927CBCAF}" type="slidenum">
              <a:rPr lang="en-US" altLang="en-US" smtClean="0"/>
              <a:pPr fontAlgn="base">
                <a:spcBef>
                  <a:spcPct val="0"/>
                </a:spcBef>
                <a:spcAft>
                  <a:spcPct val="0"/>
                </a:spcAft>
              </a:pPr>
              <a:t>47</a:t>
            </a:fld>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9E70F7F9-3F16-D37F-1A68-F6EB2EB203A3}"/>
              </a:ext>
            </a:extLst>
          </p:cNvPr>
          <p:cNvSpPr>
            <a:spLocks noGrp="1" noRot="1" noChangeAspect="1" noChangeArrowheads="1" noTextEdit="1"/>
          </p:cNvSpPr>
          <p:nvPr>
            <p:ph type="sldImg"/>
          </p:nvPr>
        </p:nvSpPr>
        <p:spPr>
          <a:ln/>
        </p:spPr>
      </p:sp>
      <p:sp>
        <p:nvSpPr>
          <p:cNvPr id="102403" name="Notes Placeholder 2">
            <a:extLst>
              <a:ext uri="{FF2B5EF4-FFF2-40B4-BE49-F238E27FC236}">
                <a16:creationId xmlns:a16="http://schemas.microsoft.com/office/drawing/2014/main" id="{2B2AD346-2DF7-0DB0-0CD4-8B5424692D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2404" name="Slide Number Placeholder 3">
            <a:extLst>
              <a:ext uri="{FF2B5EF4-FFF2-40B4-BE49-F238E27FC236}">
                <a16:creationId xmlns:a16="http://schemas.microsoft.com/office/drawing/2014/main" id="{0986F4B9-0AD3-8470-E8CD-E26FF25173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C02FE090-E54C-4463-8919-7808B504DC5D}" type="slidenum">
              <a:rPr lang="en-US" altLang="en-US" smtClean="0"/>
              <a:pPr fontAlgn="base">
                <a:spcBef>
                  <a:spcPct val="0"/>
                </a:spcBef>
                <a:spcAft>
                  <a:spcPct val="0"/>
                </a:spcAft>
              </a:pPr>
              <a:t>48</a:t>
            </a:fld>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4B499F42-740E-E145-E4E5-0BA0DE7C87A4}"/>
              </a:ext>
            </a:extLst>
          </p:cNvPr>
          <p:cNvSpPr>
            <a:spLocks noGrp="1" noRot="1" noChangeAspect="1" noChangeArrowheads="1" noTextEdit="1"/>
          </p:cNvSpPr>
          <p:nvPr>
            <p:ph type="sldImg"/>
          </p:nvPr>
        </p:nvSpPr>
        <p:spPr>
          <a:ln/>
        </p:spPr>
      </p:sp>
      <p:sp>
        <p:nvSpPr>
          <p:cNvPr id="104451" name="Notes Placeholder 2">
            <a:extLst>
              <a:ext uri="{FF2B5EF4-FFF2-40B4-BE49-F238E27FC236}">
                <a16:creationId xmlns:a16="http://schemas.microsoft.com/office/drawing/2014/main" id="{E47F59F0-0BD3-5DA6-72A2-2E97AB68C8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4452" name="Slide Number Placeholder 3">
            <a:extLst>
              <a:ext uri="{FF2B5EF4-FFF2-40B4-BE49-F238E27FC236}">
                <a16:creationId xmlns:a16="http://schemas.microsoft.com/office/drawing/2014/main" id="{D6BCB812-4952-6C08-62B8-C0C8D290ED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3AA15C8-881F-4DEA-9626-5F6AF29EECC3}" type="slidenum">
              <a:rPr lang="en-US" altLang="en-US" smtClean="0"/>
              <a:pPr fontAlgn="base">
                <a:spcBef>
                  <a:spcPct val="0"/>
                </a:spcBef>
                <a:spcAft>
                  <a:spcPct val="0"/>
                </a:spcAft>
              </a:pPr>
              <a:t>49</a:t>
            </a:fld>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A5A36F70-9549-0F62-C34E-21E4973C7DAE}"/>
              </a:ext>
            </a:extLst>
          </p:cNvPr>
          <p:cNvSpPr>
            <a:spLocks noGrp="1" noRot="1" noChangeAspect="1" noChangeArrowheads="1" noTextEdit="1"/>
          </p:cNvSpPr>
          <p:nvPr>
            <p:ph type="sldImg"/>
          </p:nvPr>
        </p:nvSpPr>
        <p:spPr>
          <a:ln/>
        </p:spPr>
      </p:sp>
      <p:sp>
        <p:nvSpPr>
          <p:cNvPr id="106499" name="Notes Placeholder 2">
            <a:extLst>
              <a:ext uri="{FF2B5EF4-FFF2-40B4-BE49-F238E27FC236}">
                <a16:creationId xmlns:a16="http://schemas.microsoft.com/office/drawing/2014/main" id="{5E91CD75-C2D4-3562-C995-D34D380587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6500" name="Slide Number Placeholder 3">
            <a:extLst>
              <a:ext uri="{FF2B5EF4-FFF2-40B4-BE49-F238E27FC236}">
                <a16:creationId xmlns:a16="http://schemas.microsoft.com/office/drawing/2014/main" id="{5A4E9159-B8B6-54F4-9B89-3B0FB076DD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4015519B-12B6-4572-A081-F85CC9EE5938}" type="slidenum">
              <a:rPr lang="en-US" altLang="en-US" smtClean="0"/>
              <a:pPr fontAlgn="base">
                <a:spcBef>
                  <a:spcPct val="0"/>
                </a:spcBef>
                <a:spcAft>
                  <a:spcPct val="0"/>
                </a:spcAft>
              </a:pPr>
              <a:t>50</a:t>
            </a:fld>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E5525C45-76F4-9608-83D1-EB200A61FD70}"/>
              </a:ext>
            </a:extLst>
          </p:cNvPr>
          <p:cNvSpPr>
            <a:spLocks noGrp="1" noRot="1" noChangeAspect="1" noChangeArrowheads="1" noTextEdit="1"/>
          </p:cNvSpPr>
          <p:nvPr>
            <p:ph type="sldImg"/>
          </p:nvPr>
        </p:nvSpPr>
        <p:spPr>
          <a:ln/>
        </p:spPr>
      </p:sp>
      <p:sp>
        <p:nvSpPr>
          <p:cNvPr id="108547" name="Notes Placeholder 2">
            <a:extLst>
              <a:ext uri="{FF2B5EF4-FFF2-40B4-BE49-F238E27FC236}">
                <a16:creationId xmlns:a16="http://schemas.microsoft.com/office/drawing/2014/main" id="{BED37A7B-084F-7DB7-F3CE-63DE8D3EE2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8548" name="Slide Number Placeholder 3">
            <a:extLst>
              <a:ext uri="{FF2B5EF4-FFF2-40B4-BE49-F238E27FC236}">
                <a16:creationId xmlns:a16="http://schemas.microsoft.com/office/drawing/2014/main" id="{10E930BF-5877-8240-35F5-5848D583D4F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9A4B30D-FCCB-412D-9540-9A7B7410F97C}" type="slidenum">
              <a:rPr lang="en-US" altLang="en-US" smtClean="0"/>
              <a:pPr fontAlgn="base">
                <a:spcBef>
                  <a:spcPct val="0"/>
                </a:spcBef>
                <a:spcAft>
                  <a:spcPct val="0"/>
                </a:spcAft>
              </a:pPr>
              <a:t>51</a:t>
            </a:fld>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E6D55E23-AD81-89EB-5C3C-BB248DB2F912}"/>
              </a:ext>
            </a:extLst>
          </p:cNvPr>
          <p:cNvSpPr>
            <a:spLocks noGrp="1" noRot="1" noChangeAspect="1" noChangeArrowheads="1" noTextEdit="1"/>
          </p:cNvSpPr>
          <p:nvPr>
            <p:ph type="sldImg"/>
          </p:nvPr>
        </p:nvSpPr>
        <p:spPr>
          <a:ln/>
        </p:spPr>
      </p:sp>
      <p:sp>
        <p:nvSpPr>
          <p:cNvPr id="110595" name="Notes Placeholder 2">
            <a:extLst>
              <a:ext uri="{FF2B5EF4-FFF2-40B4-BE49-F238E27FC236}">
                <a16:creationId xmlns:a16="http://schemas.microsoft.com/office/drawing/2014/main" id="{BDC4A3A3-C353-79A0-0363-31CDBC8E77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0596" name="Slide Number Placeholder 3">
            <a:extLst>
              <a:ext uri="{FF2B5EF4-FFF2-40B4-BE49-F238E27FC236}">
                <a16:creationId xmlns:a16="http://schemas.microsoft.com/office/drawing/2014/main" id="{26D9618C-44DB-7F28-2806-E202610032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B833215-E2DF-4B08-B225-B19CE3E8E151}" type="slidenum">
              <a:rPr lang="en-US" altLang="en-US" smtClean="0"/>
              <a:pPr fontAlgn="base">
                <a:spcBef>
                  <a:spcPct val="0"/>
                </a:spcBef>
                <a:spcAft>
                  <a:spcPct val="0"/>
                </a:spcAft>
              </a:pPr>
              <a:t>52</a:t>
            </a:fld>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6BB5B982-68E6-9A2E-61DE-9481F9F8BF86}"/>
              </a:ext>
            </a:extLst>
          </p:cNvPr>
          <p:cNvSpPr>
            <a:spLocks noGrp="1" noRot="1" noChangeAspect="1" noChangeArrowheads="1" noTextEdit="1"/>
          </p:cNvSpPr>
          <p:nvPr>
            <p:ph type="sldImg"/>
          </p:nvPr>
        </p:nvSpPr>
        <p:spPr>
          <a:ln/>
        </p:spPr>
      </p:sp>
      <p:sp>
        <p:nvSpPr>
          <p:cNvPr id="112643" name="Notes Placeholder 2">
            <a:extLst>
              <a:ext uri="{FF2B5EF4-FFF2-40B4-BE49-F238E27FC236}">
                <a16:creationId xmlns:a16="http://schemas.microsoft.com/office/drawing/2014/main" id="{4D311E69-8DDC-71D2-6FD7-AD1C30946B6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44" name="Slide Number Placeholder 3">
            <a:extLst>
              <a:ext uri="{FF2B5EF4-FFF2-40B4-BE49-F238E27FC236}">
                <a16:creationId xmlns:a16="http://schemas.microsoft.com/office/drawing/2014/main" id="{72121016-F51E-4B5C-DA67-5F2248C3C0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83E406E-0DA2-456C-90B9-2F20232114E2}" type="slidenum">
              <a:rPr lang="en-US" altLang="en-US" smtClean="0"/>
              <a:pPr fontAlgn="base">
                <a:spcBef>
                  <a:spcPct val="0"/>
                </a:spcBef>
                <a:spcAft>
                  <a:spcPct val="0"/>
                </a:spcAft>
              </a:pPr>
              <a:t>53</a:t>
            </a:fld>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8CC44B88-F76D-EFB5-0AD1-5198E782777D}"/>
              </a:ext>
            </a:extLst>
          </p:cNvPr>
          <p:cNvSpPr>
            <a:spLocks noGrp="1" noRot="1" noChangeAspect="1" noChangeArrowheads="1" noTextEdit="1"/>
          </p:cNvSpPr>
          <p:nvPr>
            <p:ph type="sldImg"/>
          </p:nvPr>
        </p:nvSpPr>
        <p:spPr>
          <a:ln/>
        </p:spPr>
      </p:sp>
      <p:sp>
        <p:nvSpPr>
          <p:cNvPr id="114691" name="Notes Placeholder 2">
            <a:extLst>
              <a:ext uri="{FF2B5EF4-FFF2-40B4-BE49-F238E27FC236}">
                <a16:creationId xmlns:a16="http://schemas.microsoft.com/office/drawing/2014/main" id="{9FF1D596-E373-D357-306B-7231C1AC4B3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4692" name="Slide Number Placeholder 3">
            <a:extLst>
              <a:ext uri="{FF2B5EF4-FFF2-40B4-BE49-F238E27FC236}">
                <a16:creationId xmlns:a16="http://schemas.microsoft.com/office/drawing/2014/main" id="{5BA681AD-C7F9-1D20-7C75-C94282A21D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AB58FEC7-6117-48C8-B49D-CD9DA87D9615}" type="slidenum">
              <a:rPr lang="en-US" altLang="en-US" smtClean="0"/>
              <a:pPr fontAlgn="base">
                <a:spcBef>
                  <a:spcPct val="0"/>
                </a:spcBef>
                <a:spcAft>
                  <a:spcPct val="0"/>
                </a:spcAft>
              </a:pPr>
              <a:t>54</a:t>
            </a:fld>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166ED39E-BA5E-31D9-5B98-6695A3C834B9}"/>
              </a:ext>
            </a:extLst>
          </p:cNvPr>
          <p:cNvSpPr>
            <a:spLocks noGrp="1" noRot="1" noChangeAspect="1" noChangeArrowheads="1" noTextEdit="1"/>
          </p:cNvSpPr>
          <p:nvPr>
            <p:ph type="sldImg"/>
          </p:nvPr>
        </p:nvSpPr>
        <p:spPr>
          <a:ln/>
        </p:spPr>
      </p:sp>
      <p:sp>
        <p:nvSpPr>
          <p:cNvPr id="116739" name="Notes Placeholder 2">
            <a:extLst>
              <a:ext uri="{FF2B5EF4-FFF2-40B4-BE49-F238E27FC236}">
                <a16:creationId xmlns:a16="http://schemas.microsoft.com/office/drawing/2014/main" id="{42E85F93-4953-734D-AF2C-15D036719C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6740" name="Slide Number Placeholder 3">
            <a:extLst>
              <a:ext uri="{FF2B5EF4-FFF2-40B4-BE49-F238E27FC236}">
                <a16:creationId xmlns:a16="http://schemas.microsoft.com/office/drawing/2014/main" id="{1AF3F534-E3D2-BD7D-F4E3-BD603740FD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1D0F6C2-670E-47E1-B532-702CFEC921D8}" type="slidenum">
              <a:rPr lang="en-US" altLang="en-US" smtClean="0"/>
              <a:pPr fontAlgn="base">
                <a:spcBef>
                  <a:spcPct val="0"/>
                </a:spcBef>
                <a:spcAft>
                  <a:spcPct val="0"/>
                </a:spcAft>
              </a:pPr>
              <a:t>55</a:t>
            </a:fld>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6B5B5F05-5950-3A4B-0667-CCACE5750FA2}"/>
              </a:ext>
            </a:extLst>
          </p:cNvPr>
          <p:cNvSpPr>
            <a:spLocks noGrp="1" noRot="1" noChangeAspect="1" noChangeArrowheads="1" noTextEdit="1"/>
          </p:cNvSpPr>
          <p:nvPr>
            <p:ph type="sldImg"/>
          </p:nvPr>
        </p:nvSpPr>
        <p:spPr>
          <a:ln/>
        </p:spPr>
      </p:sp>
      <p:sp>
        <p:nvSpPr>
          <p:cNvPr id="118787" name="Notes Placeholder 2">
            <a:extLst>
              <a:ext uri="{FF2B5EF4-FFF2-40B4-BE49-F238E27FC236}">
                <a16:creationId xmlns:a16="http://schemas.microsoft.com/office/drawing/2014/main" id="{474024F3-9D77-C72B-2AF5-04DE981DF8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8788" name="Slide Number Placeholder 3">
            <a:extLst>
              <a:ext uri="{FF2B5EF4-FFF2-40B4-BE49-F238E27FC236}">
                <a16:creationId xmlns:a16="http://schemas.microsoft.com/office/drawing/2014/main" id="{781F3318-607D-E06F-2A56-08F9E16ABF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9972800-2AE1-4749-8BA7-330D839A269C}" type="slidenum">
              <a:rPr lang="en-US" altLang="en-US" smtClean="0"/>
              <a:pPr fontAlgn="base">
                <a:spcBef>
                  <a:spcPct val="0"/>
                </a:spcBef>
                <a:spcAft>
                  <a:spcPct val="0"/>
                </a:spcAft>
              </a:pPr>
              <a:t>56</a:t>
            </a:fld>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B3C8D82A-4FC5-6F99-32F0-F6B1878EFE3D}"/>
              </a:ext>
            </a:extLst>
          </p:cNvPr>
          <p:cNvSpPr>
            <a:spLocks noGrp="1" noRot="1" noChangeAspect="1" noChangeArrowheads="1" noTextEdit="1"/>
          </p:cNvSpPr>
          <p:nvPr>
            <p:ph type="sldImg"/>
          </p:nvPr>
        </p:nvSpPr>
        <p:spPr>
          <a:ln/>
        </p:spPr>
      </p:sp>
      <p:sp>
        <p:nvSpPr>
          <p:cNvPr id="120835" name="Notes Placeholder 2">
            <a:extLst>
              <a:ext uri="{FF2B5EF4-FFF2-40B4-BE49-F238E27FC236}">
                <a16:creationId xmlns:a16="http://schemas.microsoft.com/office/drawing/2014/main" id="{A4146D08-5570-6DCD-8FE6-747BE25F8C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0836" name="Slide Number Placeholder 3">
            <a:extLst>
              <a:ext uri="{FF2B5EF4-FFF2-40B4-BE49-F238E27FC236}">
                <a16:creationId xmlns:a16="http://schemas.microsoft.com/office/drawing/2014/main" id="{1FFC29FE-3A51-6156-15B9-FF6EEF2B3C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AD6BDBBC-449E-46CA-9BB6-14EA94B5ECE1}" type="slidenum">
              <a:rPr lang="en-US" altLang="en-US" smtClean="0"/>
              <a:pPr fontAlgn="base">
                <a:spcBef>
                  <a:spcPct val="0"/>
                </a:spcBef>
                <a:spcAft>
                  <a:spcPct val="0"/>
                </a:spcAft>
              </a:pPr>
              <a:t>57</a:t>
            </a:fld>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65485BC7-2099-699A-2765-D66BCC4D7420}"/>
              </a:ext>
            </a:extLst>
          </p:cNvPr>
          <p:cNvSpPr>
            <a:spLocks noGrp="1" noRot="1" noChangeAspect="1" noChangeArrowheads="1" noTextEdit="1"/>
          </p:cNvSpPr>
          <p:nvPr>
            <p:ph type="sldImg"/>
          </p:nvPr>
        </p:nvSpPr>
        <p:spPr>
          <a:ln/>
        </p:spPr>
      </p:sp>
      <p:sp>
        <p:nvSpPr>
          <p:cNvPr id="122883" name="Notes Placeholder 2">
            <a:extLst>
              <a:ext uri="{FF2B5EF4-FFF2-40B4-BE49-F238E27FC236}">
                <a16:creationId xmlns:a16="http://schemas.microsoft.com/office/drawing/2014/main" id="{7D536861-E3B8-26C7-999C-94F8DB3EEE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2884" name="Slide Number Placeholder 3">
            <a:extLst>
              <a:ext uri="{FF2B5EF4-FFF2-40B4-BE49-F238E27FC236}">
                <a16:creationId xmlns:a16="http://schemas.microsoft.com/office/drawing/2014/main" id="{64C205B8-986D-35C1-EEF2-4D61A43EF2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71B6401-B61A-489A-A36D-08D04DE6A6A3}" type="slidenum">
              <a:rPr lang="en-US" altLang="en-US" smtClean="0"/>
              <a:pPr fontAlgn="base">
                <a:spcBef>
                  <a:spcPct val="0"/>
                </a:spcBef>
                <a:spcAft>
                  <a:spcPct val="0"/>
                </a:spcAft>
              </a:pPr>
              <a:t>58</a:t>
            </a:fld>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a:extLst>
              <a:ext uri="{FF2B5EF4-FFF2-40B4-BE49-F238E27FC236}">
                <a16:creationId xmlns:a16="http://schemas.microsoft.com/office/drawing/2014/main" id="{7C3747DD-7CC8-14B1-31DF-D7FF2BB73285}"/>
              </a:ext>
            </a:extLst>
          </p:cNvPr>
          <p:cNvSpPr>
            <a:spLocks noGrp="1" noRot="1" noChangeAspect="1" noChangeArrowheads="1" noTextEdit="1"/>
          </p:cNvSpPr>
          <p:nvPr>
            <p:ph type="sldImg"/>
          </p:nvPr>
        </p:nvSpPr>
        <p:spPr>
          <a:ln/>
        </p:spPr>
      </p:sp>
      <p:sp>
        <p:nvSpPr>
          <p:cNvPr id="124931" name="Notes Placeholder 2">
            <a:extLst>
              <a:ext uri="{FF2B5EF4-FFF2-40B4-BE49-F238E27FC236}">
                <a16:creationId xmlns:a16="http://schemas.microsoft.com/office/drawing/2014/main" id="{12419E57-401E-B3FC-E70C-1E3A37ECAFC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4932" name="Slide Number Placeholder 3">
            <a:extLst>
              <a:ext uri="{FF2B5EF4-FFF2-40B4-BE49-F238E27FC236}">
                <a16:creationId xmlns:a16="http://schemas.microsoft.com/office/drawing/2014/main" id="{61BCD701-DCB4-C35F-FA34-B65131FC0D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DE79B627-507D-41A6-AB8E-25EAB76401A2}" type="slidenum">
              <a:rPr lang="en-US" altLang="en-US" smtClean="0"/>
              <a:pPr fontAlgn="base">
                <a:spcBef>
                  <a:spcPct val="0"/>
                </a:spcBef>
                <a:spcAft>
                  <a:spcPct val="0"/>
                </a:spcAft>
              </a:pPr>
              <a:t>59</a:t>
            </a:fld>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a:extLst>
              <a:ext uri="{FF2B5EF4-FFF2-40B4-BE49-F238E27FC236}">
                <a16:creationId xmlns:a16="http://schemas.microsoft.com/office/drawing/2014/main" id="{52CEEF83-199C-EAB4-8AB3-A1EDA437EE8D}"/>
              </a:ext>
            </a:extLst>
          </p:cNvPr>
          <p:cNvSpPr>
            <a:spLocks noGrp="1" noRot="1" noChangeAspect="1" noChangeArrowheads="1" noTextEdit="1"/>
          </p:cNvSpPr>
          <p:nvPr>
            <p:ph type="sldImg"/>
          </p:nvPr>
        </p:nvSpPr>
        <p:spPr>
          <a:ln/>
        </p:spPr>
      </p:sp>
      <p:sp>
        <p:nvSpPr>
          <p:cNvPr id="126979" name="Notes Placeholder 2">
            <a:extLst>
              <a:ext uri="{FF2B5EF4-FFF2-40B4-BE49-F238E27FC236}">
                <a16:creationId xmlns:a16="http://schemas.microsoft.com/office/drawing/2014/main" id="{77CCADCE-214D-4EF0-531C-00129AE67D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6980" name="Slide Number Placeholder 3">
            <a:extLst>
              <a:ext uri="{FF2B5EF4-FFF2-40B4-BE49-F238E27FC236}">
                <a16:creationId xmlns:a16="http://schemas.microsoft.com/office/drawing/2014/main" id="{19F57B25-7510-7A8F-9F31-CA3F6FF8B2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32EEF28-C478-4DF4-8271-3A82F5C2242D}" type="slidenum">
              <a:rPr lang="en-US" altLang="en-US" smtClean="0"/>
              <a:pPr fontAlgn="base">
                <a:spcBef>
                  <a:spcPct val="0"/>
                </a:spcBef>
                <a:spcAft>
                  <a:spcPct val="0"/>
                </a:spcAft>
              </a:pPr>
              <a:t>60</a:t>
            </a:fld>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7789757B-D84C-F519-432B-557BDE18561E}"/>
              </a:ext>
            </a:extLst>
          </p:cNvPr>
          <p:cNvSpPr>
            <a:spLocks noGrp="1" noRot="1" noChangeAspect="1" noChangeArrowheads="1" noTextEdit="1"/>
          </p:cNvSpPr>
          <p:nvPr>
            <p:ph type="sldImg"/>
          </p:nvPr>
        </p:nvSpPr>
        <p:spPr>
          <a:ln/>
        </p:spPr>
      </p:sp>
      <p:sp>
        <p:nvSpPr>
          <p:cNvPr id="129027" name="Notes Placeholder 2">
            <a:extLst>
              <a:ext uri="{FF2B5EF4-FFF2-40B4-BE49-F238E27FC236}">
                <a16:creationId xmlns:a16="http://schemas.microsoft.com/office/drawing/2014/main" id="{762153BB-1F0B-592A-DE7C-53DC2493C5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9028" name="Slide Number Placeholder 3">
            <a:extLst>
              <a:ext uri="{FF2B5EF4-FFF2-40B4-BE49-F238E27FC236}">
                <a16:creationId xmlns:a16="http://schemas.microsoft.com/office/drawing/2014/main" id="{3C52BBA3-C6AA-9F15-2A9B-E98CFE5BC2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B92C927-2463-4AA4-87DB-2134B9887A7C}" type="slidenum">
              <a:rPr lang="en-US" altLang="en-US" smtClean="0"/>
              <a:pPr fontAlgn="base">
                <a:spcBef>
                  <a:spcPct val="0"/>
                </a:spcBef>
                <a:spcAft>
                  <a:spcPct val="0"/>
                </a:spcAft>
              </a:pPr>
              <a:t>61</a:t>
            </a:fld>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a:extLst>
              <a:ext uri="{FF2B5EF4-FFF2-40B4-BE49-F238E27FC236}">
                <a16:creationId xmlns:a16="http://schemas.microsoft.com/office/drawing/2014/main" id="{CF9ECC4D-C333-AEB0-A85A-B598DA0451C4}"/>
              </a:ext>
            </a:extLst>
          </p:cNvPr>
          <p:cNvSpPr>
            <a:spLocks noGrp="1" noRot="1" noChangeAspect="1" noChangeArrowheads="1" noTextEdit="1"/>
          </p:cNvSpPr>
          <p:nvPr>
            <p:ph type="sldImg"/>
          </p:nvPr>
        </p:nvSpPr>
        <p:spPr>
          <a:ln/>
        </p:spPr>
      </p:sp>
      <p:sp>
        <p:nvSpPr>
          <p:cNvPr id="131075" name="Notes Placeholder 2">
            <a:extLst>
              <a:ext uri="{FF2B5EF4-FFF2-40B4-BE49-F238E27FC236}">
                <a16:creationId xmlns:a16="http://schemas.microsoft.com/office/drawing/2014/main" id="{92E4B572-D416-D54C-2D81-1E1DE1CFF1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1076" name="Slide Number Placeholder 3">
            <a:extLst>
              <a:ext uri="{FF2B5EF4-FFF2-40B4-BE49-F238E27FC236}">
                <a16:creationId xmlns:a16="http://schemas.microsoft.com/office/drawing/2014/main" id="{41B2188B-3224-67B9-FFD3-F685848C01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537861B-9A6F-4F72-9485-B03AC768E370}" type="slidenum">
              <a:rPr lang="en-US" altLang="en-US" smtClean="0"/>
              <a:pPr fontAlgn="base">
                <a:spcBef>
                  <a:spcPct val="0"/>
                </a:spcBef>
                <a:spcAft>
                  <a:spcPct val="0"/>
                </a:spcAft>
              </a:pPr>
              <a:t>62</a:t>
            </a:fld>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a:extLst>
              <a:ext uri="{FF2B5EF4-FFF2-40B4-BE49-F238E27FC236}">
                <a16:creationId xmlns:a16="http://schemas.microsoft.com/office/drawing/2014/main" id="{FE5B5FE6-A3C1-3059-F46B-8DB212973C2B}"/>
              </a:ext>
            </a:extLst>
          </p:cNvPr>
          <p:cNvSpPr>
            <a:spLocks noGrp="1" noRot="1" noChangeAspect="1" noChangeArrowheads="1" noTextEdit="1"/>
          </p:cNvSpPr>
          <p:nvPr>
            <p:ph type="sldImg"/>
          </p:nvPr>
        </p:nvSpPr>
        <p:spPr>
          <a:ln/>
        </p:spPr>
      </p:sp>
      <p:sp>
        <p:nvSpPr>
          <p:cNvPr id="133123" name="Notes Placeholder 2">
            <a:extLst>
              <a:ext uri="{FF2B5EF4-FFF2-40B4-BE49-F238E27FC236}">
                <a16:creationId xmlns:a16="http://schemas.microsoft.com/office/drawing/2014/main" id="{F61D5FF5-5979-DB26-2429-F2F430314D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3124" name="Slide Number Placeholder 3">
            <a:extLst>
              <a:ext uri="{FF2B5EF4-FFF2-40B4-BE49-F238E27FC236}">
                <a16:creationId xmlns:a16="http://schemas.microsoft.com/office/drawing/2014/main" id="{6EA89DB1-8E0F-BF69-600D-A10DFC629D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8D775CCA-D670-4EAA-972B-8EEBA43BC014}" type="slidenum">
              <a:rPr lang="en-US" altLang="en-US" smtClean="0"/>
              <a:pPr fontAlgn="base">
                <a:spcBef>
                  <a:spcPct val="0"/>
                </a:spcBef>
                <a:spcAft>
                  <a:spcPct val="0"/>
                </a:spcAft>
              </a:pPr>
              <a:t>63</a:t>
            </a:fld>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a:extLst>
              <a:ext uri="{FF2B5EF4-FFF2-40B4-BE49-F238E27FC236}">
                <a16:creationId xmlns:a16="http://schemas.microsoft.com/office/drawing/2014/main" id="{AF011EE7-7A32-40A6-83FD-FA8A0CDF77BF}"/>
              </a:ext>
            </a:extLst>
          </p:cNvPr>
          <p:cNvSpPr>
            <a:spLocks noGrp="1" noRot="1" noChangeAspect="1" noChangeArrowheads="1" noTextEdit="1"/>
          </p:cNvSpPr>
          <p:nvPr>
            <p:ph type="sldImg"/>
          </p:nvPr>
        </p:nvSpPr>
        <p:spPr>
          <a:ln/>
        </p:spPr>
      </p:sp>
      <p:sp>
        <p:nvSpPr>
          <p:cNvPr id="135171" name="Notes Placeholder 2">
            <a:extLst>
              <a:ext uri="{FF2B5EF4-FFF2-40B4-BE49-F238E27FC236}">
                <a16:creationId xmlns:a16="http://schemas.microsoft.com/office/drawing/2014/main" id="{BD8EB0EE-961B-2E45-2E0B-38B7E6A4DA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5172" name="Slide Number Placeholder 3">
            <a:extLst>
              <a:ext uri="{FF2B5EF4-FFF2-40B4-BE49-F238E27FC236}">
                <a16:creationId xmlns:a16="http://schemas.microsoft.com/office/drawing/2014/main" id="{6758BA46-3BBA-449C-3BEE-4FA9801B1A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1D22AD9B-BE1F-44A9-A767-931CDD9BCDBE}" type="slidenum">
              <a:rPr lang="en-US" altLang="en-US" smtClean="0"/>
              <a:pPr fontAlgn="base">
                <a:spcBef>
                  <a:spcPct val="0"/>
                </a:spcBef>
                <a:spcAft>
                  <a:spcPct val="0"/>
                </a:spcAft>
              </a:pPr>
              <a:t>64</a:t>
            </a:fld>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DACE3323-3CCD-2501-38A4-15D72C2EA418}"/>
              </a:ext>
            </a:extLst>
          </p:cNvPr>
          <p:cNvSpPr>
            <a:spLocks noGrp="1" noRot="1" noChangeAspect="1" noChangeArrowheads="1" noTextEdit="1"/>
          </p:cNvSpPr>
          <p:nvPr>
            <p:ph type="sldImg"/>
          </p:nvPr>
        </p:nvSpPr>
        <p:spPr>
          <a:ln/>
        </p:spPr>
      </p:sp>
      <p:sp>
        <p:nvSpPr>
          <p:cNvPr id="137219" name="Notes Placeholder 2">
            <a:extLst>
              <a:ext uri="{FF2B5EF4-FFF2-40B4-BE49-F238E27FC236}">
                <a16:creationId xmlns:a16="http://schemas.microsoft.com/office/drawing/2014/main" id="{AB287817-5C23-AEC0-4BA3-A1C44C9853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7220" name="Slide Number Placeholder 3">
            <a:extLst>
              <a:ext uri="{FF2B5EF4-FFF2-40B4-BE49-F238E27FC236}">
                <a16:creationId xmlns:a16="http://schemas.microsoft.com/office/drawing/2014/main" id="{5E1F0875-356D-87BD-980C-C2B806B3A3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B1ACFC5A-F9C8-4124-83F6-54BF756E08DA}" type="slidenum">
              <a:rPr lang="en-US" altLang="en-US" smtClean="0"/>
              <a:pPr fontAlgn="base">
                <a:spcBef>
                  <a:spcPct val="0"/>
                </a:spcBef>
                <a:spcAft>
                  <a:spcPct val="0"/>
                </a:spcAft>
              </a:pPr>
              <a:t>65</a:t>
            </a:fld>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72B8A583-16BF-A020-EB9E-2A7C4A3780E9}"/>
              </a:ext>
            </a:extLst>
          </p:cNvPr>
          <p:cNvSpPr>
            <a:spLocks noGrp="1" noRot="1" noChangeAspect="1" noChangeArrowheads="1" noTextEdit="1"/>
          </p:cNvSpPr>
          <p:nvPr>
            <p:ph type="sldImg"/>
          </p:nvPr>
        </p:nvSpPr>
        <p:spPr>
          <a:ln/>
        </p:spPr>
      </p:sp>
      <p:sp>
        <p:nvSpPr>
          <p:cNvPr id="139267" name="Notes Placeholder 2">
            <a:extLst>
              <a:ext uri="{FF2B5EF4-FFF2-40B4-BE49-F238E27FC236}">
                <a16:creationId xmlns:a16="http://schemas.microsoft.com/office/drawing/2014/main" id="{A39A4C15-31BE-239E-8CA1-94B1A7AA18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9268" name="Slide Number Placeholder 3">
            <a:extLst>
              <a:ext uri="{FF2B5EF4-FFF2-40B4-BE49-F238E27FC236}">
                <a16:creationId xmlns:a16="http://schemas.microsoft.com/office/drawing/2014/main" id="{359154E2-B1DD-C9F7-6F93-BAE5F3F1C1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F97BD14-CD2B-4BBA-BA8B-6B3BE5196A8B}" type="slidenum">
              <a:rPr lang="en-US" altLang="en-US" smtClean="0"/>
              <a:pPr fontAlgn="base">
                <a:spcBef>
                  <a:spcPct val="0"/>
                </a:spcBef>
                <a:spcAft>
                  <a:spcPct val="0"/>
                </a:spcAft>
              </a:pPr>
              <a:t>66</a:t>
            </a:fld>
            <a:endParaRPr lang="en-US"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a:extLst>
              <a:ext uri="{FF2B5EF4-FFF2-40B4-BE49-F238E27FC236}">
                <a16:creationId xmlns:a16="http://schemas.microsoft.com/office/drawing/2014/main" id="{D42A9EDA-BD4F-6693-8022-7413C455CC63}"/>
              </a:ext>
            </a:extLst>
          </p:cNvPr>
          <p:cNvSpPr>
            <a:spLocks noGrp="1" noRot="1" noChangeAspect="1" noChangeArrowheads="1" noTextEdit="1"/>
          </p:cNvSpPr>
          <p:nvPr>
            <p:ph type="sldImg"/>
          </p:nvPr>
        </p:nvSpPr>
        <p:spPr>
          <a:ln/>
        </p:spPr>
      </p:sp>
      <p:sp>
        <p:nvSpPr>
          <p:cNvPr id="141315" name="Notes Placeholder 2">
            <a:extLst>
              <a:ext uri="{FF2B5EF4-FFF2-40B4-BE49-F238E27FC236}">
                <a16:creationId xmlns:a16="http://schemas.microsoft.com/office/drawing/2014/main" id="{9BEC5CCC-2EC6-7B5F-FA78-1FF1B14C2B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41316" name="Slide Number Placeholder 3">
            <a:extLst>
              <a:ext uri="{FF2B5EF4-FFF2-40B4-BE49-F238E27FC236}">
                <a16:creationId xmlns:a16="http://schemas.microsoft.com/office/drawing/2014/main" id="{C713511C-B35B-C6FB-BFBE-6CFEBABC66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7CDB2FB-6D6B-4505-B712-E1204C0CEBE8}" type="slidenum">
              <a:rPr lang="en-US" altLang="en-US" smtClean="0"/>
              <a:pPr fontAlgn="base">
                <a:spcBef>
                  <a:spcPct val="0"/>
                </a:spcBef>
                <a:spcAft>
                  <a:spcPct val="0"/>
                </a:spcAft>
              </a:pPr>
              <a:t>67</a:t>
            </a:fld>
            <a:endParaRPr lang="en-US"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A302483C-8AEB-7596-DFE8-D93D0EEF00F6}"/>
              </a:ext>
            </a:extLst>
          </p:cNvPr>
          <p:cNvSpPr>
            <a:spLocks noGrp="1" noRot="1" noChangeAspect="1" noChangeArrowheads="1" noTextEdit="1"/>
          </p:cNvSpPr>
          <p:nvPr>
            <p:ph type="sldImg"/>
          </p:nvPr>
        </p:nvSpPr>
        <p:spPr>
          <a:ln/>
        </p:spPr>
      </p:sp>
      <p:sp>
        <p:nvSpPr>
          <p:cNvPr id="143363" name="Notes Placeholder 2">
            <a:extLst>
              <a:ext uri="{FF2B5EF4-FFF2-40B4-BE49-F238E27FC236}">
                <a16:creationId xmlns:a16="http://schemas.microsoft.com/office/drawing/2014/main" id="{66DCE0AF-9DF1-45B7-06CE-DE83B2B1F0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43364" name="Slide Number Placeholder 3">
            <a:extLst>
              <a:ext uri="{FF2B5EF4-FFF2-40B4-BE49-F238E27FC236}">
                <a16:creationId xmlns:a16="http://schemas.microsoft.com/office/drawing/2014/main" id="{A0B5CC5A-A9DC-D3FC-D5B7-5A12D47151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5006549-FE48-4287-8B14-4DC7FBD86A84}" type="slidenum">
              <a:rPr lang="en-US" altLang="en-US" smtClean="0"/>
              <a:pPr fontAlgn="base">
                <a:spcBef>
                  <a:spcPct val="0"/>
                </a:spcBef>
                <a:spcAft>
                  <a:spcPct val="0"/>
                </a:spcAft>
              </a:pPr>
              <a:t>68</a:t>
            </a:fld>
            <a:endParaRPr lang="en-US"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a:extLst>
              <a:ext uri="{FF2B5EF4-FFF2-40B4-BE49-F238E27FC236}">
                <a16:creationId xmlns:a16="http://schemas.microsoft.com/office/drawing/2014/main" id="{41C8A5D1-2642-4C7C-5728-2E5C5679C60E}"/>
              </a:ext>
            </a:extLst>
          </p:cNvPr>
          <p:cNvSpPr>
            <a:spLocks noGrp="1" noRot="1" noChangeAspect="1" noChangeArrowheads="1" noTextEdit="1"/>
          </p:cNvSpPr>
          <p:nvPr>
            <p:ph type="sldImg"/>
          </p:nvPr>
        </p:nvSpPr>
        <p:spPr>
          <a:ln/>
        </p:spPr>
      </p:sp>
      <p:sp>
        <p:nvSpPr>
          <p:cNvPr id="145411" name="Notes Placeholder 2">
            <a:extLst>
              <a:ext uri="{FF2B5EF4-FFF2-40B4-BE49-F238E27FC236}">
                <a16:creationId xmlns:a16="http://schemas.microsoft.com/office/drawing/2014/main" id="{AAF519D3-C6DD-D215-BD95-B672842121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45412" name="Slide Number Placeholder 3">
            <a:extLst>
              <a:ext uri="{FF2B5EF4-FFF2-40B4-BE49-F238E27FC236}">
                <a16:creationId xmlns:a16="http://schemas.microsoft.com/office/drawing/2014/main" id="{583BB414-E46E-F66B-37E5-DB0E06EFE3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AE8DD4C7-7A75-4243-AEBC-4E74C23EF070}" type="slidenum">
              <a:rPr lang="en-US" altLang="en-US" smtClean="0"/>
              <a:pPr fontAlgn="base">
                <a:spcBef>
                  <a:spcPct val="0"/>
                </a:spcBef>
                <a:spcAft>
                  <a:spcPct val="0"/>
                </a:spcAft>
              </a:pPr>
              <a:t>69</a:t>
            </a:fld>
            <a:endParaRPr lang="en-US"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a:extLst>
              <a:ext uri="{FF2B5EF4-FFF2-40B4-BE49-F238E27FC236}">
                <a16:creationId xmlns:a16="http://schemas.microsoft.com/office/drawing/2014/main" id="{97603152-49D5-4BCF-EA52-3B4B9FB6833B}"/>
              </a:ext>
            </a:extLst>
          </p:cNvPr>
          <p:cNvSpPr>
            <a:spLocks noGrp="1" noRot="1" noChangeAspect="1" noChangeArrowheads="1" noTextEdit="1"/>
          </p:cNvSpPr>
          <p:nvPr>
            <p:ph type="sldImg"/>
          </p:nvPr>
        </p:nvSpPr>
        <p:spPr>
          <a:ln/>
        </p:spPr>
      </p:sp>
      <p:sp>
        <p:nvSpPr>
          <p:cNvPr id="147459" name="Notes Placeholder 2">
            <a:extLst>
              <a:ext uri="{FF2B5EF4-FFF2-40B4-BE49-F238E27FC236}">
                <a16:creationId xmlns:a16="http://schemas.microsoft.com/office/drawing/2014/main" id="{98D7138A-BF89-46A4-9D2D-E3EA7EDFF3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47460" name="Slide Number Placeholder 3">
            <a:extLst>
              <a:ext uri="{FF2B5EF4-FFF2-40B4-BE49-F238E27FC236}">
                <a16:creationId xmlns:a16="http://schemas.microsoft.com/office/drawing/2014/main" id="{63DFDFEF-34E5-82AB-1B8F-BBAE852E0A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1E037462-282A-44E0-9E13-03D6CDCD2FED}" type="slidenum">
              <a:rPr lang="en-US" altLang="en-US" smtClean="0"/>
              <a:pPr fontAlgn="base">
                <a:spcBef>
                  <a:spcPct val="0"/>
                </a:spcBef>
                <a:spcAft>
                  <a:spcPct val="0"/>
                </a:spcAft>
              </a:pPr>
              <a:t>70</a:t>
            </a:fld>
            <a:endParaRPr lang="en-US"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08529F94-8B8A-40CF-D8D4-1DB72080F467}"/>
              </a:ext>
            </a:extLst>
          </p:cNvPr>
          <p:cNvSpPr>
            <a:spLocks noGrp="1" noRot="1" noChangeAspect="1" noChangeArrowheads="1" noTextEdit="1"/>
          </p:cNvSpPr>
          <p:nvPr>
            <p:ph type="sldImg"/>
          </p:nvPr>
        </p:nvSpPr>
        <p:spPr>
          <a:ln/>
        </p:spPr>
      </p:sp>
      <p:sp>
        <p:nvSpPr>
          <p:cNvPr id="149507" name="Notes Placeholder 2">
            <a:extLst>
              <a:ext uri="{FF2B5EF4-FFF2-40B4-BE49-F238E27FC236}">
                <a16:creationId xmlns:a16="http://schemas.microsoft.com/office/drawing/2014/main" id="{568CE8CA-3CA4-6291-6FA6-8C9421C39C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49508" name="Slide Number Placeholder 3">
            <a:extLst>
              <a:ext uri="{FF2B5EF4-FFF2-40B4-BE49-F238E27FC236}">
                <a16:creationId xmlns:a16="http://schemas.microsoft.com/office/drawing/2014/main" id="{A7DF1F86-16CA-2586-7B2D-E57E7B5977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867DD0B7-61AE-4698-B96E-FC57C55E9F63}" type="slidenum">
              <a:rPr lang="en-US" altLang="en-US" smtClean="0"/>
              <a:pPr fontAlgn="base">
                <a:spcBef>
                  <a:spcPct val="0"/>
                </a:spcBef>
                <a:spcAft>
                  <a:spcPct val="0"/>
                </a:spcAft>
              </a:pPr>
              <a:t>71</a:t>
            </a:fld>
            <a:endParaRPr lang="en-US"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DE70EEB9-F21D-CE09-1D7A-39D0A8DF842C}"/>
              </a:ext>
            </a:extLst>
          </p:cNvPr>
          <p:cNvSpPr>
            <a:spLocks noGrp="1" noRot="1" noChangeAspect="1" noChangeArrowheads="1" noTextEdit="1"/>
          </p:cNvSpPr>
          <p:nvPr>
            <p:ph type="sldImg"/>
          </p:nvPr>
        </p:nvSpPr>
        <p:spPr>
          <a:ln/>
        </p:spPr>
      </p:sp>
      <p:sp>
        <p:nvSpPr>
          <p:cNvPr id="151555" name="Notes Placeholder 2">
            <a:extLst>
              <a:ext uri="{FF2B5EF4-FFF2-40B4-BE49-F238E27FC236}">
                <a16:creationId xmlns:a16="http://schemas.microsoft.com/office/drawing/2014/main" id="{0A8DC27E-FB16-82E5-AB8F-A578D295DD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51556" name="Slide Number Placeholder 3">
            <a:extLst>
              <a:ext uri="{FF2B5EF4-FFF2-40B4-BE49-F238E27FC236}">
                <a16:creationId xmlns:a16="http://schemas.microsoft.com/office/drawing/2014/main" id="{8696375A-3DDC-9350-BADE-F3DA3C8A32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CA2AB25-5742-4E07-96C6-8116A9A63D22}" type="slidenum">
              <a:rPr lang="en-US" altLang="en-US" smtClean="0"/>
              <a:pPr fontAlgn="base">
                <a:spcBef>
                  <a:spcPct val="0"/>
                </a:spcBef>
                <a:spcAft>
                  <a:spcPct val="0"/>
                </a:spcAft>
              </a:pPr>
              <a:t>72</a:t>
            </a:fld>
            <a:endParaRPr lang="en-US"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a:extLst>
              <a:ext uri="{FF2B5EF4-FFF2-40B4-BE49-F238E27FC236}">
                <a16:creationId xmlns:a16="http://schemas.microsoft.com/office/drawing/2014/main" id="{72A28319-44E0-2F3A-73C6-62831551682F}"/>
              </a:ext>
            </a:extLst>
          </p:cNvPr>
          <p:cNvSpPr>
            <a:spLocks noGrp="1" noRot="1" noChangeAspect="1" noChangeArrowheads="1" noTextEdit="1"/>
          </p:cNvSpPr>
          <p:nvPr>
            <p:ph type="sldImg"/>
          </p:nvPr>
        </p:nvSpPr>
        <p:spPr>
          <a:ln/>
        </p:spPr>
      </p:sp>
      <p:sp>
        <p:nvSpPr>
          <p:cNvPr id="153603" name="Notes Placeholder 2">
            <a:extLst>
              <a:ext uri="{FF2B5EF4-FFF2-40B4-BE49-F238E27FC236}">
                <a16:creationId xmlns:a16="http://schemas.microsoft.com/office/drawing/2014/main" id="{74B73A56-C841-9A9D-27D8-8F07FD6AFB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53604" name="Slide Number Placeholder 3">
            <a:extLst>
              <a:ext uri="{FF2B5EF4-FFF2-40B4-BE49-F238E27FC236}">
                <a16:creationId xmlns:a16="http://schemas.microsoft.com/office/drawing/2014/main" id="{F503C862-CC7B-C83D-427A-1BD0AC7648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D25017B-C2A8-45CC-B051-688684739467}" type="slidenum">
              <a:rPr lang="en-US" altLang="en-US" smtClean="0"/>
              <a:pPr fontAlgn="base">
                <a:spcBef>
                  <a:spcPct val="0"/>
                </a:spcBef>
                <a:spcAft>
                  <a:spcPct val="0"/>
                </a:spcAft>
              </a:pPr>
              <a:t>73</a:t>
            </a:fld>
            <a:endParaRPr lang="en-US"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EBEF065D-99AA-F66D-520E-16784361BB6D}"/>
              </a:ext>
            </a:extLst>
          </p:cNvPr>
          <p:cNvSpPr>
            <a:spLocks noGrp="1" noRot="1" noChangeAspect="1" noChangeArrowheads="1" noTextEdit="1"/>
          </p:cNvSpPr>
          <p:nvPr>
            <p:ph type="sldImg"/>
          </p:nvPr>
        </p:nvSpPr>
        <p:spPr>
          <a:ln/>
        </p:spPr>
      </p:sp>
      <p:sp>
        <p:nvSpPr>
          <p:cNvPr id="155651" name="Notes Placeholder 2">
            <a:extLst>
              <a:ext uri="{FF2B5EF4-FFF2-40B4-BE49-F238E27FC236}">
                <a16:creationId xmlns:a16="http://schemas.microsoft.com/office/drawing/2014/main" id="{EAB5A602-A2CB-0D68-6F6E-03D9AEA0EB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55652" name="Slide Number Placeholder 3">
            <a:extLst>
              <a:ext uri="{FF2B5EF4-FFF2-40B4-BE49-F238E27FC236}">
                <a16:creationId xmlns:a16="http://schemas.microsoft.com/office/drawing/2014/main" id="{71E9DF11-4374-04BB-4FF1-ACA8269288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1922D7E-B608-4674-93BD-02B2DBC4DAC1}" type="slidenum">
              <a:rPr lang="en-US" altLang="en-US" smtClean="0"/>
              <a:pPr fontAlgn="base">
                <a:spcBef>
                  <a:spcPct val="0"/>
                </a:spcBef>
                <a:spcAft>
                  <a:spcPct val="0"/>
                </a:spcAft>
              </a:pPr>
              <a:t>74</a:t>
            </a:fld>
            <a:endParaRPr lang="en-US"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153EA330-B7F4-A2EC-A631-FDB722280D93}"/>
              </a:ext>
            </a:extLst>
          </p:cNvPr>
          <p:cNvSpPr>
            <a:spLocks noGrp="1" noRot="1" noChangeAspect="1" noChangeArrowheads="1" noTextEdit="1"/>
          </p:cNvSpPr>
          <p:nvPr>
            <p:ph type="sldImg"/>
          </p:nvPr>
        </p:nvSpPr>
        <p:spPr>
          <a:ln/>
        </p:spPr>
      </p:sp>
      <p:sp>
        <p:nvSpPr>
          <p:cNvPr id="157699" name="Notes Placeholder 2">
            <a:extLst>
              <a:ext uri="{FF2B5EF4-FFF2-40B4-BE49-F238E27FC236}">
                <a16:creationId xmlns:a16="http://schemas.microsoft.com/office/drawing/2014/main" id="{72D61B23-F630-16B7-2CC6-77107F1C65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57700" name="Slide Number Placeholder 3">
            <a:extLst>
              <a:ext uri="{FF2B5EF4-FFF2-40B4-BE49-F238E27FC236}">
                <a16:creationId xmlns:a16="http://schemas.microsoft.com/office/drawing/2014/main" id="{5305708C-D2A7-9EA2-F559-EA05B26D9AB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DAA98AA8-3F14-4091-BE46-5281106AC379}" type="slidenum">
              <a:rPr lang="en-US" altLang="en-US" smtClean="0"/>
              <a:pPr fontAlgn="base">
                <a:spcBef>
                  <a:spcPct val="0"/>
                </a:spcBef>
                <a:spcAft>
                  <a:spcPct val="0"/>
                </a:spcAft>
              </a:pPr>
              <a:t>75</a:t>
            </a:fld>
            <a:endParaRPr lang="en-US"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a:extLst>
              <a:ext uri="{FF2B5EF4-FFF2-40B4-BE49-F238E27FC236}">
                <a16:creationId xmlns:a16="http://schemas.microsoft.com/office/drawing/2014/main" id="{228B98E1-908E-18D9-4A0A-5C65C4F29600}"/>
              </a:ext>
            </a:extLst>
          </p:cNvPr>
          <p:cNvSpPr>
            <a:spLocks noGrp="1" noRot="1" noChangeAspect="1" noChangeArrowheads="1" noTextEdit="1"/>
          </p:cNvSpPr>
          <p:nvPr>
            <p:ph type="sldImg"/>
          </p:nvPr>
        </p:nvSpPr>
        <p:spPr>
          <a:ln/>
        </p:spPr>
      </p:sp>
      <p:sp>
        <p:nvSpPr>
          <p:cNvPr id="159747" name="Notes Placeholder 2">
            <a:extLst>
              <a:ext uri="{FF2B5EF4-FFF2-40B4-BE49-F238E27FC236}">
                <a16:creationId xmlns:a16="http://schemas.microsoft.com/office/drawing/2014/main" id="{4C6B02E9-40C2-316F-2911-BBF75E06BD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59748" name="Slide Number Placeholder 3">
            <a:extLst>
              <a:ext uri="{FF2B5EF4-FFF2-40B4-BE49-F238E27FC236}">
                <a16:creationId xmlns:a16="http://schemas.microsoft.com/office/drawing/2014/main" id="{87345715-AAEE-9A37-3243-8F7F2CE006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5088F0D-2D84-4CC0-B854-5FA0F89706AE}" type="slidenum">
              <a:rPr lang="en-US" altLang="en-US" smtClean="0"/>
              <a:pPr fontAlgn="base">
                <a:spcBef>
                  <a:spcPct val="0"/>
                </a:spcBef>
                <a:spcAft>
                  <a:spcPct val="0"/>
                </a:spcAft>
              </a:pPr>
              <a:t>76</a:t>
            </a:fld>
            <a:endParaRPr lang="en-US"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22D9236F-59AB-3B4A-3982-A0BF99B08088}"/>
              </a:ext>
            </a:extLst>
          </p:cNvPr>
          <p:cNvSpPr>
            <a:spLocks noGrp="1" noRot="1" noChangeAspect="1" noChangeArrowheads="1" noTextEdit="1"/>
          </p:cNvSpPr>
          <p:nvPr>
            <p:ph type="sldImg"/>
          </p:nvPr>
        </p:nvSpPr>
        <p:spPr>
          <a:ln/>
        </p:spPr>
      </p:sp>
      <p:sp>
        <p:nvSpPr>
          <p:cNvPr id="161795" name="Notes Placeholder 2">
            <a:extLst>
              <a:ext uri="{FF2B5EF4-FFF2-40B4-BE49-F238E27FC236}">
                <a16:creationId xmlns:a16="http://schemas.microsoft.com/office/drawing/2014/main" id="{E71BC7EB-5F80-701D-6E93-31EC6B8B11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61796" name="Slide Number Placeholder 3">
            <a:extLst>
              <a:ext uri="{FF2B5EF4-FFF2-40B4-BE49-F238E27FC236}">
                <a16:creationId xmlns:a16="http://schemas.microsoft.com/office/drawing/2014/main" id="{DDECF0C7-FF09-3E1C-4A39-094CB576C3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11D5DFEE-D2FE-4C26-98CD-1BCBBF3CAACF}" type="slidenum">
              <a:rPr lang="en-US" altLang="en-US" smtClean="0"/>
              <a:pPr fontAlgn="base">
                <a:spcBef>
                  <a:spcPct val="0"/>
                </a:spcBef>
                <a:spcAft>
                  <a:spcPct val="0"/>
                </a:spcAft>
              </a:pPr>
              <a:t>77</a:t>
            </a:fld>
            <a:endParaRPr lang="en-US"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F8B19FCF-338D-F298-B7EF-9CF3BF89EE86}"/>
              </a:ext>
            </a:extLst>
          </p:cNvPr>
          <p:cNvSpPr>
            <a:spLocks noGrp="1" noRot="1" noChangeAspect="1" noChangeArrowheads="1" noTextEdit="1"/>
          </p:cNvSpPr>
          <p:nvPr>
            <p:ph type="sldImg"/>
          </p:nvPr>
        </p:nvSpPr>
        <p:spPr>
          <a:ln/>
        </p:spPr>
      </p:sp>
      <p:sp>
        <p:nvSpPr>
          <p:cNvPr id="163843" name="Notes Placeholder 2">
            <a:extLst>
              <a:ext uri="{FF2B5EF4-FFF2-40B4-BE49-F238E27FC236}">
                <a16:creationId xmlns:a16="http://schemas.microsoft.com/office/drawing/2014/main" id="{7B5CE297-3924-316E-DD49-7C74D6F3D5C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63844" name="Slide Number Placeholder 3">
            <a:extLst>
              <a:ext uri="{FF2B5EF4-FFF2-40B4-BE49-F238E27FC236}">
                <a16:creationId xmlns:a16="http://schemas.microsoft.com/office/drawing/2014/main" id="{BC028626-F545-3338-D5B1-9861F9B52C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7F7A812-B748-42B9-AF94-2B5F56099DA5}" type="slidenum">
              <a:rPr lang="en-US" altLang="en-US" smtClean="0"/>
              <a:pPr fontAlgn="base">
                <a:spcBef>
                  <a:spcPct val="0"/>
                </a:spcBef>
                <a:spcAft>
                  <a:spcPct val="0"/>
                </a:spcAft>
              </a:pPr>
              <a:t>78</a:t>
            </a:fld>
            <a:endParaRPr lang="en-US"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633C6B26-8D85-1E02-1200-6EBD7DAB36D0}"/>
              </a:ext>
            </a:extLst>
          </p:cNvPr>
          <p:cNvSpPr>
            <a:spLocks noGrp="1" noRot="1" noChangeAspect="1" noChangeArrowheads="1" noTextEdit="1"/>
          </p:cNvSpPr>
          <p:nvPr>
            <p:ph type="sldImg"/>
          </p:nvPr>
        </p:nvSpPr>
        <p:spPr>
          <a:ln/>
        </p:spPr>
      </p:sp>
      <p:sp>
        <p:nvSpPr>
          <p:cNvPr id="165891" name="Notes Placeholder 2">
            <a:extLst>
              <a:ext uri="{FF2B5EF4-FFF2-40B4-BE49-F238E27FC236}">
                <a16:creationId xmlns:a16="http://schemas.microsoft.com/office/drawing/2014/main" id="{C189F3E5-1962-C7C0-1289-305FA39297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65892" name="Slide Number Placeholder 3">
            <a:extLst>
              <a:ext uri="{FF2B5EF4-FFF2-40B4-BE49-F238E27FC236}">
                <a16:creationId xmlns:a16="http://schemas.microsoft.com/office/drawing/2014/main" id="{F9DAE97D-9A8E-3B57-3F70-559F304394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96C680A-A9D6-4477-A7B9-FF002BB7303B}" type="slidenum">
              <a:rPr lang="en-US" altLang="en-US" smtClean="0"/>
              <a:pPr fontAlgn="base">
                <a:spcBef>
                  <a:spcPct val="0"/>
                </a:spcBef>
                <a:spcAft>
                  <a:spcPct val="0"/>
                </a:spcAft>
              </a:pPr>
              <a:t>79</a:t>
            </a:fld>
            <a:endParaRPr lang="en-US"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AC31825D-E41F-0708-1774-30B8CB7C7CF9}"/>
              </a:ext>
            </a:extLst>
          </p:cNvPr>
          <p:cNvSpPr>
            <a:spLocks noGrp="1" noRot="1" noChangeAspect="1" noChangeArrowheads="1" noTextEdit="1"/>
          </p:cNvSpPr>
          <p:nvPr>
            <p:ph type="sldImg"/>
          </p:nvPr>
        </p:nvSpPr>
        <p:spPr>
          <a:ln/>
        </p:spPr>
      </p:sp>
      <p:sp>
        <p:nvSpPr>
          <p:cNvPr id="167939" name="Notes Placeholder 2">
            <a:extLst>
              <a:ext uri="{FF2B5EF4-FFF2-40B4-BE49-F238E27FC236}">
                <a16:creationId xmlns:a16="http://schemas.microsoft.com/office/drawing/2014/main" id="{88D7AFBF-796E-2012-8152-BA16971036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67940" name="Slide Number Placeholder 3">
            <a:extLst>
              <a:ext uri="{FF2B5EF4-FFF2-40B4-BE49-F238E27FC236}">
                <a16:creationId xmlns:a16="http://schemas.microsoft.com/office/drawing/2014/main" id="{D3E4990D-B350-2356-4698-58B71EEEA7D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47A7E57-99BE-49FA-B03D-D339B45BF9F2}" type="slidenum">
              <a:rPr lang="en-US" altLang="en-US" smtClean="0"/>
              <a:pPr fontAlgn="base">
                <a:spcBef>
                  <a:spcPct val="0"/>
                </a:spcBef>
                <a:spcAft>
                  <a:spcPct val="0"/>
                </a:spcAft>
              </a:pPr>
              <a:t>80</a:t>
            </a:fld>
            <a:endParaRPr lang="en-US"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a:extLst>
              <a:ext uri="{FF2B5EF4-FFF2-40B4-BE49-F238E27FC236}">
                <a16:creationId xmlns:a16="http://schemas.microsoft.com/office/drawing/2014/main" id="{520356CF-8981-F143-CAAC-9B74459DDFAC}"/>
              </a:ext>
            </a:extLst>
          </p:cNvPr>
          <p:cNvSpPr>
            <a:spLocks noGrp="1" noRot="1" noChangeAspect="1" noChangeArrowheads="1" noTextEdit="1"/>
          </p:cNvSpPr>
          <p:nvPr>
            <p:ph type="sldImg"/>
          </p:nvPr>
        </p:nvSpPr>
        <p:spPr>
          <a:ln/>
        </p:spPr>
      </p:sp>
      <p:sp>
        <p:nvSpPr>
          <p:cNvPr id="169987" name="Notes Placeholder 2">
            <a:extLst>
              <a:ext uri="{FF2B5EF4-FFF2-40B4-BE49-F238E27FC236}">
                <a16:creationId xmlns:a16="http://schemas.microsoft.com/office/drawing/2014/main" id="{D1109D31-32A5-91F8-1128-E99028190D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69988" name="Slide Number Placeholder 3">
            <a:extLst>
              <a:ext uri="{FF2B5EF4-FFF2-40B4-BE49-F238E27FC236}">
                <a16:creationId xmlns:a16="http://schemas.microsoft.com/office/drawing/2014/main" id="{6F0D97E1-AAB2-0C3D-0374-C29A7619F90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4670DFE8-2E40-4F55-8847-04DE3473313B}" type="slidenum">
              <a:rPr lang="en-US" altLang="en-US" smtClean="0"/>
              <a:pPr fontAlgn="base">
                <a:spcBef>
                  <a:spcPct val="0"/>
                </a:spcBef>
                <a:spcAft>
                  <a:spcPct val="0"/>
                </a:spcAft>
              </a:pPr>
              <a:t>81</a:t>
            </a:fld>
            <a:endParaRPr lang="en-US"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a:extLst>
              <a:ext uri="{FF2B5EF4-FFF2-40B4-BE49-F238E27FC236}">
                <a16:creationId xmlns:a16="http://schemas.microsoft.com/office/drawing/2014/main" id="{77569BE9-A43E-B652-C920-7D6A218798DD}"/>
              </a:ext>
            </a:extLst>
          </p:cNvPr>
          <p:cNvSpPr>
            <a:spLocks noGrp="1" noRot="1" noChangeAspect="1" noChangeArrowheads="1" noTextEdit="1"/>
          </p:cNvSpPr>
          <p:nvPr>
            <p:ph type="sldImg"/>
          </p:nvPr>
        </p:nvSpPr>
        <p:spPr>
          <a:ln/>
        </p:spPr>
      </p:sp>
      <p:sp>
        <p:nvSpPr>
          <p:cNvPr id="172035" name="Notes Placeholder 2">
            <a:extLst>
              <a:ext uri="{FF2B5EF4-FFF2-40B4-BE49-F238E27FC236}">
                <a16:creationId xmlns:a16="http://schemas.microsoft.com/office/drawing/2014/main" id="{53F422D3-0E7E-730B-857A-4AE8DBF3EB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2036" name="Slide Number Placeholder 3">
            <a:extLst>
              <a:ext uri="{FF2B5EF4-FFF2-40B4-BE49-F238E27FC236}">
                <a16:creationId xmlns:a16="http://schemas.microsoft.com/office/drawing/2014/main" id="{E3C089DD-0EF7-71D3-2E91-1B311C72A3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BA30CC5-E0CD-4C46-9984-0143A15E90D0}" type="slidenum">
              <a:rPr lang="en-US" altLang="en-US" smtClean="0"/>
              <a:pPr fontAlgn="base">
                <a:spcBef>
                  <a:spcPct val="0"/>
                </a:spcBef>
                <a:spcAft>
                  <a:spcPct val="0"/>
                </a:spcAft>
              </a:pPr>
              <a:t>82</a:t>
            </a:fld>
            <a:endParaRPr lang="en-US"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C5F3140F-127E-3482-6AB2-3C09A87DBDEA}"/>
              </a:ext>
            </a:extLst>
          </p:cNvPr>
          <p:cNvSpPr>
            <a:spLocks noGrp="1" noRot="1" noChangeAspect="1" noChangeArrowheads="1" noTextEdit="1"/>
          </p:cNvSpPr>
          <p:nvPr>
            <p:ph type="sldImg"/>
          </p:nvPr>
        </p:nvSpPr>
        <p:spPr>
          <a:ln/>
        </p:spPr>
      </p:sp>
      <p:sp>
        <p:nvSpPr>
          <p:cNvPr id="174083" name="Notes Placeholder 2">
            <a:extLst>
              <a:ext uri="{FF2B5EF4-FFF2-40B4-BE49-F238E27FC236}">
                <a16:creationId xmlns:a16="http://schemas.microsoft.com/office/drawing/2014/main" id="{7CCC7078-8716-3331-43D8-071B664349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4084" name="Slide Number Placeholder 3">
            <a:extLst>
              <a:ext uri="{FF2B5EF4-FFF2-40B4-BE49-F238E27FC236}">
                <a16:creationId xmlns:a16="http://schemas.microsoft.com/office/drawing/2014/main" id="{14E84691-5905-BBE1-0D0F-FD7E9799F4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4783D3A-2882-4846-B2C6-5E8520D8C3F1}" type="slidenum">
              <a:rPr lang="en-US" altLang="en-US" smtClean="0"/>
              <a:pPr fontAlgn="base">
                <a:spcBef>
                  <a:spcPct val="0"/>
                </a:spcBef>
                <a:spcAft>
                  <a:spcPct val="0"/>
                </a:spcAft>
              </a:pPr>
              <a:t>83</a:t>
            </a:fld>
            <a:endParaRPr lang="en-US"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a:extLst>
              <a:ext uri="{FF2B5EF4-FFF2-40B4-BE49-F238E27FC236}">
                <a16:creationId xmlns:a16="http://schemas.microsoft.com/office/drawing/2014/main" id="{AAF3863B-E21C-DEEA-CEB9-3CEB53701BCD}"/>
              </a:ext>
            </a:extLst>
          </p:cNvPr>
          <p:cNvSpPr>
            <a:spLocks noGrp="1" noRot="1" noChangeAspect="1" noChangeArrowheads="1" noTextEdit="1"/>
          </p:cNvSpPr>
          <p:nvPr>
            <p:ph type="sldImg"/>
          </p:nvPr>
        </p:nvSpPr>
        <p:spPr>
          <a:ln/>
        </p:spPr>
      </p:sp>
      <p:sp>
        <p:nvSpPr>
          <p:cNvPr id="176131" name="Notes Placeholder 2">
            <a:extLst>
              <a:ext uri="{FF2B5EF4-FFF2-40B4-BE49-F238E27FC236}">
                <a16:creationId xmlns:a16="http://schemas.microsoft.com/office/drawing/2014/main" id="{E2F542F1-B540-95AD-30B4-87F2EE3582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6132" name="Slide Number Placeholder 3">
            <a:extLst>
              <a:ext uri="{FF2B5EF4-FFF2-40B4-BE49-F238E27FC236}">
                <a16:creationId xmlns:a16="http://schemas.microsoft.com/office/drawing/2014/main" id="{40E20160-6D43-E33D-DB2E-7DB73931CD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8694DF17-49D3-431E-BAE6-840A23FA9B62}" type="slidenum">
              <a:rPr lang="en-US" altLang="en-US" smtClean="0"/>
              <a:pPr fontAlgn="base">
                <a:spcBef>
                  <a:spcPct val="0"/>
                </a:spcBef>
                <a:spcAft>
                  <a:spcPct val="0"/>
                </a:spcAft>
              </a:pPr>
              <a:t>84</a:t>
            </a:fld>
            <a:endParaRPr lang="en-US"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a:extLst>
              <a:ext uri="{FF2B5EF4-FFF2-40B4-BE49-F238E27FC236}">
                <a16:creationId xmlns:a16="http://schemas.microsoft.com/office/drawing/2014/main" id="{F34F770B-75AE-B812-8BF6-43440D8240A3}"/>
              </a:ext>
            </a:extLst>
          </p:cNvPr>
          <p:cNvSpPr>
            <a:spLocks noGrp="1" noRot="1" noChangeAspect="1" noChangeArrowheads="1" noTextEdit="1"/>
          </p:cNvSpPr>
          <p:nvPr>
            <p:ph type="sldImg"/>
          </p:nvPr>
        </p:nvSpPr>
        <p:spPr>
          <a:ln/>
        </p:spPr>
      </p:sp>
      <p:sp>
        <p:nvSpPr>
          <p:cNvPr id="178179" name="Notes Placeholder 2">
            <a:extLst>
              <a:ext uri="{FF2B5EF4-FFF2-40B4-BE49-F238E27FC236}">
                <a16:creationId xmlns:a16="http://schemas.microsoft.com/office/drawing/2014/main" id="{A5CE6C02-C0C4-6E08-980A-75E04DCDDA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8180" name="Slide Number Placeholder 3">
            <a:extLst>
              <a:ext uri="{FF2B5EF4-FFF2-40B4-BE49-F238E27FC236}">
                <a16:creationId xmlns:a16="http://schemas.microsoft.com/office/drawing/2014/main" id="{F46B036E-503F-AF60-247E-5E00E1832E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21AE2C5-5E6A-45D2-BF4C-E1268266910A}" type="slidenum">
              <a:rPr lang="en-US" altLang="en-US" smtClean="0"/>
              <a:pPr fontAlgn="base">
                <a:spcBef>
                  <a:spcPct val="0"/>
                </a:spcBef>
                <a:spcAft>
                  <a:spcPct val="0"/>
                </a:spcAft>
              </a:pPr>
              <a:t>85</a:t>
            </a:fld>
            <a:endParaRPr lang="en-US"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a:extLst>
              <a:ext uri="{FF2B5EF4-FFF2-40B4-BE49-F238E27FC236}">
                <a16:creationId xmlns:a16="http://schemas.microsoft.com/office/drawing/2014/main" id="{93A39D12-D85F-4FF4-BA79-D7B986A7EC7B}"/>
              </a:ext>
            </a:extLst>
          </p:cNvPr>
          <p:cNvSpPr>
            <a:spLocks noGrp="1" noRot="1" noChangeAspect="1" noChangeArrowheads="1" noTextEdit="1"/>
          </p:cNvSpPr>
          <p:nvPr>
            <p:ph type="sldImg"/>
          </p:nvPr>
        </p:nvSpPr>
        <p:spPr>
          <a:ln/>
        </p:spPr>
      </p:sp>
      <p:sp>
        <p:nvSpPr>
          <p:cNvPr id="180227" name="Notes Placeholder 2">
            <a:extLst>
              <a:ext uri="{FF2B5EF4-FFF2-40B4-BE49-F238E27FC236}">
                <a16:creationId xmlns:a16="http://schemas.microsoft.com/office/drawing/2014/main" id="{E3FF0992-A828-443C-37B5-18C31EA07B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0228" name="Slide Number Placeholder 3">
            <a:extLst>
              <a:ext uri="{FF2B5EF4-FFF2-40B4-BE49-F238E27FC236}">
                <a16:creationId xmlns:a16="http://schemas.microsoft.com/office/drawing/2014/main" id="{FEB6EC6E-C9B9-E3E4-2FD9-92B5350D2F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A9A465D0-C614-4E1D-99F3-EC93ED9C5AEE}" type="slidenum">
              <a:rPr lang="en-US" altLang="en-US" smtClean="0"/>
              <a:pPr fontAlgn="base">
                <a:spcBef>
                  <a:spcPct val="0"/>
                </a:spcBef>
                <a:spcAft>
                  <a:spcPct val="0"/>
                </a:spcAft>
              </a:pPr>
              <a:t>86</a:t>
            </a:fld>
            <a:endParaRPr lang="en-US"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a:extLst>
              <a:ext uri="{FF2B5EF4-FFF2-40B4-BE49-F238E27FC236}">
                <a16:creationId xmlns:a16="http://schemas.microsoft.com/office/drawing/2014/main" id="{6703685A-3327-5AE3-0A99-13CD595DC3C3}"/>
              </a:ext>
            </a:extLst>
          </p:cNvPr>
          <p:cNvSpPr>
            <a:spLocks noGrp="1" noRot="1" noChangeAspect="1" noChangeArrowheads="1" noTextEdit="1"/>
          </p:cNvSpPr>
          <p:nvPr>
            <p:ph type="sldImg"/>
          </p:nvPr>
        </p:nvSpPr>
        <p:spPr>
          <a:ln/>
        </p:spPr>
      </p:sp>
      <p:sp>
        <p:nvSpPr>
          <p:cNvPr id="182275" name="Notes Placeholder 2">
            <a:extLst>
              <a:ext uri="{FF2B5EF4-FFF2-40B4-BE49-F238E27FC236}">
                <a16:creationId xmlns:a16="http://schemas.microsoft.com/office/drawing/2014/main" id="{BEAFC5EE-E189-0CD8-8402-35713C2BBD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2276" name="Slide Number Placeholder 3">
            <a:extLst>
              <a:ext uri="{FF2B5EF4-FFF2-40B4-BE49-F238E27FC236}">
                <a16:creationId xmlns:a16="http://schemas.microsoft.com/office/drawing/2014/main" id="{A8F7BA5E-EBBD-C6A1-D917-B51645BE7F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D1D80CE-FBFC-461D-8D41-EB8E7BFC0E40}" type="slidenum">
              <a:rPr lang="en-US" altLang="en-US" smtClean="0"/>
              <a:pPr fontAlgn="base">
                <a:spcBef>
                  <a:spcPct val="0"/>
                </a:spcBef>
                <a:spcAft>
                  <a:spcPct val="0"/>
                </a:spcAft>
              </a:pPr>
              <a:t>87</a:t>
            </a:fld>
            <a:endParaRPr lang="en-US"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a:extLst>
              <a:ext uri="{FF2B5EF4-FFF2-40B4-BE49-F238E27FC236}">
                <a16:creationId xmlns:a16="http://schemas.microsoft.com/office/drawing/2014/main" id="{D5B8AA21-49C3-AB2A-8BD9-95DBCC9ED81E}"/>
              </a:ext>
            </a:extLst>
          </p:cNvPr>
          <p:cNvSpPr>
            <a:spLocks noGrp="1" noRot="1" noChangeAspect="1" noChangeArrowheads="1" noTextEdit="1"/>
          </p:cNvSpPr>
          <p:nvPr>
            <p:ph type="sldImg"/>
          </p:nvPr>
        </p:nvSpPr>
        <p:spPr>
          <a:ln/>
        </p:spPr>
      </p:sp>
      <p:sp>
        <p:nvSpPr>
          <p:cNvPr id="184323" name="Notes Placeholder 2">
            <a:extLst>
              <a:ext uri="{FF2B5EF4-FFF2-40B4-BE49-F238E27FC236}">
                <a16:creationId xmlns:a16="http://schemas.microsoft.com/office/drawing/2014/main" id="{4BD91C63-2CBD-A645-6264-150C59EA7D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4324" name="Slide Number Placeholder 3">
            <a:extLst>
              <a:ext uri="{FF2B5EF4-FFF2-40B4-BE49-F238E27FC236}">
                <a16:creationId xmlns:a16="http://schemas.microsoft.com/office/drawing/2014/main" id="{1049483B-69D4-E4C3-CF16-28037DF755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606B50D9-C62D-4126-BD5C-2CE6A1B9F1D2}" type="slidenum">
              <a:rPr lang="en-US" altLang="en-US" smtClean="0"/>
              <a:pPr fontAlgn="base">
                <a:spcBef>
                  <a:spcPct val="0"/>
                </a:spcBef>
                <a:spcAft>
                  <a:spcPct val="0"/>
                </a:spcAft>
              </a:pPr>
              <a:t>88</a:t>
            </a:fld>
            <a:endParaRPr lang="en-US"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a:extLst>
              <a:ext uri="{FF2B5EF4-FFF2-40B4-BE49-F238E27FC236}">
                <a16:creationId xmlns:a16="http://schemas.microsoft.com/office/drawing/2014/main" id="{EE5426BD-17C7-EDAA-CAFA-DC9F023A0A54}"/>
              </a:ext>
            </a:extLst>
          </p:cNvPr>
          <p:cNvSpPr>
            <a:spLocks noGrp="1" noRot="1" noChangeAspect="1" noChangeArrowheads="1" noTextEdit="1"/>
          </p:cNvSpPr>
          <p:nvPr>
            <p:ph type="sldImg"/>
          </p:nvPr>
        </p:nvSpPr>
        <p:spPr>
          <a:ln/>
        </p:spPr>
      </p:sp>
      <p:sp>
        <p:nvSpPr>
          <p:cNvPr id="186371" name="Notes Placeholder 2">
            <a:extLst>
              <a:ext uri="{FF2B5EF4-FFF2-40B4-BE49-F238E27FC236}">
                <a16:creationId xmlns:a16="http://schemas.microsoft.com/office/drawing/2014/main" id="{8EC5E1F0-982E-CE6A-DF1C-4329795448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6372" name="Slide Number Placeholder 3">
            <a:extLst>
              <a:ext uri="{FF2B5EF4-FFF2-40B4-BE49-F238E27FC236}">
                <a16:creationId xmlns:a16="http://schemas.microsoft.com/office/drawing/2014/main" id="{7F2C32CD-6C78-50C9-87BA-6E9891C6D9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960B016-91EE-4032-AB78-63D177EB0900}" type="slidenum">
              <a:rPr lang="en-US" altLang="en-US" smtClean="0"/>
              <a:pPr fontAlgn="base">
                <a:spcBef>
                  <a:spcPct val="0"/>
                </a:spcBef>
                <a:spcAft>
                  <a:spcPct val="0"/>
                </a:spcAft>
              </a:pPr>
              <a:t>89</a:t>
            </a:fld>
            <a:endParaRPr lang="en-US"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a:extLst>
              <a:ext uri="{FF2B5EF4-FFF2-40B4-BE49-F238E27FC236}">
                <a16:creationId xmlns:a16="http://schemas.microsoft.com/office/drawing/2014/main" id="{F75BAA8A-3006-2925-67AF-56B08436FE6D}"/>
              </a:ext>
            </a:extLst>
          </p:cNvPr>
          <p:cNvSpPr>
            <a:spLocks noGrp="1" noRot="1" noChangeAspect="1" noChangeArrowheads="1" noTextEdit="1"/>
          </p:cNvSpPr>
          <p:nvPr>
            <p:ph type="sldImg"/>
          </p:nvPr>
        </p:nvSpPr>
        <p:spPr>
          <a:ln/>
        </p:spPr>
      </p:sp>
      <p:sp>
        <p:nvSpPr>
          <p:cNvPr id="188419" name="Notes Placeholder 2">
            <a:extLst>
              <a:ext uri="{FF2B5EF4-FFF2-40B4-BE49-F238E27FC236}">
                <a16:creationId xmlns:a16="http://schemas.microsoft.com/office/drawing/2014/main" id="{26800B14-DE72-4FB2-BE8F-C47C822272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8420" name="Slide Number Placeholder 3">
            <a:extLst>
              <a:ext uri="{FF2B5EF4-FFF2-40B4-BE49-F238E27FC236}">
                <a16:creationId xmlns:a16="http://schemas.microsoft.com/office/drawing/2014/main" id="{3439FEE7-3E73-12AE-6576-3BCED4B76F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6D085A9-899C-4A17-BA6A-D5FF73BCD832}" type="slidenum">
              <a:rPr lang="en-US" altLang="en-US" smtClean="0"/>
              <a:pPr fontAlgn="base">
                <a:spcBef>
                  <a:spcPct val="0"/>
                </a:spcBef>
                <a:spcAft>
                  <a:spcPct val="0"/>
                </a:spcAft>
              </a:pPr>
              <a:t>90</a:t>
            </a:fld>
            <a:endParaRPr lang="en-US"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a:extLst>
              <a:ext uri="{FF2B5EF4-FFF2-40B4-BE49-F238E27FC236}">
                <a16:creationId xmlns:a16="http://schemas.microsoft.com/office/drawing/2014/main" id="{7DAFB9E6-0FB1-0072-EB0D-457BB50E315B}"/>
              </a:ext>
            </a:extLst>
          </p:cNvPr>
          <p:cNvSpPr>
            <a:spLocks noGrp="1" noRot="1" noChangeAspect="1" noChangeArrowheads="1" noTextEdit="1"/>
          </p:cNvSpPr>
          <p:nvPr>
            <p:ph type="sldImg"/>
          </p:nvPr>
        </p:nvSpPr>
        <p:spPr>
          <a:ln/>
        </p:spPr>
      </p:sp>
      <p:sp>
        <p:nvSpPr>
          <p:cNvPr id="190467" name="Notes Placeholder 2">
            <a:extLst>
              <a:ext uri="{FF2B5EF4-FFF2-40B4-BE49-F238E27FC236}">
                <a16:creationId xmlns:a16="http://schemas.microsoft.com/office/drawing/2014/main" id="{9477F6C5-72B6-A4D2-3FBA-B73E3220A4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0468" name="Slide Number Placeholder 3">
            <a:extLst>
              <a:ext uri="{FF2B5EF4-FFF2-40B4-BE49-F238E27FC236}">
                <a16:creationId xmlns:a16="http://schemas.microsoft.com/office/drawing/2014/main" id="{E2E68198-31F9-AFEC-122C-DBE9769226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FBDC9A45-1AF2-460E-80A0-DAFC7BA63E58}" type="slidenum">
              <a:rPr lang="en-US" altLang="en-US" smtClean="0"/>
              <a:pPr fontAlgn="base">
                <a:spcBef>
                  <a:spcPct val="0"/>
                </a:spcBef>
                <a:spcAft>
                  <a:spcPct val="0"/>
                </a:spcAft>
              </a:pPr>
              <a:t>91</a:t>
            </a:fld>
            <a:endParaRPr lang="en-US"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a:extLst>
              <a:ext uri="{FF2B5EF4-FFF2-40B4-BE49-F238E27FC236}">
                <a16:creationId xmlns:a16="http://schemas.microsoft.com/office/drawing/2014/main" id="{6C11123E-24E4-C700-3D3F-AD8F1E6309B4}"/>
              </a:ext>
            </a:extLst>
          </p:cNvPr>
          <p:cNvSpPr>
            <a:spLocks noGrp="1" noRot="1" noChangeAspect="1" noChangeArrowheads="1" noTextEdit="1"/>
          </p:cNvSpPr>
          <p:nvPr>
            <p:ph type="sldImg"/>
          </p:nvPr>
        </p:nvSpPr>
        <p:spPr>
          <a:ln/>
        </p:spPr>
      </p:sp>
      <p:sp>
        <p:nvSpPr>
          <p:cNvPr id="192515" name="Notes Placeholder 2">
            <a:extLst>
              <a:ext uri="{FF2B5EF4-FFF2-40B4-BE49-F238E27FC236}">
                <a16:creationId xmlns:a16="http://schemas.microsoft.com/office/drawing/2014/main" id="{6CB25F37-E7D3-45CF-2ED0-D44AA27A5B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2516" name="Slide Number Placeholder 3">
            <a:extLst>
              <a:ext uri="{FF2B5EF4-FFF2-40B4-BE49-F238E27FC236}">
                <a16:creationId xmlns:a16="http://schemas.microsoft.com/office/drawing/2014/main" id="{529938E7-D612-8495-5C37-56062FD5E8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C9D8FC5-7C46-4212-BF47-4DA83F16BD9F}" type="slidenum">
              <a:rPr lang="en-US" altLang="en-US" smtClean="0"/>
              <a:pPr fontAlgn="base">
                <a:spcBef>
                  <a:spcPct val="0"/>
                </a:spcBef>
                <a:spcAft>
                  <a:spcPct val="0"/>
                </a:spcAft>
              </a:pPr>
              <a:t>92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2561A6-16A3-454A-A91A-67FC7B3E07B5}" type="datetime1">
              <a:rPr lang="en-US" smtClean="0"/>
              <a:t>9/30/2025</a:t>
            </a:fld>
            <a:endParaRPr lang="en-US" dirty="0"/>
          </a:p>
        </p:txBody>
      </p:sp>
      <p:sp>
        <p:nvSpPr>
          <p:cNvPr id="5" name="Footer Placeholder 4"/>
          <p:cNvSpPr>
            <a:spLocks noGrp="1"/>
          </p:cNvSpPr>
          <p:nvPr>
            <p:ph type="ftr" sz="quarter" idx="11"/>
          </p:nvPr>
        </p:nvSpPr>
        <p:spPr/>
        <p:txBody>
          <a:bodyPr/>
          <a:lstStyle/>
          <a:p>
            <a:r>
              <a:rPr lang="en-US"/>
              <a:t>Copyrighted by Arun Sen</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8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15C050-4361-4729-BDAD-C296EA05FFB4}" type="datetime1">
              <a:rPr lang="en-US" smtClean="0"/>
              <a:t>9/30/2025</a:t>
            </a:fld>
            <a:endParaRPr lang="en-US" dirty="0"/>
          </a:p>
        </p:txBody>
      </p:sp>
      <p:sp>
        <p:nvSpPr>
          <p:cNvPr id="5" name="Footer Placeholder 4"/>
          <p:cNvSpPr>
            <a:spLocks noGrp="1"/>
          </p:cNvSpPr>
          <p:nvPr>
            <p:ph type="ftr" sz="quarter" idx="11"/>
          </p:nvPr>
        </p:nvSpPr>
        <p:spPr/>
        <p:txBody>
          <a:bodyPr/>
          <a:lstStyle/>
          <a:p>
            <a:r>
              <a:rPr lang="en-US"/>
              <a:t>Copyrighted by Arun Sen</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6160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376A96-A85F-48DB-B8CB-0AC59E7B1040}" type="datetime1">
              <a:rPr lang="en-US" smtClean="0"/>
              <a:t>9/30/2025</a:t>
            </a:fld>
            <a:endParaRPr lang="en-US" dirty="0"/>
          </a:p>
        </p:txBody>
      </p:sp>
      <p:sp>
        <p:nvSpPr>
          <p:cNvPr id="5" name="Footer Placeholder 4"/>
          <p:cNvSpPr>
            <a:spLocks noGrp="1"/>
          </p:cNvSpPr>
          <p:nvPr>
            <p:ph type="ftr" sz="quarter" idx="11"/>
          </p:nvPr>
        </p:nvSpPr>
        <p:spPr/>
        <p:txBody>
          <a:bodyPr/>
          <a:lstStyle/>
          <a:p>
            <a:r>
              <a:rPr lang="en-US"/>
              <a:t>Copyrighted by Arun Sen</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78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A6FDE7-EDB0-4ADA-96B2-AE776BD5027B}" type="datetime1">
              <a:rPr lang="en-US" smtClean="0"/>
              <a:t>9/30/2025</a:t>
            </a:fld>
            <a:endParaRPr lang="en-US" dirty="0"/>
          </a:p>
        </p:txBody>
      </p:sp>
      <p:sp>
        <p:nvSpPr>
          <p:cNvPr id="6" name="Footer Placeholder 5"/>
          <p:cNvSpPr>
            <a:spLocks noGrp="1"/>
          </p:cNvSpPr>
          <p:nvPr>
            <p:ph type="ftr" sz="quarter" idx="11"/>
          </p:nvPr>
        </p:nvSpPr>
        <p:spPr/>
        <p:txBody>
          <a:bodyPr/>
          <a:lstStyle/>
          <a:p>
            <a:r>
              <a:rPr lang="en-US"/>
              <a:t>Copyrighted by Arun Sen</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622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0FFF44-D5AB-42AD-BB17-01A8699BDCF5}" type="datetime1">
              <a:rPr lang="en-US" smtClean="0"/>
              <a:t>9/30/2025</a:t>
            </a:fld>
            <a:endParaRPr lang="en-US" dirty="0"/>
          </a:p>
        </p:txBody>
      </p:sp>
      <p:sp>
        <p:nvSpPr>
          <p:cNvPr id="8" name="Footer Placeholder 7"/>
          <p:cNvSpPr>
            <a:spLocks noGrp="1"/>
          </p:cNvSpPr>
          <p:nvPr>
            <p:ph type="ftr" sz="quarter" idx="11"/>
          </p:nvPr>
        </p:nvSpPr>
        <p:spPr/>
        <p:txBody>
          <a:bodyPr/>
          <a:lstStyle/>
          <a:p>
            <a:r>
              <a:rPr lang="en-US"/>
              <a:t>Copyrighted by Arun Sen</a:t>
            </a:r>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044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4D3681-AFD0-428B-87FC-F04F1D872D73}" type="datetime1">
              <a:rPr lang="en-US" smtClean="0"/>
              <a:t>9/30/2025</a:t>
            </a:fld>
            <a:endParaRPr lang="en-US" dirty="0"/>
          </a:p>
        </p:txBody>
      </p:sp>
      <p:sp>
        <p:nvSpPr>
          <p:cNvPr id="4" name="Footer Placeholder 3"/>
          <p:cNvSpPr>
            <a:spLocks noGrp="1"/>
          </p:cNvSpPr>
          <p:nvPr>
            <p:ph type="ftr" sz="quarter" idx="11"/>
          </p:nvPr>
        </p:nvSpPr>
        <p:spPr/>
        <p:txBody>
          <a:bodyPr/>
          <a:lstStyle/>
          <a:p>
            <a:r>
              <a:rPr lang="en-US"/>
              <a:t>Copyrighted by Arun Sen</a:t>
            </a:r>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79569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8DAD733-B9CB-400E-9F76-266755D01B7A}" type="datetime1">
              <a:rPr lang="en-US" smtClean="0"/>
              <a:t>9/30/2025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Copyrighted by Arun Sen</a:t>
            </a:r>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08930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FAB9E1E-D8C4-4AB9-BC36-2BDB5020B5CE}" type="datetime1">
              <a:rPr lang="en-US" smtClean="0"/>
              <a:t>9/30/2025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Copyrighted by Arun Sen</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4317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AE8416-01F8-4D70-99DD-7F272B8B37D5}" type="datetime1">
              <a:rPr lang="en-US" smtClean="0"/>
              <a:t>9/30/2025</a:t>
            </a:fld>
            <a:endParaRPr lang="en-US" dirty="0"/>
          </a:p>
        </p:txBody>
      </p:sp>
      <p:sp>
        <p:nvSpPr>
          <p:cNvPr id="6" name="Footer Placeholder 5"/>
          <p:cNvSpPr>
            <a:spLocks noGrp="1"/>
          </p:cNvSpPr>
          <p:nvPr>
            <p:ph type="ftr" sz="quarter" idx="11"/>
          </p:nvPr>
        </p:nvSpPr>
        <p:spPr/>
        <p:txBody>
          <a:bodyPr/>
          <a:lstStyle/>
          <a:p>
            <a:r>
              <a:rPr lang="en-US"/>
              <a:t>Copyrighted by Arun Sen</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64502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2619FC-281E-4CA3-BFE4-550F6B793943}" type="datetime1">
              <a:rPr lang="en-US" smtClean="0"/>
              <a:t>9/30/2025</a:t>
            </a:fld>
            <a:endParaRPr lang="en-US" dirty="0"/>
          </a:p>
        </p:txBody>
      </p:sp>
      <p:sp>
        <p:nvSpPr>
          <p:cNvPr id="5" name="Footer Placeholder 4"/>
          <p:cNvSpPr>
            <a:spLocks noGrp="1"/>
          </p:cNvSpPr>
          <p:nvPr>
            <p:ph type="ftr" sz="quarter" idx="11"/>
          </p:nvPr>
        </p:nvSpPr>
        <p:spPr/>
        <p:txBody>
          <a:bodyPr/>
          <a:lstStyle/>
          <a:p>
            <a:r>
              <a:rPr lang="en-US"/>
              <a:t>Copyrighted by Arun Sen</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3815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AD873-C36B-4FA1-81E8-C146A4EF2935}" type="datetime1">
              <a:rPr lang="en-US" smtClean="0"/>
              <a:t>9/30/2025</a:t>
            </a:fld>
            <a:endParaRPr lang="en-US" dirty="0"/>
          </a:p>
        </p:txBody>
      </p:sp>
      <p:sp>
        <p:nvSpPr>
          <p:cNvPr id="5" name="Footer Placeholder 4"/>
          <p:cNvSpPr>
            <a:spLocks noGrp="1"/>
          </p:cNvSpPr>
          <p:nvPr>
            <p:ph type="ftr" sz="quarter" idx="11"/>
          </p:nvPr>
        </p:nvSpPr>
        <p:spPr/>
        <p:txBody>
          <a:bodyPr/>
          <a:lstStyle/>
          <a:p>
            <a:r>
              <a:rPr lang="en-US"/>
              <a:t>Copyrighted by Arun Sen</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58516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219200" y="277813"/>
            <a:ext cx="10363200" cy="5853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6BDE01BD-735F-485A-96E9-EA069DAF542C}"/>
              </a:ext>
            </a:extLst>
          </p:cNvPr>
          <p:cNvSpPr>
            <a:spLocks noGrp="1"/>
          </p:cNvSpPr>
          <p:nvPr>
            <p:ph type="dt" sz="half" idx="10"/>
          </p:nvPr>
        </p:nvSpPr>
        <p:spPr/>
        <p:txBody>
          <a:bodyPr/>
          <a:lstStyle>
            <a:lvl1pPr>
              <a:defRPr/>
            </a:lvl1pPr>
          </a:lstStyle>
          <a:p>
            <a:pPr>
              <a:defRPr/>
            </a:pPr>
            <a:fld id="{4E2FF556-F7A7-4DF6-83EB-CA4527FFD881}" type="datetime1">
              <a:rPr lang="en-US" smtClean="0"/>
              <a:t>9/30/2025</a:t>
            </a:fld>
            <a:endParaRPr lang="en-US"/>
          </a:p>
        </p:txBody>
      </p:sp>
      <p:sp>
        <p:nvSpPr>
          <p:cNvPr id="4" name="Footer Placeholder 4">
            <a:extLst>
              <a:ext uri="{FF2B5EF4-FFF2-40B4-BE49-F238E27FC236}">
                <a16:creationId xmlns:a16="http://schemas.microsoft.com/office/drawing/2014/main" id="{DCFCFB3D-A912-BABB-1529-44FE9F461A3A}"/>
              </a:ext>
            </a:extLst>
          </p:cNvPr>
          <p:cNvSpPr>
            <a:spLocks noGrp="1"/>
          </p:cNvSpPr>
          <p:nvPr>
            <p:ph type="ftr" sz="quarter" idx="11"/>
          </p:nvPr>
        </p:nvSpPr>
        <p:spPr/>
        <p:txBody>
          <a:bodyPr/>
          <a:lstStyle>
            <a:lvl1pPr>
              <a:defRPr/>
            </a:lvl1pPr>
          </a:lstStyle>
          <a:p>
            <a:pPr>
              <a:defRPr/>
            </a:pPr>
            <a:r>
              <a:rPr lang="en-US"/>
              <a:t>Copyrighted by Arun Sen</a:t>
            </a:r>
          </a:p>
        </p:txBody>
      </p:sp>
      <p:sp>
        <p:nvSpPr>
          <p:cNvPr id="5" name="Slide Number Placeholder 5">
            <a:extLst>
              <a:ext uri="{FF2B5EF4-FFF2-40B4-BE49-F238E27FC236}">
                <a16:creationId xmlns:a16="http://schemas.microsoft.com/office/drawing/2014/main" id="{5C346946-1CBA-8482-B0F0-B78D4D205DBA}"/>
              </a:ext>
            </a:extLst>
          </p:cNvPr>
          <p:cNvSpPr>
            <a:spLocks noGrp="1"/>
          </p:cNvSpPr>
          <p:nvPr>
            <p:ph type="sldNum" sz="quarter" idx="12"/>
          </p:nvPr>
        </p:nvSpPr>
        <p:spPr/>
        <p:txBody>
          <a:bodyPr/>
          <a:lstStyle>
            <a:lvl1pPr>
              <a:defRPr/>
            </a:lvl1pPr>
          </a:lstStyle>
          <a:p>
            <a:pPr>
              <a:defRPr/>
            </a:pPr>
            <a:fld id="{52DE3D2B-90C6-49CB-B6F8-B3D467A82AA5}" type="slidenum">
              <a:rPr lang="en-US" altLang="en-US"/>
              <a:pPr>
                <a:defRPr/>
              </a:pPr>
              <a:t>‹#›</a:t>
            </a:fld>
            <a:endParaRPr lang="en-US" altLang="en-US"/>
          </a:p>
        </p:txBody>
      </p:sp>
    </p:spTree>
    <p:extLst>
      <p:ext uri="{BB962C8B-B14F-4D97-AF65-F5344CB8AC3E}">
        <p14:creationId xmlns:p14="http://schemas.microsoft.com/office/powerpoint/2010/main" val="839813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CC15542-AD86-4850-A852-F1CE9BEBDBF7}" type="datetime1">
              <a:rPr lang="en-US" smtClean="0"/>
              <a:t>9/30/2025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Copyrighted by Arun Sen</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9E57DC2-970A-4B3E-BB1C-7A09969E49DF}"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59293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hyperlink" Target="https://azureforeducation.microsoft.com/devtools" TargetMode="External"/><Relationship Id="rId5" Type="http://schemas.openxmlformats.org/officeDocument/2006/relationships/hyperlink" Target="https://www.youtube.com/watch?v=I_rxqSJAj6U" TargetMode="External"/><Relationship Id="rId4" Type="http://schemas.openxmlformats.org/officeDocument/2006/relationships/hyperlink" Target="https://lucid.app/lucidchart/6f67e4b8-b2d4-40c5-b61e-a8b426c2f487/edit?beaconFlowId=81B2705DE817D131&amp;page=0_0#?folder_id=home&amp;browser=ico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normal-forms-in-dbms/"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7.e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3.xml"/><Relationship Id="rId1" Type="http://schemas.openxmlformats.org/officeDocument/2006/relationships/slideLayout" Target="../slideLayouts/slideLayout6.xml"/><Relationship Id="rId4" Type="http://schemas.openxmlformats.org/officeDocument/2006/relationships/hyperlink" Target="http://www.youtube.com/watch?v=A-G5UVohwQQ"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8.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9.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8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80.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1.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2.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57EF099-15AF-4169-A285-740CE3D296A9}"/>
              </a:ext>
            </a:extLst>
          </p:cNvPr>
          <p:cNvSpPr>
            <a:spLocks noGrp="1"/>
          </p:cNvSpPr>
          <p:nvPr>
            <p:ph type="ctrTitle"/>
          </p:nvPr>
        </p:nvSpPr>
        <p:spPr>
          <a:xfrm>
            <a:off x="492370" y="605896"/>
            <a:ext cx="3084844" cy="5646208"/>
          </a:xfrm>
        </p:spPr>
        <p:txBody>
          <a:bodyPr vert="horz" lIns="91440" tIns="45720" rIns="91440" bIns="45720" rtlCol="0" anchor="ctr">
            <a:normAutofit/>
          </a:bodyPr>
          <a:lstStyle/>
          <a:p>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r>
              <a:rPr lang="en-US" sz="2800" b="1" cap="small" dirty="0">
                <a:solidFill>
                  <a:srgbClr val="FFFFFF"/>
                </a:solidFill>
              </a:rPr>
              <a:t>Task 3a.  data base design in </a:t>
            </a:r>
            <a:br>
              <a:rPr lang="en-US" sz="2800" b="1" cap="small" dirty="0">
                <a:solidFill>
                  <a:srgbClr val="FFFFFF"/>
                </a:solidFill>
              </a:rPr>
            </a:br>
            <a:r>
              <a:rPr lang="en-US" sz="2800" b="1" cap="small" dirty="0">
                <a:solidFill>
                  <a:srgbClr val="FFFFFF"/>
                </a:solidFill>
              </a:rPr>
              <a:t>Data Warehousing Process</a:t>
            </a:r>
            <a:endParaRPr lang="en-US" sz="2800" dirty="0">
              <a:solidFill>
                <a:srgbClr val="FFFFFF"/>
              </a:solidFill>
            </a:endParaRP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463B8327-E815-4464-8B4C-278C0CC0F25F}"/>
              </a:ext>
            </a:extLst>
          </p:cNvPr>
          <p:cNvSpPr>
            <a:spLocks noGrp="1"/>
          </p:cNvSpPr>
          <p:nvPr>
            <p:ph type="subTitle" idx="1"/>
          </p:nvPr>
        </p:nvSpPr>
        <p:spPr>
          <a:xfrm>
            <a:off x="4670612" y="605896"/>
            <a:ext cx="6485067" cy="5661926"/>
          </a:xfrm>
        </p:spPr>
        <p:txBody>
          <a:bodyPr vert="horz" lIns="0" tIns="45720" rIns="0" bIns="45720" rtlCol="0" anchor="ctr">
            <a:normAutofit/>
          </a:bodyPr>
          <a:lstStyle/>
          <a:p>
            <a:r>
              <a:rPr lang="en-US" altLang="en-US" dirty="0">
                <a:solidFill>
                  <a:schemeClr val="tx1">
                    <a:lumMod val="75000"/>
                    <a:lumOff val="25000"/>
                  </a:schemeClr>
                </a:solidFill>
                <a:latin typeface="+mn-lt"/>
              </a:rPr>
              <a:t>Arun Sen</a:t>
            </a:r>
          </a:p>
          <a:p>
            <a:r>
              <a:rPr lang="en-US" altLang="en-US" dirty="0">
                <a:solidFill>
                  <a:schemeClr val="tx1">
                    <a:lumMod val="75000"/>
                    <a:lumOff val="25000"/>
                  </a:schemeClr>
                </a:solidFill>
                <a:latin typeface="+mn-lt"/>
              </a:rPr>
              <a:t>Department of Information &amp; Operations Mgmt.</a:t>
            </a:r>
          </a:p>
          <a:p>
            <a:r>
              <a:rPr lang="en-US" altLang="en-US" dirty="0">
                <a:solidFill>
                  <a:schemeClr val="tx1">
                    <a:lumMod val="75000"/>
                    <a:lumOff val="25000"/>
                  </a:schemeClr>
                </a:solidFill>
                <a:latin typeface="+mn-lt"/>
              </a:rPr>
              <a:t>Mays Business School</a:t>
            </a:r>
          </a:p>
          <a:p>
            <a:r>
              <a:rPr lang="en-US" altLang="en-US" dirty="0">
                <a:solidFill>
                  <a:schemeClr val="tx1">
                    <a:lumMod val="75000"/>
                    <a:lumOff val="25000"/>
                  </a:schemeClr>
                </a:solidFill>
                <a:latin typeface="+mn-lt"/>
              </a:rPr>
              <a:t>Texas A&amp;M University</a:t>
            </a:r>
          </a:p>
        </p:txBody>
      </p:sp>
    </p:spTree>
    <p:extLst>
      <p:ext uri="{BB962C8B-B14F-4D97-AF65-F5344CB8AC3E}">
        <p14:creationId xmlns:p14="http://schemas.microsoft.com/office/powerpoint/2010/main" val="104001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01C860F-BAB1-0F16-845D-56DBB27BA2BD}"/>
              </a:ext>
            </a:extLst>
          </p:cNvPr>
          <p:cNvSpPr>
            <a:spLocks noGrp="1" noChangeArrowheads="1"/>
          </p:cNvSpPr>
          <p:nvPr>
            <p:ph type="title"/>
          </p:nvPr>
        </p:nvSpPr>
        <p:spPr>
          <a:xfrm>
            <a:off x="1813082" y="318264"/>
            <a:ext cx="9143684" cy="1210890"/>
          </a:xfrm>
        </p:spPr>
        <p:txBody>
          <a:bodyPr>
            <a:normAutofit fontScale="90000"/>
          </a:bodyPr>
          <a:lstStyle/>
          <a:p>
            <a:pPr algn="ctr"/>
            <a:r>
              <a:rPr lang="en-US" altLang="en-US" b="1" dirty="0">
                <a:solidFill>
                  <a:srgbClr val="C00000"/>
                </a:solidFill>
              </a:rPr>
              <a:t>Following the Data Warehousing Process</a:t>
            </a:r>
          </a:p>
        </p:txBody>
      </p:sp>
      <p:sp>
        <p:nvSpPr>
          <p:cNvPr id="3" name="Date Placeholder 2">
            <a:extLst>
              <a:ext uri="{FF2B5EF4-FFF2-40B4-BE49-F238E27FC236}">
                <a16:creationId xmlns:a16="http://schemas.microsoft.com/office/drawing/2014/main" id="{4B0AFE6C-5E45-4CFD-C9DA-E886EA3FC566}"/>
              </a:ext>
            </a:extLst>
          </p:cNvPr>
          <p:cNvSpPr>
            <a:spLocks noGrp="1"/>
          </p:cNvSpPr>
          <p:nvPr>
            <p:ph type="dt" sz="quarter" idx="10"/>
          </p:nvPr>
        </p:nvSpPr>
        <p:spPr/>
        <p:txBody>
          <a:bodyPr/>
          <a:lstStyle/>
          <a:p>
            <a:pPr>
              <a:defRPr/>
            </a:pPr>
            <a:fld id="{6D53772D-42BD-4B58-B0EE-31B617BF5796}" type="datetime1">
              <a:rPr lang="en-US" smtClean="0"/>
              <a:t>9/30/2025</a:t>
            </a:fld>
            <a:endParaRPr lang="en-US"/>
          </a:p>
        </p:txBody>
      </p:sp>
      <p:sp>
        <p:nvSpPr>
          <p:cNvPr id="4" name="Footer Placeholder 3">
            <a:extLst>
              <a:ext uri="{FF2B5EF4-FFF2-40B4-BE49-F238E27FC236}">
                <a16:creationId xmlns:a16="http://schemas.microsoft.com/office/drawing/2014/main" id="{0547FBDC-5C50-80C9-80A7-AC296BA20E21}"/>
              </a:ext>
            </a:extLst>
          </p:cNvPr>
          <p:cNvSpPr>
            <a:spLocks noGrp="1"/>
          </p:cNvSpPr>
          <p:nvPr>
            <p:ph type="ftr" sz="quarter" idx="11"/>
          </p:nvPr>
        </p:nvSpPr>
        <p:spPr/>
        <p:txBody>
          <a:bodyPr/>
          <a:lstStyle/>
          <a:p>
            <a:pPr>
              <a:defRPr/>
            </a:pPr>
            <a:r>
              <a:rPr lang="en-US" dirty="0"/>
              <a:t>Copyrighted by Arun Sen</a:t>
            </a:r>
          </a:p>
        </p:txBody>
      </p:sp>
      <p:sp>
        <p:nvSpPr>
          <p:cNvPr id="5" name="Slide Number Placeholder 4">
            <a:extLst>
              <a:ext uri="{FF2B5EF4-FFF2-40B4-BE49-F238E27FC236}">
                <a16:creationId xmlns:a16="http://schemas.microsoft.com/office/drawing/2014/main" id="{7E3E8837-DBDD-7780-77E8-C98C8A98B938}"/>
              </a:ext>
            </a:extLst>
          </p:cNvPr>
          <p:cNvSpPr>
            <a:spLocks noGrp="1"/>
          </p:cNvSpPr>
          <p:nvPr>
            <p:ph type="sldNum" sz="quarter" idx="12"/>
          </p:nvPr>
        </p:nvSpPr>
        <p:spPr/>
        <p:txBody>
          <a:bodyPr/>
          <a:lstStyle/>
          <a:p>
            <a:pPr>
              <a:defRPr/>
            </a:pPr>
            <a:fld id="{5A946256-AB55-40EA-9DFE-8630FB7935FA}" type="slidenum">
              <a:rPr lang="en-US" altLang="en-US" smtClean="0"/>
              <a:pPr>
                <a:defRPr/>
              </a:pPr>
              <a:t>2</a:t>
            </a:fld>
            <a:endParaRPr lang="en-US" altLang="en-US"/>
          </a:p>
        </p:txBody>
      </p:sp>
      <p:grpSp>
        <p:nvGrpSpPr>
          <p:cNvPr id="2" name="Group 1">
            <a:extLst>
              <a:ext uri="{FF2B5EF4-FFF2-40B4-BE49-F238E27FC236}">
                <a16:creationId xmlns:a16="http://schemas.microsoft.com/office/drawing/2014/main" id="{D348D6AF-1906-C103-D2BD-61F1F010FF36}"/>
              </a:ext>
            </a:extLst>
          </p:cNvPr>
          <p:cNvGrpSpPr/>
          <p:nvPr/>
        </p:nvGrpSpPr>
        <p:grpSpPr>
          <a:xfrm>
            <a:off x="2232026" y="1884734"/>
            <a:ext cx="8342313" cy="4460874"/>
            <a:chOff x="2232026" y="1992314"/>
            <a:chExt cx="8342313" cy="4460874"/>
          </a:xfrm>
        </p:grpSpPr>
        <p:sp>
          <p:nvSpPr>
            <p:cNvPr id="19" name="Cylinder 18">
              <a:extLst>
                <a:ext uri="{FF2B5EF4-FFF2-40B4-BE49-F238E27FC236}">
                  <a16:creationId xmlns:a16="http://schemas.microsoft.com/office/drawing/2014/main" id="{1E4D06B9-382C-C99A-9627-66078454CDA8}"/>
                </a:ext>
              </a:extLst>
            </p:cNvPr>
            <p:cNvSpPr/>
            <p:nvPr/>
          </p:nvSpPr>
          <p:spPr>
            <a:xfrm>
              <a:off x="6605589" y="2895600"/>
              <a:ext cx="1851025" cy="1822450"/>
            </a:xfrm>
            <a:prstGeom prst="can">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1400" dirty="0">
                  <a:solidFill>
                    <a:srgbClr val="C00000"/>
                  </a:solidFill>
                </a:rPr>
                <a:t>Presentation Server (EDW or Independent Data Marts)</a:t>
              </a:r>
            </a:p>
          </p:txBody>
        </p:sp>
        <p:sp>
          <p:nvSpPr>
            <p:cNvPr id="6" name="Cylinder 5">
              <a:extLst>
                <a:ext uri="{FF2B5EF4-FFF2-40B4-BE49-F238E27FC236}">
                  <a16:creationId xmlns:a16="http://schemas.microsoft.com/office/drawing/2014/main" id="{A97BAE10-23D5-19B9-E386-1705876DE1D2}"/>
                </a:ext>
              </a:extLst>
            </p:cNvPr>
            <p:cNvSpPr/>
            <p:nvPr/>
          </p:nvSpPr>
          <p:spPr>
            <a:xfrm>
              <a:off x="2232026" y="3375025"/>
              <a:ext cx="754063" cy="712788"/>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7" name="Cylinder 6">
              <a:extLst>
                <a:ext uri="{FF2B5EF4-FFF2-40B4-BE49-F238E27FC236}">
                  <a16:creationId xmlns:a16="http://schemas.microsoft.com/office/drawing/2014/main" id="{20062EDE-0720-47C0-223E-D0FAC4519E09}"/>
                </a:ext>
              </a:extLst>
            </p:cNvPr>
            <p:cNvSpPr/>
            <p:nvPr/>
          </p:nvSpPr>
          <p:spPr>
            <a:xfrm>
              <a:off x="2368550" y="3505200"/>
              <a:ext cx="755650" cy="712788"/>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8" name="Cylinder 7">
              <a:extLst>
                <a:ext uri="{FF2B5EF4-FFF2-40B4-BE49-F238E27FC236}">
                  <a16:creationId xmlns:a16="http://schemas.microsoft.com/office/drawing/2014/main" id="{660EFB83-A550-25F6-D3C3-E27A8B8C5A43}"/>
                </a:ext>
              </a:extLst>
            </p:cNvPr>
            <p:cNvSpPr/>
            <p:nvPr/>
          </p:nvSpPr>
          <p:spPr>
            <a:xfrm>
              <a:off x="2506663" y="3635375"/>
              <a:ext cx="754062" cy="711200"/>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9" name="Cylinder 8">
              <a:extLst>
                <a:ext uri="{FF2B5EF4-FFF2-40B4-BE49-F238E27FC236}">
                  <a16:creationId xmlns:a16="http://schemas.microsoft.com/office/drawing/2014/main" id="{1C399755-B5F1-5630-52D5-5CF77D70AD1F}"/>
                </a:ext>
              </a:extLst>
            </p:cNvPr>
            <p:cNvSpPr/>
            <p:nvPr/>
          </p:nvSpPr>
          <p:spPr>
            <a:xfrm>
              <a:off x="2643188" y="3763964"/>
              <a:ext cx="754062" cy="712787"/>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9227" name="TextBox 9">
              <a:extLst>
                <a:ext uri="{FF2B5EF4-FFF2-40B4-BE49-F238E27FC236}">
                  <a16:creationId xmlns:a16="http://schemas.microsoft.com/office/drawing/2014/main" id="{02F52BF4-8C6D-8B22-9410-DA3166452D5F}"/>
                </a:ext>
              </a:extLst>
            </p:cNvPr>
            <p:cNvSpPr txBox="1">
              <a:spLocks noChangeArrowheads="1"/>
            </p:cNvSpPr>
            <p:nvPr/>
          </p:nvSpPr>
          <p:spPr bwMode="auto">
            <a:xfrm>
              <a:off x="2289175" y="4481514"/>
              <a:ext cx="1187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b="1">
                  <a:solidFill>
                    <a:srgbClr val="C00000"/>
                  </a:solidFill>
                </a:rPr>
                <a:t>Source Systems</a:t>
              </a:r>
            </a:p>
          </p:txBody>
        </p:sp>
        <p:sp>
          <p:nvSpPr>
            <p:cNvPr id="11" name="Cylinder 10">
              <a:extLst>
                <a:ext uri="{FF2B5EF4-FFF2-40B4-BE49-F238E27FC236}">
                  <a16:creationId xmlns:a16="http://schemas.microsoft.com/office/drawing/2014/main" id="{134336DC-5CEE-DCEC-7077-A17BE209CB63}"/>
                </a:ext>
              </a:extLst>
            </p:cNvPr>
            <p:cNvSpPr/>
            <p:nvPr/>
          </p:nvSpPr>
          <p:spPr>
            <a:xfrm>
              <a:off x="4456113" y="3278188"/>
              <a:ext cx="1187450" cy="1211262"/>
            </a:xfrm>
            <a:prstGeom prst="can">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Staging Area</a:t>
              </a:r>
            </a:p>
          </p:txBody>
        </p:sp>
        <p:sp>
          <p:nvSpPr>
            <p:cNvPr id="15" name="Arrow: Right 14">
              <a:extLst>
                <a:ext uri="{FF2B5EF4-FFF2-40B4-BE49-F238E27FC236}">
                  <a16:creationId xmlns:a16="http://schemas.microsoft.com/office/drawing/2014/main" id="{21334A4E-12DC-4B09-DD1B-0D51B04D83DE}"/>
                </a:ext>
              </a:extLst>
            </p:cNvPr>
            <p:cNvSpPr/>
            <p:nvPr/>
          </p:nvSpPr>
          <p:spPr>
            <a:xfrm>
              <a:off x="3397251" y="3698875"/>
              <a:ext cx="1084263" cy="64770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Extract (E)</a:t>
              </a:r>
            </a:p>
          </p:txBody>
        </p:sp>
        <p:sp>
          <p:nvSpPr>
            <p:cNvPr id="16" name="Arrow: U-Turn 15">
              <a:extLst>
                <a:ext uri="{FF2B5EF4-FFF2-40B4-BE49-F238E27FC236}">
                  <a16:creationId xmlns:a16="http://schemas.microsoft.com/office/drawing/2014/main" id="{535B8F95-6ED3-F6A7-0180-0779867CB72D}"/>
                </a:ext>
              </a:extLst>
            </p:cNvPr>
            <p:cNvSpPr/>
            <p:nvPr/>
          </p:nvSpPr>
          <p:spPr>
            <a:xfrm>
              <a:off x="4614864" y="2928939"/>
              <a:ext cx="960437" cy="517525"/>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9231" name="TextBox 16">
              <a:extLst>
                <a:ext uri="{FF2B5EF4-FFF2-40B4-BE49-F238E27FC236}">
                  <a16:creationId xmlns:a16="http://schemas.microsoft.com/office/drawing/2014/main" id="{B05D6C42-C473-C25C-0D30-F4DE00F4CE99}"/>
                </a:ext>
              </a:extLst>
            </p:cNvPr>
            <p:cNvSpPr txBox="1">
              <a:spLocks noChangeArrowheads="1"/>
            </p:cNvSpPr>
            <p:nvPr/>
          </p:nvSpPr>
          <p:spPr bwMode="auto">
            <a:xfrm>
              <a:off x="4481513" y="2676526"/>
              <a:ext cx="11620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a:solidFill>
                    <a:srgbClr val="C00000"/>
                  </a:solidFill>
                </a:rPr>
                <a:t>Transform (T)</a:t>
              </a:r>
            </a:p>
          </p:txBody>
        </p:sp>
        <p:sp>
          <p:nvSpPr>
            <p:cNvPr id="18" name="Arrow: Right 17">
              <a:extLst>
                <a:ext uri="{FF2B5EF4-FFF2-40B4-BE49-F238E27FC236}">
                  <a16:creationId xmlns:a16="http://schemas.microsoft.com/office/drawing/2014/main" id="{9561D78B-EDAE-06CF-3CB2-DEE9EE938F84}"/>
                </a:ext>
              </a:extLst>
            </p:cNvPr>
            <p:cNvSpPr/>
            <p:nvPr/>
          </p:nvSpPr>
          <p:spPr>
            <a:xfrm>
              <a:off x="5618163" y="3570288"/>
              <a:ext cx="1084262" cy="64770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Load (L)</a:t>
              </a:r>
            </a:p>
          </p:txBody>
        </p:sp>
        <p:sp>
          <p:nvSpPr>
            <p:cNvPr id="21" name="Oval 20">
              <a:extLst>
                <a:ext uri="{FF2B5EF4-FFF2-40B4-BE49-F238E27FC236}">
                  <a16:creationId xmlns:a16="http://schemas.microsoft.com/office/drawing/2014/main" id="{CAF573BE-124F-4738-1DAF-EF5A7718679F}"/>
                </a:ext>
              </a:extLst>
            </p:cNvPr>
            <p:cNvSpPr/>
            <p:nvPr/>
          </p:nvSpPr>
          <p:spPr>
            <a:xfrm>
              <a:off x="9067800" y="2514601"/>
              <a:ext cx="1385888"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BI Reports using SSAS</a:t>
              </a:r>
            </a:p>
          </p:txBody>
        </p:sp>
        <p:sp>
          <p:nvSpPr>
            <p:cNvPr id="22" name="Oval 21">
              <a:extLst>
                <a:ext uri="{FF2B5EF4-FFF2-40B4-BE49-F238E27FC236}">
                  <a16:creationId xmlns:a16="http://schemas.microsoft.com/office/drawing/2014/main" id="{282353FA-7D35-8077-049D-DFFFD4C99119}"/>
                </a:ext>
              </a:extLst>
            </p:cNvPr>
            <p:cNvSpPr/>
            <p:nvPr/>
          </p:nvSpPr>
          <p:spPr>
            <a:xfrm>
              <a:off x="9067800" y="3051175"/>
              <a:ext cx="1428750" cy="7747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solidFill>
                    <a:srgbClr val="C00000"/>
                  </a:solidFill>
                </a:rPr>
                <a:t>BI Reports with Report Builder, Power BI etc.</a:t>
              </a:r>
            </a:p>
          </p:txBody>
        </p:sp>
        <p:sp>
          <p:nvSpPr>
            <p:cNvPr id="23" name="Oval 22">
              <a:extLst>
                <a:ext uri="{FF2B5EF4-FFF2-40B4-BE49-F238E27FC236}">
                  <a16:creationId xmlns:a16="http://schemas.microsoft.com/office/drawing/2014/main" id="{9A3A465A-7238-63F6-FD4E-446DC693E10E}"/>
                </a:ext>
              </a:extLst>
            </p:cNvPr>
            <p:cNvSpPr/>
            <p:nvPr/>
          </p:nvSpPr>
          <p:spPr>
            <a:xfrm>
              <a:off x="9164638" y="4067176"/>
              <a:ext cx="990600"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Data Mining</a:t>
              </a:r>
            </a:p>
          </p:txBody>
        </p:sp>
        <p:cxnSp>
          <p:nvCxnSpPr>
            <p:cNvPr id="25" name="Straight Arrow Connector 24">
              <a:extLst>
                <a:ext uri="{FF2B5EF4-FFF2-40B4-BE49-F238E27FC236}">
                  <a16:creationId xmlns:a16="http://schemas.microsoft.com/office/drawing/2014/main" id="{E454CD91-A558-3137-78E2-C3630445D57B}"/>
                </a:ext>
              </a:extLst>
            </p:cNvPr>
            <p:cNvCxnSpPr>
              <a:cxnSpLocks/>
              <a:stCxn id="21" idx="3"/>
              <a:endCxn id="19" idx="4"/>
            </p:cNvCxnSpPr>
            <p:nvPr/>
          </p:nvCxnSpPr>
          <p:spPr>
            <a:xfrm flipH="1">
              <a:off x="8456614" y="2955925"/>
              <a:ext cx="814387" cy="8509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989E5A7-AEF1-F5D3-DD54-F07570D4830F}"/>
                </a:ext>
              </a:extLst>
            </p:cNvPr>
            <p:cNvSpPr/>
            <p:nvPr/>
          </p:nvSpPr>
          <p:spPr>
            <a:xfrm>
              <a:off x="9118600" y="1992314"/>
              <a:ext cx="1335088"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BI Reports using SSRS</a:t>
              </a:r>
            </a:p>
          </p:txBody>
        </p:sp>
        <p:sp>
          <p:nvSpPr>
            <p:cNvPr id="28" name="Oval 27">
              <a:extLst>
                <a:ext uri="{FF2B5EF4-FFF2-40B4-BE49-F238E27FC236}">
                  <a16:creationId xmlns:a16="http://schemas.microsoft.com/office/drawing/2014/main" id="{59179F87-848E-9C1B-0C34-EC146C0DCC1E}"/>
                </a:ext>
              </a:extLst>
            </p:cNvPr>
            <p:cNvSpPr/>
            <p:nvPr/>
          </p:nvSpPr>
          <p:spPr>
            <a:xfrm>
              <a:off x="8750300" y="4475164"/>
              <a:ext cx="990600"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Data Mining</a:t>
              </a:r>
            </a:p>
          </p:txBody>
        </p:sp>
        <p:sp>
          <p:nvSpPr>
            <p:cNvPr id="29" name="Oval 28">
              <a:extLst>
                <a:ext uri="{FF2B5EF4-FFF2-40B4-BE49-F238E27FC236}">
                  <a16:creationId xmlns:a16="http://schemas.microsoft.com/office/drawing/2014/main" id="{F2CAF706-91A4-1A27-FE62-48AE14FE2718}"/>
                </a:ext>
              </a:extLst>
            </p:cNvPr>
            <p:cNvSpPr/>
            <p:nvPr/>
          </p:nvSpPr>
          <p:spPr>
            <a:xfrm>
              <a:off x="9583738" y="4449764"/>
              <a:ext cx="990600"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Data Mining</a:t>
              </a:r>
            </a:p>
          </p:txBody>
        </p:sp>
        <p:cxnSp>
          <p:nvCxnSpPr>
            <p:cNvPr id="31" name="Straight Arrow Connector 30">
              <a:extLst>
                <a:ext uri="{FF2B5EF4-FFF2-40B4-BE49-F238E27FC236}">
                  <a16:creationId xmlns:a16="http://schemas.microsoft.com/office/drawing/2014/main" id="{7083900A-62E5-7E65-BAB3-BE53233020F8}"/>
                </a:ext>
              </a:extLst>
            </p:cNvPr>
            <p:cNvCxnSpPr>
              <a:stCxn id="23" idx="2"/>
              <a:endCxn id="19" idx="4"/>
            </p:cNvCxnSpPr>
            <p:nvPr/>
          </p:nvCxnSpPr>
          <p:spPr>
            <a:xfrm flipH="1" flipV="1">
              <a:off x="8456614" y="3806826"/>
              <a:ext cx="708025" cy="51911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241" name="TextBox 31">
              <a:extLst>
                <a:ext uri="{FF2B5EF4-FFF2-40B4-BE49-F238E27FC236}">
                  <a16:creationId xmlns:a16="http://schemas.microsoft.com/office/drawing/2014/main" id="{329440BE-B33D-B993-C2F7-B51B54437A7F}"/>
                </a:ext>
              </a:extLst>
            </p:cNvPr>
            <p:cNvSpPr txBox="1">
              <a:spLocks noChangeArrowheads="1"/>
            </p:cNvSpPr>
            <p:nvPr/>
          </p:nvSpPr>
          <p:spPr bwMode="auto">
            <a:xfrm>
              <a:off x="7743825" y="2571751"/>
              <a:ext cx="1371600" cy="277813"/>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b="1">
                  <a:solidFill>
                    <a:srgbClr val="C00000"/>
                  </a:solidFill>
                </a:rPr>
                <a:t>5.  Visualizations</a:t>
              </a:r>
            </a:p>
          </p:txBody>
        </p:sp>
        <p:sp>
          <p:nvSpPr>
            <p:cNvPr id="33" name="Thought Bubble: Cloud 32">
              <a:extLst>
                <a:ext uri="{FF2B5EF4-FFF2-40B4-BE49-F238E27FC236}">
                  <a16:creationId xmlns:a16="http://schemas.microsoft.com/office/drawing/2014/main" id="{5CADA99A-6F24-714B-F7C8-B1992487E415}"/>
                </a:ext>
              </a:extLst>
            </p:cNvPr>
            <p:cNvSpPr/>
            <p:nvPr/>
          </p:nvSpPr>
          <p:spPr>
            <a:xfrm>
              <a:off x="8628064" y="5410200"/>
              <a:ext cx="1946275" cy="1042988"/>
            </a:xfrm>
            <a:prstGeom prst="cloudCallou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dirty="0"/>
            </a:p>
          </p:txBody>
        </p:sp>
        <p:sp>
          <p:nvSpPr>
            <p:cNvPr id="9243" name="TextBox 33">
              <a:extLst>
                <a:ext uri="{FF2B5EF4-FFF2-40B4-BE49-F238E27FC236}">
                  <a16:creationId xmlns:a16="http://schemas.microsoft.com/office/drawing/2014/main" id="{42AAF0C4-2070-AD59-B4AD-103275CCC8DB}"/>
                </a:ext>
              </a:extLst>
            </p:cNvPr>
            <p:cNvSpPr txBox="1">
              <a:spLocks noChangeArrowheads="1"/>
            </p:cNvSpPr>
            <p:nvPr/>
          </p:nvSpPr>
          <p:spPr bwMode="auto">
            <a:xfrm>
              <a:off x="8885239" y="5640389"/>
              <a:ext cx="1355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100" b="1">
                  <a:solidFill>
                    <a:srgbClr val="C00000"/>
                  </a:solidFill>
                </a:rPr>
                <a:t>1.  Req. Gathering to create Business Questions</a:t>
              </a:r>
            </a:p>
          </p:txBody>
        </p:sp>
        <p:sp>
          <p:nvSpPr>
            <p:cNvPr id="9244" name="TextBox 34">
              <a:extLst>
                <a:ext uri="{FF2B5EF4-FFF2-40B4-BE49-F238E27FC236}">
                  <a16:creationId xmlns:a16="http://schemas.microsoft.com/office/drawing/2014/main" id="{3B68931E-2731-A692-4C29-87CE2C46A73C}"/>
                </a:ext>
              </a:extLst>
            </p:cNvPr>
            <p:cNvSpPr txBox="1">
              <a:spLocks noChangeArrowheads="1"/>
            </p:cNvSpPr>
            <p:nvPr/>
          </p:nvSpPr>
          <p:spPr bwMode="auto">
            <a:xfrm>
              <a:off x="6840538" y="4244976"/>
              <a:ext cx="1524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100" b="1">
                  <a:solidFill>
                    <a:srgbClr val="C00000"/>
                  </a:solidFill>
                </a:rPr>
                <a:t>Tables (ER-Relation or Stat/Snowflake) </a:t>
              </a:r>
            </a:p>
          </p:txBody>
        </p:sp>
        <p:cxnSp>
          <p:nvCxnSpPr>
            <p:cNvPr id="39" name="Connector: Elbow 38">
              <a:extLst>
                <a:ext uri="{FF2B5EF4-FFF2-40B4-BE49-F238E27FC236}">
                  <a16:creationId xmlns:a16="http://schemas.microsoft.com/office/drawing/2014/main" id="{66544686-3747-BA68-415F-A059F29A53DE}"/>
                </a:ext>
              </a:extLst>
            </p:cNvPr>
            <p:cNvCxnSpPr>
              <a:stCxn id="9" idx="3"/>
            </p:cNvCxnSpPr>
            <p:nvPr/>
          </p:nvCxnSpPr>
          <p:spPr>
            <a:xfrm rot="16200000" flipH="1">
              <a:off x="5044282" y="2453482"/>
              <a:ext cx="1619250" cy="5665787"/>
            </a:xfrm>
            <a:prstGeom prst="bentConnector2">
              <a:avLst/>
            </a:prstGeom>
            <a:ln>
              <a:solidFill>
                <a:schemeClr val="tx1"/>
              </a:solidFill>
              <a:prstDash val="lgDashDotDot"/>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00654EE0-2944-0FD0-AA23-B400A975E0C7}"/>
                </a:ext>
              </a:extLst>
            </p:cNvPr>
            <p:cNvCxnSpPr>
              <a:stCxn id="33" idx="3"/>
              <a:endCxn id="29" idx="3"/>
            </p:cNvCxnSpPr>
            <p:nvPr/>
          </p:nvCxnSpPr>
          <p:spPr>
            <a:xfrm flipV="1">
              <a:off x="9601200" y="4891089"/>
              <a:ext cx="128588" cy="579437"/>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9247" name="TextBox 41">
              <a:extLst>
                <a:ext uri="{FF2B5EF4-FFF2-40B4-BE49-F238E27FC236}">
                  <a16:creationId xmlns:a16="http://schemas.microsoft.com/office/drawing/2014/main" id="{5C9EC769-02B4-3EEA-77F5-71B6CC9B066C}"/>
                </a:ext>
              </a:extLst>
            </p:cNvPr>
            <p:cNvSpPr txBox="1">
              <a:spLocks noChangeArrowheads="1"/>
            </p:cNvSpPr>
            <p:nvPr/>
          </p:nvSpPr>
          <p:spPr bwMode="auto">
            <a:xfrm>
              <a:off x="7059613" y="5213351"/>
              <a:ext cx="1370012" cy="646113"/>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1200" b="1">
                  <a:solidFill>
                    <a:srgbClr val="C00000"/>
                  </a:solidFill>
                </a:rPr>
                <a:t>3.  Data Design to create table descriptions</a:t>
              </a:r>
            </a:p>
          </p:txBody>
        </p:sp>
        <p:cxnSp>
          <p:nvCxnSpPr>
            <p:cNvPr id="50" name="Straight Connector 49">
              <a:extLst>
                <a:ext uri="{FF2B5EF4-FFF2-40B4-BE49-F238E27FC236}">
                  <a16:creationId xmlns:a16="http://schemas.microsoft.com/office/drawing/2014/main" id="{98546FDC-B36B-48C0-5922-5C7974B2CF15}"/>
                </a:ext>
              </a:extLst>
            </p:cNvPr>
            <p:cNvCxnSpPr>
              <a:endCxn id="9247" idx="3"/>
            </p:cNvCxnSpPr>
            <p:nvPr/>
          </p:nvCxnSpPr>
          <p:spPr>
            <a:xfrm flipH="1" flipV="1">
              <a:off x="8429626" y="5535614"/>
              <a:ext cx="455613" cy="46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0274147-3055-041A-858D-2E629ECAD393}"/>
                </a:ext>
              </a:extLst>
            </p:cNvPr>
            <p:cNvCxnSpPr>
              <a:cxnSpLocks/>
              <a:stCxn id="9247" idx="0"/>
            </p:cNvCxnSpPr>
            <p:nvPr/>
          </p:nvCxnSpPr>
          <p:spPr>
            <a:xfrm flipV="1">
              <a:off x="7743825" y="4718050"/>
              <a:ext cx="0" cy="495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BF76688F-3FB7-8F8C-87C3-C7A3D3BC3947}"/>
                </a:ext>
              </a:extLst>
            </p:cNvPr>
            <p:cNvCxnSpPr/>
            <p:nvPr/>
          </p:nvCxnSpPr>
          <p:spPr>
            <a:xfrm>
              <a:off x="2289176" y="2676525"/>
              <a:ext cx="157321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9792C31-A241-01BA-A5BC-2C432DB65E93}"/>
                </a:ext>
              </a:extLst>
            </p:cNvPr>
            <p:cNvCxnSpPr>
              <a:cxnSpLocks/>
            </p:cNvCxnSpPr>
            <p:nvPr/>
          </p:nvCxnSpPr>
          <p:spPr>
            <a:xfrm>
              <a:off x="6370638" y="2676525"/>
              <a:ext cx="4699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974AE63-07AD-E893-64A8-2ECDE81861DF}"/>
                </a:ext>
              </a:extLst>
            </p:cNvPr>
            <p:cNvSpPr txBox="1"/>
            <p:nvPr/>
          </p:nvSpPr>
          <p:spPr>
            <a:xfrm>
              <a:off x="3913191" y="2293680"/>
              <a:ext cx="2471733" cy="646331"/>
            </a:xfrm>
            <a:prstGeom prst="rect">
              <a:avLst/>
            </a:prstGeom>
            <a:solidFill>
              <a:srgbClr val="FFFF00"/>
            </a:solidFill>
            <a:ln>
              <a:solidFill>
                <a:schemeClr val="tx1"/>
              </a:solidFill>
            </a:ln>
          </p:spPr>
          <p:txBody>
            <a:bodyPr>
              <a:spAutoFit/>
            </a:bodyPr>
            <a:lstStyle/>
            <a:p>
              <a:pPr marL="228600" indent="-228600" algn="ctr">
                <a:buFontTx/>
                <a:buAutoNum type="arabicPeriod" startAt="4"/>
                <a:defRPr/>
              </a:pPr>
              <a:r>
                <a:rPr lang="en-US" sz="1200" b="1" dirty="0">
                  <a:solidFill>
                    <a:srgbClr val="C00000"/>
                  </a:solidFill>
                  <a:highlight>
                    <a:srgbClr val="FFFF00"/>
                  </a:highlight>
                </a:rPr>
                <a:t>ETL</a:t>
              </a:r>
            </a:p>
            <a:p>
              <a:pPr>
                <a:defRPr/>
              </a:pPr>
              <a:r>
                <a:rPr lang="en-US" sz="1200" b="1" dirty="0">
                  <a:solidFill>
                    <a:srgbClr val="C00000"/>
                  </a:solidFill>
                  <a:highlight>
                    <a:srgbClr val="FFFF00"/>
                  </a:highlight>
                </a:rPr>
                <a:t>To extract, transform and load the data into Presentation Server)</a:t>
              </a:r>
            </a:p>
          </p:txBody>
        </p:sp>
        <p:sp>
          <p:nvSpPr>
            <p:cNvPr id="10" name="Rectangle 9">
              <a:extLst>
                <a:ext uri="{FF2B5EF4-FFF2-40B4-BE49-F238E27FC236}">
                  <a16:creationId xmlns:a16="http://schemas.microsoft.com/office/drawing/2014/main" id="{D5C79228-5848-8707-D830-581FDB988507}"/>
                </a:ext>
              </a:extLst>
            </p:cNvPr>
            <p:cNvSpPr/>
            <p:nvPr/>
          </p:nvSpPr>
          <p:spPr>
            <a:xfrm>
              <a:off x="6840538" y="3124200"/>
              <a:ext cx="1389062" cy="381000"/>
            </a:xfrm>
            <a:prstGeom prst="rect">
              <a:avLst/>
            </a:prstGeom>
            <a:solidFill>
              <a:srgbClr val="FFFF00"/>
            </a:solidFill>
            <a:ln w="127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ln>
                    <a:solidFill>
                      <a:schemeClr val="tx1"/>
                    </a:solidFill>
                  </a:ln>
                  <a:solidFill>
                    <a:srgbClr val="C00000"/>
                  </a:solidFill>
                </a:rPr>
                <a:t>2.  Choosing an Architecture</a:t>
              </a:r>
            </a:p>
          </p:txBody>
        </p:sp>
        <p:cxnSp>
          <p:nvCxnSpPr>
            <p:cNvPr id="38" name="Straight Arrow Connector 37">
              <a:extLst>
                <a:ext uri="{FF2B5EF4-FFF2-40B4-BE49-F238E27FC236}">
                  <a16:creationId xmlns:a16="http://schemas.microsoft.com/office/drawing/2014/main" id="{27398DDE-616D-94EF-B61F-F625426F37B2}"/>
                </a:ext>
              </a:extLst>
            </p:cNvPr>
            <p:cNvCxnSpPr>
              <a:cxnSpLocks/>
              <a:stCxn id="22" idx="3"/>
            </p:cNvCxnSpPr>
            <p:nvPr/>
          </p:nvCxnSpPr>
          <p:spPr>
            <a:xfrm flipH="1">
              <a:off x="8456614" y="3713163"/>
              <a:ext cx="820737" cy="936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5CC6FD4-C8BB-22D4-4691-B0D5501448AC}"/>
              </a:ext>
            </a:extLst>
          </p:cNvPr>
          <p:cNvSpPr>
            <a:spLocks noGrp="1" noChangeArrowheads="1"/>
          </p:cNvSpPr>
          <p:nvPr>
            <p:ph type="title"/>
          </p:nvPr>
        </p:nvSpPr>
        <p:spPr>
          <a:xfrm>
            <a:off x="2552700" y="685801"/>
            <a:ext cx="7200900" cy="625475"/>
          </a:xfrm>
        </p:spPr>
        <p:txBody>
          <a:bodyPr/>
          <a:lstStyle/>
          <a:p>
            <a:pPr algn="ctr" eaLnBrk="1" hangingPunct="1"/>
            <a:r>
              <a:rPr lang="en-US" altLang="en-US" sz="2900" b="1">
                <a:solidFill>
                  <a:srgbClr val="C00000"/>
                </a:solidFill>
                <a:latin typeface="Tahoma" panose="020B0604030504040204" pitchFamily="34" charset="0"/>
              </a:rPr>
              <a:t>Data Design for Data Warehousing</a:t>
            </a:r>
          </a:p>
        </p:txBody>
      </p:sp>
      <p:sp>
        <p:nvSpPr>
          <p:cNvPr id="10243" name="Text Box 3">
            <a:extLst>
              <a:ext uri="{FF2B5EF4-FFF2-40B4-BE49-F238E27FC236}">
                <a16:creationId xmlns:a16="http://schemas.microsoft.com/office/drawing/2014/main" id="{89E51EBC-4BFC-FF2A-7254-A72590F43213}"/>
              </a:ext>
            </a:extLst>
          </p:cNvPr>
          <p:cNvSpPr txBox="1">
            <a:spLocks noChangeArrowheads="1"/>
          </p:cNvSpPr>
          <p:nvPr/>
        </p:nvSpPr>
        <p:spPr bwMode="auto">
          <a:xfrm>
            <a:off x="2438400" y="1676401"/>
            <a:ext cx="7848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A.  Data Design Process used by Data Architect</a:t>
            </a:r>
          </a:p>
        </p:txBody>
      </p:sp>
      <p:sp>
        <p:nvSpPr>
          <p:cNvPr id="10244" name="Text Box 5">
            <a:extLst>
              <a:ext uri="{FF2B5EF4-FFF2-40B4-BE49-F238E27FC236}">
                <a16:creationId xmlns:a16="http://schemas.microsoft.com/office/drawing/2014/main" id="{20AEF859-9D37-CF21-4DF3-A9F27A3B0B33}"/>
              </a:ext>
            </a:extLst>
          </p:cNvPr>
          <p:cNvSpPr txBox="1">
            <a:spLocks noChangeArrowheads="1"/>
          </p:cNvSpPr>
          <p:nvPr/>
        </p:nvSpPr>
        <p:spPr bwMode="auto">
          <a:xfrm>
            <a:off x="5334000" y="2503488"/>
            <a:ext cx="1600200" cy="9255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a:latin typeface="Times New Roman" panose="02020603050405020304" pitchFamily="18" charset="0"/>
              </a:rPr>
              <a:t>Decide on a data modeling technique</a:t>
            </a:r>
            <a:endParaRPr lang="en-US" altLang="en-US" sz="2400">
              <a:latin typeface="Times New Roman" panose="02020603050405020304" pitchFamily="18" charset="0"/>
            </a:endParaRPr>
          </a:p>
        </p:txBody>
      </p:sp>
      <p:sp>
        <p:nvSpPr>
          <p:cNvPr id="10245" name="Text Box 6">
            <a:extLst>
              <a:ext uri="{FF2B5EF4-FFF2-40B4-BE49-F238E27FC236}">
                <a16:creationId xmlns:a16="http://schemas.microsoft.com/office/drawing/2014/main" id="{092BBE93-A6CE-97F6-AB24-3F6F7D6B631E}"/>
              </a:ext>
            </a:extLst>
          </p:cNvPr>
          <p:cNvSpPr txBox="1">
            <a:spLocks noChangeArrowheads="1"/>
          </p:cNvSpPr>
          <p:nvPr/>
        </p:nvSpPr>
        <p:spPr bwMode="auto">
          <a:xfrm>
            <a:off x="7772400" y="3810001"/>
            <a:ext cx="16764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a:latin typeface="Times New Roman" panose="02020603050405020304" pitchFamily="18" charset="0"/>
              </a:rPr>
              <a:t>Build the logical model</a:t>
            </a:r>
            <a:endParaRPr lang="en-US" altLang="en-US" sz="2400">
              <a:latin typeface="Times New Roman" panose="02020603050405020304" pitchFamily="18" charset="0"/>
            </a:endParaRPr>
          </a:p>
        </p:txBody>
      </p:sp>
      <p:sp>
        <p:nvSpPr>
          <p:cNvPr id="10246" name="Text Box 9">
            <a:extLst>
              <a:ext uri="{FF2B5EF4-FFF2-40B4-BE49-F238E27FC236}">
                <a16:creationId xmlns:a16="http://schemas.microsoft.com/office/drawing/2014/main" id="{E701328F-F0A4-2195-2941-70BCFD20EB95}"/>
              </a:ext>
            </a:extLst>
          </p:cNvPr>
          <p:cNvSpPr txBox="1">
            <a:spLocks noChangeArrowheads="1"/>
          </p:cNvSpPr>
          <p:nvPr/>
        </p:nvSpPr>
        <p:spPr bwMode="auto">
          <a:xfrm>
            <a:off x="2819400" y="2503488"/>
            <a:ext cx="1981200" cy="925512"/>
          </a:xfrm>
          <a:prstGeom prst="rect">
            <a:avLst/>
          </a:prstGeom>
          <a:solidFill>
            <a:srgbClr val="FFC000"/>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a:latin typeface="Times New Roman" panose="02020603050405020304" pitchFamily="18" charset="0"/>
              </a:rPr>
              <a:t>Business Questions and Requirements documents</a:t>
            </a:r>
          </a:p>
        </p:txBody>
      </p:sp>
      <p:sp>
        <p:nvSpPr>
          <p:cNvPr id="10247" name="Text Box 10">
            <a:extLst>
              <a:ext uri="{FF2B5EF4-FFF2-40B4-BE49-F238E27FC236}">
                <a16:creationId xmlns:a16="http://schemas.microsoft.com/office/drawing/2014/main" id="{9616D508-525E-9CBA-3062-00F251F24436}"/>
              </a:ext>
            </a:extLst>
          </p:cNvPr>
          <p:cNvSpPr txBox="1">
            <a:spLocks noChangeArrowheads="1"/>
          </p:cNvSpPr>
          <p:nvPr/>
        </p:nvSpPr>
        <p:spPr bwMode="auto">
          <a:xfrm>
            <a:off x="7578725" y="5251451"/>
            <a:ext cx="19050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a:latin typeface="Times New Roman" panose="02020603050405020304" pitchFamily="18" charset="0"/>
              </a:rPr>
              <a:t>Build the physical model -- schema</a:t>
            </a:r>
            <a:endParaRPr lang="en-US" altLang="en-US" sz="2400">
              <a:latin typeface="Times New Roman" panose="02020603050405020304" pitchFamily="18" charset="0"/>
            </a:endParaRPr>
          </a:p>
        </p:txBody>
      </p:sp>
      <p:sp>
        <p:nvSpPr>
          <p:cNvPr id="10248" name="Line 11">
            <a:extLst>
              <a:ext uri="{FF2B5EF4-FFF2-40B4-BE49-F238E27FC236}">
                <a16:creationId xmlns:a16="http://schemas.microsoft.com/office/drawing/2014/main" id="{BAEA71DF-5AE9-B0BD-23C1-F4823207FAA0}"/>
              </a:ext>
            </a:extLst>
          </p:cNvPr>
          <p:cNvSpPr>
            <a:spLocks noChangeShapeType="1"/>
          </p:cNvSpPr>
          <p:nvPr/>
        </p:nvSpPr>
        <p:spPr bwMode="auto">
          <a:xfrm>
            <a:off x="4800600" y="2971800"/>
            <a:ext cx="533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49" name="Line 12">
            <a:extLst>
              <a:ext uri="{FF2B5EF4-FFF2-40B4-BE49-F238E27FC236}">
                <a16:creationId xmlns:a16="http://schemas.microsoft.com/office/drawing/2014/main" id="{AD87F659-5548-5D6C-B94B-114F449641D3}"/>
              </a:ext>
            </a:extLst>
          </p:cNvPr>
          <p:cNvSpPr>
            <a:spLocks noChangeShapeType="1"/>
          </p:cNvSpPr>
          <p:nvPr/>
        </p:nvSpPr>
        <p:spPr bwMode="auto">
          <a:xfrm>
            <a:off x="6934200" y="2971800"/>
            <a:ext cx="838200" cy="838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0" name="Line 13">
            <a:extLst>
              <a:ext uri="{FF2B5EF4-FFF2-40B4-BE49-F238E27FC236}">
                <a16:creationId xmlns:a16="http://schemas.microsoft.com/office/drawing/2014/main" id="{57CD3F92-3D54-1847-E867-7ACB8055B8A9}"/>
              </a:ext>
            </a:extLst>
          </p:cNvPr>
          <p:cNvSpPr>
            <a:spLocks noChangeShapeType="1"/>
          </p:cNvSpPr>
          <p:nvPr/>
        </p:nvSpPr>
        <p:spPr bwMode="auto">
          <a:xfrm>
            <a:off x="8458200" y="4495800"/>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Date Placeholder 1">
            <a:extLst>
              <a:ext uri="{FF2B5EF4-FFF2-40B4-BE49-F238E27FC236}">
                <a16:creationId xmlns:a16="http://schemas.microsoft.com/office/drawing/2014/main" id="{E8181942-C668-9C9E-CA06-19D06BDA1FF5}"/>
              </a:ext>
            </a:extLst>
          </p:cNvPr>
          <p:cNvSpPr>
            <a:spLocks noGrp="1"/>
          </p:cNvSpPr>
          <p:nvPr>
            <p:ph type="dt" sz="quarter" idx="10"/>
          </p:nvPr>
        </p:nvSpPr>
        <p:spPr/>
        <p:txBody>
          <a:bodyPr/>
          <a:lstStyle/>
          <a:p>
            <a:pPr>
              <a:defRPr/>
            </a:pPr>
            <a:fld id="{0A92CDE7-AD5D-4F00-ACBE-70E30A9A6285}" type="datetime1">
              <a:rPr lang="en-US" smtClean="0"/>
              <a:t>9/30/2025</a:t>
            </a:fld>
            <a:endParaRPr lang="en-US"/>
          </a:p>
        </p:txBody>
      </p:sp>
      <p:sp>
        <p:nvSpPr>
          <p:cNvPr id="3" name="Footer Placeholder 2">
            <a:extLst>
              <a:ext uri="{FF2B5EF4-FFF2-40B4-BE49-F238E27FC236}">
                <a16:creationId xmlns:a16="http://schemas.microsoft.com/office/drawing/2014/main" id="{7490DB4F-1B19-A0CE-44E6-4945F83FC46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7EB251B-F440-B093-1848-049BDD6E8EA4}"/>
              </a:ext>
            </a:extLst>
          </p:cNvPr>
          <p:cNvSpPr>
            <a:spLocks noGrp="1"/>
          </p:cNvSpPr>
          <p:nvPr>
            <p:ph type="sldNum" sz="quarter" idx="12"/>
          </p:nvPr>
        </p:nvSpPr>
        <p:spPr/>
        <p:txBody>
          <a:bodyPr/>
          <a:lstStyle/>
          <a:p>
            <a:pPr>
              <a:defRPr/>
            </a:pPr>
            <a:fld id="{132CEA30-3219-4A7D-879B-78A9C365FF4B}"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a:extLst>
              <a:ext uri="{FF2B5EF4-FFF2-40B4-BE49-F238E27FC236}">
                <a16:creationId xmlns:a16="http://schemas.microsoft.com/office/drawing/2014/main" id="{F246F72B-2823-2F12-4D44-A8D082E834D0}"/>
              </a:ext>
            </a:extLst>
          </p:cNvPr>
          <p:cNvSpPr txBox="1">
            <a:spLocks noChangeArrowheads="1"/>
          </p:cNvSpPr>
          <p:nvPr/>
        </p:nvSpPr>
        <p:spPr bwMode="auto">
          <a:xfrm>
            <a:off x="2398059" y="1909482"/>
            <a:ext cx="8229600"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dirty="0">
                <a:latin typeface="Tahoma" panose="020B0604030504040204" pitchFamily="34" charset="0"/>
              </a:rPr>
              <a:t>B. Terms to be used in Data Modeling --</a:t>
            </a:r>
            <a:endParaRPr lang="en-US" altLang="en-US" sz="2000" dirty="0">
              <a:latin typeface="Times New Roman" panose="02020603050405020304" pitchFamily="18" charset="0"/>
            </a:endParaRPr>
          </a:p>
          <a:p>
            <a:pPr eaLnBrk="1" hangingPunct="1">
              <a:spcBef>
                <a:spcPct val="50000"/>
              </a:spcBef>
              <a:buFontTx/>
              <a:buChar char="•"/>
            </a:pPr>
            <a:r>
              <a:rPr lang="en-US" altLang="en-US" sz="2400" dirty="0">
                <a:latin typeface="Times New Roman" panose="02020603050405020304" pitchFamily="18" charset="0"/>
              </a:rPr>
              <a:t> </a:t>
            </a:r>
            <a:r>
              <a:rPr lang="en-US" altLang="en-US" sz="2000" b="1" dirty="0">
                <a:solidFill>
                  <a:srgbClr val="C00000"/>
                </a:solidFill>
                <a:latin typeface="Times New Roman" panose="02020603050405020304" pitchFamily="18" charset="0"/>
              </a:rPr>
              <a:t>Conceptual Model  </a:t>
            </a:r>
            <a:r>
              <a:rPr lang="en-US" altLang="en-US" sz="2000" b="1" dirty="0">
                <a:latin typeface="Times New Roman" panose="02020603050405020304" pitchFamily="18" charset="0"/>
              </a:rPr>
              <a:t>-- </a:t>
            </a:r>
            <a:r>
              <a:rPr lang="en-US" altLang="en-US" sz="2000" dirty="0">
                <a:latin typeface="Times New Roman" panose="02020603050405020304" pitchFamily="18" charset="0"/>
              </a:rPr>
              <a:t>world model  -- ERD</a:t>
            </a:r>
            <a:endParaRPr lang="en-US" altLang="en-US" sz="2000" b="1" dirty="0">
              <a:latin typeface="Times New Roman" panose="02020603050405020304" pitchFamily="18" charset="0"/>
            </a:endParaRPr>
          </a:p>
          <a:p>
            <a:pPr eaLnBrk="1" hangingPunct="1">
              <a:spcBef>
                <a:spcPct val="50000"/>
              </a:spcBef>
              <a:buFontTx/>
              <a:buChar char="•"/>
            </a:pPr>
            <a:r>
              <a:rPr lang="en-US" altLang="en-US" sz="2000" b="1" dirty="0">
                <a:latin typeface="Times New Roman" panose="02020603050405020304" pitchFamily="18" charset="0"/>
              </a:rPr>
              <a:t>  </a:t>
            </a:r>
            <a:r>
              <a:rPr lang="en-US" altLang="en-US" sz="2000" b="1" dirty="0">
                <a:solidFill>
                  <a:srgbClr val="C00000"/>
                </a:solidFill>
                <a:latin typeface="Times New Roman" panose="02020603050405020304" pitchFamily="18" charset="0"/>
              </a:rPr>
              <a:t>Logical Model </a:t>
            </a:r>
            <a:r>
              <a:rPr lang="en-US" altLang="en-US" sz="2000" b="1" dirty="0">
                <a:latin typeface="Times New Roman" panose="02020603050405020304" pitchFamily="18" charset="0"/>
              </a:rPr>
              <a:t>--</a:t>
            </a:r>
            <a:r>
              <a:rPr lang="en-US" altLang="en-US" sz="2000" dirty="0">
                <a:latin typeface="Times New Roman" panose="02020603050405020304" pitchFamily="18" charset="0"/>
              </a:rPr>
              <a:t>   model used by a DBMS  - RDM</a:t>
            </a:r>
            <a:endParaRPr lang="en-US" altLang="en-US" sz="2000" b="1" dirty="0">
              <a:latin typeface="Times New Roman" panose="02020603050405020304" pitchFamily="18" charset="0"/>
            </a:endParaRPr>
          </a:p>
          <a:p>
            <a:pPr eaLnBrk="1" hangingPunct="1">
              <a:spcBef>
                <a:spcPct val="50000"/>
              </a:spcBef>
              <a:buFontTx/>
              <a:buChar char="•"/>
            </a:pPr>
            <a:r>
              <a:rPr lang="en-US" altLang="en-US" sz="2000" dirty="0">
                <a:latin typeface="Times New Roman" panose="02020603050405020304" pitchFamily="18" charset="0"/>
              </a:rPr>
              <a:t>  </a:t>
            </a:r>
            <a:r>
              <a:rPr lang="en-US" altLang="en-US" sz="2000" b="1" dirty="0">
                <a:solidFill>
                  <a:srgbClr val="C00000"/>
                </a:solidFill>
                <a:latin typeface="Times New Roman" panose="02020603050405020304" pitchFamily="18" charset="0"/>
              </a:rPr>
              <a:t>Physical Model </a:t>
            </a:r>
            <a:r>
              <a:rPr lang="en-US" altLang="en-US" sz="2000" b="1" dirty="0">
                <a:latin typeface="Times New Roman" panose="02020603050405020304" pitchFamily="18" charset="0"/>
              </a:rPr>
              <a:t>– </a:t>
            </a:r>
            <a:r>
              <a:rPr lang="en-US" altLang="en-US" sz="2000" dirty="0">
                <a:latin typeface="Times New Roman" panose="02020603050405020304" pitchFamily="18" charset="0"/>
              </a:rPr>
              <a:t>adding physical characteristics like indexing style, etc.</a:t>
            </a:r>
          </a:p>
          <a:p>
            <a:pPr eaLnBrk="1" hangingPunct="1">
              <a:spcBef>
                <a:spcPct val="50000"/>
              </a:spcBef>
              <a:buFontTx/>
              <a:buChar char="•"/>
            </a:pPr>
            <a:r>
              <a:rPr lang="en-US" altLang="en-US" sz="2000" dirty="0">
                <a:latin typeface="Times New Roman" panose="02020603050405020304" pitchFamily="18" charset="0"/>
              </a:rPr>
              <a:t>  </a:t>
            </a:r>
            <a:r>
              <a:rPr lang="en-US" altLang="en-US" sz="2000" b="1" dirty="0">
                <a:solidFill>
                  <a:srgbClr val="C00000"/>
                </a:solidFill>
                <a:latin typeface="Times New Roman" panose="02020603050405020304" pitchFamily="18" charset="0"/>
              </a:rPr>
              <a:t>Implementation model </a:t>
            </a:r>
            <a:r>
              <a:rPr lang="en-US" altLang="en-US" sz="2000" b="1" dirty="0">
                <a:latin typeface="Times New Roman" panose="02020603050405020304" pitchFamily="18" charset="0"/>
              </a:rPr>
              <a:t>--</a:t>
            </a:r>
            <a:r>
              <a:rPr lang="en-US" altLang="en-US" sz="2000" dirty="0">
                <a:latin typeface="Times New Roman" panose="02020603050405020304" pitchFamily="18" charset="0"/>
              </a:rPr>
              <a:t>  use of Oracle or SQL Server style</a:t>
            </a:r>
          </a:p>
        </p:txBody>
      </p:sp>
      <p:sp>
        <p:nvSpPr>
          <p:cNvPr id="12291" name="Rectangle 2">
            <a:extLst>
              <a:ext uri="{FF2B5EF4-FFF2-40B4-BE49-F238E27FC236}">
                <a16:creationId xmlns:a16="http://schemas.microsoft.com/office/drawing/2014/main" id="{F6195808-B969-CED1-046E-3E2C3898E19A}"/>
              </a:ext>
            </a:extLst>
          </p:cNvPr>
          <p:cNvSpPr>
            <a:spLocks noGrp="1" noChangeArrowheads="1"/>
          </p:cNvSpPr>
          <p:nvPr>
            <p:ph type="title"/>
          </p:nvPr>
        </p:nvSpPr>
        <p:spPr>
          <a:xfrm>
            <a:off x="2552700" y="685800"/>
            <a:ext cx="7200900" cy="609600"/>
          </a:xfrm>
        </p:spPr>
        <p:txBody>
          <a:bodyPr/>
          <a:lstStyle/>
          <a:p>
            <a:pPr algn="ctr" eaLnBrk="1" hangingPunct="1"/>
            <a:r>
              <a:rPr lang="en-US" altLang="en-US" sz="2900" b="1">
                <a:solidFill>
                  <a:srgbClr val="C00000"/>
                </a:solidFill>
                <a:latin typeface="Tahoma" panose="020B0604030504040204" pitchFamily="34" charset="0"/>
              </a:rPr>
              <a:t>Data Design for Data Warehousing</a:t>
            </a:r>
          </a:p>
        </p:txBody>
      </p:sp>
      <p:sp>
        <p:nvSpPr>
          <p:cNvPr id="2" name="Date Placeholder 1">
            <a:extLst>
              <a:ext uri="{FF2B5EF4-FFF2-40B4-BE49-F238E27FC236}">
                <a16:creationId xmlns:a16="http://schemas.microsoft.com/office/drawing/2014/main" id="{1A738D32-29DC-CE60-30AE-07E3398E596D}"/>
              </a:ext>
            </a:extLst>
          </p:cNvPr>
          <p:cNvSpPr>
            <a:spLocks noGrp="1"/>
          </p:cNvSpPr>
          <p:nvPr>
            <p:ph type="dt" sz="quarter" idx="10"/>
          </p:nvPr>
        </p:nvSpPr>
        <p:spPr/>
        <p:txBody>
          <a:bodyPr/>
          <a:lstStyle/>
          <a:p>
            <a:pPr>
              <a:defRPr/>
            </a:pPr>
            <a:fld id="{2B7DE268-8B4E-49BB-81BA-96D1A3B66B28}" type="datetime1">
              <a:rPr lang="en-US" smtClean="0"/>
              <a:t>9/30/2025</a:t>
            </a:fld>
            <a:endParaRPr lang="en-US"/>
          </a:p>
        </p:txBody>
      </p:sp>
      <p:sp>
        <p:nvSpPr>
          <p:cNvPr id="3" name="Footer Placeholder 2">
            <a:extLst>
              <a:ext uri="{FF2B5EF4-FFF2-40B4-BE49-F238E27FC236}">
                <a16:creationId xmlns:a16="http://schemas.microsoft.com/office/drawing/2014/main" id="{8F6CDF3E-C9E0-F776-1EB1-8A7BF2314FD0}"/>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CFB114EC-AEDC-1047-0797-9B850951C349}"/>
              </a:ext>
            </a:extLst>
          </p:cNvPr>
          <p:cNvSpPr>
            <a:spLocks noGrp="1"/>
          </p:cNvSpPr>
          <p:nvPr>
            <p:ph type="sldNum" sz="quarter" idx="12"/>
          </p:nvPr>
        </p:nvSpPr>
        <p:spPr/>
        <p:txBody>
          <a:bodyPr/>
          <a:lstStyle/>
          <a:p>
            <a:pPr>
              <a:defRPr/>
            </a:pPr>
            <a:fld id="{D1280744-4AA1-48F6-A06C-254DD643B7B7}" type="slidenum">
              <a:rPr lang="en-US" altLang="en-US" smtClean="0"/>
              <a:pPr>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a:extLst>
              <a:ext uri="{FF2B5EF4-FFF2-40B4-BE49-F238E27FC236}">
                <a16:creationId xmlns:a16="http://schemas.microsoft.com/office/drawing/2014/main" id="{60BECE11-1E79-A3FC-056C-1EF1A37D4E9B}"/>
              </a:ext>
            </a:extLst>
          </p:cNvPr>
          <p:cNvSpPr txBox="1">
            <a:spLocks noChangeArrowheads="1"/>
          </p:cNvSpPr>
          <p:nvPr/>
        </p:nvSpPr>
        <p:spPr bwMode="auto">
          <a:xfrm>
            <a:off x="2590800" y="1905000"/>
            <a:ext cx="7543800" cy="1938338"/>
          </a:xfrm>
          <a:prstGeom prst="rect">
            <a:avLst/>
          </a:prstGeom>
          <a:noFill/>
          <a:ln>
            <a:noFill/>
          </a:ln>
        </p:spPr>
        <p:txBody>
          <a:bodyPr>
            <a:spAutoFit/>
          </a:bodyPr>
          <a:lstStyle>
            <a:lvl1pPr marL="609600" indent="-609600">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1066800" indent="-60960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None/>
              <a:defRPr/>
            </a:pPr>
            <a:r>
              <a:rPr lang="en-US" altLang="en-US" b="1" dirty="0">
                <a:latin typeface="Tahoma" panose="020B0604030504040204" pitchFamily="34" charset="0"/>
              </a:rPr>
              <a:t>C.  Two Choices in Data Design --</a:t>
            </a:r>
            <a:endParaRPr lang="en-US" altLang="en-US" dirty="0">
              <a:latin typeface="Times New Roman" panose="02020603050405020304" pitchFamily="18" charset="0"/>
            </a:endParaRPr>
          </a:p>
          <a:p>
            <a:pPr lvl="1">
              <a:spcBef>
                <a:spcPct val="50000"/>
              </a:spcBef>
              <a:buClrTx/>
              <a:buSzTx/>
              <a:buFontTx/>
              <a:buAutoNum type="romanUcPeriod"/>
              <a:defRPr/>
            </a:pPr>
            <a:r>
              <a:rPr lang="en-US" altLang="en-US" sz="2400" dirty="0">
                <a:highlight>
                  <a:srgbClr val="FFFF00"/>
                </a:highlight>
                <a:latin typeface="Times New Roman" panose="02020603050405020304" pitchFamily="18" charset="0"/>
              </a:rPr>
              <a:t>ERD (conceptual) and Relational Schema (logical)</a:t>
            </a:r>
          </a:p>
          <a:p>
            <a:pPr lvl="1">
              <a:spcBef>
                <a:spcPct val="50000"/>
              </a:spcBef>
              <a:buClrTx/>
              <a:buSzTx/>
              <a:buFontTx/>
              <a:buAutoNum type="romanUcPeriod"/>
              <a:defRPr/>
            </a:pPr>
            <a:r>
              <a:rPr lang="en-US" altLang="en-US" sz="2400" dirty="0">
                <a:highlight>
                  <a:srgbClr val="00FF00"/>
                </a:highlight>
                <a:latin typeface="Times New Roman" panose="02020603050405020304" pitchFamily="18" charset="0"/>
              </a:rPr>
              <a:t>Dimensional model (</a:t>
            </a:r>
            <a:r>
              <a:rPr lang="en-US" altLang="en-US" sz="2400" dirty="0" err="1">
                <a:highlight>
                  <a:srgbClr val="00FF00"/>
                </a:highlight>
                <a:latin typeface="Times New Roman" panose="02020603050405020304" pitchFamily="18" charset="0"/>
              </a:rPr>
              <a:t>conceptual+logical</a:t>
            </a:r>
            <a:r>
              <a:rPr lang="en-US" altLang="en-US" sz="2400" dirty="0">
                <a:highlight>
                  <a:srgbClr val="00FF00"/>
                </a:highlight>
                <a:latin typeface="Times New Roman" panose="02020603050405020304" pitchFamily="18" charset="0"/>
              </a:rPr>
              <a:t>) and 	Star/Snowflake Schema (logical)</a:t>
            </a:r>
          </a:p>
        </p:txBody>
      </p:sp>
      <p:sp>
        <p:nvSpPr>
          <p:cNvPr id="14339" name="Rectangle 2">
            <a:extLst>
              <a:ext uri="{FF2B5EF4-FFF2-40B4-BE49-F238E27FC236}">
                <a16:creationId xmlns:a16="http://schemas.microsoft.com/office/drawing/2014/main" id="{EE0B4C43-6ADE-22F9-55C8-5239E3792FB6}"/>
              </a:ext>
            </a:extLst>
          </p:cNvPr>
          <p:cNvSpPr>
            <a:spLocks noGrp="1" noChangeArrowheads="1"/>
          </p:cNvSpPr>
          <p:nvPr>
            <p:ph type="title"/>
          </p:nvPr>
        </p:nvSpPr>
        <p:spPr>
          <a:xfrm>
            <a:off x="2552700" y="685800"/>
            <a:ext cx="7200900" cy="762000"/>
          </a:xfrm>
        </p:spPr>
        <p:txBody>
          <a:bodyPr/>
          <a:lstStyle/>
          <a:p>
            <a:pPr algn="ctr" eaLnBrk="1" hangingPunct="1"/>
            <a:r>
              <a:rPr lang="en-US" altLang="en-US" sz="2900" b="1">
                <a:solidFill>
                  <a:srgbClr val="C00000"/>
                </a:solidFill>
                <a:latin typeface="Tahoma" panose="020B0604030504040204" pitchFamily="34" charset="0"/>
              </a:rPr>
              <a:t>Data Design for Data Warehousing</a:t>
            </a:r>
          </a:p>
        </p:txBody>
      </p:sp>
      <p:sp>
        <p:nvSpPr>
          <p:cNvPr id="2" name="Date Placeholder 1">
            <a:extLst>
              <a:ext uri="{FF2B5EF4-FFF2-40B4-BE49-F238E27FC236}">
                <a16:creationId xmlns:a16="http://schemas.microsoft.com/office/drawing/2014/main" id="{B3181375-D17D-66C3-AD57-C925EF6EAE38}"/>
              </a:ext>
            </a:extLst>
          </p:cNvPr>
          <p:cNvSpPr>
            <a:spLocks noGrp="1"/>
          </p:cNvSpPr>
          <p:nvPr>
            <p:ph type="dt" sz="quarter" idx="10"/>
          </p:nvPr>
        </p:nvSpPr>
        <p:spPr/>
        <p:txBody>
          <a:bodyPr/>
          <a:lstStyle/>
          <a:p>
            <a:pPr>
              <a:defRPr/>
            </a:pPr>
            <a:fld id="{C78727DE-95C2-4CDF-9AA8-788FCEE15C5D}" type="datetime1">
              <a:rPr lang="en-US" smtClean="0"/>
              <a:t>9/30/2025</a:t>
            </a:fld>
            <a:endParaRPr lang="en-US"/>
          </a:p>
        </p:txBody>
      </p:sp>
      <p:sp>
        <p:nvSpPr>
          <p:cNvPr id="3" name="Footer Placeholder 2">
            <a:extLst>
              <a:ext uri="{FF2B5EF4-FFF2-40B4-BE49-F238E27FC236}">
                <a16:creationId xmlns:a16="http://schemas.microsoft.com/office/drawing/2014/main" id="{53ADA331-0DA8-B9BC-1164-CF3416DC3604}"/>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63DE6A7-8B7C-F01E-FC5A-0B82DB7DE56B}"/>
              </a:ext>
            </a:extLst>
          </p:cNvPr>
          <p:cNvSpPr>
            <a:spLocks noGrp="1"/>
          </p:cNvSpPr>
          <p:nvPr>
            <p:ph type="sldNum" sz="quarter" idx="12"/>
          </p:nvPr>
        </p:nvSpPr>
        <p:spPr/>
        <p:txBody>
          <a:bodyPr/>
          <a:lstStyle/>
          <a:p>
            <a:pPr>
              <a:defRPr/>
            </a:pPr>
            <a:fld id="{8319EA69-40D2-419A-B54C-6AB82D06792C}"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B59A1-00E4-C521-7371-1330CC795AC9}"/>
              </a:ext>
            </a:extLst>
          </p:cNvPr>
          <p:cNvSpPr>
            <a:spLocks noGrp="1"/>
          </p:cNvSpPr>
          <p:nvPr>
            <p:ph type="ctrTitle"/>
          </p:nvPr>
        </p:nvSpPr>
        <p:spPr>
          <a:xfrm>
            <a:off x="1093695" y="4474723"/>
            <a:ext cx="10148046" cy="1089498"/>
          </a:xfrm>
        </p:spPr>
        <p:txBody>
          <a:bodyPr anchor="t">
            <a:normAutofit/>
          </a:bodyPr>
          <a:lstStyle/>
          <a:p>
            <a:pPr defTabSz="457200">
              <a:lnSpc>
                <a:spcPct val="100000"/>
              </a:lnSpc>
              <a:spcBef>
                <a:spcPct val="50000"/>
              </a:spcBef>
              <a:defRPr/>
            </a:pPr>
            <a:br>
              <a:rPr lang="en-US" altLang="en-US" sz="2400" b="1" dirty="0">
                <a:solidFill>
                  <a:srgbClr val="C00000"/>
                </a:solidFill>
                <a:latin typeface="Century Gothic" panose="020B0502020202020204" pitchFamily="34" charset="0"/>
                <a:ea typeface="+mn-ea"/>
                <a:cs typeface="+mn-cs"/>
              </a:rPr>
            </a:br>
            <a:r>
              <a:rPr lang="en-US" altLang="en-US" sz="2400" b="1" dirty="0">
                <a:solidFill>
                  <a:srgbClr val="C00000"/>
                </a:solidFill>
                <a:latin typeface="Century Gothic" panose="020B0502020202020204" pitchFamily="34" charset="0"/>
                <a:ea typeface="+mn-ea"/>
                <a:cs typeface="+mn-cs"/>
              </a:rPr>
              <a:t>I.  ERD (conceptual) &amp; Relational Schema (logical) – Targeted for EDW</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4056CB85-286E-AC13-7DE6-D480C676945C}"/>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  ERD and Relational Schema</a:t>
            </a:r>
          </a:p>
        </p:txBody>
      </p:sp>
      <p:sp>
        <p:nvSpPr>
          <p:cNvPr id="18435" name="Text Box 5">
            <a:extLst>
              <a:ext uri="{FF2B5EF4-FFF2-40B4-BE49-F238E27FC236}">
                <a16:creationId xmlns:a16="http://schemas.microsoft.com/office/drawing/2014/main" id="{EE020981-ACF8-190B-A106-DDBDA160DD21}"/>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8436" name="Text Box 6">
            <a:extLst>
              <a:ext uri="{FF2B5EF4-FFF2-40B4-BE49-F238E27FC236}">
                <a16:creationId xmlns:a16="http://schemas.microsoft.com/office/drawing/2014/main" id="{AFE3D252-C214-AD66-604B-A17FCCF4F0DF}"/>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20485" name="Text Box 9">
            <a:extLst>
              <a:ext uri="{FF2B5EF4-FFF2-40B4-BE49-F238E27FC236}">
                <a16:creationId xmlns:a16="http://schemas.microsoft.com/office/drawing/2014/main" id="{3B08253E-09AA-58FC-1A66-9E9C9DD4C527}"/>
              </a:ext>
            </a:extLst>
          </p:cNvPr>
          <p:cNvSpPr txBox="1">
            <a:spLocks noChangeArrowheads="1"/>
          </p:cNvSpPr>
          <p:nvPr/>
        </p:nvSpPr>
        <p:spPr bwMode="auto">
          <a:xfrm>
            <a:off x="1899458" y="2084388"/>
            <a:ext cx="9709836" cy="3000821"/>
          </a:xfrm>
          <a:prstGeom prst="rect">
            <a:avLst/>
          </a:prstGeom>
          <a:noFill/>
          <a:ln>
            <a:noFill/>
          </a:ln>
        </p:spPr>
        <p:txBody>
          <a:bodyPr wrap="square">
            <a:spAutoFit/>
          </a:bodyPr>
          <a:lstStyle>
            <a:lvl1pPr marL="342900" indent="-342900">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lvl="1" indent="-457200">
              <a:spcBef>
                <a:spcPct val="50000"/>
              </a:spcBef>
              <a:buClrTx/>
              <a:buSzTx/>
              <a:buNone/>
              <a:defRPr/>
            </a:pPr>
            <a:r>
              <a:rPr lang="en-US" altLang="en-US" sz="1800" dirty="0">
                <a:latin typeface="Times New Roman" panose="02020603050405020304" pitchFamily="18" charset="0"/>
              </a:rPr>
              <a:t>Traditional data base design</a:t>
            </a:r>
          </a:p>
          <a:p>
            <a:pPr lvl="1">
              <a:spcBef>
                <a:spcPct val="50000"/>
              </a:spcBef>
              <a:buClrTx/>
              <a:buSzTx/>
              <a:buFontTx/>
              <a:buChar char="•"/>
              <a:defRPr/>
            </a:pPr>
            <a:r>
              <a:rPr lang="en-US" altLang="en-US" sz="1800" dirty="0">
                <a:latin typeface="Times New Roman" panose="02020603050405020304" pitchFamily="18" charset="0"/>
              </a:rPr>
              <a:t>  </a:t>
            </a:r>
            <a:r>
              <a:rPr lang="en-US" altLang="en-US" sz="1800" b="1" i="1" dirty="0">
                <a:latin typeface="Times New Roman" panose="02020603050405020304" pitchFamily="18" charset="0"/>
              </a:rPr>
              <a:t>Step 1:   </a:t>
            </a:r>
            <a:r>
              <a:rPr lang="en-US" altLang="en-US" sz="1800" dirty="0">
                <a:latin typeface="Times New Roman" panose="02020603050405020304" pitchFamily="18" charset="0"/>
              </a:rPr>
              <a:t>Build the ERD for the enterprise (either directly or through conformable data 	marts)  -		-  	“conceptual model”</a:t>
            </a:r>
          </a:p>
          <a:p>
            <a:pPr lvl="1">
              <a:spcBef>
                <a:spcPct val="50000"/>
              </a:spcBef>
              <a:buClrTx/>
              <a:buSzTx/>
              <a:buFontTx/>
              <a:buChar char="•"/>
              <a:defRPr/>
            </a:pPr>
            <a:r>
              <a:rPr lang="en-US" altLang="en-US" sz="1800" dirty="0">
                <a:latin typeface="Times New Roman" panose="02020603050405020304" pitchFamily="18" charset="0"/>
              </a:rPr>
              <a:t>  </a:t>
            </a:r>
            <a:r>
              <a:rPr lang="en-US" altLang="en-US" sz="1800" b="1" i="1" dirty="0">
                <a:latin typeface="Times New Roman" panose="02020603050405020304" pitchFamily="18" charset="0"/>
              </a:rPr>
              <a:t>Step 2:   </a:t>
            </a:r>
            <a:r>
              <a:rPr lang="en-US" altLang="en-US" sz="1800" dirty="0">
                <a:latin typeface="Times New Roman" panose="02020603050405020304" pitchFamily="18" charset="0"/>
              </a:rPr>
              <a:t>Translate it to a set of relations  using translation 	rules</a:t>
            </a:r>
          </a:p>
          <a:p>
            <a:pPr lvl="1">
              <a:spcBef>
                <a:spcPct val="50000"/>
              </a:spcBef>
              <a:buClrTx/>
              <a:buSzTx/>
              <a:buFontTx/>
              <a:buChar char="•"/>
              <a:defRPr/>
            </a:pPr>
            <a:r>
              <a:rPr lang="en-US" altLang="en-US" sz="1800" dirty="0">
                <a:latin typeface="Times New Roman" panose="02020603050405020304" pitchFamily="18" charset="0"/>
              </a:rPr>
              <a:t>  </a:t>
            </a:r>
            <a:r>
              <a:rPr lang="en-US" altLang="en-US" sz="1800" b="1" i="1" dirty="0">
                <a:latin typeface="Times New Roman" panose="02020603050405020304" pitchFamily="18" charset="0"/>
              </a:rPr>
              <a:t>Step 3:   </a:t>
            </a:r>
            <a:r>
              <a:rPr lang="en-US" altLang="en-US" sz="1800" dirty="0">
                <a:latin typeface="Times New Roman" panose="02020603050405020304" pitchFamily="18" charset="0"/>
              </a:rPr>
              <a:t>Evaluate the relations (called a process of 	Normalization with an objective to have all 		relations in the “3NF model”</a:t>
            </a:r>
          </a:p>
          <a:p>
            <a:pPr lvl="1">
              <a:spcBef>
                <a:spcPct val="50000"/>
              </a:spcBef>
              <a:buClrTx/>
              <a:buSzTx/>
              <a:buFontTx/>
              <a:buChar char="•"/>
              <a:defRPr/>
            </a:pPr>
            <a:r>
              <a:rPr lang="en-US" altLang="en-US" sz="1800" dirty="0">
                <a:latin typeface="Times New Roman" panose="02020603050405020304" pitchFamily="18" charset="0"/>
              </a:rPr>
              <a:t> </a:t>
            </a:r>
            <a:r>
              <a:rPr lang="en-US" altLang="en-US" sz="1800" b="1" i="1" dirty="0">
                <a:latin typeface="Times New Roman" panose="02020603050405020304" pitchFamily="18" charset="0"/>
              </a:rPr>
              <a:t>Step 4:    </a:t>
            </a:r>
            <a:r>
              <a:rPr lang="en-US" altLang="en-US" sz="1800" b="1" dirty="0" err="1">
                <a:latin typeface="Times New Roman" panose="02020603050405020304" pitchFamily="18" charset="0"/>
              </a:rPr>
              <a:t>Denormalize</a:t>
            </a:r>
            <a:r>
              <a:rPr lang="en-US" altLang="en-US" sz="1800" b="1" dirty="0">
                <a:latin typeface="Times New Roman" panose="02020603050405020304" pitchFamily="18" charset="0"/>
              </a:rPr>
              <a:t> as needed</a:t>
            </a:r>
            <a:endParaRPr lang="en-US" altLang="en-US" sz="1800" dirty="0">
              <a:latin typeface="Times New Roman" panose="02020603050405020304" pitchFamily="18" charset="0"/>
            </a:endParaRPr>
          </a:p>
          <a:p>
            <a:pPr lvl="2">
              <a:spcBef>
                <a:spcPct val="50000"/>
              </a:spcBef>
              <a:buClrTx/>
              <a:buSzTx/>
              <a:buFontTx/>
              <a:buChar char="•"/>
              <a:defRPr/>
            </a:pPr>
            <a:endParaRPr lang="en-US" altLang="en-US"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E3005E63-BEB4-C2F3-8975-F130AB28C4FF}"/>
              </a:ext>
            </a:extLst>
          </p:cNvPr>
          <p:cNvSpPr>
            <a:spLocks noGrp="1"/>
          </p:cNvSpPr>
          <p:nvPr>
            <p:ph type="dt" sz="quarter" idx="10"/>
          </p:nvPr>
        </p:nvSpPr>
        <p:spPr/>
        <p:txBody>
          <a:bodyPr/>
          <a:lstStyle/>
          <a:p>
            <a:pPr>
              <a:defRPr/>
            </a:pPr>
            <a:fld id="{F7426F6C-6C3A-4917-A97F-7781D4DC12E8}" type="datetime1">
              <a:rPr lang="en-US" smtClean="0"/>
              <a:t>9/30/2025</a:t>
            </a:fld>
            <a:endParaRPr lang="en-US"/>
          </a:p>
        </p:txBody>
      </p:sp>
      <p:sp>
        <p:nvSpPr>
          <p:cNvPr id="3" name="Footer Placeholder 2">
            <a:extLst>
              <a:ext uri="{FF2B5EF4-FFF2-40B4-BE49-F238E27FC236}">
                <a16:creationId xmlns:a16="http://schemas.microsoft.com/office/drawing/2014/main" id="{B24FB350-22CF-913F-B1EF-DDA824EEC404}"/>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75764574-18AE-0022-7F79-6A44358CAF38}"/>
              </a:ext>
            </a:extLst>
          </p:cNvPr>
          <p:cNvSpPr>
            <a:spLocks noGrp="1"/>
          </p:cNvSpPr>
          <p:nvPr>
            <p:ph type="sldNum" sz="quarter" idx="12"/>
          </p:nvPr>
        </p:nvSpPr>
        <p:spPr/>
        <p:txBody>
          <a:bodyPr/>
          <a:lstStyle/>
          <a:p>
            <a:pPr>
              <a:defRPr/>
            </a:pPr>
            <a:fld id="{AC8183FE-2F67-47E0-9EBC-56F9D2BFEAFE}" type="slidenum">
              <a:rPr lang="en-US" altLang="en-US" smtClean="0"/>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a:extLst>
              <a:ext uri="{FF2B5EF4-FFF2-40B4-BE49-F238E27FC236}">
                <a16:creationId xmlns:a16="http://schemas.microsoft.com/office/drawing/2014/main" id="{7A83DBEF-881B-03F9-32C7-BE0FE893A5D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  ERD and Relational Schema</a:t>
            </a:r>
          </a:p>
        </p:txBody>
      </p:sp>
      <p:sp>
        <p:nvSpPr>
          <p:cNvPr id="20483" name="Text Box 5">
            <a:extLst>
              <a:ext uri="{FF2B5EF4-FFF2-40B4-BE49-F238E27FC236}">
                <a16:creationId xmlns:a16="http://schemas.microsoft.com/office/drawing/2014/main" id="{54A964FE-8379-68A9-5637-4E16747F647C}"/>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20484" name="Text Box 6">
            <a:extLst>
              <a:ext uri="{FF2B5EF4-FFF2-40B4-BE49-F238E27FC236}">
                <a16:creationId xmlns:a16="http://schemas.microsoft.com/office/drawing/2014/main" id="{9CE9DDF4-2275-C292-02D2-1070A2959472}"/>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pic>
        <p:nvPicPr>
          <p:cNvPr id="20485" name="Picture 2">
            <a:extLst>
              <a:ext uri="{FF2B5EF4-FFF2-40B4-BE49-F238E27FC236}">
                <a16:creationId xmlns:a16="http://schemas.microsoft.com/office/drawing/2014/main" id="{CDB47E2F-FCC7-5CEB-5F37-FEFCC53FE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666" y="1757610"/>
            <a:ext cx="5257800" cy="317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Rectangle 2">
            <a:extLst>
              <a:ext uri="{FF2B5EF4-FFF2-40B4-BE49-F238E27FC236}">
                <a16:creationId xmlns:a16="http://schemas.microsoft.com/office/drawing/2014/main" id="{C11E72FD-08C7-0369-932E-3EB624679EA8}"/>
              </a:ext>
            </a:extLst>
          </p:cNvPr>
          <p:cNvSpPr>
            <a:spLocks noChangeArrowheads="1"/>
          </p:cNvSpPr>
          <p:nvPr/>
        </p:nvSpPr>
        <p:spPr bwMode="auto">
          <a:xfrm>
            <a:off x="2019300" y="5337375"/>
            <a:ext cx="8315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200" dirty="0">
                <a:latin typeface="Times New Roman" panose="02020603050405020304" pitchFamily="18" charset="0"/>
                <a:cs typeface="Times New Roman" panose="02020603050405020304" pitchFamily="18" charset="0"/>
              </a:rPr>
              <a:t>For Lucid chart   </a:t>
            </a:r>
            <a:r>
              <a:rPr lang="en-US" altLang="en-US" sz="1200" dirty="0">
                <a:latin typeface="Times New Roman" panose="02020603050405020304" pitchFamily="18" charset="0"/>
                <a:cs typeface="Times New Roman" panose="02020603050405020304" pitchFamily="18" charset="0"/>
                <a:hlinkClick r:id="rId4"/>
              </a:rPr>
              <a:t>https://lucid.app/lucidchart/6f67e4b8-b2d4-40c5-b61e-a8b426c2f487/edit?beaconFlowId=81B2705DE817D131&amp;page=0_0#?folder_id=home&amp;browser=icon</a:t>
            </a:r>
            <a:r>
              <a:rPr lang="en-US" altLang="en-US" sz="1200" dirty="0">
                <a:latin typeface="Times New Roman" panose="02020603050405020304" pitchFamily="18" charset="0"/>
                <a:cs typeface="Times New Roman" panose="02020603050405020304" pitchFamily="18" charset="0"/>
              </a:rPr>
              <a:t> </a:t>
            </a:r>
          </a:p>
        </p:txBody>
      </p:sp>
      <p:sp>
        <p:nvSpPr>
          <p:cNvPr id="20487" name="TextBox 3">
            <a:extLst>
              <a:ext uri="{FF2B5EF4-FFF2-40B4-BE49-F238E27FC236}">
                <a16:creationId xmlns:a16="http://schemas.microsoft.com/office/drawing/2014/main" id="{822FCCDC-3B6E-A1A7-A1EF-83A798FC20D2}"/>
              </a:ext>
            </a:extLst>
          </p:cNvPr>
          <p:cNvSpPr txBox="1">
            <a:spLocks noChangeArrowheads="1"/>
          </p:cNvSpPr>
          <p:nvPr/>
        </p:nvSpPr>
        <p:spPr bwMode="auto">
          <a:xfrm>
            <a:off x="2276476" y="1828800"/>
            <a:ext cx="1000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400" b="1">
                <a:latin typeface="Century Gothic" panose="020B0502020202020204" pitchFamily="34" charset="0"/>
              </a:rPr>
              <a:t>Step 1</a:t>
            </a:r>
          </a:p>
        </p:txBody>
      </p:sp>
      <p:sp>
        <p:nvSpPr>
          <p:cNvPr id="20488" name="Rectangle 1">
            <a:extLst>
              <a:ext uri="{FF2B5EF4-FFF2-40B4-BE49-F238E27FC236}">
                <a16:creationId xmlns:a16="http://schemas.microsoft.com/office/drawing/2014/main" id="{619D06DE-B194-2DD5-A3BC-8720F7B1FE41}"/>
              </a:ext>
            </a:extLst>
          </p:cNvPr>
          <p:cNvSpPr>
            <a:spLocks noChangeArrowheads="1"/>
          </p:cNvSpPr>
          <p:nvPr/>
        </p:nvSpPr>
        <p:spPr bwMode="auto">
          <a:xfrm>
            <a:off x="2447925" y="4929859"/>
            <a:ext cx="891035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100" dirty="0">
                <a:solidFill>
                  <a:srgbClr val="C00000"/>
                </a:solidFill>
                <a:latin typeface="Century Gothic" panose="020B0502020202020204" pitchFamily="34" charset="0"/>
              </a:rPr>
              <a:t>To understand database design, watch this video: </a:t>
            </a:r>
            <a:r>
              <a:rPr lang="en-US" altLang="en-US" sz="1100" dirty="0">
                <a:solidFill>
                  <a:srgbClr val="C00000"/>
                </a:solidFill>
                <a:latin typeface="Century Gothic" panose="020B0502020202020204" pitchFamily="34" charset="0"/>
                <a:hlinkClick r:id="rId5"/>
              </a:rPr>
              <a:t>https://www.youtube.com/watch?v=I_rxqSJAj6U</a:t>
            </a:r>
            <a:r>
              <a:rPr lang="en-US" altLang="en-US" sz="1100" dirty="0">
                <a:solidFill>
                  <a:srgbClr val="C00000"/>
                </a:solidFill>
                <a:latin typeface="Century Gothic" panose="020B0502020202020204" pitchFamily="34" charset="0"/>
              </a:rPr>
              <a:t> </a:t>
            </a:r>
          </a:p>
        </p:txBody>
      </p:sp>
      <p:sp>
        <p:nvSpPr>
          <p:cNvPr id="20489" name="TextBox 9">
            <a:extLst>
              <a:ext uri="{FF2B5EF4-FFF2-40B4-BE49-F238E27FC236}">
                <a16:creationId xmlns:a16="http://schemas.microsoft.com/office/drawing/2014/main" id="{420A56B8-06C9-196C-6D04-EC62C8CCA1EB}"/>
              </a:ext>
            </a:extLst>
          </p:cNvPr>
          <p:cNvSpPr txBox="1">
            <a:spLocks noChangeArrowheads="1"/>
          </p:cNvSpPr>
          <p:nvPr/>
        </p:nvSpPr>
        <p:spPr bwMode="auto">
          <a:xfrm>
            <a:off x="1971956" y="5827553"/>
            <a:ext cx="8039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1200" dirty="0">
                <a:latin typeface="Times New Roman" panose="02020603050405020304" pitchFamily="18" charset="0"/>
                <a:ea typeface="Calibri" panose="020F0502020204030204" pitchFamily="34" charset="0"/>
                <a:cs typeface="Times New Roman" panose="02020603050405020304" pitchFamily="18" charset="0"/>
              </a:rPr>
              <a:t>Download Visio from </a:t>
            </a:r>
            <a:r>
              <a:rPr lang="en-US" altLang="en-US" sz="12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6"/>
              </a:rPr>
              <a:t>https://azureforeducation.microsoft.com/devtools</a:t>
            </a:r>
            <a:r>
              <a:rPr lang="en-US" altLang="en-US" sz="12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rPr>
              <a:t> </a:t>
            </a:r>
            <a:endParaRPr lang="en-US" altLang="en-US" sz="1200" dirty="0">
              <a:ea typeface="Calibri" panose="020F0502020204030204" pitchFamily="34"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74CACD3-7750-4877-99EC-6678E3700F84}"/>
              </a:ext>
            </a:extLst>
          </p:cNvPr>
          <p:cNvSpPr>
            <a:spLocks noGrp="1"/>
          </p:cNvSpPr>
          <p:nvPr>
            <p:ph type="dt" sz="quarter" idx="10"/>
          </p:nvPr>
        </p:nvSpPr>
        <p:spPr/>
        <p:txBody>
          <a:bodyPr/>
          <a:lstStyle/>
          <a:p>
            <a:pPr>
              <a:defRPr/>
            </a:pPr>
            <a:fld id="{CAFF45CA-9462-4186-958F-DF2105DDB0BC}" type="datetime1">
              <a:rPr lang="en-US" smtClean="0"/>
              <a:t>9/30/2025</a:t>
            </a:fld>
            <a:endParaRPr lang="en-US"/>
          </a:p>
        </p:txBody>
      </p:sp>
      <p:sp>
        <p:nvSpPr>
          <p:cNvPr id="4" name="Footer Placeholder 3">
            <a:extLst>
              <a:ext uri="{FF2B5EF4-FFF2-40B4-BE49-F238E27FC236}">
                <a16:creationId xmlns:a16="http://schemas.microsoft.com/office/drawing/2014/main" id="{5679FD78-1C2D-D3E2-6385-FB0B9A77D478}"/>
              </a:ext>
            </a:extLst>
          </p:cNvPr>
          <p:cNvSpPr>
            <a:spLocks noGrp="1"/>
          </p:cNvSpPr>
          <p:nvPr>
            <p:ph type="ftr" sz="quarter" idx="11"/>
          </p:nvPr>
        </p:nvSpPr>
        <p:spPr/>
        <p:txBody>
          <a:bodyPr/>
          <a:lstStyle/>
          <a:p>
            <a:pPr>
              <a:defRPr/>
            </a:pPr>
            <a:r>
              <a:rPr lang="en-US"/>
              <a:t>Copyrighted by Arun Sen</a:t>
            </a:r>
          </a:p>
        </p:txBody>
      </p:sp>
      <p:sp>
        <p:nvSpPr>
          <p:cNvPr id="5" name="Slide Number Placeholder 4">
            <a:extLst>
              <a:ext uri="{FF2B5EF4-FFF2-40B4-BE49-F238E27FC236}">
                <a16:creationId xmlns:a16="http://schemas.microsoft.com/office/drawing/2014/main" id="{D0672B28-CFC6-96AB-0025-44F5AF562A02}"/>
              </a:ext>
            </a:extLst>
          </p:cNvPr>
          <p:cNvSpPr>
            <a:spLocks noGrp="1"/>
          </p:cNvSpPr>
          <p:nvPr>
            <p:ph type="sldNum" sz="quarter" idx="12"/>
          </p:nvPr>
        </p:nvSpPr>
        <p:spPr/>
        <p:txBody>
          <a:bodyPr/>
          <a:lstStyle/>
          <a:p>
            <a:pPr>
              <a:defRPr/>
            </a:pPr>
            <a:fld id="{125075C2-2005-4B44-B725-B7DB1277FA00}" type="slidenum">
              <a:rPr lang="en-US" altLang="en-US" smtClean="0"/>
              <a:pPr>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a:extLst>
              <a:ext uri="{FF2B5EF4-FFF2-40B4-BE49-F238E27FC236}">
                <a16:creationId xmlns:a16="http://schemas.microsoft.com/office/drawing/2014/main" id="{C879BD99-C469-3704-2144-387CFF269975}"/>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  ERD and Relational Schema</a:t>
            </a:r>
          </a:p>
        </p:txBody>
      </p:sp>
      <p:sp>
        <p:nvSpPr>
          <p:cNvPr id="22531" name="TextBox 1">
            <a:extLst>
              <a:ext uri="{FF2B5EF4-FFF2-40B4-BE49-F238E27FC236}">
                <a16:creationId xmlns:a16="http://schemas.microsoft.com/office/drawing/2014/main" id="{E285AEDD-833B-5474-1720-68FBC994296D}"/>
              </a:ext>
            </a:extLst>
          </p:cNvPr>
          <p:cNvSpPr txBox="1">
            <a:spLocks noChangeArrowheads="1"/>
          </p:cNvSpPr>
          <p:nvPr/>
        </p:nvSpPr>
        <p:spPr bwMode="auto">
          <a:xfrm>
            <a:off x="1900518" y="1759978"/>
            <a:ext cx="68580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800100" indent="-3429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400" dirty="0">
                <a:latin typeface="Times New Roman" panose="02020603050405020304" pitchFamily="18" charset="0"/>
                <a:cs typeface="Times New Roman" panose="02020603050405020304" pitchFamily="18" charset="0"/>
              </a:rPr>
              <a:t>Step 2.  Translated Relations are as follows:</a:t>
            </a:r>
          </a:p>
          <a:p>
            <a:pPr lvl="1" eaLnBrk="1" hangingPunct="1">
              <a:buFont typeface="Century Schoolbook" panose="02040604050505020304" pitchFamily="18" charset="0"/>
              <a:buAutoNum type="arabicPeriod"/>
            </a:pPr>
            <a:r>
              <a:rPr lang="en-US" altLang="en-US" sz="1400" dirty="0">
                <a:latin typeface="Times New Roman" panose="02020603050405020304" pitchFamily="18" charset="0"/>
                <a:cs typeface="Times New Roman" panose="02020603050405020304" pitchFamily="18" charset="0"/>
              </a:rPr>
              <a:t>Employee (</a:t>
            </a:r>
            <a:r>
              <a:rPr lang="en-US" altLang="en-US" sz="1400" u="sng" dirty="0">
                <a:latin typeface="Times New Roman" panose="02020603050405020304" pitchFamily="18" charset="0"/>
                <a:cs typeface="Times New Roman" panose="02020603050405020304" pitchFamily="18" charset="0"/>
              </a:rPr>
              <a:t>enum</a:t>
            </a:r>
            <a:r>
              <a:rPr lang="en-US" altLang="en-US" sz="1400" dirty="0">
                <a:latin typeface="Times New Roman" panose="02020603050405020304" pitchFamily="18" charset="0"/>
                <a:cs typeface="Times New Roman" panose="02020603050405020304" pitchFamily="18" charset="0"/>
              </a:rPr>
              <a:t>, employee-name, employee-</a:t>
            </a:r>
            <a:r>
              <a:rPr lang="en-US" altLang="en-US" sz="1400" dirty="0" err="1">
                <a:latin typeface="Times New Roman" panose="02020603050405020304" pitchFamily="18" charset="0"/>
                <a:cs typeface="Times New Roman" panose="02020603050405020304" pitchFamily="18" charset="0"/>
              </a:rPr>
              <a:t>addr</a:t>
            </a:r>
            <a:r>
              <a:rPr lang="en-US" altLang="en-US" sz="1400" dirty="0">
                <a:latin typeface="Times New Roman" panose="02020603050405020304" pitchFamily="18" charset="0"/>
                <a:cs typeface="Times New Roman" panose="02020603050405020304" pitchFamily="18" charset="0"/>
              </a:rPr>
              <a:t>)</a:t>
            </a:r>
          </a:p>
          <a:p>
            <a:pPr lvl="1" eaLnBrk="1" hangingPunct="1">
              <a:buFont typeface="Century Schoolbook" panose="02040604050505020304" pitchFamily="18" charset="0"/>
              <a:buAutoNum type="arabicPeriod"/>
            </a:pPr>
            <a:r>
              <a:rPr lang="en-US" altLang="en-US" sz="1400" dirty="0">
                <a:latin typeface="Times New Roman" panose="02020603050405020304" pitchFamily="18" charset="0"/>
                <a:cs typeface="Times New Roman" panose="02020603050405020304" pitchFamily="18" charset="0"/>
              </a:rPr>
              <a:t>Supplier (</a:t>
            </a:r>
            <a:r>
              <a:rPr lang="en-US" altLang="en-US" sz="1400" u="sng" dirty="0">
                <a:latin typeface="Times New Roman" panose="02020603050405020304" pitchFamily="18" charset="0"/>
                <a:cs typeface="Times New Roman" panose="02020603050405020304" pitchFamily="18" charset="0"/>
              </a:rPr>
              <a:t>s-ID</a:t>
            </a:r>
            <a:r>
              <a:rPr lang="en-US" altLang="en-US" sz="1400" dirty="0">
                <a:latin typeface="Times New Roman" panose="02020603050405020304" pitchFamily="18" charset="0"/>
                <a:cs typeface="Times New Roman" panose="02020603050405020304" pitchFamily="18" charset="0"/>
              </a:rPr>
              <a:t>, s-name, s-address, </a:t>
            </a:r>
            <a:r>
              <a:rPr lang="en-US" altLang="en-US" sz="1400" u="sng" dirty="0">
                <a:latin typeface="Times New Roman" panose="02020603050405020304" pitchFamily="18" charset="0"/>
                <a:cs typeface="Times New Roman" panose="02020603050405020304" pitchFamily="18" charset="0"/>
              </a:rPr>
              <a:t>enum</a:t>
            </a:r>
            <a:r>
              <a:rPr lang="en-US" altLang="en-US" sz="1400" dirty="0">
                <a:latin typeface="Times New Roman" panose="02020603050405020304" pitchFamily="18" charset="0"/>
                <a:cs typeface="Times New Roman" panose="02020603050405020304" pitchFamily="18" charset="0"/>
              </a:rPr>
              <a:t>)</a:t>
            </a:r>
          </a:p>
          <a:p>
            <a:pPr lvl="1" eaLnBrk="1" hangingPunct="1">
              <a:buFont typeface="Century Schoolbook" panose="02040604050505020304" pitchFamily="18" charset="0"/>
              <a:buAutoNum type="arabicPeriod"/>
            </a:pPr>
            <a:r>
              <a:rPr lang="en-US" altLang="en-US" sz="1400" dirty="0">
                <a:latin typeface="Times New Roman" panose="02020603050405020304" pitchFamily="18" charset="0"/>
                <a:cs typeface="Times New Roman" panose="02020603050405020304" pitchFamily="18" charset="0"/>
              </a:rPr>
              <a:t>Product (</a:t>
            </a:r>
            <a:r>
              <a:rPr lang="en-US" altLang="en-US" sz="1400" u="sng" dirty="0">
                <a:latin typeface="Times New Roman" panose="02020603050405020304" pitchFamily="18" charset="0"/>
                <a:cs typeface="Times New Roman" panose="02020603050405020304" pitchFamily="18" charset="0"/>
              </a:rPr>
              <a:t>prod-id</a:t>
            </a:r>
            <a:r>
              <a:rPr lang="en-US" altLang="en-US" sz="1400" dirty="0">
                <a:latin typeface="Times New Roman" panose="02020603050405020304" pitchFamily="18" charset="0"/>
                <a:cs typeface="Times New Roman" panose="02020603050405020304" pitchFamily="18" charset="0"/>
              </a:rPr>
              <a:t>, product-name, product-desc, product-price, </a:t>
            </a:r>
            <a:r>
              <a:rPr lang="en-US" altLang="en-US" sz="1400" u="sng" dirty="0">
                <a:latin typeface="Times New Roman" panose="02020603050405020304" pitchFamily="18" charset="0"/>
                <a:cs typeface="Times New Roman" panose="02020603050405020304" pitchFamily="18" charset="0"/>
              </a:rPr>
              <a:t>enum</a:t>
            </a:r>
            <a:r>
              <a:rPr lang="en-US" altLang="en-US" sz="1400" dirty="0">
                <a:latin typeface="Times New Roman" panose="02020603050405020304" pitchFamily="18" charset="0"/>
                <a:cs typeface="Times New Roman" panose="02020603050405020304" pitchFamily="18" charset="0"/>
              </a:rPr>
              <a:t>, </a:t>
            </a:r>
            <a:r>
              <a:rPr lang="en-US" altLang="en-US" sz="1400" u="sng" dirty="0">
                <a:latin typeface="Times New Roman" panose="02020603050405020304" pitchFamily="18" charset="0"/>
                <a:cs typeface="Times New Roman" panose="02020603050405020304" pitchFamily="18" charset="0"/>
              </a:rPr>
              <a:t>s-ID</a:t>
            </a:r>
            <a:r>
              <a:rPr lang="en-US" altLang="en-US" sz="1400" dirty="0">
                <a:latin typeface="Times New Roman" panose="02020603050405020304" pitchFamily="18" charset="0"/>
                <a:cs typeface="Times New Roman" panose="02020603050405020304" pitchFamily="18" charset="0"/>
              </a:rPr>
              <a:t>) </a:t>
            </a:r>
          </a:p>
          <a:p>
            <a:pPr lvl="1" eaLnBrk="1" hangingPunct="1">
              <a:buFont typeface="Century Schoolbook" panose="02040604050505020304" pitchFamily="18" charset="0"/>
              <a:buAutoNum type="arabicPeriod"/>
            </a:pPr>
            <a:endParaRPr lang="en-US" altLang="en-US" sz="1400" dirty="0">
              <a:latin typeface="Times New Roman" panose="02020603050405020304" pitchFamily="18" charset="0"/>
              <a:cs typeface="Times New Roman" panose="02020603050405020304" pitchFamily="18" charset="0"/>
            </a:endParaRPr>
          </a:p>
        </p:txBody>
      </p:sp>
      <p:pic>
        <p:nvPicPr>
          <p:cNvPr id="22532" name="Picture 2">
            <a:extLst>
              <a:ext uri="{FF2B5EF4-FFF2-40B4-BE49-F238E27FC236}">
                <a16:creationId xmlns:a16="http://schemas.microsoft.com/office/drawing/2014/main" id="{A97DE439-22B1-CF9D-A218-64F45412C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7858" y="2535736"/>
            <a:ext cx="35052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Box 7">
            <a:extLst>
              <a:ext uri="{FF2B5EF4-FFF2-40B4-BE49-F238E27FC236}">
                <a16:creationId xmlns:a16="http://schemas.microsoft.com/office/drawing/2014/main" id="{0BEB526D-25CD-5FCD-FD50-A3B6A65DF99D}"/>
              </a:ext>
            </a:extLst>
          </p:cNvPr>
          <p:cNvSpPr txBox="1">
            <a:spLocks noChangeArrowheads="1"/>
          </p:cNvSpPr>
          <p:nvPr/>
        </p:nvSpPr>
        <p:spPr bwMode="auto">
          <a:xfrm>
            <a:off x="538942" y="2760478"/>
            <a:ext cx="2333625" cy="1323975"/>
          </a:xfrm>
          <a:prstGeom prst="rect">
            <a:avLst/>
          </a:prstGeom>
          <a:solidFill>
            <a:schemeClr val="bg2"/>
          </a:solidFill>
          <a:ln w="9525">
            <a:solidFill>
              <a:schemeClr val="accent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000">
                <a:latin typeface="Times New Roman" panose="02020603050405020304" pitchFamily="18" charset="0"/>
                <a:cs typeface="Times New Roman" panose="02020603050405020304" pitchFamily="18" charset="0"/>
              </a:rPr>
              <a:t>Translation Rule 1</a:t>
            </a:r>
          </a:p>
          <a:p>
            <a:pPr eaLnBrk="1" hangingPunct="1"/>
            <a:r>
              <a:rPr lang="en-US" altLang="en-US" sz="1000">
                <a:latin typeface="Times New Roman" panose="02020603050405020304" pitchFamily="18" charset="0"/>
                <a:cs typeface="Times New Roman" panose="02020603050405020304" pitchFamily="18" charset="0"/>
              </a:rPr>
              <a:t>[a] Each entity type in an ERD (that is not ”weak”) is transformed to a relation.</a:t>
            </a:r>
          </a:p>
          <a:p>
            <a:pPr eaLnBrk="1" hangingPunct="1"/>
            <a:r>
              <a:rPr lang="en-US" altLang="en-US" sz="1000">
                <a:latin typeface="Times New Roman" panose="02020603050405020304" pitchFamily="18" charset="0"/>
                <a:cs typeface="Times New Roman" panose="02020603050405020304" pitchFamily="18" charset="0"/>
              </a:rPr>
              <a:t>[b] The PK of the entity becomes the PK of the relation</a:t>
            </a:r>
          </a:p>
          <a:p>
            <a:pPr eaLnBrk="1" hangingPunct="1"/>
            <a:r>
              <a:rPr lang="en-US" altLang="en-US" sz="1000">
                <a:latin typeface="Times New Roman" panose="02020603050405020304" pitchFamily="18" charset="0"/>
                <a:cs typeface="Times New Roman" panose="02020603050405020304" pitchFamily="18" charset="0"/>
              </a:rPr>
              <a:t>[c] The non-key attributes of the entity become the non-key attributes of the relation. </a:t>
            </a:r>
          </a:p>
        </p:txBody>
      </p:sp>
      <p:sp>
        <p:nvSpPr>
          <p:cNvPr id="22534" name="TextBox 8">
            <a:extLst>
              <a:ext uri="{FF2B5EF4-FFF2-40B4-BE49-F238E27FC236}">
                <a16:creationId xmlns:a16="http://schemas.microsoft.com/office/drawing/2014/main" id="{1335E9E6-822E-737F-3FF4-BE301117EF65}"/>
              </a:ext>
            </a:extLst>
          </p:cNvPr>
          <p:cNvSpPr txBox="1">
            <a:spLocks noChangeArrowheads="1"/>
          </p:cNvSpPr>
          <p:nvPr/>
        </p:nvSpPr>
        <p:spPr bwMode="auto">
          <a:xfrm>
            <a:off x="691659" y="4225632"/>
            <a:ext cx="3152772" cy="1015663"/>
          </a:xfrm>
          <a:prstGeom prst="rect">
            <a:avLst/>
          </a:prstGeom>
          <a:solidFill>
            <a:schemeClr val="bg2"/>
          </a:solidFill>
          <a:ln w="9525">
            <a:solidFill>
              <a:schemeClr val="accent1"/>
            </a:solidFill>
            <a:miter lim="800000"/>
            <a:headEnd/>
            <a:tailEnd/>
          </a:ln>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000">
                <a:latin typeface="Times New Roman" panose="02020603050405020304" pitchFamily="18" charset="0"/>
                <a:cs typeface="Times New Roman" panose="02020603050405020304" pitchFamily="18" charset="0"/>
              </a:rPr>
              <a:t>Translation Rule 2</a:t>
            </a:r>
          </a:p>
          <a:p>
            <a:pPr eaLnBrk="1" hangingPunct="1"/>
            <a:r>
              <a:rPr lang="en-US" altLang="en-US" sz="1000">
                <a:latin typeface="Times New Roman" panose="02020603050405020304" pitchFamily="18" charset="0"/>
                <a:cs typeface="Times New Roman" panose="02020603050405020304" pitchFamily="18" charset="0"/>
              </a:rPr>
              <a:t>[a]For each weak entity type generate a new relation.</a:t>
            </a:r>
          </a:p>
          <a:p>
            <a:pPr eaLnBrk="1" hangingPunct="1"/>
            <a:r>
              <a:rPr lang="en-US" altLang="en-US" sz="1000">
                <a:latin typeface="Times New Roman" panose="02020603050405020304" pitchFamily="18" charset="0"/>
                <a:cs typeface="Times New Roman" panose="02020603050405020304" pitchFamily="18" charset="0"/>
              </a:rPr>
              <a:t>[b] The PK is the composite key created by concatenation of its own key and primary key of the supporting entity.</a:t>
            </a:r>
          </a:p>
          <a:p>
            <a:pPr eaLnBrk="1" hangingPunct="1"/>
            <a:r>
              <a:rPr lang="en-US" altLang="en-US" sz="1000">
                <a:latin typeface="Times New Roman" panose="02020603050405020304" pitchFamily="18" charset="0"/>
                <a:cs typeface="Times New Roman" panose="02020603050405020304" pitchFamily="18" charset="0"/>
              </a:rPr>
              <a:t>[c] The non-key attributes of the entity become the non-key attributes of the relation. </a:t>
            </a:r>
          </a:p>
        </p:txBody>
      </p:sp>
      <p:sp>
        <p:nvSpPr>
          <p:cNvPr id="22535" name="TextBox 9">
            <a:extLst>
              <a:ext uri="{FF2B5EF4-FFF2-40B4-BE49-F238E27FC236}">
                <a16:creationId xmlns:a16="http://schemas.microsoft.com/office/drawing/2014/main" id="{6594E4BD-7D5F-425F-E2C4-F6FA3276B751}"/>
              </a:ext>
            </a:extLst>
          </p:cNvPr>
          <p:cNvSpPr txBox="1">
            <a:spLocks noChangeArrowheads="1"/>
          </p:cNvSpPr>
          <p:nvPr/>
        </p:nvSpPr>
        <p:spPr bwMode="auto">
          <a:xfrm>
            <a:off x="1497106" y="5301393"/>
            <a:ext cx="2641787" cy="861774"/>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000">
                <a:latin typeface="Times New Roman" panose="02020603050405020304" pitchFamily="18" charset="0"/>
                <a:cs typeface="Times New Roman" panose="02020603050405020304" pitchFamily="18" charset="0"/>
              </a:rPr>
              <a:t>Translation Rule 3</a:t>
            </a:r>
          </a:p>
          <a:p>
            <a:pPr eaLnBrk="1" hangingPunct="1"/>
            <a:r>
              <a:rPr lang="en-US" altLang="en-US" sz="1000">
                <a:latin typeface="Times New Roman" panose="02020603050405020304" pitchFamily="18" charset="0"/>
                <a:cs typeface="Times New Roman" panose="02020603050405020304" pitchFamily="18" charset="0"/>
              </a:rPr>
              <a:t>For each n-ary relationship, generate a corresponding relation.  The key is the “composite key” consisting of primary key for each of the entities in the relationship. </a:t>
            </a:r>
          </a:p>
        </p:txBody>
      </p:sp>
      <p:sp>
        <p:nvSpPr>
          <p:cNvPr id="22536" name="Rectangle 3">
            <a:extLst>
              <a:ext uri="{FF2B5EF4-FFF2-40B4-BE49-F238E27FC236}">
                <a16:creationId xmlns:a16="http://schemas.microsoft.com/office/drawing/2014/main" id="{2686C6E2-365A-23D0-5115-84C0D4B43221}"/>
              </a:ext>
            </a:extLst>
          </p:cNvPr>
          <p:cNvSpPr>
            <a:spLocks noChangeArrowheads="1"/>
          </p:cNvSpPr>
          <p:nvPr/>
        </p:nvSpPr>
        <p:spPr bwMode="auto">
          <a:xfrm>
            <a:off x="5065395" y="2856548"/>
            <a:ext cx="2362200" cy="1016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000">
                <a:latin typeface="Times New Roman" panose="02020603050405020304" pitchFamily="18" charset="0"/>
                <a:cs typeface="Times New Roman" panose="02020603050405020304" pitchFamily="18" charset="0"/>
              </a:rPr>
              <a:t>Translation Rule 4</a:t>
            </a:r>
          </a:p>
          <a:p>
            <a:pPr eaLnBrk="1" hangingPunct="1"/>
            <a:r>
              <a:rPr lang="en-US" altLang="en-US" sz="1000">
                <a:latin typeface="Times New Roman" panose="02020603050405020304" pitchFamily="18" charset="0"/>
                <a:cs typeface="Times New Roman" panose="02020603050405020304" pitchFamily="18" charset="0"/>
              </a:rPr>
              <a:t>For each binary relationship WITH attributes, generate a new relation.  The key of this relation is the “composite key” consisting of primary key for each of the entities in the relationship.</a:t>
            </a:r>
          </a:p>
        </p:txBody>
      </p:sp>
      <p:sp>
        <p:nvSpPr>
          <p:cNvPr id="22537" name="Rectangle 4">
            <a:extLst>
              <a:ext uri="{FF2B5EF4-FFF2-40B4-BE49-F238E27FC236}">
                <a16:creationId xmlns:a16="http://schemas.microsoft.com/office/drawing/2014/main" id="{6302156A-AB59-4B43-A4FA-224D2EE402FA}"/>
              </a:ext>
            </a:extLst>
          </p:cNvPr>
          <p:cNvSpPr>
            <a:spLocks noChangeArrowheads="1"/>
          </p:cNvSpPr>
          <p:nvPr/>
        </p:nvSpPr>
        <p:spPr bwMode="auto">
          <a:xfrm>
            <a:off x="5090928" y="4029710"/>
            <a:ext cx="3152772" cy="101566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000">
                <a:latin typeface="Times New Roman" panose="02020603050405020304" pitchFamily="18" charset="0"/>
                <a:cs typeface="Times New Roman" panose="02020603050405020304" pitchFamily="18" charset="0"/>
              </a:rPr>
              <a:t>Translation Rule 5</a:t>
            </a:r>
          </a:p>
          <a:p>
            <a:pPr eaLnBrk="1" hangingPunct="1"/>
            <a:r>
              <a:rPr lang="en-US" altLang="en-US" sz="1000">
                <a:latin typeface="Times New Roman" panose="02020603050405020304" pitchFamily="18" charset="0"/>
                <a:cs typeface="Times New Roman" panose="02020603050405020304" pitchFamily="18" charset="0"/>
              </a:rPr>
              <a:t>For each binary relationship WITHOUT attributes, generate a new relation only if the relationship is (many, many).  The key of this relation is the composite key consisting of primary key for each of the two entities in the relationship.</a:t>
            </a:r>
          </a:p>
        </p:txBody>
      </p:sp>
      <p:sp>
        <p:nvSpPr>
          <p:cNvPr id="22538" name="Rectangle 5">
            <a:extLst>
              <a:ext uri="{FF2B5EF4-FFF2-40B4-BE49-F238E27FC236}">
                <a16:creationId xmlns:a16="http://schemas.microsoft.com/office/drawing/2014/main" id="{D2BC1959-9C86-E3CF-767B-EAC2EFA79B0F}"/>
              </a:ext>
            </a:extLst>
          </p:cNvPr>
          <p:cNvSpPr>
            <a:spLocks noChangeArrowheads="1"/>
          </p:cNvSpPr>
          <p:nvPr/>
        </p:nvSpPr>
        <p:spPr bwMode="auto">
          <a:xfrm>
            <a:off x="6913564" y="5157367"/>
            <a:ext cx="3152772" cy="1169551"/>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000">
                <a:latin typeface="Times New Roman" panose="02020603050405020304" pitchFamily="18" charset="0"/>
                <a:cs typeface="Times New Roman" panose="02020603050405020304" pitchFamily="18" charset="0"/>
              </a:rPr>
              <a:t>Translation Rule 6</a:t>
            </a:r>
          </a:p>
          <a:p>
            <a:pPr eaLnBrk="1" hangingPunct="1"/>
            <a:r>
              <a:rPr lang="en-US" altLang="en-US" sz="1000">
                <a:latin typeface="Times New Roman" panose="02020603050405020304" pitchFamily="18" charset="0"/>
                <a:cs typeface="Times New Roman" panose="02020603050405020304" pitchFamily="18" charset="0"/>
              </a:rPr>
              <a:t>For each binary relationship WITHOUT attributes, if the relationship is (1,many) or (1,1), place a foreign key in the relation that represents the entity on the many-side of the relationship.  The foreign key is the primary-key of the entity on one-side of the relationship.  For (1,1), the foreign key can be placed in either relation.</a:t>
            </a:r>
          </a:p>
        </p:txBody>
      </p:sp>
      <p:sp>
        <p:nvSpPr>
          <p:cNvPr id="22539" name="TextBox 14">
            <a:extLst>
              <a:ext uri="{FF2B5EF4-FFF2-40B4-BE49-F238E27FC236}">
                <a16:creationId xmlns:a16="http://schemas.microsoft.com/office/drawing/2014/main" id="{DB8818AF-30C6-AF1C-DDC1-16970D926B17}"/>
              </a:ext>
            </a:extLst>
          </p:cNvPr>
          <p:cNvSpPr txBox="1">
            <a:spLocks noChangeArrowheads="1"/>
          </p:cNvSpPr>
          <p:nvPr/>
        </p:nvSpPr>
        <p:spPr bwMode="auto">
          <a:xfrm>
            <a:off x="9652808" y="4645275"/>
            <a:ext cx="1000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400" b="1" dirty="0">
                <a:latin typeface="Century Gothic" panose="020B0502020202020204" pitchFamily="34" charset="0"/>
              </a:rPr>
              <a:t>Step 2</a:t>
            </a:r>
          </a:p>
        </p:txBody>
      </p:sp>
      <p:sp>
        <p:nvSpPr>
          <p:cNvPr id="2" name="Date Placeholder 1">
            <a:extLst>
              <a:ext uri="{FF2B5EF4-FFF2-40B4-BE49-F238E27FC236}">
                <a16:creationId xmlns:a16="http://schemas.microsoft.com/office/drawing/2014/main" id="{D2A03427-8EC5-399D-C5DB-8522DF3561BA}"/>
              </a:ext>
            </a:extLst>
          </p:cNvPr>
          <p:cNvSpPr>
            <a:spLocks noGrp="1"/>
          </p:cNvSpPr>
          <p:nvPr>
            <p:ph type="dt" sz="quarter" idx="10"/>
          </p:nvPr>
        </p:nvSpPr>
        <p:spPr/>
        <p:txBody>
          <a:bodyPr/>
          <a:lstStyle/>
          <a:p>
            <a:pPr>
              <a:defRPr/>
            </a:pPr>
            <a:fld id="{C5B89FD3-47D8-4C96-936A-324DE9917F62}" type="datetime1">
              <a:rPr lang="en-US" smtClean="0"/>
              <a:t>9/30/2025</a:t>
            </a:fld>
            <a:endParaRPr lang="en-US"/>
          </a:p>
        </p:txBody>
      </p:sp>
      <p:sp>
        <p:nvSpPr>
          <p:cNvPr id="3" name="Footer Placeholder 2">
            <a:extLst>
              <a:ext uri="{FF2B5EF4-FFF2-40B4-BE49-F238E27FC236}">
                <a16:creationId xmlns:a16="http://schemas.microsoft.com/office/drawing/2014/main" id="{6B4E23DF-DF40-D90B-7054-DBFF4AAA28D9}"/>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18E8D1E9-2A7A-94A1-0635-FE6A8E93F8FE}"/>
              </a:ext>
            </a:extLst>
          </p:cNvPr>
          <p:cNvSpPr>
            <a:spLocks noGrp="1"/>
          </p:cNvSpPr>
          <p:nvPr>
            <p:ph type="sldNum" sz="quarter" idx="12"/>
          </p:nvPr>
        </p:nvSpPr>
        <p:spPr/>
        <p:txBody>
          <a:bodyPr/>
          <a:lstStyle/>
          <a:p>
            <a:pPr>
              <a:defRPr/>
            </a:pPr>
            <a:fld id="{2083668F-DA80-4365-89B9-7CB99DBFE2C5}" type="slidenum">
              <a:rPr lang="en-US" altLang="en-US" smtClean="0"/>
              <a:pPr>
                <a:defRPr/>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a:extLst>
              <a:ext uri="{FF2B5EF4-FFF2-40B4-BE49-F238E27FC236}">
                <a16:creationId xmlns:a16="http://schemas.microsoft.com/office/drawing/2014/main" id="{443BACA8-3918-E3AB-BB04-F9C09C995705}"/>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  ERD and Relational Schema</a:t>
            </a:r>
          </a:p>
        </p:txBody>
      </p:sp>
      <p:sp>
        <p:nvSpPr>
          <p:cNvPr id="24579" name="TextBox 8">
            <a:extLst>
              <a:ext uri="{FF2B5EF4-FFF2-40B4-BE49-F238E27FC236}">
                <a16:creationId xmlns:a16="http://schemas.microsoft.com/office/drawing/2014/main" id="{61CFCF4E-10CA-DE30-5F0A-140434DF855D}"/>
              </a:ext>
            </a:extLst>
          </p:cNvPr>
          <p:cNvSpPr txBox="1">
            <a:spLocks noChangeArrowheads="1"/>
          </p:cNvSpPr>
          <p:nvPr/>
        </p:nvSpPr>
        <p:spPr bwMode="auto">
          <a:xfrm>
            <a:off x="2187389" y="1811270"/>
            <a:ext cx="1000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400" b="1" dirty="0">
                <a:latin typeface="Century Gothic" panose="020B0502020202020204" pitchFamily="34" charset="0"/>
              </a:rPr>
              <a:t>Step 3</a:t>
            </a:r>
          </a:p>
        </p:txBody>
      </p:sp>
      <p:sp>
        <p:nvSpPr>
          <p:cNvPr id="24580" name="TextBox 1">
            <a:extLst>
              <a:ext uri="{FF2B5EF4-FFF2-40B4-BE49-F238E27FC236}">
                <a16:creationId xmlns:a16="http://schemas.microsoft.com/office/drawing/2014/main" id="{6161DCC2-59D0-3FB3-2678-F458B1AE2A51}"/>
              </a:ext>
            </a:extLst>
          </p:cNvPr>
          <p:cNvSpPr txBox="1">
            <a:spLocks noChangeArrowheads="1"/>
          </p:cNvSpPr>
          <p:nvPr/>
        </p:nvSpPr>
        <p:spPr bwMode="auto">
          <a:xfrm>
            <a:off x="2753846" y="2135858"/>
            <a:ext cx="3951754" cy="1200329"/>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200">
                <a:latin typeface="Century Gothic" panose="020B0502020202020204" pitchFamily="34" charset="0"/>
              </a:rPr>
              <a:t>First normal form (1NF) is a property of a relation in a relational database. </a:t>
            </a:r>
            <a:r>
              <a:rPr lang="en-US" altLang="en-US" sz="1200" b="1">
                <a:solidFill>
                  <a:srgbClr val="C00000"/>
                </a:solidFill>
                <a:latin typeface="Century Gothic" panose="020B0502020202020204" pitchFamily="34" charset="0"/>
              </a:rPr>
              <a:t>A relation is in first normal form if and only if the domain of each attribute contains only atomic (indivisible) values, and the value of each attribute contains only a single value from that domain.</a:t>
            </a:r>
          </a:p>
        </p:txBody>
      </p:sp>
      <p:sp>
        <p:nvSpPr>
          <p:cNvPr id="6" name="TextBox 5">
            <a:extLst>
              <a:ext uri="{FF2B5EF4-FFF2-40B4-BE49-F238E27FC236}">
                <a16:creationId xmlns:a16="http://schemas.microsoft.com/office/drawing/2014/main" id="{4B834AB8-EFFC-1D1C-49F9-F86ED45D99E1}"/>
              </a:ext>
            </a:extLst>
          </p:cNvPr>
          <p:cNvSpPr txBox="1"/>
          <p:nvPr/>
        </p:nvSpPr>
        <p:spPr>
          <a:xfrm>
            <a:off x="3502026" y="3660775"/>
            <a:ext cx="5497513" cy="1200150"/>
          </a:xfrm>
          <a:prstGeom prst="rect">
            <a:avLst/>
          </a:prstGeom>
          <a:noFill/>
          <a:ln>
            <a:solidFill>
              <a:schemeClr val="accent1"/>
            </a:solidFill>
          </a:ln>
        </p:spPr>
        <p:txBody>
          <a:bodyPr>
            <a:spAutoFit/>
          </a:bodyPr>
          <a:lstStyle/>
          <a:p>
            <a:pPr>
              <a:defRPr/>
            </a:pPr>
            <a:r>
              <a:rPr lang="en-US" sz="1200" dirty="0"/>
              <a:t>A relation is in the second normal (2NF) form if it fulfills the following two requirements: </a:t>
            </a:r>
          </a:p>
          <a:p>
            <a:pPr marL="228600" indent="-228600">
              <a:buFont typeface="+mj-lt"/>
              <a:buAutoNum type="arabicPeriod"/>
              <a:defRPr/>
            </a:pPr>
            <a:r>
              <a:rPr lang="en-US" sz="1200" b="1" dirty="0">
                <a:solidFill>
                  <a:srgbClr val="C00000"/>
                </a:solidFill>
              </a:rPr>
              <a:t>It is in first normal form.</a:t>
            </a:r>
          </a:p>
          <a:p>
            <a:pPr marL="228600" indent="-228600">
              <a:buFont typeface="+mj-lt"/>
              <a:buAutoNum type="arabicPeriod"/>
              <a:defRPr/>
            </a:pPr>
            <a:r>
              <a:rPr lang="en-US" sz="1200" b="1" dirty="0">
                <a:solidFill>
                  <a:srgbClr val="C00000"/>
                </a:solidFill>
              </a:rPr>
              <a:t>It does not have any non-prime attribute that is functionally dependent on any proper subset of any candidate key of the relation. A non-prime attribute of a relation is an attribute that is not a part of any candidate key of the relation.</a:t>
            </a:r>
          </a:p>
        </p:txBody>
      </p:sp>
      <p:sp>
        <p:nvSpPr>
          <p:cNvPr id="24582" name="TextBox 2">
            <a:extLst>
              <a:ext uri="{FF2B5EF4-FFF2-40B4-BE49-F238E27FC236}">
                <a16:creationId xmlns:a16="http://schemas.microsoft.com/office/drawing/2014/main" id="{DBA244C7-A07A-3F62-22DA-24A600BB57E7}"/>
              </a:ext>
            </a:extLst>
          </p:cNvPr>
          <p:cNvSpPr txBox="1">
            <a:spLocks noChangeArrowheads="1"/>
          </p:cNvSpPr>
          <p:nvPr/>
        </p:nvSpPr>
        <p:spPr bwMode="auto">
          <a:xfrm>
            <a:off x="4572001" y="5334000"/>
            <a:ext cx="5776913" cy="1016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200">
                <a:latin typeface="Century Gothic" panose="020B0502020202020204" pitchFamily="34" charset="0"/>
              </a:rPr>
              <a:t>A database relation is said to meet third normal form (3NF) standards if all the attributes (e.g. database columns) are functionally dependent on solely the primary key. </a:t>
            </a:r>
            <a:r>
              <a:rPr lang="en-US" altLang="en-US" sz="1200" b="1">
                <a:solidFill>
                  <a:srgbClr val="C00000"/>
                </a:solidFill>
                <a:latin typeface="Century Gothic" panose="020B0502020202020204" pitchFamily="34" charset="0"/>
              </a:rPr>
              <a:t>Codd defined this as a relation in second normal form where all non-prime attributes depend only on the candidate keys and do not have a transitive dependency on another key.</a:t>
            </a:r>
          </a:p>
        </p:txBody>
      </p:sp>
      <p:sp>
        <p:nvSpPr>
          <p:cNvPr id="2" name="Date Placeholder 1">
            <a:extLst>
              <a:ext uri="{FF2B5EF4-FFF2-40B4-BE49-F238E27FC236}">
                <a16:creationId xmlns:a16="http://schemas.microsoft.com/office/drawing/2014/main" id="{A8E021BF-6B54-A5B0-AE6E-39FB7FDEDF3E}"/>
              </a:ext>
            </a:extLst>
          </p:cNvPr>
          <p:cNvSpPr>
            <a:spLocks noGrp="1"/>
          </p:cNvSpPr>
          <p:nvPr>
            <p:ph type="dt" sz="quarter" idx="10"/>
          </p:nvPr>
        </p:nvSpPr>
        <p:spPr/>
        <p:txBody>
          <a:bodyPr/>
          <a:lstStyle/>
          <a:p>
            <a:pPr>
              <a:defRPr/>
            </a:pPr>
            <a:fld id="{4FEF2BE4-876A-4830-A7FB-89A2C93C5CF0}" type="datetime1">
              <a:rPr lang="en-US" smtClean="0"/>
              <a:t>9/30/2025</a:t>
            </a:fld>
            <a:endParaRPr lang="en-US"/>
          </a:p>
        </p:txBody>
      </p:sp>
      <p:sp>
        <p:nvSpPr>
          <p:cNvPr id="3" name="Footer Placeholder 2">
            <a:extLst>
              <a:ext uri="{FF2B5EF4-FFF2-40B4-BE49-F238E27FC236}">
                <a16:creationId xmlns:a16="http://schemas.microsoft.com/office/drawing/2014/main" id="{C9A52CE0-1C16-65F3-165F-E5C19B9FE89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9C16AB23-8A6D-7F4E-7136-86AE0AC0EEEA}"/>
              </a:ext>
            </a:extLst>
          </p:cNvPr>
          <p:cNvSpPr>
            <a:spLocks noGrp="1"/>
          </p:cNvSpPr>
          <p:nvPr>
            <p:ph type="sldNum" sz="quarter" idx="12"/>
          </p:nvPr>
        </p:nvSpPr>
        <p:spPr/>
        <p:txBody>
          <a:bodyPr/>
          <a:lstStyle/>
          <a:p>
            <a:pPr>
              <a:defRPr/>
            </a:pPr>
            <a:fld id="{8AEE6C9B-620E-4262-A86D-6F88ECD02B72}" type="slidenum">
              <a:rPr lang="en-US" altLang="en-US" smtClean="0"/>
              <a:pPr>
                <a:defRPr/>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F497684B-32C4-3258-A2A3-96C1C52472C8}"/>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  ERD and Relational Schema</a:t>
            </a:r>
          </a:p>
        </p:txBody>
      </p:sp>
      <p:sp>
        <p:nvSpPr>
          <p:cNvPr id="5" name="TextBox 4">
            <a:extLst>
              <a:ext uri="{FF2B5EF4-FFF2-40B4-BE49-F238E27FC236}">
                <a16:creationId xmlns:a16="http://schemas.microsoft.com/office/drawing/2014/main" id="{6532FF46-23B1-5F7E-E8DF-331D77EC0D8D}"/>
              </a:ext>
            </a:extLst>
          </p:cNvPr>
          <p:cNvSpPr txBox="1"/>
          <p:nvPr/>
        </p:nvSpPr>
        <p:spPr>
          <a:xfrm>
            <a:off x="2641195" y="3030071"/>
            <a:ext cx="7915275" cy="2338388"/>
          </a:xfrm>
          <a:prstGeom prst="rect">
            <a:avLst/>
          </a:prstGeom>
          <a:noFill/>
          <a:ln>
            <a:solidFill>
              <a:schemeClr val="accent1"/>
            </a:solidFill>
          </a:ln>
        </p:spPr>
        <p:txBody>
          <a:bodyPr>
            <a:spAutoFit/>
          </a:bodyPr>
          <a:lstStyle/>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hlinkClick r:id="rId3"/>
              </a:rPr>
              <a:t>https://www.geeksforgeeks.org/normal-forms-in-dbms/</a:t>
            </a:r>
            <a:r>
              <a:rPr lang="en-US" sz="1600" dirty="0">
                <a:latin typeface="Times New Roman" panose="02020603050405020304" pitchFamily="18" charset="0"/>
                <a:cs typeface="Times New Roman" panose="02020603050405020304" pitchFamily="18" charset="0"/>
              </a:rPr>
              <a:t> to understand normal forms</a:t>
            </a:r>
          </a:p>
          <a:p>
            <a:pPr>
              <a:defRP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Based up on Normal form definitions, we evaluate the relations with an objective to create Third Normal From relations as follows:</a:t>
            </a:r>
          </a:p>
          <a:p>
            <a:pPr marL="800100" lvl="1" indent="-342900">
              <a:buFont typeface="+mj-lt"/>
              <a:buAutoNum type="arabicPeriod"/>
              <a:defRPr/>
            </a:pPr>
            <a:r>
              <a:rPr lang="en-US" sz="1600" dirty="0">
                <a:latin typeface="Times New Roman" panose="02020603050405020304" pitchFamily="18" charset="0"/>
                <a:cs typeface="Times New Roman" panose="02020603050405020304" pitchFamily="18" charset="0"/>
              </a:rPr>
              <a:t>Employee (</a:t>
            </a:r>
            <a:r>
              <a:rPr lang="en-US" sz="1600" u="sng" dirty="0">
                <a:latin typeface="Times New Roman" panose="02020603050405020304" pitchFamily="18" charset="0"/>
                <a:cs typeface="Times New Roman" panose="02020603050405020304" pitchFamily="18" charset="0"/>
              </a:rPr>
              <a:t>enum</a:t>
            </a:r>
            <a:r>
              <a:rPr lang="en-US" sz="1600" dirty="0">
                <a:latin typeface="Times New Roman" panose="02020603050405020304" pitchFamily="18" charset="0"/>
                <a:cs typeface="Times New Roman" panose="02020603050405020304" pitchFamily="18" charset="0"/>
              </a:rPr>
              <a:t>, employee-name, employee-</a:t>
            </a:r>
            <a:r>
              <a:rPr lang="en-US" sz="1600" dirty="0" err="1">
                <a:latin typeface="Times New Roman" panose="02020603050405020304" pitchFamily="18" charset="0"/>
                <a:cs typeface="Times New Roman" panose="02020603050405020304" pitchFamily="18" charset="0"/>
              </a:rPr>
              <a:t>addr</a:t>
            </a:r>
            <a:r>
              <a:rPr lang="en-US" sz="1600" dirty="0">
                <a:latin typeface="Times New Roman" panose="02020603050405020304" pitchFamily="18" charset="0"/>
                <a:cs typeface="Times New Roman" panose="02020603050405020304" pitchFamily="18" charset="0"/>
              </a:rPr>
              <a:t>)   -- 3</a:t>
            </a:r>
            <a:r>
              <a:rPr lang="en-US" sz="1600" baseline="30000" dirty="0">
                <a:latin typeface="Times New Roman" panose="02020603050405020304" pitchFamily="18" charset="0"/>
                <a:cs typeface="Times New Roman" panose="02020603050405020304" pitchFamily="18" charset="0"/>
              </a:rPr>
              <a:t>rd</a:t>
            </a:r>
            <a:r>
              <a:rPr lang="en-US" sz="1600" dirty="0">
                <a:latin typeface="Times New Roman" panose="02020603050405020304" pitchFamily="18" charset="0"/>
                <a:cs typeface="Times New Roman" panose="02020603050405020304" pitchFamily="18" charset="0"/>
              </a:rPr>
              <a:t> Normal Form</a:t>
            </a:r>
          </a:p>
          <a:p>
            <a:pPr marL="800100" lvl="1" indent="-342900">
              <a:buFont typeface="+mj-lt"/>
              <a:buAutoNum type="arabicPeriod"/>
              <a:defRPr/>
            </a:pPr>
            <a:r>
              <a:rPr lang="en-US" sz="1600" dirty="0">
                <a:latin typeface="Times New Roman" panose="02020603050405020304" pitchFamily="18" charset="0"/>
                <a:cs typeface="Times New Roman" panose="02020603050405020304" pitchFamily="18" charset="0"/>
              </a:rPr>
              <a:t>Supplier (</a:t>
            </a:r>
            <a:r>
              <a:rPr lang="en-US" sz="1600" u="sng" dirty="0">
                <a:latin typeface="Times New Roman" panose="02020603050405020304" pitchFamily="18" charset="0"/>
                <a:cs typeface="Times New Roman" panose="02020603050405020304" pitchFamily="18" charset="0"/>
              </a:rPr>
              <a:t>s-ID</a:t>
            </a:r>
            <a:r>
              <a:rPr lang="en-US" sz="1600" dirty="0">
                <a:latin typeface="Times New Roman" panose="02020603050405020304" pitchFamily="18" charset="0"/>
                <a:cs typeface="Times New Roman" panose="02020603050405020304" pitchFamily="18" charset="0"/>
              </a:rPr>
              <a:t>, s-name, s-address)  - - 3</a:t>
            </a:r>
            <a:r>
              <a:rPr lang="en-US" sz="1600" baseline="30000" dirty="0">
                <a:latin typeface="Times New Roman" panose="02020603050405020304" pitchFamily="18" charset="0"/>
                <a:cs typeface="Times New Roman" panose="02020603050405020304" pitchFamily="18" charset="0"/>
              </a:rPr>
              <a:t>rd</a:t>
            </a:r>
            <a:r>
              <a:rPr lang="en-US" sz="1600" dirty="0">
                <a:latin typeface="Times New Roman" panose="02020603050405020304" pitchFamily="18" charset="0"/>
                <a:cs typeface="Times New Roman" panose="02020603050405020304" pitchFamily="18" charset="0"/>
              </a:rPr>
              <a:t> Normal form</a:t>
            </a:r>
          </a:p>
          <a:p>
            <a:pPr marL="800100" lvl="1" indent="-342900">
              <a:buFont typeface="+mj-lt"/>
              <a:buAutoNum type="arabicPeriod"/>
              <a:defRPr/>
            </a:pPr>
            <a:r>
              <a:rPr lang="en-US" sz="1600" dirty="0">
                <a:latin typeface="Times New Roman" panose="02020603050405020304" pitchFamily="18" charset="0"/>
                <a:cs typeface="Times New Roman" panose="02020603050405020304" pitchFamily="18" charset="0"/>
              </a:rPr>
              <a:t>Order (</a:t>
            </a:r>
            <a:r>
              <a:rPr lang="en-US" sz="1600" u="sng" dirty="0">
                <a:latin typeface="Times New Roman" panose="02020603050405020304" pitchFamily="18" charset="0"/>
                <a:cs typeface="Times New Roman" panose="02020603050405020304" pitchFamily="18" charset="0"/>
              </a:rPr>
              <a:t>s-ID, enum</a:t>
            </a:r>
            <a:r>
              <a:rPr lang="en-US" sz="1600" dirty="0">
                <a:latin typeface="Times New Roman" panose="02020603050405020304" pitchFamily="18" charset="0"/>
                <a:cs typeface="Times New Roman" panose="02020603050405020304" pitchFamily="18" charset="0"/>
              </a:rPr>
              <a:t>)  --  3</a:t>
            </a:r>
            <a:r>
              <a:rPr lang="en-US" sz="1600" baseline="30000" dirty="0">
                <a:latin typeface="Times New Roman" panose="02020603050405020304" pitchFamily="18" charset="0"/>
                <a:cs typeface="Times New Roman" panose="02020603050405020304" pitchFamily="18" charset="0"/>
              </a:rPr>
              <a:t>rd</a:t>
            </a:r>
            <a:r>
              <a:rPr lang="en-US" sz="1600" dirty="0">
                <a:latin typeface="Times New Roman" panose="02020603050405020304" pitchFamily="18" charset="0"/>
                <a:cs typeface="Times New Roman" panose="02020603050405020304" pitchFamily="18" charset="0"/>
              </a:rPr>
              <a:t> Normal Form</a:t>
            </a:r>
          </a:p>
          <a:p>
            <a:pPr marL="800100" lvl="1" indent="-342900">
              <a:buFont typeface="+mj-lt"/>
              <a:buAutoNum type="arabicPeriod"/>
              <a:defRPr/>
            </a:pPr>
            <a:r>
              <a:rPr lang="en-US" sz="1600" dirty="0">
                <a:latin typeface="Times New Roman" panose="02020603050405020304" pitchFamily="18" charset="0"/>
                <a:cs typeface="Times New Roman" panose="02020603050405020304" pitchFamily="18" charset="0"/>
              </a:rPr>
              <a:t>Product (</a:t>
            </a:r>
            <a:r>
              <a:rPr lang="en-US" sz="1600" u="sng" dirty="0">
                <a:latin typeface="Times New Roman" panose="02020603050405020304" pitchFamily="18" charset="0"/>
                <a:cs typeface="Times New Roman" panose="02020603050405020304" pitchFamily="18" charset="0"/>
              </a:rPr>
              <a:t>prod-id</a:t>
            </a:r>
            <a:r>
              <a:rPr lang="en-US" sz="1600" dirty="0">
                <a:latin typeface="Times New Roman" panose="02020603050405020304" pitchFamily="18" charset="0"/>
                <a:cs typeface="Times New Roman" panose="02020603050405020304" pitchFamily="18" charset="0"/>
              </a:rPr>
              <a:t>, product-name, product-desc, product-price) --  3</a:t>
            </a:r>
            <a:r>
              <a:rPr lang="en-US" sz="1600" baseline="30000" dirty="0">
                <a:latin typeface="Times New Roman" panose="02020603050405020304" pitchFamily="18" charset="0"/>
                <a:cs typeface="Times New Roman" panose="02020603050405020304" pitchFamily="18" charset="0"/>
              </a:rPr>
              <a:t>rd</a:t>
            </a:r>
            <a:r>
              <a:rPr lang="en-US" sz="1600" dirty="0">
                <a:latin typeface="Times New Roman" panose="02020603050405020304" pitchFamily="18" charset="0"/>
                <a:cs typeface="Times New Roman" panose="02020603050405020304" pitchFamily="18" charset="0"/>
              </a:rPr>
              <a:t> Normal Form</a:t>
            </a:r>
          </a:p>
          <a:p>
            <a:pPr marL="800100" lvl="1" indent="-342900">
              <a:buFont typeface="+mj-lt"/>
              <a:buAutoNum type="arabicPeriod"/>
              <a:defRPr/>
            </a:pPr>
            <a:r>
              <a:rPr lang="en-US" sz="1600" dirty="0">
                <a:latin typeface="Times New Roman" panose="02020603050405020304" pitchFamily="18" charset="0"/>
                <a:cs typeface="Times New Roman" panose="02020603050405020304" pitchFamily="18" charset="0"/>
              </a:rPr>
              <a:t>Supply (</a:t>
            </a:r>
            <a:r>
              <a:rPr lang="en-US" sz="1600" u="sng" dirty="0">
                <a:latin typeface="Times New Roman" panose="02020603050405020304" pitchFamily="18" charset="0"/>
                <a:cs typeface="Times New Roman" panose="02020603050405020304" pitchFamily="18" charset="0"/>
              </a:rPr>
              <a:t>prod-id</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rPr>
              <a:t>enum</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rPr>
              <a:t>s-ID</a:t>
            </a:r>
            <a:r>
              <a:rPr lang="en-US" sz="1600" dirty="0">
                <a:latin typeface="Times New Roman" panose="02020603050405020304" pitchFamily="18" charset="0"/>
                <a:cs typeface="Times New Roman" panose="02020603050405020304" pitchFamily="18" charset="0"/>
              </a:rPr>
              <a:t>) --  3</a:t>
            </a:r>
            <a:r>
              <a:rPr lang="en-US" sz="1600" baseline="30000" dirty="0">
                <a:latin typeface="Times New Roman" panose="02020603050405020304" pitchFamily="18" charset="0"/>
                <a:cs typeface="Times New Roman" panose="02020603050405020304" pitchFamily="18" charset="0"/>
              </a:rPr>
              <a:t>rd</a:t>
            </a:r>
            <a:r>
              <a:rPr lang="en-US" sz="1600" dirty="0">
                <a:latin typeface="Times New Roman" panose="02020603050405020304" pitchFamily="18" charset="0"/>
                <a:cs typeface="Times New Roman" panose="02020603050405020304" pitchFamily="18" charset="0"/>
              </a:rPr>
              <a:t> Normal Form</a:t>
            </a:r>
          </a:p>
        </p:txBody>
      </p:sp>
      <p:sp>
        <p:nvSpPr>
          <p:cNvPr id="26628" name="TextBox 8">
            <a:extLst>
              <a:ext uri="{FF2B5EF4-FFF2-40B4-BE49-F238E27FC236}">
                <a16:creationId xmlns:a16="http://schemas.microsoft.com/office/drawing/2014/main" id="{E33FBC4D-8113-F677-F71E-1281D4DCA51B}"/>
              </a:ext>
            </a:extLst>
          </p:cNvPr>
          <p:cNvSpPr txBox="1">
            <a:spLocks noChangeArrowheads="1"/>
          </p:cNvSpPr>
          <p:nvPr/>
        </p:nvSpPr>
        <p:spPr bwMode="auto">
          <a:xfrm>
            <a:off x="2263590" y="2234326"/>
            <a:ext cx="1000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400" b="1" dirty="0">
                <a:latin typeface="Century Gothic" panose="020B0502020202020204" pitchFamily="34" charset="0"/>
              </a:rPr>
              <a:t>Step 3</a:t>
            </a:r>
          </a:p>
        </p:txBody>
      </p:sp>
      <p:sp>
        <p:nvSpPr>
          <p:cNvPr id="2" name="Date Placeholder 1">
            <a:extLst>
              <a:ext uri="{FF2B5EF4-FFF2-40B4-BE49-F238E27FC236}">
                <a16:creationId xmlns:a16="http://schemas.microsoft.com/office/drawing/2014/main" id="{2DD6AE71-D992-E27A-3622-893E9387A18C}"/>
              </a:ext>
            </a:extLst>
          </p:cNvPr>
          <p:cNvSpPr>
            <a:spLocks noGrp="1"/>
          </p:cNvSpPr>
          <p:nvPr>
            <p:ph type="dt" sz="quarter" idx="10"/>
          </p:nvPr>
        </p:nvSpPr>
        <p:spPr/>
        <p:txBody>
          <a:bodyPr/>
          <a:lstStyle/>
          <a:p>
            <a:pPr>
              <a:defRPr/>
            </a:pPr>
            <a:fld id="{237B6ABB-6FB4-4C3C-AB68-BF0E9F15844B}" type="datetime1">
              <a:rPr lang="en-US" smtClean="0"/>
              <a:t>9/30/2025</a:t>
            </a:fld>
            <a:endParaRPr lang="en-US"/>
          </a:p>
        </p:txBody>
      </p:sp>
      <p:sp>
        <p:nvSpPr>
          <p:cNvPr id="3" name="Footer Placeholder 2">
            <a:extLst>
              <a:ext uri="{FF2B5EF4-FFF2-40B4-BE49-F238E27FC236}">
                <a16:creationId xmlns:a16="http://schemas.microsoft.com/office/drawing/2014/main" id="{252BB45D-9A02-97F4-D950-FB4CC518E00C}"/>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356AE4AD-1CD1-C3EE-262F-A24A6DEE81DB}"/>
              </a:ext>
            </a:extLst>
          </p:cNvPr>
          <p:cNvSpPr>
            <a:spLocks noGrp="1"/>
          </p:cNvSpPr>
          <p:nvPr>
            <p:ph type="sldNum" sz="quarter" idx="12"/>
          </p:nvPr>
        </p:nvSpPr>
        <p:spPr/>
        <p:txBody>
          <a:bodyPr/>
          <a:lstStyle/>
          <a:p>
            <a:pPr>
              <a:defRPr/>
            </a:pPr>
            <a:fld id="{A43538D3-2615-4325-8A39-D3AB9B3F46E8}" type="slidenum">
              <a:rPr lang="en-US" altLang="en-US" smtClean="0"/>
              <a:pPr>
                <a:defRPr/>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FEDE9E4-5DD2-2DBA-46FD-91538BD729FF}"/>
              </a:ext>
            </a:extLst>
          </p:cNvPr>
          <p:cNvSpPr>
            <a:spLocks noChangeArrowheads="1"/>
          </p:cNvSpPr>
          <p:nvPr/>
        </p:nvSpPr>
        <p:spPr bwMode="auto">
          <a:xfrm>
            <a:off x="2438400" y="4572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br>
              <a:rPr lang="en-US" altLang="en-US" sz="2900" b="1">
                <a:solidFill>
                  <a:srgbClr val="C00000"/>
                </a:solidFill>
                <a:latin typeface="Tahoma" panose="020B0604030504040204" pitchFamily="34" charset="0"/>
              </a:rPr>
            </a:br>
            <a:r>
              <a:rPr lang="en-US" altLang="en-US" sz="2900" b="1">
                <a:solidFill>
                  <a:srgbClr val="C00000"/>
                </a:solidFill>
                <a:latin typeface="Tahoma" panose="020B0604030504040204" pitchFamily="34" charset="0"/>
              </a:rPr>
              <a:t>Denormalization of 3NF Relations</a:t>
            </a:r>
            <a:endParaRPr lang="en-US" altLang="en-US" sz="4200" b="1" i="1">
              <a:solidFill>
                <a:srgbClr val="C00000"/>
              </a:solidFill>
              <a:latin typeface="Times New Roman" panose="02020603050405020304" pitchFamily="18" charset="0"/>
            </a:endParaRPr>
          </a:p>
        </p:txBody>
      </p:sp>
      <p:sp>
        <p:nvSpPr>
          <p:cNvPr id="28675" name="Text Box 3">
            <a:extLst>
              <a:ext uri="{FF2B5EF4-FFF2-40B4-BE49-F238E27FC236}">
                <a16:creationId xmlns:a16="http://schemas.microsoft.com/office/drawing/2014/main" id="{44455252-98D1-E9DC-0612-A93BF71570CD}"/>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28676" name="Text Box 4">
            <a:extLst>
              <a:ext uri="{FF2B5EF4-FFF2-40B4-BE49-F238E27FC236}">
                <a16:creationId xmlns:a16="http://schemas.microsoft.com/office/drawing/2014/main" id="{312B46AC-E4B2-7B77-8092-0E75C4E3E6A4}"/>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28677" name="Text Box 5">
            <a:extLst>
              <a:ext uri="{FF2B5EF4-FFF2-40B4-BE49-F238E27FC236}">
                <a16:creationId xmlns:a16="http://schemas.microsoft.com/office/drawing/2014/main" id="{8E575701-ED25-7AEE-8779-93E96EAB6D34}"/>
              </a:ext>
            </a:extLst>
          </p:cNvPr>
          <p:cNvSpPr txBox="1">
            <a:spLocks noChangeArrowheads="1"/>
          </p:cNvSpPr>
          <p:nvPr/>
        </p:nvSpPr>
        <p:spPr bwMode="auto">
          <a:xfrm>
            <a:off x="2819400" y="1981200"/>
            <a:ext cx="7467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lvl="1" eaLnBrk="1" hangingPunct="1">
              <a:spcBef>
                <a:spcPct val="50000"/>
              </a:spcBef>
              <a:buFontTx/>
              <a:buChar char="•"/>
            </a:pPr>
            <a:r>
              <a:rPr lang="en-US" altLang="en-US" sz="2400">
                <a:latin typeface="Times New Roman" panose="02020603050405020304" pitchFamily="18" charset="0"/>
              </a:rPr>
              <a:t>  Advantages:</a:t>
            </a:r>
          </a:p>
          <a:p>
            <a:pPr lvl="3" eaLnBrk="1" hangingPunct="1"/>
            <a:r>
              <a:rPr lang="en-US" altLang="en-US" sz="2400">
                <a:latin typeface="Times New Roman" panose="02020603050405020304" pitchFamily="18" charset="0"/>
              </a:rPr>
              <a:t>--	improve performance</a:t>
            </a:r>
          </a:p>
          <a:p>
            <a:pPr lvl="1" eaLnBrk="1" hangingPunct="1">
              <a:buFont typeface="Symbol" panose="05050102010706020507" pitchFamily="18" charset="2"/>
              <a:buChar char="·"/>
            </a:pPr>
            <a:r>
              <a:rPr lang="en-US" altLang="en-US" sz="2400">
                <a:latin typeface="Times New Roman" panose="02020603050405020304" pitchFamily="18" charset="0"/>
              </a:rPr>
              <a:t>  Disadvantages</a:t>
            </a:r>
          </a:p>
          <a:p>
            <a:pPr lvl="3" eaLnBrk="1" hangingPunct="1"/>
            <a:r>
              <a:rPr lang="en-US" altLang="en-US" sz="2400">
                <a:latin typeface="Times New Roman" panose="02020603050405020304" pitchFamily="18" charset="0"/>
              </a:rPr>
              <a:t>--	reduces data flexibility</a:t>
            </a:r>
          </a:p>
          <a:p>
            <a:pPr lvl="3" eaLnBrk="1" hangingPunct="1"/>
            <a:r>
              <a:rPr lang="en-US" altLang="en-US" sz="2400">
                <a:latin typeface="Times New Roman" panose="02020603050405020304" pitchFamily="18" charset="0"/>
              </a:rPr>
              <a:t>--	introduces the potential for data anomalies</a:t>
            </a:r>
          </a:p>
          <a:p>
            <a:pPr lvl="3" eaLnBrk="1" hangingPunct="1"/>
            <a:r>
              <a:rPr lang="en-US" altLang="en-US" sz="2400">
                <a:latin typeface="Times New Roman" panose="02020603050405020304" pitchFamily="18" charset="0"/>
              </a:rPr>
              <a:t>-- 	increases programming cost and complexity</a:t>
            </a:r>
          </a:p>
        </p:txBody>
      </p:sp>
      <p:sp>
        <p:nvSpPr>
          <p:cNvPr id="2" name="Date Placeholder 1">
            <a:extLst>
              <a:ext uri="{FF2B5EF4-FFF2-40B4-BE49-F238E27FC236}">
                <a16:creationId xmlns:a16="http://schemas.microsoft.com/office/drawing/2014/main" id="{34928292-EA08-0C51-898F-3F2A260CD2E5}"/>
              </a:ext>
            </a:extLst>
          </p:cNvPr>
          <p:cNvSpPr>
            <a:spLocks noGrp="1"/>
          </p:cNvSpPr>
          <p:nvPr>
            <p:ph type="dt" sz="quarter" idx="10"/>
          </p:nvPr>
        </p:nvSpPr>
        <p:spPr/>
        <p:txBody>
          <a:bodyPr/>
          <a:lstStyle/>
          <a:p>
            <a:pPr>
              <a:defRPr/>
            </a:pPr>
            <a:fld id="{F384EF8C-6799-4827-A052-065BD4D2E39D}" type="datetime1">
              <a:rPr lang="en-US" smtClean="0"/>
              <a:t>9/30/2025</a:t>
            </a:fld>
            <a:endParaRPr lang="en-US"/>
          </a:p>
        </p:txBody>
      </p:sp>
      <p:sp>
        <p:nvSpPr>
          <p:cNvPr id="3" name="Footer Placeholder 2">
            <a:extLst>
              <a:ext uri="{FF2B5EF4-FFF2-40B4-BE49-F238E27FC236}">
                <a16:creationId xmlns:a16="http://schemas.microsoft.com/office/drawing/2014/main" id="{074A3756-FAA0-8929-C92E-254BC59B757B}"/>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F3F22D0B-716E-23E0-288F-E8EC76D44038}"/>
              </a:ext>
            </a:extLst>
          </p:cNvPr>
          <p:cNvSpPr>
            <a:spLocks noGrp="1"/>
          </p:cNvSpPr>
          <p:nvPr>
            <p:ph type="sldNum" sz="quarter" idx="12"/>
          </p:nvPr>
        </p:nvSpPr>
        <p:spPr/>
        <p:txBody>
          <a:bodyPr/>
          <a:lstStyle/>
          <a:p>
            <a:pPr>
              <a:defRPr/>
            </a:pPr>
            <a:fld id="{73DCD396-D26E-4841-8DB0-EB9576FECCCC}" type="slidenum">
              <a:rPr lang="en-US" altLang="en-US" smtClean="0"/>
              <a:pPr>
                <a:defRPr/>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5346A06-1746-0B7F-9179-FCC32901CF59}"/>
              </a:ext>
            </a:extLst>
          </p:cNvPr>
          <p:cNvSpPr>
            <a:spLocks noChangeArrowheads="1"/>
          </p:cNvSpPr>
          <p:nvPr/>
        </p:nvSpPr>
        <p:spPr bwMode="auto">
          <a:xfrm>
            <a:off x="2438400" y="4572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br>
              <a:rPr lang="en-US" altLang="en-US" sz="2900" b="1">
                <a:solidFill>
                  <a:srgbClr val="C00000"/>
                </a:solidFill>
                <a:latin typeface="Tahoma" panose="020B0604030504040204" pitchFamily="34" charset="0"/>
              </a:rPr>
            </a:br>
            <a:r>
              <a:rPr lang="en-US" altLang="en-US" sz="2900" b="1">
                <a:solidFill>
                  <a:srgbClr val="C00000"/>
                </a:solidFill>
                <a:latin typeface="Tahoma" panose="020B0604030504040204" pitchFamily="34" charset="0"/>
              </a:rPr>
              <a:t>Denormalization of 3NF Relations</a:t>
            </a:r>
            <a:endParaRPr lang="en-US" altLang="en-US" sz="4200" b="1" i="1">
              <a:solidFill>
                <a:srgbClr val="C00000"/>
              </a:solidFill>
              <a:latin typeface="Times New Roman" panose="02020603050405020304" pitchFamily="18" charset="0"/>
            </a:endParaRPr>
          </a:p>
        </p:txBody>
      </p:sp>
      <p:sp>
        <p:nvSpPr>
          <p:cNvPr id="30723" name="Text Box 3">
            <a:extLst>
              <a:ext uri="{FF2B5EF4-FFF2-40B4-BE49-F238E27FC236}">
                <a16:creationId xmlns:a16="http://schemas.microsoft.com/office/drawing/2014/main" id="{5463DBF1-A798-60E7-D3F2-09EC5B6DF1B2}"/>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30724" name="Text Box 4">
            <a:extLst>
              <a:ext uri="{FF2B5EF4-FFF2-40B4-BE49-F238E27FC236}">
                <a16:creationId xmlns:a16="http://schemas.microsoft.com/office/drawing/2014/main" id="{4DA3BBDF-45DB-CFB7-F35A-687F3AA74B31}"/>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30725" name="Text Box 5">
            <a:extLst>
              <a:ext uri="{FF2B5EF4-FFF2-40B4-BE49-F238E27FC236}">
                <a16:creationId xmlns:a16="http://schemas.microsoft.com/office/drawing/2014/main" id="{E2FFB44B-F35C-68C7-62B4-F05DA28B310A}"/>
              </a:ext>
            </a:extLst>
          </p:cNvPr>
          <p:cNvSpPr txBox="1">
            <a:spLocks noChangeArrowheads="1"/>
          </p:cNvSpPr>
          <p:nvPr/>
        </p:nvSpPr>
        <p:spPr bwMode="auto">
          <a:xfrm>
            <a:off x="2286000" y="1676401"/>
            <a:ext cx="77724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A.    Recreating Repeating Column Groups</a:t>
            </a:r>
          </a:p>
          <a:p>
            <a:pPr lvl="2" eaLnBrk="1" hangingPunct="1">
              <a:buFont typeface="Symbol" panose="05050102010706020507" pitchFamily="18" charset="2"/>
              <a:buChar char="·"/>
            </a:pPr>
            <a:endParaRPr lang="en-US" altLang="en-US" sz="2000" i="1">
              <a:latin typeface="Times New Roman" panose="02020603050405020304" pitchFamily="18" charset="0"/>
            </a:endParaRPr>
          </a:p>
          <a:p>
            <a:pPr lvl="2" eaLnBrk="1" hangingPunct="1">
              <a:buFont typeface="Symbol" panose="05050102010706020507" pitchFamily="18" charset="2"/>
              <a:buChar char="·"/>
            </a:pPr>
            <a:r>
              <a:rPr lang="en-US" altLang="en-US" sz="2000" i="1">
                <a:latin typeface="Times New Roman" panose="02020603050405020304" pitchFamily="18" charset="0"/>
              </a:rPr>
              <a:t>Why?</a:t>
            </a:r>
            <a:endParaRPr lang="en-US" altLang="en-US" sz="2000">
              <a:latin typeface="Times New Roman" panose="02020603050405020304" pitchFamily="18" charset="0"/>
            </a:endParaRPr>
          </a:p>
          <a:p>
            <a:pPr lvl="3" eaLnBrk="1" hangingPunct="1">
              <a:buFont typeface="Symbol" panose="05050102010706020507" pitchFamily="18" charset="2"/>
              <a:buChar char="·"/>
            </a:pPr>
            <a:r>
              <a:rPr lang="en-US" altLang="en-US" sz="2000">
                <a:latin typeface="Times New Roman" panose="02020603050405020304" pitchFamily="18" charset="0"/>
              </a:rPr>
              <a:t>A report is needed to compare and calculate percentages of an employee's sales for the </a:t>
            </a:r>
            <a:r>
              <a:rPr lang="en-US" altLang="en-US" sz="2000" b="1">
                <a:solidFill>
                  <a:srgbClr val="C00000"/>
                </a:solidFill>
                <a:latin typeface="Times New Roman" panose="02020603050405020304" pitchFamily="18" charset="0"/>
              </a:rPr>
              <a:t>last</a:t>
            </a:r>
            <a:r>
              <a:rPr lang="en-US" altLang="en-US" sz="2000">
                <a:latin typeface="Times New Roman" panose="02020603050405020304" pitchFamily="18" charset="0"/>
              </a:rPr>
              <a:t> six months.</a:t>
            </a:r>
          </a:p>
          <a:p>
            <a:pPr eaLnBrk="1" hangingPunct="1"/>
            <a:endParaRPr lang="en-US" altLang="en-US" sz="2000">
              <a:latin typeface="Times New Roman" panose="02020603050405020304" pitchFamily="18" charset="0"/>
            </a:endParaRPr>
          </a:p>
          <a:p>
            <a:pPr lvl="2" eaLnBrk="1" hangingPunct="1">
              <a:buFont typeface="Symbol" panose="05050102010706020507" pitchFamily="18" charset="2"/>
              <a:buChar char="·"/>
            </a:pPr>
            <a:r>
              <a:rPr lang="en-US" altLang="en-US" sz="2000" i="1">
                <a:latin typeface="Times New Roman" panose="02020603050405020304" pitchFamily="18" charset="0"/>
              </a:rPr>
              <a:t>How is it done </a:t>
            </a:r>
            <a:r>
              <a:rPr lang="en-US" altLang="en-US" sz="2000" b="1" i="1">
                <a:latin typeface="Times New Roman" panose="02020603050405020304" pitchFamily="18" charset="0"/>
              </a:rPr>
              <a:t>now</a:t>
            </a:r>
            <a:r>
              <a:rPr lang="en-US" altLang="en-US" sz="2000" i="1">
                <a:latin typeface="Times New Roman" panose="02020603050405020304" pitchFamily="18" charset="0"/>
              </a:rPr>
              <a:t>?</a:t>
            </a:r>
            <a:endParaRPr lang="en-US" altLang="en-US" sz="2000">
              <a:latin typeface="Times New Roman" panose="02020603050405020304" pitchFamily="18" charset="0"/>
            </a:endParaRPr>
          </a:p>
          <a:p>
            <a:pPr lvl="3" eaLnBrk="1" hangingPunct="1">
              <a:buFont typeface="Symbol" panose="05050102010706020507" pitchFamily="18" charset="2"/>
              <a:buChar char="·"/>
            </a:pPr>
            <a:r>
              <a:rPr lang="en-US" altLang="en-US" sz="2000">
                <a:latin typeface="Times New Roman" panose="02020603050405020304" pitchFamily="18" charset="0"/>
              </a:rPr>
              <a:t>Have a 3NF Relation called Employee_Sales_Report (</a:t>
            </a:r>
            <a:r>
              <a:rPr lang="en-US" altLang="en-US" sz="2000" u="sng">
                <a:latin typeface="Times New Roman" panose="02020603050405020304" pitchFamily="18" charset="0"/>
              </a:rPr>
              <a:t>emp#, sales-date</a:t>
            </a:r>
            <a:r>
              <a:rPr lang="en-US" altLang="en-US" sz="2000">
                <a:latin typeface="Times New Roman" panose="02020603050405020304" pitchFamily="18" charset="0"/>
              </a:rPr>
              <a:t>, sales-amount).</a:t>
            </a:r>
          </a:p>
          <a:p>
            <a:pPr lvl="3" eaLnBrk="1" hangingPunct="1">
              <a:buFont typeface="Symbol" panose="05050102010706020507" pitchFamily="18" charset="2"/>
              <a:buChar char="·"/>
            </a:pPr>
            <a:r>
              <a:rPr lang="en-US" altLang="en-US" sz="2000">
                <a:latin typeface="Times New Roman" panose="02020603050405020304" pitchFamily="18" charset="0"/>
              </a:rPr>
              <a:t>This is a history table that tends to grow very big over time.</a:t>
            </a:r>
          </a:p>
          <a:p>
            <a:pPr eaLnBrk="1" hangingPunct="1"/>
            <a:endParaRPr lang="en-US" altLang="en-US" sz="2000">
              <a:latin typeface="Times New Roman" panose="02020603050405020304" pitchFamily="18" charset="0"/>
            </a:endParaRPr>
          </a:p>
        </p:txBody>
      </p:sp>
      <p:sp>
        <p:nvSpPr>
          <p:cNvPr id="2" name="Date Placeholder 1">
            <a:extLst>
              <a:ext uri="{FF2B5EF4-FFF2-40B4-BE49-F238E27FC236}">
                <a16:creationId xmlns:a16="http://schemas.microsoft.com/office/drawing/2014/main" id="{28BFFFC4-F408-88C0-39F1-2F26524D67C7}"/>
              </a:ext>
            </a:extLst>
          </p:cNvPr>
          <p:cNvSpPr>
            <a:spLocks noGrp="1"/>
          </p:cNvSpPr>
          <p:nvPr>
            <p:ph type="dt" sz="quarter" idx="10"/>
          </p:nvPr>
        </p:nvSpPr>
        <p:spPr/>
        <p:txBody>
          <a:bodyPr/>
          <a:lstStyle/>
          <a:p>
            <a:pPr>
              <a:defRPr/>
            </a:pPr>
            <a:fld id="{A046348F-A3F5-4DFF-9FCD-F7C3B613825C}" type="datetime1">
              <a:rPr lang="en-US" smtClean="0"/>
              <a:t>9/30/2025</a:t>
            </a:fld>
            <a:endParaRPr lang="en-US"/>
          </a:p>
        </p:txBody>
      </p:sp>
      <p:sp>
        <p:nvSpPr>
          <p:cNvPr id="3" name="Footer Placeholder 2">
            <a:extLst>
              <a:ext uri="{FF2B5EF4-FFF2-40B4-BE49-F238E27FC236}">
                <a16:creationId xmlns:a16="http://schemas.microsoft.com/office/drawing/2014/main" id="{583685F6-9056-11BC-583B-61C0AA33B0F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24EF5B2-68E8-5DC6-8D0A-67E6CAB7D75A}"/>
              </a:ext>
            </a:extLst>
          </p:cNvPr>
          <p:cNvSpPr>
            <a:spLocks noGrp="1"/>
          </p:cNvSpPr>
          <p:nvPr>
            <p:ph type="sldNum" sz="quarter" idx="12"/>
          </p:nvPr>
        </p:nvSpPr>
        <p:spPr/>
        <p:txBody>
          <a:bodyPr/>
          <a:lstStyle/>
          <a:p>
            <a:pPr>
              <a:defRPr/>
            </a:pPr>
            <a:fld id="{356556DC-3853-4485-A8FF-758B9D7F30BC}" type="slidenum">
              <a:rPr lang="en-US" altLang="en-US" smtClean="0"/>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a:extLst>
              <a:ext uri="{FF2B5EF4-FFF2-40B4-BE49-F238E27FC236}">
                <a16:creationId xmlns:a16="http://schemas.microsoft.com/office/drawing/2014/main" id="{58B1CBF7-8B27-9B89-D468-08B5EE2101F1}"/>
              </a:ext>
            </a:extLst>
          </p:cNvPr>
          <p:cNvSpPr>
            <a:spLocks noChangeArrowheads="1"/>
          </p:cNvSpPr>
          <p:nvPr/>
        </p:nvSpPr>
        <p:spPr bwMode="auto">
          <a:xfrm>
            <a:off x="2438400" y="4572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Denormalization of 3NF Relations</a:t>
            </a:r>
            <a:endParaRPr lang="en-US" altLang="en-US" sz="4200" b="1" i="1">
              <a:solidFill>
                <a:srgbClr val="C00000"/>
              </a:solidFill>
              <a:latin typeface="Times New Roman" panose="02020603050405020304" pitchFamily="18" charset="0"/>
            </a:endParaRPr>
          </a:p>
        </p:txBody>
      </p:sp>
      <p:sp>
        <p:nvSpPr>
          <p:cNvPr id="32771" name="Text Box 1027">
            <a:extLst>
              <a:ext uri="{FF2B5EF4-FFF2-40B4-BE49-F238E27FC236}">
                <a16:creationId xmlns:a16="http://schemas.microsoft.com/office/drawing/2014/main" id="{B3883271-7423-5923-D47F-0B8DC9E93E55}"/>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32772" name="Text Box 1028">
            <a:extLst>
              <a:ext uri="{FF2B5EF4-FFF2-40B4-BE49-F238E27FC236}">
                <a16:creationId xmlns:a16="http://schemas.microsoft.com/office/drawing/2014/main" id="{CAD45C8A-3BE9-CCE3-70A5-06F91C3727E4}"/>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32773" name="Text Box 1029">
            <a:extLst>
              <a:ext uri="{FF2B5EF4-FFF2-40B4-BE49-F238E27FC236}">
                <a16:creationId xmlns:a16="http://schemas.microsoft.com/office/drawing/2014/main" id="{EC46FBBA-8F7E-230D-5BBE-828D8FC225D3}"/>
              </a:ext>
            </a:extLst>
          </p:cNvPr>
          <p:cNvSpPr txBox="1">
            <a:spLocks noChangeArrowheads="1"/>
          </p:cNvSpPr>
          <p:nvPr/>
        </p:nvSpPr>
        <p:spPr bwMode="auto">
          <a:xfrm>
            <a:off x="2590800" y="1676401"/>
            <a:ext cx="7467600"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371600" indent="-457200">
              <a:defRPr>
                <a:solidFill>
                  <a:schemeClr val="tx1"/>
                </a:solidFill>
                <a:latin typeface="Franklin Gothic Book" panose="020B0503020102020204" pitchFamily="34" charset="0"/>
              </a:defRPr>
            </a:lvl3pPr>
            <a:lvl4pPr marL="1828800" indent="-4572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buFontTx/>
              <a:buAutoNum type="alphaUcPeriod"/>
            </a:pPr>
            <a:r>
              <a:rPr lang="en-US" altLang="en-US" sz="2400" b="1">
                <a:latin typeface="Tahoma" panose="020B0604030504040204" pitchFamily="34" charset="0"/>
              </a:rPr>
              <a:t>Recreating Repeating Column Groups</a:t>
            </a:r>
          </a:p>
          <a:p>
            <a:pPr lvl="2" eaLnBrk="1" hangingPunct="1">
              <a:buFont typeface="Symbol" panose="05050102010706020507" pitchFamily="18" charset="2"/>
              <a:buChar char="·"/>
            </a:pPr>
            <a:endParaRPr lang="en-US" altLang="en-US" sz="2000" i="1">
              <a:latin typeface="Times New Roman" panose="02020603050405020304" pitchFamily="18" charset="0"/>
            </a:endParaRPr>
          </a:p>
          <a:p>
            <a:pPr lvl="2" eaLnBrk="1" hangingPunct="1">
              <a:buFont typeface="Symbol" panose="05050102010706020507" pitchFamily="18" charset="2"/>
              <a:buChar char="·"/>
            </a:pPr>
            <a:r>
              <a:rPr lang="en-US" altLang="en-US" sz="2000" b="1" i="1">
                <a:solidFill>
                  <a:srgbClr val="C00000"/>
                </a:solidFill>
                <a:latin typeface="Times New Roman" panose="02020603050405020304" pitchFamily="18" charset="0"/>
              </a:rPr>
              <a:t>Choice 1</a:t>
            </a:r>
            <a:r>
              <a:rPr lang="en-US" altLang="en-US" sz="2000" b="1">
                <a:solidFill>
                  <a:srgbClr val="C00000"/>
                </a:solidFill>
                <a:latin typeface="Times New Roman" panose="02020603050405020304" pitchFamily="18" charset="0"/>
              </a:rPr>
              <a:t>:</a:t>
            </a:r>
            <a:r>
              <a:rPr lang="en-US" altLang="en-US" sz="2000">
                <a:solidFill>
                  <a:srgbClr val="C00000"/>
                </a:solidFill>
                <a:latin typeface="Times New Roman" panose="02020603050405020304" pitchFamily="18" charset="0"/>
              </a:rPr>
              <a:t> </a:t>
            </a:r>
            <a:r>
              <a:rPr lang="en-US" altLang="en-US" sz="2000" i="1">
                <a:solidFill>
                  <a:srgbClr val="C00000"/>
                </a:solidFill>
                <a:latin typeface="Times New Roman" panose="02020603050405020304" pitchFamily="18" charset="0"/>
              </a:rPr>
              <a:t>Denormalize inside the Logical Model </a:t>
            </a:r>
            <a:endParaRPr lang="en-US" altLang="en-US" sz="2000">
              <a:solidFill>
                <a:srgbClr val="C00000"/>
              </a:solidFill>
              <a:latin typeface="Times New Roman" panose="02020603050405020304" pitchFamily="18" charset="0"/>
            </a:endParaRPr>
          </a:p>
          <a:p>
            <a:pPr lvl="3" eaLnBrk="1" hangingPunct="1">
              <a:buFont typeface="Symbol" panose="05050102010706020507" pitchFamily="18" charset="2"/>
              <a:buChar char="·"/>
            </a:pPr>
            <a:r>
              <a:rPr lang="en-US" altLang="en-US" sz="2000">
                <a:latin typeface="Times New Roman" panose="02020603050405020304" pitchFamily="18" charset="0"/>
              </a:rPr>
              <a:t>Providing repeating groups with a meaningful name such January, February, etc.  ...  but SQL statement must be changed each time</a:t>
            </a:r>
          </a:p>
          <a:p>
            <a:pPr lvl="3" eaLnBrk="1" hangingPunct="1">
              <a:buFont typeface="Symbol" panose="05050102010706020507" pitchFamily="18" charset="2"/>
              <a:buChar char="·"/>
            </a:pPr>
            <a:r>
              <a:rPr lang="en-US" altLang="en-US" sz="2000">
                <a:latin typeface="Times New Roman" panose="02020603050405020304" pitchFamily="18" charset="0"/>
              </a:rPr>
              <a:t>Use of non-meaningful column names such as Month-1, Month-2, etc. ... leads to confusion as someone may not know what Month-1 means.</a:t>
            </a:r>
          </a:p>
          <a:p>
            <a:pPr lvl="3" eaLnBrk="1" hangingPunct="1">
              <a:buFont typeface="Symbol" panose="05050102010706020507" pitchFamily="18" charset="2"/>
              <a:buChar char="·"/>
            </a:pPr>
            <a:r>
              <a:rPr lang="en-US" altLang="en-US" sz="2000">
                <a:latin typeface="Times New Roman" panose="02020603050405020304" pitchFamily="18" charset="0"/>
              </a:rPr>
              <a:t>No matter how many columns we provide, there will be more needed ...</a:t>
            </a:r>
          </a:p>
          <a:p>
            <a:pPr lvl="3" eaLnBrk="1" hangingPunct="1">
              <a:buFont typeface="Symbol" panose="05050102010706020507" pitchFamily="18" charset="2"/>
              <a:buChar char="·"/>
            </a:pPr>
            <a:endParaRPr lang="en-US" altLang="en-US" sz="2000">
              <a:latin typeface="Times New Roman" panose="02020603050405020304" pitchFamily="18" charset="0"/>
            </a:endParaRPr>
          </a:p>
          <a:p>
            <a:pPr lvl="3" eaLnBrk="1" hangingPunct="1">
              <a:buFont typeface="Symbol" panose="05050102010706020507" pitchFamily="18" charset="2"/>
              <a:buChar char="·"/>
            </a:pPr>
            <a:r>
              <a:rPr lang="en-US" altLang="en-US" i="1">
                <a:solidFill>
                  <a:srgbClr val="C00000"/>
                </a:solidFill>
                <a:latin typeface="Arial" panose="020B0604020202020204" pitchFamily="34" charset="0"/>
              </a:rPr>
              <a:t>Bad Choice</a:t>
            </a:r>
            <a:endParaRPr lang="en-US" altLang="en-US" sz="2000">
              <a:solidFill>
                <a:srgbClr val="C00000"/>
              </a:solidFill>
              <a:latin typeface="Times New Roman" panose="02020603050405020304" pitchFamily="18" charset="0"/>
            </a:endParaRPr>
          </a:p>
          <a:p>
            <a:pPr eaLnBrk="1" hangingPunct="1"/>
            <a:endParaRPr lang="en-US" altLang="en-US" sz="2000">
              <a:latin typeface="Times New Roman" panose="02020603050405020304" pitchFamily="18" charset="0"/>
            </a:endParaRPr>
          </a:p>
          <a:p>
            <a:pPr eaLnBrk="1" hangingPunct="1"/>
            <a:endParaRPr lang="en-US" altLang="en-US" sz="2000">
              <a:latin typeface="Times New Roman" panose="02020603050405020304" pitchFamily="18" charset="0"/>
            </a:endParaRPr>
          </a:p>
        </p:txBody>
      </p:sp>
      <p:sp>
        <p:nvSpPr>
          <p:cNvPr id="2" name="Date Placeholder 1">
            <a:extLst>
              <a:ext uri="{FF2B5EF4-FFF2-40B4-BE49-F238E27FC236}">
                <a16:creationId xmlns:a16="http://schemas.microsoft.com/office/drawing/2014/main" id="{A1F75BBC-B599-0E20-E924-3B6F7B3AE37F}"/>
              </a:ext>
            </a:extLst>
          </p:cNvPr>
          <p:cNvSpPr>
            <a:spLocks noGrp="1"/>
          </p:cNvSpPr>
          <p:nvPr>
            <p:ph type="dt" sz="quarter" idx="10"/>
          </p:nvPr>
        </p:nvSpPr>
        <p:spPr/>
        <p:txBody>
          <a:bodyPr/>
          <a:lstStyle/>
          <a:p>
            <a:pPr>
              <a:defRPr/>
            </a:pPr>
            <a:fld id="{07063361-F935-446E-8522-5239DC5A8D64}" type="datetime1">
              <a:rPr lang="en-US" smtClean="0"/>
              <a:t>9/30/2025</a:t>
            </a:fld>
            <a:endParaRPr lang="en-US"/>
          </a:p>
        </p:txBody>
      </p:sp>
      <p:sp>
        <p:nvSpPr>
          <p:cNvPr id="3" name="Footer Placeholder 2">
            <a:extLst>
              <a:ext uri="{FF2B5EF4-FFF2-40B4-BE49-F238E27FC236}">
                <a16:creationId xmlns:a16="http://schemas.microsoft.com/office/drawing/2014/main" id="{474C4E12-C51B-F725-F611-CBA399CB01D6}"/>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56F6717F-B27E-0EDD-CC10-0D92C84A7624}"/>
              </a:ext>
            </a:extLst>
          </p:cNvPr>
          <p:cNvSpPr>
            <a:spLocks noGrp="1"/>
          </p:cNvSpPr>
          <p:nvPr>
            <p:ph type="sldNum" sz="quarter" idx="12"/>
          </p:nvPr>
        </p:nvSpPr>
        <p:spPr/>
        <p:txBody>
          <a:bodyPr/>
          <a:lstStyle/>
          <a:p>
            <a:pPr>
              <a:defRPr/>
            </a:pPr>
            <a:fld id="{49EF6F76-94F1-4B47-BA94-4577970BAD24}" type="slidenum">
              <a:rPr lang="en-US" altLang="en-US" smtClean="0"/>
              <a:pPr>
                <a:defRPr/>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a:extLst>
              <a:ext uri="{FF2B5EF4-FFF2-40B4-BE49-F238E27FC236}">
                <a16:creationId xmlns:a16="http://schemas.microsoft.com/office/drawing/2014/main" id="{3B3D76AA-E48C-4E3A-C20F-E0FC7FE9629F}"/>
              </a:ext>
            </a:extLst>
          </p:cNvPr>
          <p:cNvSpPr>
            <a:spLocks noChangeArrowheads="1"/>
          </p:cNvSpPr>
          <p:nvPr/>
        </p:nvSpPr>
        <p:spPr bwMode="auto">
          <a:xfrm>
            <a:off x="2438400" y="4572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Denormalization of 3NF Relations</a:t>
            </a:r>
            <a:endParaRPr lang="en-US" altLang="en-US" sz="4200" b="1" i="1">
              <a:solidFill>
                <a:srgbClr val="C00000"/>
              </a:solidFill>
              <a:latin typeface="Times New Roman" panose="02020603050405020304" pitchFamily="18" charset="0"/>
            </a:endParaRPr>
          </a:p>
        </p:txBody>
      </p:sp>
      <p:sp>
        <p:nvSpPr>
          <p:cNvPr id="34819" name="Text Box 1027">
            <a:extLst>
              <a:ext uri="{FF2B5EF4-FFF2-40B4-BE49-F238E27FC236}">
                <a16:creationId xmlns:a16="http://schemas.microsoft.com/office/drawing/2014/main" id="{7902E0C6-647E-29D7-E916-E0C7A178FD55}"/>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34820" name="Text Box 1028">
            <a:extLst>
              <a:ext uri="{FF2B5EF4-FFF2-40B4-BE49-F238E27FC236}">
                <a16:creationId xmlns:a16="http://schemas.microsoft.com/office/drawing/2014/main" id="{F0D97863-653D-7AB6-B800-B067454F3DB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34821" name="Text Box 1029">
            <a:extLst>
              <a:ext uri="{FF2B5EF4-FFF2-40B4-BE49-F238E27FC236}">
                <a16:creationId xmlns:a16="http://schemas.microsoft.com/office/drawing/2014/main" id="{2C6E5687-9376-A0C8-E5AB-04D873DAC61E}"/>
              </a:ext>
            </a:extLst>
          </p:cNvPr>
          <p:cNvSpPr txBox="1">
            <a:spLocks noChangeArrowheads="1"/>
          </p:cNvSpPr>
          <p:nvPr/>
        </p:nvSpPr>
        <p:spPr bwMode="auto">
          <a:xfrm>
            <a:off x="2590800" y="1676400"/>
            <a:ext cx="74676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A. Recreating Repeating Column Groups</a:t>
            </a:r>
          </a:p>
          <a:p>
            <a:pPr lvl="2" eaLnBrk="1" hangingPunct="1"/>
            <a:r>
              <a:rPr lang="en-US" altLang="en-US" sz="2000" i="1">
                <a:latin typeface="Times New Roman" panose="02020603050405020304" pitchFamily="18" charset="0"/>
              </a:rPr>
              <a:t>  </a:t>
            </a:r>
          </a:p>
          <a:p>
            <a:pPr lvl="2" eaLnBrk="1" hangingPunct="1">
              <a:buFont typeface="Symbol" panose="05050102010706020507" pitchFamily="18" charset="2"/>
              <a:buChar char="·"/>
            </a:pPr>
            <a:r>
              <a:rPr lang="en-US" altLang="en-US" sz="2000" b="1" i="1">
                <a:solidFill>
                  <a:srgbClr val="C00000"/>
                </a:solidFill>
                <a:latin typeface="Times New Roman" panose="02020603050405020304" pitchFamily="18" charset="0"/>
              </a:rPr>
              <a:t> Choice 2:</a:t>
            </a:r>
            <a:endParaRPr lang="en-US" altLang="en-US" sz="2000" b="1">
              <a:solidFill>
                <a:srgbClr val="C00000"/>
              </a:solidFill>
              <a:latin typeface="Times New Roman" panose="02020603050405020304" pitchFamily="18" charset="0"/>
            </a:endParaRPr>
          </a:p>
          <a:p>
            <a:pPr lvl="3" eaLnBrk="1" hangingPunct="1">
              <a:buFont typeface="Symbol" panose="05050102010706020507" pitchFamily="18" charset="2"/>
              <a:buChar char="·"/>
            </a:pPr>
            <a:r>
              <a:rPr lang="en-US" altLang="en-US" sz="2000">
                <a:latin typeface="Times New Roman" panose="02020603050405020304" pitchFamily="18" charset="0"/>
              </a:rPr>
              <a:t> Keep original in 3NF and add an additional temporary table created and refreshed every month.</a:t>
            </a:r>
          </a:p>
          <a:p>
            <a:pPr lvl="3" eaLnBrk="1" hangingPunct="1">
              <a:buFont typeface="Symbol" panose="05050102010706020507" pitchFamily="18" charset="2"/>
              <a:buChar char="·"/>
            </a:pPr>
            <a:r>
              <a:rPr lang="en-US" altLang="en-US" sz="2000">
                <a:latin typeface="Times New Roman" panose="02020603050405020304" pitchFamily="18" charset="0"/>
              </a:rPr>
              <a:t> Denormalization is outside the logical model ...</a:t>
            </a:r>
          </a:p>
          <a:p>
            <a:pPr lvl="3" eaLnBrk="1" hangingPunct="1">
              <a:buFont typeface="Symbol" panose="05050102010706020507" pitchFamily="18" charset="2"/>
              <a:buChar char="·"/>
            </a:pPr>
            <a:r>
              <a:rPr lang="en-US" altLang="en-US" sz="2000">
                <a:latin typeface="Times New Roman" panose="02020603050405020304" pitchFamily="18" charset="0"/>
              </a:rPr>
              <a:t> cost and complexity</a:t>
            </a:r>
          </a:p>
          <a:p>
            <a:pPr lvl="3" eaLnBrk="1" hangingPunct="1">
              <a:buFont typeface="Symbol" panose="05050102010706020507" pitchFamily="18" charset="2"/>
              <a:buChar char="·"/>
            </a:pPr>
            <a:endParaRPr lang="en-US" altLang="en-US" sz="2000">
              <a:latin typeface="Times New Roman" panose="02020603050405020304" pitchFamily="18" charset="0"/>
            </a:endParaRPr>
          </a:p>
          <a:p>
            <a:pPr lvl="3" eaLnBrk="1" hangingPunct="1">
              <a:buFont typeface="Symbol" panose="05050102010706020507" pitchFamily="18" charset="2"/>
              <a:buChar char="·"/>
            </a:pPr>
            <a:r>
              <a:rPr lang="en-US" altLang="en-US" i="1">
                <a:solidFill>
                  <a:srgbClr val="C00000"/>
                </a:solidFill>
                <a:latin typeface="Arial" panose="020B0604020202020204" pitchFamily="34" charset="0"/>
              </a:rPr>
              <a:t>Good Choice</a:t>
            </a:r>
            <a:endParaRPr lang="en-US" altLang="en-US" sz="2400">
              <a:solidFill>
                <a:srgbClr val="C00000"/>
              </a:solidFill>
              <a:latin typeface="Times New Roman" panose="02020603050405020304" pitchFamily="18" charset="0"/>
            </a:endParaRPr>
          </a:p>
          <a:p>
            <a:pPr lvl="3" eaLnBrk="1" hangingPunct="1">
              <a:buFont typeface="Symbol" panose="05050102010706020507" pitchFamily="18" charset="2"/>
              <a:buNone/>
            </a:pPr>
            <a:endParaRPr lang="en-US" altLang="en-US" sz="2000">
              <a:latin typeface="Times New Roman" panose="02020603050405020304" pitchFamily="18" charset="0"/>
            </a:endParaRPr>
          </a:p>
          <a:p>
            <a:pPr eaLnBrk="1" hangingPunct="1"/>
            <a:endParaRPr lang="en-US" altLang="en-US" sz="2000">
              <a:latin typeface="Times New Roman" panose="02020603050405020304" pitchFamily="18" charset="0"/>
            </a:endParaRPr>
          </a:p>
          <a:p>
            <a:pPr eaLnBrk="1" hangingPunct="1"/>
            <a:endParaRPr lang="en-US" altLang="en-US" sz="2000">
              <a:latin typeface="Times New Roman" panose="02020603050405020304" pitchFamily="18" charset="0"/>
            </a:endParaRPr>
          </a:p>
        </p:txBody>
      </p:sp>
      <p:sp>
        <p:nvSpPr>
          <p:cNvPr id="2" name="Date Placeholder 1">
            <a:extLst>
              <a:ext uri="{FF2B5EF4-FFF2-40B4-BE49-F238E27FC236}">
                <a16:creationId xmlns:a16="http://schemas.microsoft.com/office/drawing/2014/main" id="{DBF8A44D-8046-9839-9C6E-F0EA89D11C8C}"/>
              </a:ext>
            </a:extLst>
          </p:cNvPr>
          <p:cNvSpPr>
            <a:spLocks noGrp="1"/>
          </p:cNvSpPr>
          <p:nvPr>
            <p:ph type="dt" sz="quarter" idx="10"/>
          </p:nvPr>
        </p:nvSpPr>
        <p:spPr/>
        <p:txBody>
          <a:bodyPr/>
          <a:lstStyle/>
          <a:p>
            <a:pPr>
              <a:defRPr/>
            </a:pPr>
            <a:fld id="{EDB95282-4F01-4D11-84C1-CE70152B778E}" type="datetime1">
              <a:rPr lang="en-US" smtClean="0"/>
              <a:t>9/30/2025</a:t>
            </a:fld>
            <a:endParaRPr lang="en-US"/>
          </a:p>
        </p:txBody>
      </p:sp>
      <p:sp>
        <p:nvSpPr>
          <p:cNvPr id="3" name="Footer Placeholder 2">
            <a:extLst>
              <a:ext uri="{FF2B5EF4-FFF2-40B4-BE49-F238E27FC236}">
                <a16:creationId xmlns:a16="http://schemas.microsoft.com/office/drawing/2014/main" id="{ED4B7302-C210-CC12-C0FA-08E06277E67A}"/>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D8FD985-0AE2-6929-028E-319CFC24D2E1}"/>
              </a:ext>
            </a:extLst>
          </p:cNvPr>
          <p:cNvSpPr>
            <a:spLocks noGrp="1"/>
          </p:cNvSpPr>
          <p:nvPr>
            <p:ph type="sldNum" sz="quarter" idx="12"/>
          </p:nvPr>
        </p:nvSpPr>
        <p:spPr/>
        <p:txBody>
          <a:bodyPr/>
          <a:lstStyle/>
          <a:p>
            <a:pPr>
              <a:defRPr/>
            </a:pPr>
            <a:fld id="{360ACBAA-A79A-4FB3-82D2-027BAF92FFED}" type="slidenum">
              <a:rPr lang="en-US" altLang="en-US" smtClean="0"/>
              <a:pPr>
                <a:defRPr/>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a:extLst>
              <a:ext uri="{FF2B5EF4-FFF2-40B4-BE49-F238E27FC236}">
                <a16:creationId xmlns:a16="http://schemas.microsoft.com/office/drawing/2014/main" id="{FBE6E922-FBE5-508A-77E4-3634BBAF7F6C}"/>
              </a:ext>
            </a:extLst>
          </p:cNvPr>
          <p:cNvSpPr>
            <a:spLocks noChangeArrowheads="1"/>
          </p:cNvSpPr>
          <p:nvPr/>
        </p:nvSpPr>
        <p:spPr bwMode="auto">
          <a:xfrm>
            <a:off x="2438400" y="4572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Denormalization of 3NF Relations</a:t>
            </a:r>
            <a:endParaRPr lang="en-US" altLang="en-US" sz="4200" b="1" i="1">
              <a:solidFill>
                <a:srgbClr val="C00000"/>
              </a:solidFill>
              <a:latin typeface="Times New Roman" panose="02020603050405020304" pitchFamily="18" charset="0"/>
            </a:endParaRPr>
          </a:p>
        </p:txBody>
      </p:sp>
      <p:sp>
        <p:nvSpPr>
          <p:cNvPr id="36867" name="Text Box 1027">
            <a:extLst>
              <a:ext uri="{FF2B5EF4-FFF2-40B4-BE49-F238E27FC236}">
                <a16:creationId xmlns:a16="http://schemas.microsoft.com/office/drawing/2014/main" id="{8D5F24C4-0EB2-E15C-7F99-ECC74E164826}"/>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36868" name="Text Box 1028">
            <a:extLst>
              <a:ext uri="{FF2B5EF4-FFF2-40B4-BE49-F238E27FC236}">
                <a16:creationId xmlns:a16="http://schemas.microsoft.com/office/drawing/2014/main" id="{086AF11A-DEB8-47D9-BB1C-FF13DC92C18C}"/>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36869" name="Text Box 1029">
            <a:extLst>
              <a:ext uri="{FF2B5EF4-FFF2-40B4-BE49-F238E27FC236}">
                <a16:creationId xmlns:a16="http://schemas.microsoft.com/office/drawing/2014/main" id="{7E3D2113-74D4-0EAC-7F33-A507482627D9}"/>
              </a:ext>
            </a:extLst>
          </p:cNvPr>
          <p:cNvSpPr txBox="1">
            <a:spLocks noChangeArrowheads="1"/>
          </p:cNvSpPr>
          <p:nvPr/>
        </p:nvSpPr>
        <p:spPr bwMode="auto">
          <a:xfrm>
            <a:off x="2590800" y="1922929"/>
            <a:ext cx="7467600"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dirty="0">
                <a:latin typeface="Tahoma" panose="020B0604030504040204" pitchFamily="34" charset="0"/>
              </a:rPr>
              <a:t>  </a:t>
            </a:r>
            <a:r>
              <a:rPr lang="en-US" altLang="en-US" sz="2000" b="1" dirty="0">
                <a:latin typeface="Tahoma" panose="020B0604030504040204" pitchFamily="34" charset="0"/>
              </a:rPr>
              <a:t>B.   Derived Data</a:t>
            </a:r>
          </a:p>
          <a:p>
            <a:pPr lvl="2" eaLnBrk="1" hangingPunct="1">
              <a:buFont typeface="Symbol" panose="05050102010706020507" pitchFamily="18" charset="2"/>
              <a:buChar char="·"/>
            </a:pPr>
            <a:endParaRPr lang="en-US" altLang="en-US" dirty="0">
              <a:latin typeface="Times New Roman" panose="02020603050405020304" pitchFamily="18" charset="0"/>
            </a:endParaRPr>
          </a:p>
          <a:p>
            <a:pPr lvl="2" eaLnBrk="1" hangingPunct="1">
              <a:buFont typeface="Symbol" panose="05050102010706020507" pitchFamily="18" charset="2"/>
              <a:buChar char="·"/>
            </a:pPr>
            <a:r>
              <a:rPr lang="en-US" altLang="en-US" dirty="0">
                <a:latin typeface="Times New Roman" panose="02020603050405020304" pitchFamily="18" charset="0"/>
              </a:rPr>
              <a:t>  Derived data is defined as redundant stored data whose values can be determined or calculated from other column values.</a:t>
            </a:r>
          </a:p>
          <a:p>
            <a:pPr lvl="2" eaLnBrk="1" hangingPunct="1">
              <a:buFont typeface="Symbol" panose="05050102010706020507" pitchFamily="18" charset="2"/>
              <a:buChar char="·"/>
            </a:pPr>
            <a:r>
              <a:rPr lang="en-US" altLang="en-US" dirty="0">
                <a:latin typeface="Times New Roman" panose="02020603050405020304" pitchFamily="18" charset="0"/>
              </a:rPr>
              <a:t> Example</a:t>
            </a:r>
          </a:p>
          <a:p>
            <a:pPr eaLnBrk="1" hangingPunct="1"/>
            <a:endParaRPr lang="en-US" altLang="en-US" sz="1400" dirty="0">
              <a:latin typeface="Times New Roman" panose="02020603050405020304" pitchFamily="18" charset="0"/>
            </a:endParaRPr>
          </a:p>
          <a:p>
            <a:pPr lvl="3" eaLnBrk="1" hangingPunct="1"/>
            <a:r>
              <a:rPr lang="en-US" altLang="en-US" dirty="0">
                <a:latin typeface="Times New Roman" panose="02020603050405020304" pitchFamily="18" charset="0"/>
              </a:rPr>
              <a:t>Employee(</a:t>
            </a:r>
            <a:r>
              <a:rPr lang="en-US" altLang="en-US" u="sng" dirty="0">
                <a:latin typeface="Times New Roman" panose="02020603050405020304" pitchFamily="18" charset="0"/>
              </a:rPr>
              <a:t>emp#</a:t>
            </a:r>
            <a:r>
              <a:rPr lang="en-US" altLang="en-US" dirty="0">
                <a:latin typeface="Times New Roman" panose="02020603050405020304" pitchFamily="18" charset="0"/>
              </a:rPr>
              <a:t>, </a:t>
            </a:r>
            <a:r>
              <a:rPr lang="en-US" altLang="en-US" dirty="0" err="1">
                <a:latin typeface="Times New Roman" panose="02020603050405020304" pitchFamily="18" charset="0"/>
              </a:rPr>
              <a:t>lastname</a:t>
            </a:r>
            <a:r>
              <a:rPr lang="en-US" altLang="en-US" dirty="0">
                <a:latin typeface="Times New Roman" panose="02020603050405020304" pitchFamily="18" charset="0"/>
              </a:rPr>
              <a:t>, store#) </a:t>
            </a:r>
          </a:p>
          <a:p>
            <a:pPr lvl="3" eaLnBrk="1" hangingPunct="1"/>
            <a:r>
              <a:rPr lang="en-US" altLang="en-US" dirty="0">
                <a:latin typeface="Times New Roman" panose="02020603050405020304" pitchFamily="18" charset="0"/>
              </a:rPr>
              <a:t>Store (</a:t>
            </a:r>
            <a:r>
              <a:rPr lang="en-US" altLang="en-US" u="sng" dirty="0">
                <a:latin typeface="Times New Roman" panose="02020603050405020304" pitchFamily="18" charset="0"/>
              </a:rPr>
              <a:t>store#</a:t>
            </a:r>
            <a:r>
              <a:rPr lang="en-US" altLang="en-US" dirty="0">
                <a:latin typeface="Times New Roman" panose="02020603050405020304" pitchFamily="18" charset="0"/>
              </a:rPr>
              <a:t>, </a:t>
            </a:r>
            <a:r>
              <a:rPr lang="en-US" altLang="en-US" dirty="0" err="1">
                <a:latin typeface="Times New Roman" panose="02020603050405020304" pitchFamily="18" charset="0"/>
              </a:rPr>
              <a:t>storename</a:t>
            </a:r>
            <a:r>
              <a:rPr lang="en-US" altLang="en-US" dirty="0">
                <a:latin typeface="Times New Roman" panose="02020603050405020304" pitchFamily="18" charset="0"/>
              </a:rPr>
              <a:t>)</a:t>
            </a:r>
          </a:p>
          <a:p>
            <a:pPr lvl="3" eaLnBrk="1" hangingPunct="1"/>
            <a:endParaRPr lang="en-US" altLang="en-US" dirty="0">
              <a:latin typeface="Times New Roman" panose="02020603050405020304" pitchFamily="18" charset="0"/>
            </a:endParaRPr>
          </a:p>
          <a:p>
            <a:pPr lvl="2" eaLnBrk="1" hangingPunct="1">
              <a:buFontTx/>
              <a:buChar char="•"/>
            </a:pPr>
            <a:r>
              <a:rPr lang="en-US" altLang="en-US" dirty="0">
                <a:latin typeface="Times New Roman" panose="02020603050405020304" pitchFamily="18" charset="0"/>
              </a:rPr>
              <a:t> </a:t>
            </a:r>
            <a:r>
              <a:rPr lang="en-US" altLang="en-US" b="1" i="1" dirty="0">
                <a:solidFill>
                  <a:srgbClr val="C00000"/>
                </a:solidFill>
                <a:latin typeface="Times New Roman" panose="02020603050405020304" pitchFamily="18" charset="0"/>
              </a:rPr>
              <a:t>Choice</a:t>
            </a:r>
          </a:p>
          <a:p>
            <a:pPr lvl="3" eaLnBrk="1" hangingPunct="1"/>
            <a:r>
              <a:rPr lang="en-US" altLang="en-US" dirty="0">
                <a:latin typeface="Times New Roman" panose="02020603050405020304" pitchFamily="18" charset="0"/>
              </a:rPr>
              <a:t>We need to find employee count.  We can find it by doing a total table scan (expensive!) of Employee table.  </a:t>
            </a:r>
            <a:r>
              <a:rPr lang="en-US" altLang="en-US" dirty="0">
                <a:solidFill>
                  <a:srgbClr val="C00000"/>
                </a:solidFill>
                <a:latin typeface="Times New Roman" panose="02020603050405020304" pitchFamily="18" charset="0"/>
              </a:rPr>
              <a:t>Instead, we can have</a:t>
            </a:r>
            <a:r>
              <a:rPr lang="en-US" altLang="en-US" dirty="0">
                <a:latin typeface="Times New Roman" panose="02020603050405020304" pitchFamily="18" charset="0"/>
              </a:rPr>
              <a:t>:</a:t>
            </a:r>
          </a:p>
          <a:p>
            <a:pPr lvl="3" eaLnBrk="1" hangingPunct="1"/>
            <a:r>
              <a:rPr lang="en-US" altLang="en-US" dirty="0">
                <a:latin typeface="Times New Roman" panose="02020603050405020304" pitchFamily="18" charset="0"/>
              </a:rPr>
              <a:t>	Store(</a:t>
            </a:r>
            <a:r>
              <a:rPr lang="en-US" altLang="en-US" u="sng" dirty="0">
                <a:latin typeface="Times New Roman" panose="02020603050405020304" pitchFamily="18" charset="0"/>
              </a:rPr>
              <a:t>store#</a:t>
            </a:r>
            <a:r>
              <a:rPr lang="en-US" altLang="en-US" dirty="0">
                <a:latin typeface="Times New Roman" panose="02020603050405020304" pitchFamily="18" charset="0"/>
              </a:rPr>
              <a:t>, </a:t>
            </a:r>
            <a:r>
              <a:rPr lang="en-US" altLang="en-US" dirty="0" err="1">
                <a:latin typeface="Times New Roman" panose="02020603050405020304" pitchFamily="18" charset="0"/>
              </a:rPr>
              <a:t>storename</a:t>
            </a:r>
            <a:r>
              <a:rPr lang="en-US" altLang="en-US" dirty="0">
                <a:latin typeface="Times New Roman" panose="02020603050405020304" pitchFamily="18" charset="0"/>
              </a:rPr>
              <a:t>, employee-count)</a:t>
            </a:r>
          </a:p>
        </p:txBody>
      </p:sp>
      <p:sp>
        <p:nvSpPr>
          <p:cNvPr id="2" name="Date Placeholder 1">
            <a:extLst>
              <a:ext uri="{FF2B5EF4-FFF2-40B4-BE49-F238E27FC236}">
                <a16:creationId xmlns:a16="http://schemas.microsoft.com/office/drawing/2014/main" id="{DDCCB31B-6B9B-B549-5BD3-9079106EFF54}"/>
              </a:ext>
            </a:extLst>
          </p:cNvPr>
          <p:cNvSpPr>
            <a:spLocks noGrp="1"/>
          </p:cNvSpPr>
          <p:nvPr>
            <p:ph type="dt" sz="quarter" idx="10"/>
          </p:nvPr>
        </p:nvSpPr>
        <p:spPr/>
        <p:txBody>
          <a:bodyPr/>
          <a:lstStyle/>
          <a:p>
            <a:pPr>
              <a:defRPr/>
            </a:pPr>
            <a:fld id="{A15359C6-B154-4314-BC3E-556E4B4D57C3}" type="datetime1">
              <a:rPr lang="en-US" smtClean="0"/>
              <a:t>9/30/2025</a:t>
            </a:fld>
            <a:endParaRPr lang="en-US"/>
          </a:p>
        </p:txBody>
      </p:sp>
      <p:sp>
        <p:nvSpPr>
          <p:cNvPr id="3" name="Footer Placeholder 2">
            <a:extLst>
              <a:ext uri="{FF2B5EF4-FFF2-40B4-BE49-F238E27FC236}">
                <a16:creationId xmlns:a16="http://schemas.microsoft.com/office/drawing/2014/main" id="{5657090B-0877-0091-11D5-1A3BE5764DC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C698956F-0FC6-17CF-F71D-6BE1ECCE0C21}"/>
              </a:ext>
            </a:extLst>
          </p:cNvPr>
          <p:cNvSpPr>
            <a:spLocks noGrp="1"/>
          </p:cNvSpPr>
          <p:nvPr>
            <p:ph type="sldNum" sz="quarter" idx="12"/>
          </p:nvPr>
        </p:nvSpPr>
        <p:spPr/>
        <p:txBody>
          <a:bodyPr/>
          <a:lstStyle/>
          <a:p>
            <a:pPr>
              <a:defRPr/>
            </a:pPr>
            <a:fld id="{AD3BABA7-06A8-46E9-A52D-83D5075CE2A6}" type="slidenum">
              <a:rPr lang="en-US" altLang="en-US" smtClean="0"/>
              <a:pPr>
                <a:defRPr/>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a:extLst>
              <a:ext uri="{FF2B5EF4-FFF2-40B4-BE49-F238E27FC236}">
                <a16:creationId xmlns:a16="http://schemas.microsoft.com/office/drawing/2014/main" id="{11E44D15-5102-2B48-4636-8249A5690E28}"/>
              </a:ext>
            </a:extLst>
          </p:cNvPr>
          <p:cNvSpPr>
            <a:spLocks noChangeArrowheads="1"/>
          </p:cNvSpPr>
          <p:nvPr/>
        </p:nvSpPr>
        <p:spPr bwMode="auto">
          <a:xfrm>
            <a:off x="2438400" y="4572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Denormalization of 3NF Relations</a:t>
            </a:r>
            <a:endParaRPr lang="en-US" altLang="en-US" sz="4200" b="1" i="1">
              <a:solidFill>
                <a:srgbClr val="C00000"/>
              </a:solidFill>
              <a:latin typeface="Times New Roman" panose="02020603050405020304" pitchFamily="18" charset="0"/>
            </a:endParaRPr>
          </a:p>
        </p:txBody>
      </p:sp>
      <p:sp>
        <p:nvSpPr>
          <p:cNvPr id="38915" name="Text Box 1027">
            <a:extLst>
              <a:ext uri="{FF2B5EF4-FFF2-40B4-BE49-F238E27FC236}">
                <a16:creationId xmlns:a16="http://schemas.microsoft.com/office/drawing/2014/main" id="{6D0D3E78-F3E7-232F-70EE-5B4168E7C4EB}"/>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38916" name="Text Box 1028">
            <a:extLst>
              <a:ext uri="{FF2B5EF4-FFF2-40B4-BE49-F238E27FC236}">
                <a16:creationId xmlns:a16="http://schemas.microsoft.com/office/drawing/2014/main" id="{15344624-1000-5457-4089-7A6A9605DE1F}"/>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38917" name="Text Box 1029">
            <a:extLst>
              <a:ext uri="{FF2B5EF4-FFF2-40B4-BE49-F238E27FC236}">
                <a16:creationId xmlns:a16="http://schemas.microsoft.com/office/drawing/2014/main" id="{FCCAE9E8-A3E9-3CD4-133D-228762E767A8}"/>
              </a:ext>
            </a:extLst>
          </p:cNvPr>
          <p:cNvSpPr txBox="1">
            <a:spLocks noChangeArrowheads="1"/>
          </p:cNvSpPr>
          <p:nvPr/>
        </p:nvSpPr>
        <p:spPr bwMode="auto">
          <a:xfrm>
            <a:off x="1900517" y="1900518"/>
            <a:ext cx="8924365"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dirty="0">
                <a:latin typeface="Tahoma" panose="020B0604030504040204" pitchFamily="34" charset="0"/>
              </a:rPr>
              <a:t>  </a:t>
            </a:r>
            <a:r>
              <a:rPr lang="en-US" altLang="en-US" sz="1600" b="1" dirty="0">
                <a:latin typeface="Tahoma" panose="020B0604030504040204" pitchFamily="34" charset="0"/>
              </a:rPr>
              <a:t>C.  Pre-Joins</a:t>
            </a:r>
          </a:p>
          <a:p>
            <a:pPr lvl="2" eaLnBrk="1" hangingPunct="1">
              <a:buFont typeface="Symbol" panose="05050102010706020507" pitchFamily="18" charset="2"/>
              <a:buChar char="·"/>
            </a:pPr>
            <a:r>
              <a:rPr lang="en-US" altLang="en-US" sz="1600" dirty="0">
                <a:latin typeface="Times New Roman" panose="02020603050405020304" pitchFamily="18" charset="0"/>
              </a:rPr>
              <a:t>  Some DBMSs like Teradata RDBMS is capable of performing 64-table joins.  But this is costly ...</a:t>
            </a:r>
          </a:p>
          <a:p>
            <a:pPr lvl="2" eaLnBrk="1" hangingPunct="1">
              <a:buFont typeface="Symbol" panose="05050102010706020507" pitchFamily="18" charset="2"/>
              <a:buChar char="·"/>
            </a:pPr>
            <a:r>
              <a:rPr lang="en-US" altLang="en-US" sz="1600" dirty="0">
                <a:latin typeface="Times New Roman" panose="02020603050405020304" pitchFamily="18" charset="0"/>
              </a:rPr>
              <a:t>  </a:t>
            </a:r>
            <a:r>
              <a:rPr lang="en-US" altLang="en-US" sz="1600" dirty="0">
                <a:solidFill>
                  <a:srgbClr val="FF0000"/>
                </a:solidFill>
                <a:latin typeface="Times New Roman" panose="02020603050405020304" pitchFamily="18" charset="0"/>
              </a:rPr>
              <a:t>Try to avoid joins to minor relations by carrying their attributes in the major relations</a:t>
            </a:r>
            <a:r>
              <a:rPr lang="en-US" altLang="en-US" sz="1600" dirty="0">
                <a:latin typeface="Times New Roman" panose="02020603050405020304" pitchFamily="18" charset="0"/>
              </a:rPr>
              <a:t>.</a:t>
            </a:r>
          </a:p>
          <a:p>
            <a:pPr lvl="2" eaLnBrk="1" hangingPunct="1">
              <a:buFont typeface="Symbol" panose="05050102010706020507" pitchFamily="18" charset="2"/>
              <a:buChar char="·"/>
            </a:pPr>
            <a:r>
              <a:rPr lang="en-US" altLang="en-US" sz="1600" dirty="0">
                <a:latin typeface="Times New Roman" panose="02020603050405020304" pitchFamily="18" charset="0"/>
              </a:rPr>
              <a:t>  Example:</a:t>
            </a:r>
          </a:p>
          <a:p>
            <a:pPr eaLnBrk="1" hangingPunct="1"/>
            <a:r>
              <a:rPr lang="en-US" altLang="en-US" sz="1600" dirty="0">
                <a:latin typeface="Times New Roman" panose="02020603050405020304" pitchFamily="18" charset="0"/>
              </a:rPr>
              <a:t>		</a:t>
            </a:r>
          </a:p>
          <a:p>
            <a:pPr eaLnBrk="1" hangingPunct="1"/>
            <a:r>
              <a:rPr lang="en-US" altLang="en-US" sz="1600" dirty="0">
                <a:latin typeface="Times New Roman" panose="02020603050405020304" pitchFamily="18" charset="0"/>
              </a:rPr>
              <a:t>		Employee(</a:t>
            </a:r>
            <a:r>
              <a:rPr lang="en-US" altLang="en-US" sz="1600" u="sng" dirty="0">
                <a:latin typeface="Times New Roman" panose="02020603050405020304" pitchFamily="18" charset="0"/>
              </a:rPr>
              <a:t>emp#</a:t>
            </a:r>
            <a:r>
              <a:rPr lang="en-US" altLang="en-US" sz="1600" dirty="0">
                <a:latin typeface="Times New Roman" panose="02020603050405020304" pitchFamily="18" charset="0"/>
              </a:rPr>
              <a:t>, </a:t>
            </a:r>
            <a:r>
              <a:rPr lang="en-US" altLang="en-US" sz="1600" dirty="0" err="1">
                <a:latin typeface="Times New Roman" panose="02020603050405020304" pitchFamily="18" charset="0"/>
              </a:rPr>
              <a:t>lastname</a:t>
            </a:r>
            <a:r>
              <a:rPr lang="en-US" altLang="en-US" sz="1600" dirty="0">
                <a:latin typeface="Times New Roman" panose="02020603050405020304" pitchFamily="18" charset="0"/>
              </a:rPr>
              <a:t>, store#) needs to be joined with Store(</a:t>
            </a:r>
            <a:r>
              <a:rPr lang="en-US" altLang="en-US" sz="1600" u="sng" dirty="0">
                <a:latin typeface="Times New Roman" panose="02020603050405020304" pitchFamily="18" charset="0"/>
              </a:rPr>
              <a:t>store#</a:t>
            </a:r>
            <a:r>
              <a:rPr lang="en-US" altLang="en-US" sz="1600" dirty="0">
                <a:latin typeface="Times New Roman" panose="02020603050405020304" pitchFamily="18" charset="0"/>
              </a:rPr>
              <a:t>, </a:t>
            </a:r>
            <a:r>
              <a:rPr lang="en-US" altLang="en-US" sz="1600" dirty="0" err="1">
                <a:latin typeface="Times New Roman" panose="02020603050405020304" pitchFamily="18" charset="0"/>
              </a:rPr>
              <a:t>storename</a:t>
            </a:r>
            <a:r>
              <a:rPr lang="en-US" altLang="en-US" sz="1600" dirty="0">
                <a:latin typeface="Times New Roman" panose="02020603050405020304" pitchFamily="18" charset="0"/>
              </a:rPr>
              <a:t>)</a:t>
            </a:r>
          </a:p>
          <a:p>
            <a:pPr lvl="3" eaLnBrk="1" hangingPunct="1"/>
            <a:endParaRPr lang="en-US" altLang="en-US" sz="1600" dirty="0">
              <a:latin typeface="Times New Roman" panose="02020603050405020304" pitchFamily="18" charset="0"/>
            </a:endParaRPr>
          </a:p>
          <a:p>
            <a:pPr lvl="2" eaLnBrk="1" hangingPunct="1">
              <a:buFont typeface="Symbol" panose="05050102010706020507" pitchFamily="18" charset="2"/>
              <a:buChar char="·"/>
            </a:pPr>
            <a:r>
              <a:rPr lang="en-US" altLang="en-US" sz="1600" dirty="0">
                <a:latin typeface="Arial" panose="020B0604020202020204" pitchFamily="34" charset="0"/>
              </a:rPr>
              <a:t> </a:t>
            </a:r>
            <a:r>
              <a:rPr lang="en-US" altLang="en-US" sz="1600" dirty="0">
                <a:latin typeface="Times New Roman" panose="02020603050405020304" pitchFamily="18" charset="0"/>
              </a:rPr>
              <a:t>Example</a:t>
            </a:r>
            <a:r>
              <a:rPr lang="en-US" altLang="en-US" sz="1600" dirty="0">
                <a:latin typeface="Arial" panose="020B0604020202020204" pitchFamily="34" charset="0"/>
              </a:rPr>
              <a:t>:</a:t>
            </a:r>
          </a:p>
          <a:p>
            <a:pPr lvl="3" eaLnBrk="1" hangingPunct="1"/>
            <a:r>
              <a:rPr lang="en-US" altLang="en-US" sz="1600" dirty="0">
                <a:solidFill>
                  <a:srgbClr val="C00000"/>
                </a:solidFill>
                <a:latin typeface="Times New Roman" panose="02020603050405020304" pitchFamily="18" charset="0"/>
              </a:rPr>
              <a:t>Instead ...</a:t>
            </a:r>
          </a:p>
          <a:p>
            <a:pPr lvl="3" eaLnBrk="1" hangingPunct="1"/>
            <a:r>
              <a:rPr lang="en-US" altLang="en-US" sz="1600" dirty="0">
                <a:latin typeface="Times New Roman" panose="02020603050405020304" pitchFamily="18" charset="0"/>
              </a:rPr>
              <a:t>	Employee(</a:t>
            </a:r>
            <a:r>
              <a:rPr lang="en-US" altLang="en-US" sz="1600" u="sng" dirty="0">
                <a:latin typeface="Times New Roman" panose="02020603050405020304" pitchFamily="18" charset="0"/>
              </a:rPr>
              <a:t>emp#,</a:t>
            </a:r>
            <a:r>
              <a:rPr lang="en-US" altLang="en-US" sz="1600" dirty="0">
                <a:latin typeface="Times New Roman" panose="02020603050405020304" pitchFamily="18" charset="0"/>
              </a:rPr>
              <a:t> </a:t>
            </a:r>
            <a:r>
              <a:rPr lang="en-US" altLang="en-US" sz="1600" dirty="0" err="1">
                <a:latin typeface="Times New Roman" panose="02020603050405020304" pitchFamily="18" charset="0"/>
              </a:rPr>
              <a:t>lastname</a:t>
            </a:r>
            <a:r>
              <a:rPr lang="en-US" altLang="en-US" sz="1600" dirty="0">
                <a:latin typeface="Times New Roman" panose="02020603050405020304" pitchFamily="18" charset="0"/>
              </a:rPr>
              <a:t>, store#, </a:t>
            </a:r>
            <a:r>
              <a:rPr lang="en-US" altLang="en-US" sz="1600" dirty="0" err="1">
                <a:latin typeface="Times New Roman" panose="02020603050405020304" pitchFamily="18" charset="0"/>
              </a:rPr>
              <a:t>storename</a:t>
            </a:r>
            <a:r>
              <a:rPr lang="en-US" altLang="en-US" sz="1600" dirty="0">
                <a:latin typeface="Times New Roman" panose="02020603050405020304" pitchFamily="18" charset="0"/>
              </a:rPr>
              <a:t>)</a:t>
            </a:r>
          </a:p>
          <a:p>
            <a:pPr lvl="3" eaLnBrk="1" hangingPunct="1"/>
            <a:endParaRPr lang="en-US" altLang="en-US" sz="1600" dirty="0">
              <a:latin typeface="Times New Roman" panose="02020603050405020304" pitchFamily="18" charset="0"/>
            </a:endParaRPr>
          </a:p>
          <a:p>
            <a:pPr lvl="3" eaLnBrk="1" hangingPunct="1">
              <a:buFont typeface="Symbol" panose="05050102010706020507" pitchFamily="18" charset="2"/>
              <a:buChar char="·"/>
            </a:pPr>
            <a:r>
              <a:rPr lang="en-US" altLang="en-US" sz="1600" dirty="0">
                <a:latin typeface="Times New Roman" panose="02020603050405020304" pitchFamily="18" charset="0"/>
              </a:rPr>
              <a:t>  Make sure to update properly.  Also, keep the Store Relation to avoid anomalies.</a:t>
            </a:r>
          </a:p>
        </p:txBody>
      </p:sp>
      <p:sp>
        <p:nvSpPr>
          <p:cNvPr id="2" name="Date Placeholder 1">
            <a:extLst>
              <a:ext uri="{FF2B5EF4-FFF2-40B4-BE49-F238E27FC236}">
                <a16:creationId xmlns:a16="http://schemas.microsoft.com/office/drawing/2014/main" id="{6A5E45A0-AA75-923A-533B-113299BA8208}"/>
              </a:ext>
            </a:extLst>
          </p:cNvPr>
          <p:cNvSpPr>
            <a:spLocks noGrp="1"/>
          </p:cNvSpPr>
          <p:nvPr>
            <p:ph type="dt" sz="quarter" idx="10"/>
          </p:nvPr>
        </p:nvSpPr>
        <p:spPr/>
        <p:txBody>
          <a:bodyPr/>
          <a:lstStyle/>
          <a:p>
            <a:pPr>
              <a:defRPr/>
            </a:pPr>
            <a:fld id="{ADE78410-B375-475A-9F40-80584052CAE8}" type="datetime1">
              <a:rPr lang="en-US" smtClean="0"/>
              <a:t>9/30/2025</a:t>
            </a:fld>
            <a:endParaRPr lang="en-US"/>
          </a:p>
        </p:txBody>
      </p:sp>
      <p:sp>
        <p:nvSpPr>
          <p:cNvPr id="3" name="Footer Placeholder 2">
            <a:extLst>
              <a:ext uri="{FF2B5EF4-FFF2-40B4-BE49-F238E27FC236}">
                <a16:creationId xmlns:a16="http://schemas.microsoft.com/office/drawing/2014/main" id="{D5B878BA-AEEE-C445-75EF-A2BC0B308964}"/>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30E8DCDF-DF85-DFAD-DE25-916A8403518C}"/>
              </a:ext>
            </a:extLst>
          </p:cNvPr>
          <p:cNvSpPr>
            <a:spLocks noGrp="1"/>
          </p:cNvSpPr>
          <p:nvPr>
            <p:ph type="sldNum" sz="quarter" idx="12"/>
          </p:nvPr>
        </p:nvSpPr>
        <p:spPr/>
        <p:txBody>
          <a:bodyPr/>
          <a:lstStyle/>
          <a:p>
            <a:pPr>
              <a:defRPr/>
            </a:pPr>
            <a:fld id="{E04A6B46-84DC-4F23-A5DE-0BDAF29BAEB8}" type="slidenum">
              <a:rPr lang="en-US" altLang="en-US" smtClean="0"/>
              <a:pPr>
                <a:defRPr/>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51ED-6CE9-CEEE-9FA1-8C55DB9538DA}"/>
              </a:ext>
            </a:extLst>
          </p:cNvPr>
          <p:cNvSpPr>
            <a:spLocks noGrp="1"/>
          </p:cNvSpPr>
          <p:nvPr>
            <p:ph type="ctrTitle"/>
          </p:nvPr>
        </p:nvSpPr>
        <p:spPr>
          <a:xfrm>
            <a:off x="1412037" y="4533089"/>
            <a:ext cx="10085294" cy="947199"/>
          </a:xfrm>
        </p:spPr>
        <p:txBody>
          <a:bodyPr anchor="ctr"/>
          <a:lstStyle/>
          <a:p>
            <a:pPr defTabSz="457200">
              <a:lnSpc>
                <a:spcPct val="100000"/>
              </a:lnSpc>
              <a:spcBef>
                <a:spcPct val="50000"/>
              </a:spcBef>
              <a:defRPr/>
            </a:pPr>
            <a:r>
              <a:rPr lang="en-US" altLang="en-US" sz="2400" b="1" dirty="0">
                <a:solidFill>
                  <a:srgbClr val="C00000"/>
                </a:solidFill>
                <a:latin typeface="Century Gothic" panose="020B0502020202020204" pitchFamily="34" charset="0"/>
                <a:ea typeface="+mn-ea"/>
                <a:cs typeface="+mn-cs"/>
              </a:rPr>
              <a:t>II.  Dimensional model (</a:t>
            </a:r>
            <a:r>
              <a:rPr lang="en-US" altLang="en-US" sz="2400" b="1" dirty="0" err="1">
                <a:solidFill>
                  <a:srgbClr val="C00000"/>
                </a:solidFill>
                <a:latin typeface="Century Gothic" panose="020B0502020202020204" pitchFamily="34" charset="0"/>
                <a:ea typeface="+mn-ea"/>
                <a:cs typeface="+mn-cs"/>
              </a:rPr>
              <a:t>conceptual+logical</a:t>
            </a:r>
            <a:r>
              <a:rPr lang="en-US" altLang="en-US" sz="2400" b="1" dirty="0">
                <a:solidFill>
                  <a:srgbClr val="C00000"/>
                </a:solidFill>
                <a:latin typeface="Century Gothic" panose="020B0502020202020204" pitchFamily="34" charset="0"/>
                <a:ea typeface="+mn-ea"/>
                <a:cs typeface="+mn-cs"/>
              </a:rPr>
              <a:t>) and Star/Snowflake 	Schema (logical) – Targeted for 	Independent Data marts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78A9CB4A-EF42-995A-09D0-4B1618B27E80}"/>
              </a:ext>
            </a:extLst>
          </p:cNvPr>
          <p:cNvSpPr>
            <a:spLocks noGrp="1" noChangeArrowheads="1"/>
          </p:cNvSpPr>
          <p:nvPr>
            <p:ph type="title"/>
          </p:nvPr>
        </p:nvSpPr>
        <p:spPr>
          <a:xfrm>
            <a:off x="1237129" y="685800"/>
            <a:ext cx="9717742" cy="609600"/>
          </a:xfrm>
        </p:spPr>
        <p:txBody>
          <a:bodyPr>
            <a:normAutofit fontScale="90000"/>
          </a:bodyPr>
          <a:lstStyle/>
          <a:p>
            <a:pPr algn="ctr"/>
            <a:r>
              <a:rPr lang="en-US" altLang="en-US" b="1" dirty="0">
                <a:solidFill>
                  <a:srgbClr val="C00000"/>
                </a:solidFill>
              </a:rPr>
              <a:t>Following the Data Warehousing Process</a:t>
            </a:r>
          </a:p>
        </p:txBody>
      </p:sp>
      <p:sp>
        <p:nvSpPr>
          <p:cNvPr id="3" name="Date Placeholder 2">
            <a:extLst>
              <a:ext uri="{FF2B5EF4-FFF2-40B4-BE49-F238E27FC236}">
                <a16:creationId xmlns:a16="http://schemas.microsoft.com/office/drawing/2014/main" id="{ACE5A9FF-A72F-F3F4-10C2-96BE94ABA44B}"/>
              </a:ext>
            </a:extLst>
          </p:cNvPr>
          <p:cNvSpPr>
            <a:spLocks noGrp="1"/>
          </p:cNvSpPr>
          <p:nvPr>
            <p:ph type="dt" sz="quarter" idx="10"/>
          </p:nvPr>
        </p:nvSpPr>
        <p:spPr/>
        <p:txBody>
          <a:bodyPr/>
          <a:lstStyle/>
          <a:p>
            <a:pPr>
              <a:defRPr/>
            </a:pPr>
            <a:fld id="{E4E3AAFE-BC55-4FDF-AE10-44634D54EF06}" type="datetime1">
              <a:rPr lang="en-US" smtClean="0"/>
              <a:t>9/30/2025</a:t>
            </a:fld>
            <a:endParaRPr lang="en-US"/>
          </a:p>
        </p:txBody>
      </p:sp>
      <p:sp>
        <p:nvSpPr>
          <p:cNvPr id="4" name="Footer Placeholder 3">
            <a:extLst>
              <a:ext uri="{FF2B5EF4-FFF2-40B4-BE49-F238E27FC236}">
                <a16:creationId xmlns:a16="http://schemas.microsoft.com/office/drawing/2014/main" id="{B1D96DAC-ECC8-DEAE-2EAF-907B88E5FF6B}"/>
              </a:ext>
            </a:extLst>
          </p:cNvPr>
          <p:cNvSpPr>
            <a:spLocks noGrp="1"/>
          </p:cNvSpPr>
          <p:nvPr>
            <p:ph type="ftr" sz="quarter" idx="11"/>
          </p:nvPr>
        </p:nvSpPr>
        <p:spPr/>
        <p:txBody>
          <a:bodyPr/>
          <a:lstStyle/>
          <a:p>
            <a:pPr>
              <a:defRPr/>
            </a:pPr>
            <a:r>
              <a:rPr lang="en-US" dirty="0"/>
              <a:t>Copyrighted by Arun Sen</a:t>
            </a:r>
          </a:p>
        </p:txBody>
      </p:sp>
      <p:sp>
        <p:nvSpPr>
          <p:cNvPr id="5" name="Slide Number Placeholder 4">
            <a:extLst>
              <a:ext uri="{FF2B5EF4-FFF2-40B4-BE49-F238E27FC236}">
                <a16:creationId xmlns:a16="http://schemas.microsoft.com/office/drawing/2014/main" id="{189A2864-D704-5375-D998-E7EA19463883}"/>
              </a:ext>
            </a:extLst>
          </p:cNvPr>
          <p:cNvSpPr>
            <a:spLocks noGrp="1"/>
          </p:cNvSpPr>
          <p:nvPr>
            <p:ph type="sldNum" sz="quarter" idx="12"/>
          </p:nvPr>
        </p:nvSpPr>
        <p:spPr/>
        <p:txBody>
          <a:bodyPr/>
          <a:lstStyle/>
          <a:p>
            <a:pPr>
              <a:defRPr/>
            </a:pPr>
            <a:fld id="{CD6FF67A-4E96-4404-AD59-74BC8E4A568F}" type="slidenum">
              <a:rPr lang="en-US" altLang="en-US" smtClean="0"/>
              <a:pPr>
                <a:defRPr/>
              </a:pPr>
              <a:t>19</a:t>
            </a:fld>
            <a:endParaRPr lang="en-US" altLang="en-US"/>
          </a:p>
        </p:txBody>
      </p:sp>
      <p:grpSp>
        <p:nvGrpSpPr>
          <p:cNvPr id="2" name="Group 1">
            <a:extLst>
              <a:ext uri="{FF2B5EF4-FFF2-40B4-BE49-F238E27FC236}">
                <a16:creationId xmlns:a16="http://schemas.microsoft.com/office/drawing/2014/main" id="{52DEEE9C-6F62-F461-2D4B-0D97490EF3AD}"/>
              </a:ext>
            </a:extLst>
          </p:cNvPr>
          <p:cNvGrpSpPr/>
          <p:nvPr/>
        </p:nvGrpSpPr>
        <p:grpSpPr>
          <a:xfrm>
            <a:off x="2151344" y="1857843"/>
            <a:ext cx="8342313" cy="4460874"/>
            <a:chOff x="2232026" y="1992314"/>
            <a:chExt cx="8342313" cy="4460874"/>
          </a:xfrm>
        </p:grpSpPr>
        <p:sp>
          <p:nvSpPr>
            <p:cNvPr id="19" name="Cylinder 18">
              <a:extLst>
                <a:ext uri="{FF2B5EF4-FFF2-40B4-BE49-F238E27FC236}">
                  <a16:creationId xmlns:a16="http://schemas.microsoft.com/office/drawing/2014/main" id="{184AFDA0-9056-BB69-742F-A47783D5CF64}"/>
                </a:ext>
              </a:extLst>
            </p:cNvPr>
            <p:cNvSpPr/>
            <p:nvPr/>
          </p:nvSpPr>
          <p:spPr>
            <a:xfrm>
              <a:off x="6605589" y="2895600"/>
              <a:ext cx="1851025" cy="1822450"/>
            </a:xfrm>
            <a:prstGeom prst="can">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1400" dirty="0">
                  <a:solidFill>
                    <a:srgbClr val="C00000"/>
                  </a:solidFill>
                </a:rPr>
                <a:t>Presentation Server (EDW or Independent Data Marts)</a:t>
              </a:r>
            </a:p>
          </p:txBody>
        </p:sp>
        <p:sp>
          <p:nvSpPr>
            <p:cNvPr id="6" name="Cylinder 5">
              <a:extLst>
                <a:ext uri="{FF2B5EF4-FFF2-40B4-BE49-F238E27FC236}">
                  <a16:creationId xmlns:a16="http://schemas.microsoft.com/office/drawing/2014/main" id="{583ADD71-7A17-1F40-73B8-47CC22949CA4}"/>
                </a:ext>
              </a:extLst>
            </p:cNvPr>
            <p:cNvSpPr/>
            <p:nvPr/>
          </p:nvSpPr>
          <p:spPr>
            <a:xfrm>
              <a:off x="2232026" y="3375025"/>
              <a:ext cx="754063" cy="712788"/>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7" name="Cylinder 6">
              <a:extLst>
                <a:ext uri="{FF2B5EF4-FFF2-40B4-BE49-F238E27FC236}">
                  <a16:creationId xmlns:a16="http://schemas.microsoft.com/office/drawing/2014/main" id="{A6257F6D-69BA-9591-A0A7-2CFFB04B29CB}"/>
                </a:ext>
              </a:extLst>
            </p:cNvPr>
            <p:cNvSpPr/>
            <p:nvPr/>
          </p:nvSpPr>
          <p:spPr>
            <a:xfrm>
              <a:off x="2368550" y="3505200"/>
              <a:ext cx="755650" cy="712788"/>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8" name="Cylinder 7">
              <a:extLst>
                <a:ext uri="{FF2B5EF4-FFF2-40B4-BE49-F238E27FC236}">
                  <a16:creationId xmlns:a16="http://schemas.microsoft.com/office/drawing/2014/main" id="{B3A52E18-8C09-A8A6-484C-85FDF6FCA3F9}"/>
                </a:ext>
              </a:extLst>
            </p:cNvPr>
            <p:cNvSpPr/>
            <p:nvPr/>
          </p:nvSpPr>
          <p:spPr>
            <a:xfrm>
              <a:off x="2506663" y="3635375"/>
              <a:ext cx="754062" cy="711200"/>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9" name="Cylinder 8">
              <a:extLst>
                <a:ext uri="{FF2B5EF4-FFF2-40B4-BE49-F238E27FC236}">
                  <a16:creationId xmlns:a16="http://schemas.microsoft.com/office/drawing/2014/main" id="{D412FE6C-CA3B-5AA1-42BA-208D36781388}"/>
                </a:ext>
              </a:extLst>
            </p:cNvPr>
            <p:cNvSpPr/>
            <p:nvPr/>
          </p:nvSpPr>
          <p:spPr>
            <a:xfrm>
              <a:off x="2643188" y="3763964"/>
              <a:ext cx="754062" cy="712787"/>
            </a:xfrm>
            <a:prstGeom prst="can">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43019" name="TextBox 9">
              <a:extLst>
                <a:ext uri="{FF2B5EF4-FFF2-40B4-BE49-F238E27FC236}">
                  <a16:creationId xmlns:a16="http://schemas.microsoft.com/office/drawing/2014/main" id="{448FC3D4-8D65-C083-3666-7654D0DC75A9}"/>
                </a:ext>
              </a:extLst>
            </p:cNvPr>
            <p:cNvSpPr txBox="1">
              <a:spLocks noChangeArrowheads="1"/>
            </p:cNvSpPr>
            <p:nvPr/>
          </p:nvSpPr>
          <p:spPr bwMode="auto">
            <a:xfrm>
              <a:off x="2289175" y="4481514"/>
              <a:ext cx="1187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b="1">
                  <a:solidFill>
                    <a:srgbClr val="C00000"/>
                  </a:solidFill>
                </a:rPr>
                <a:t>Source Systems</a:t>
              </a:r>
            </a:p>
          </p:txBody>
        </p:sp>
        <p:sp>
          <p:nvSpPr>
            <p:cNvPr id="11" name="Cylinder 10">
              <a:extLst>
                <a:ext uri="{FF2B5EF4-FFF2-40B4-BE49-F238E27FC236}">
                  <a16:creationId xmlns:a16="http://schemas.microsoft.com/office/drawing/2014/main" id="{9E8C8E3F-CF15-4CCE-E831-EEBCD917CC0F}"/>
                </a:ext>
              </a:extLst>
            </p:cNvPr>
            <p:cNvSpPr/>
            <p:nvPr/>
          </p:nvSpPr>
          <p:spPr>
            <a:xfrm>
              <a:off x="4456113" y="3278188"/>
              <a:ext cx="1187450" cy="1211262"/>
            </a:xfrm>
            <a:prstGeom prst="can">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Staging Area</a:t>
              </a:r>
            </a:p>
          </p:txBody>
        </p:sp>
        <p:sp>
          <p:nvSpPr>
            <p:cNvPr id="15" name="Arrow: Right 14">
              <a:extLst>
                <a:ext uri="{FF2B5EF4-FFF2-40B4-BE49-F238E27FC236}">
                  <a16:creationId xmlns:a16="http://schemas.microsoft.com/office/drawing/2014/main" id="{C889DBB6-882D-2FF4-C33B-3DB1FCD8026B}"/>
                </a:ext>
              </a:extLst>
            </p:cNvPr>
            <p:cNvSpPr/>
            <p:nvPr/>
          </p:nvSpPr>
          <p:spPr>
            <a:xfrm>
              <a:off x="3397251" y="3698875"/>
              <a:ext cx="1084263" cy="64770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Extract (E)</a:t>
              </a:r>
            </a:p>
          </p:txBody>
        </p:sp>
        <p:sp>
          <p:nvSpPr>
            <p:cNvPr id="16" name="Arrow: U-Turn 15">
              <a:extLst>
                <a:ext uri="{FF2B5EF4-FFF2-40B4-BE49-F238E27FC236}">
                  <a16:creationId xmlns:a16="http://schemas.microsoft.com/office/drawing/2014/main" id="{391F9266-70CD-95DE-498A-85FE042968BB}"/>
                </a:ext>
              </a:extLst>
            </p:cNvPr>
            <p:cNvSpPr/>
            <p:nvPr/>
          </p:nvSpPr>
          <p:spPr>
            <a:xfrm>
              <a:off x="4614864" y="2928939"/>
              <a:ext cx="960437" cy="517525"/>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43023" name="TextBox 16">
              <a:extLst>
                <a:ext uri="{FF2B5EF4-FFF2-40B4-BE49-F238E27FC236}">
                  <a16:creationId xmlns:a16="http://schemas.microsoft.com/office/drawing/2014/main" id="{B2990178-BF90-C069-D923-233B72B93738}"/>
                </a:ext>
              </a:extLst>
            </p:cNvPr>
            <p:cNvSpPr txBox="1">
              <a:spLocks noChangeArrowheads="1"/>
            </p:cNvSpPr>
            <p:nvPr/>
          </p:nvSpPr>
          <p:spPr bwMode="auto">
            <a:xfrm>
              <a:off x="4481513" y="2676526"/>
              <a:ext cx="11620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a:solidFill>
                    <a:srgbClr val="C00000"/>
                  </a:solidFill>
                </a:rPr>
                <a:t>Transform (T)</a:t>
              </a:r>
            </a:p>
          </p:txBody>
        </p:sp>
        <p:sp>
          <p:nvSpPr>
            <p:cNvPr id="18" name="Arrow: Right 17">
              <a:extLst>
                <a:ext uri="{FF2B5EF4-FFF2-40B4-BE49-F238E27FC236}">
                  <a16:creationId xmlns:a16="http://schemas.microsoft.com/office/drawing/2014/main" id="{E46EBD3B-81C0-A77E-1D65-1D1E564822D8}"/>
                </a:ext>
              </a:extLst>
            </p:cNvPr>
            <p:cNvSpPr/>
            <p:nvPr/>
          </p:nvSpPr>
          <p:spPr>
            <a:xfrm>
              <a:off x="5618163" y="3570288"/>
              <a:ext cx="1084262" cy="64770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Load (L)</a:t>
              </a:r>
            </a:p>
          </p:txBody>
        </p:sp>
        <p:sp>
          <p:nvSpPr>
            <p:cNvPr id="21" name="Oval 20">
              <a:extLst>
                <a:ext uri="{FF2B5EF4-FFF2-40B4-BE49-F238E27FC236}">
                  <a16:creationId xmlns:a16="http://schemas.microsoft.com/office/drawing/2014/main" id="{2BDA1EAB-BC4A-F17C-EF1B-AB8163BDEB04}"/>
                </a:ext>
              </a:extLst>
            </p:cNvPr>
            <p:cNvSpPr/>
            <p:nvPr/>
          </p:nvSpPr>
          <p:spPr>
            <a:xfrm>
              <a:off x="9067800" y="2514601"/>
              <a:ext cx="1385888"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BI Reports using SSAS</a:t>
              </a:r>
            </a:p>
          </p:txBody>
        </p:sp>
        <p:sp>
          <p:nvSpPr>
            <p:cNvPr id="22" name="Oval 21">
              <a:extLst>
                <a:ext uri="{FF2B5EF4-FFF2-40B4-BE49-F238E27FC236}">
                  <a16:creationId xmlns:a16="http://schemas.microsoft.com/office/drawing/2014/main" id="{43B0107D-546D-72DB-CA41-C4B61F273D8D}"/>
                </a:ext>
              </a:extLst>
            </p:cNvPr>
            <p:cNvSpPr/>
            <p:nvPr/>
          </p:nvSpPr>
          <p:spPr>
            <a:xfrm>
              <a:off x="9067800" y="3051175"/>
              <a:ext cx="1428750" cy="7747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100" dirty="0">
                  <a:solidFill>
                    <a:srgbClr val="C00000"/>
                  </a:solidFill>
                </a:rPr>
                <a:t>BI Reports with Report Builder, Power BI etc.</a:t>
              </a:r>
            </a:p>
          </p:txBody>
        </p:sp>
        <p:sp>
          <p:nvSpPr>
            <p:cNvPr id="23" name="Oval 22">
              <a:extLst>
                <a:ext uri="{FF2B5EF4-FFF2-40B4-BE49-F238E27FC236}">
                  <a16:creationId xmlns:a16="http://schemas.microsoft.com/office/drawing/2014/main" id="{13C9E805-0883-0E9C-E0CA-9F828D61A138}"/>
                </a:ext>
              </a:extLst>
            </p:cNvPr>
            <p:cNvSpPr/>
            <p:nvPr/>
          </p:nvSpPr>
          <p:spPr>
            <a:xfrm>
              <a:off x="9164638" y="4067176"/>
              <a:ext cx="990600"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Data Mining</a:t>
              </a:r>
            </a:p>
          </p:txBody>
        </p:sp>
        <p:cxnSp>
          <p:nvCxnSpPr>
            <p:cNvPr id="25" name="Straight Arrow Connector 24">
              <a:extLst>
                <a:ext uri="{FF2B5EF4-FFF2-40B4-BE49-F238E27FC236}">
                  <a16:creationId xmlns:a16="http://schemas.microsoft.com/office/drawing/2014/main" id="{7A493BDB-6A71-3738-CB4E-8A042B74D82F}"/>
                </a:ext>
              </a:extLst>
            </p:cNvPr>
            <p:cNvCxnSpPr>
              <a:cxnSpLocks/>
              <a:stCxn id="21" idx="3"/>
              <a:endCxn id="19" idx="4"/>
            </p:cNvCxnSpPr>
            <p:nvPr/>
          </p:nvCxnSpPr>
          <p:spPr>
            <a:xfrm flipH="1">
              <a:off x="8456614" y="2955925"/>
              <a:ext cx="814387" cy="8509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C6A14F29-283B-8F37-8CCA-A2C2EFEC4C22}"/>
                </a:ext>
              </a:extLst>
            </p:cNvPr>
            <p:cNvSpPr/>
            <p:nvPr/>
          </p:nvSpPr>
          <p:spPr>
            <a:xfrm>
              <a:off x="9118600" y="1992314"/>
              <a:ext cx="1335088"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BI Reports using SSRS</a:t>
              </a:r>
            </a:p>
          </p:txBody>
        </p:sp>
        <p:sp>
          <p:nvSpPr>
            <p:cNvPr id="28" name="Oval 27">
              <a:extLst>
                <a:ext uri="{FF2B5EF4-FFF2-40B4-BE49-F238E27FC236}">
                  <a16:creationId xmlns:a16="http://schemas.microsoft.com/office/drawing/2014/main" id="{8A1E51CE-4E93-91EF-563B-483527D4264E}"/>
                </a:ext>
              </a:extLst>
            </p:cNvPr>
            <p:cNvSpPr/>
            <p:nvPr/>
          </p:nvSpPr>
          <p:spPr>
            <a:xfrm>
              <a:off x="8750300" y="4475164"/>
              <a:ext cx="990600"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Data Mining</a:t>
              </a:r>
            </a:p>
          </p:txBody>
        </p:sp>
        <p:sp>
          <p:nvSpPr>
            <p:cNvPr id="29" name="Oval 28">
              <a:extLst>
                <a:ext uri="{FF2B5EF4-FFF2-40B4-BE49-F238E27FC236}">
                  <a16:creationId xmlns:a16="http://schemas.microsoft.com/office/drawing/2014/main" id="{29FEEC51-3BE5-B5DA-CB5A-A0B86BD610F1}"/>
                </a:ext>
              </a:extLst>
            </p:cNvPr>
            <p:cNvSpPr/>
            <p:nvPr/>
          </p:nvSpPr>
          <p:spPr>
            <a:xfrm>
              <a:off x="9583738" y="4449764"/>
              <a:ext cx="990600" cy="5175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rgbClr val="C00000"/>
                  </a:solidFill>
                </a:rPr>
                <a:t>Data Mining</a:t>
              </a:r>
            </a:p>
          </p:txBody>
        </p:sp>
        <p:cxnSp>
          <p:nvCxnSpPr>
            <p:cNvPr id="31" name="Straight Arrow Connector 30">
              <a:extLst>
                <a:ext uri="{FF2B5EF4-FFF2-40B4-BE49-F238E27FC236}">
                  <a16:creationId xmlns:a16="http://schemas.microsoft.com/office/drawing/2014/main" id="{D220F10F-AA04-9231-AB90-DDC1EB013998}"/>
                </a:ext>
              </a:extLst>
            </p:cNvPr>
            <p:cNvCxnSpPr>
              <a:stCxn id="23" idx="2"/>
              <a:endCxn id="19" idx="4"/>
            </p:cNvCxnSpPr>
            <p:nvPr/>
          </p:nvCxnSpPr>
          <p:spPr>
            <a:xfrm flipH="1" flipV="1">
              <a:off x="8456614" y="3806826"/>
              <a:ext cx="708025" cy="51911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3033" name="TextBox 31">
              <a:extLst>
                <a:ext uri="{FF2B5EF4-FFF2-40B4-BE49-F238E27FC236}">
                  <a16:creationId xmlns:a16="http://schemas.microsoft.com/office/drawing/2014/main" id="{51EACE4D-8E6E-B0EB-D7CB-DEA6C9D76C2B}"/>
                </a:ext>
              </a:extLst>
            </p:cNvPr>
            <p:cNvSpPr txBox="1">
              <a:spLocks noChangeArrowheads="1"/>
            </p:cNvSpPr>
            <p:nvPr/>
          </p:nvSpPr>
          <p:spPr bwMode="auto">
            <a:xfrm>
              <a:off x="7743825" y="2571751"/>
              <a:ext cx="1371600" cy="277813"/>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b="1">
                  <a:solidFill>
                    <a:srgbClr val="C00000"/>
                  </a:solidFill>
                </a:rPr>
                <a:t>5.  Visualizations</a:t>
              </a:r>
            </a:p>
          </p:txBody>
        </p:sp>
        <p:sp>
          <p:nvSpPr>
            <p:cNvPr id="33" name="Thought Bubble: Cloud 32">
              <a:extLst>
                <a:ext uri="{FF2B5EF4-FFF2-40B4-BE49-F238E27FC236}">
                  <a16:creationId xmlns:a16="http://schemas.microsoft.com/office/drawing/2014/main" id="{CBEBACEA-BB74-FF56-7B99-F0FB20F768CE}"/>
                </a:ext>
              </a:extLst>
            </p:cNvPr>
            <p:cNvSpPr/>
            <p:nvPr/>
          </p:nvSpPr>
          <p:spPr>
            <a:xfrm>
              <a:off x="8628064" y="5410200"/>
              <a:ext cx="1946275" cy="1042988"/>
            </a:xfrm>
            <a:prstGeom prst="cloudCallou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dirty="0"/>
            </a:p>
          </p:txBody>
        </p:sp>
        <p:sp>
          <p:nvSpPr>
            <p:cNvPr id="43035" name="TextBox 33">
              <a:extLst>
                <a:ext uri="{FF2B5EF4-FFF2-40B4-BE49-F238E27FC236}">
                  <a16:creationId xmlns:a16="http://schemas.microsoft.com/office/drawing/2014/main" id="{81C2A75D-7EF2-505E-7FA5-663D7DBD18F6}"/>
                </a:ext>
              </a:extLst>
            </p:cNvPr>
            <p:cNvSpPr txBox="1">
              <a:spLocks noChangeArrowheads="1"/>
            </p:cNvSpPr>
            <p:nvPr/>
          </p:nvSpPr>
          <p:spPr bwMode="auto">
            <a:xfrm>
              <a:off x="8885239" y="5640389"/>
              <a:ext cx="1355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100" b="1">
                  <a:solidFill>
                    <a:srgbClr val="C00000"/>
                  </a:solidFill>
                </a:rPr>
                <a:t>1.  Req. Gathering to create Business Questions</a:t>
              </a:r>
            </a:p>
          </p:txBody>
        </p:sp>
        <p:sp>
          <p:nvSpPr>
            <p:cNvPr id="43036" name="TextBox 34">
              <a:extLst>
                <a:ext uri="{FF2B5EF4-FFF2-40B4-BE49-F238E27FC236}">
                  <a16:creationId xmlns:a16="http://schemas.microsoft.com/office/drawing/2014/main" id="{449B8357-9A56-6ABA-609F-D7FB09622E69}"/>
                </a:ext>
              </a:extLst>
            </p:cNvPr>
            <p:cNvSpPr txBox="1">
              <a:spLocks noChangeArrowheads="1"/>
            </p:cNvSpPr>
            <p:nvPr/>
          </p:nvSpPr>
          <p:spPr bwMode="auto">
            <a:xfrm>
              <a:off x="6840538" y="4244976"/>
              <a:ext cx="1524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100" b="1">
                  <a:solidFill>
                    <a:srgbClr val="C00000"/>
                  </a:solidFill>
                </a:rPr>
                <a:t>Tables (ER-Relation or Star/Snowflake) </a:t>
              </a:r>
            </a:p>
          </p:txBody>
        </p:sp>
        <p:cxnSp>
          <p:nvCxnSpPr>
            <p:cNvPr id="39" name="Connector: Elbow 38">
              <a:extLst>
                <a:ext uri="{FF2B5EF4-FFF2-40B4-BE49-F238E27FC236}">
                  <a16:creationId xmlns:a16="http://schemas.microsoft.com/office/drawing/2014/main" id="{08E9877C-124B-3E66-F0D0-35F5E5585B4E}"/>
                </a:ext>
              </a:extLst>
            </p:cNvPr>
            <p:cNvCxnSpPr>
              <a:stCxn id="9" idx="3"/>
            </p:cNvCxnSpPr>
            <p:nvPr/>
          </p:nvCxnSpPr>
          <p:spPr>
            <a:xfrm rot="16200000" flipH="1">
              <a:off x="5044282" y="2453482"/>
              <a:ext cx="1619250" cy="5665787"/>
            </a:xfrm>
            <a:prstGeom prst="bentConnector2">
              <a:avLst/>
            </a:prstGeom>
            <a:ln>
              <a:solidFill>
                <a:schemeClr val="tx1"/>
              </a:solidFill>
              <a:prstDash val="lgDashDotDot"/>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1C622CF1-6C84-AEA8-53BD-C4C30B265D28}"/>
                </a:ext>
              </a:extLst>
            </p:cNvPr>
            <p:cNvCxnSpPr>
              <a:stCxn id="33" idx="3"/>
              <a:endCxn id="29" idx="3"/>
            </p:cNvCxnSpPr>
            <p:nvPr/>
          </p:nvCxnSpPr>
          <p:spPr>
            <a:xfrm flipV="1">
              <a:off x="9601200" y="4891089"/>
              <a:ext cx="128588" cy="579437"/>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3039" name="TextBox 41">
              <a:extLst>
                <a:ext uri="{FF2B5EF4-FFF2-40B4-BE49-F238E27FC236}">
                  <a16:creationId xmlns:a16="http://schemas.microsoft.com/office/drawing/2014/main" id="{82304D01-DD3A-442C-2C62-8DAD64ACA47E}"/>
                </a:ext>
              </a:extLst>
            </p:cNvPr>
            <p:cNvSpPr txBox="1">
              <a:spLocks noChangeArrowheads="1"/>
            </p:cNvSpPr>
            <p:nvPr/>
          </p:nvSpPr>
          <p:spPr bwMode="auto">
            <a:xfrm>
              <a:off x="7059613" y="5213351"/>
              <a:ext cx="1370012" cy="646113"/>
            </a:xfrm>
            <a:prstGeom prst="rect">
              <a:avLst/>
            </a:prstGeom>
            <a:solidFill>
              <a:srgbClr val="FFFF00"/>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1200" b="1">
                  <a:solidFill>
                    <a:srgbClr val="C00000"/>
                  </a:solidFill>
                </a:rPr>
                <a:t>3.  Data Design to create table descriptions</a:t>
              </a:r>
            </a:p>
          </p:txBody>
        </p:sp>
        <p:cxnSp>
          <p:nvCxnSpPr>
            <p:cNvPr id="50" name="Straight Connector 49">
              <a:extLst>
                <a:ext uri="{FF2B5EF4-FFF2-40B4-BE49-F238E27FC236}">
                  <a16:creationId xmlns:a16="http://schemas.microsoft.com/office/drawing/2014/main" id="{93096979-532D-6C46-7C3D-53E28D7DE6CD}"/>
                </a:ext>
              </a:extLst>
            </p:cNvPr>
            <p:cNvCxnSpPr>
              <a:endCxn id="43039" idx="3"/>
            </p:cNvCxnSpPr>
            <p:nvPr/>
          </p:nvCxnSpPr>
          <p:spPr>
            <a:xfrm flipH="1" flipV="1">
              <a:off x="8429626" y="5535614"/>
              <a:ext cx="455613" cy="46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184428A-F857-43D2-2A14-435E21F79F0E}"/>
                </a:ext>
              </a:extLst>
            </p:cNvPr>
            <p:cNvCxnSpPr>
              <a:cxnSpLocks/>
              <a:stCxn id="43039" idx="0"/>
            </p:cNvCxnSpPr>
            <p:nvPr/>
          </p:nvCxnSpPr>
          <p:spPr>
            <a:xfrm flipV="1">
              <a:off x="7743825" y="4718050"/>
              <a:ext cx="0" cy="495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DDDE3D1-B278-8AEF-F8E0-252E2C59186B}"/>
                </a:ext>
              </a:extLst>
            </p:cNvPr>
            <p:cNvCxnSpPr/>
            <p:nvPr/>
          </p:nvCxnSpPr>
          <p:spPr>
            <a:xfrm>
              <a:off x="2289176" y="2676525"/>
              <a:ext cx="157321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5E98CCB-6975-14D2-AF8A-58B253212196}"/>
                </a:ext>
              </a:extLst>
            </p:cNvPr>
            <p:cNvCxnSpPr>
              <a:cxnSpLocks/>
            </p:cNvCxnSpPr>
            <p:nvPr/>
          </p:nvCxnSpPr>
          <p:spPr>
            <a:xfrm>
              <a:off x="6370638" y="2676525"/>
              <a:ext cx="4699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1CA6F0B-5E89-492F-3DB1-98258793A533}"/>
                </a:ext>
              </a:extLst>
            </p:cNvPr>
            <p:cNvSpPr txBox="1"/>
            <p:nvPr/>
          </p:nvSpPr>
          <p:spPr>
            <a:xfrm>
              <a:off x="3913191" y="2293680"/>
              <a:ext cx="2471733" cy="646331"/>
            </a:xfrm>
            <a:prstGeom prst="rect">
              <a:avLst/>
            </a:prstGeom>
            <a:solidFill>
              <a:srgbClr val="FFFF00"/>
            </a:solidFill>
            <a:ln>
              <a:solidFill>
                <a:schemeClr val="tx1"/>
              </a:solidFill>
            </a:ln>
          </p:spPr>
          <p:txBody>
            <a:bodyPr>
              <a:spAutoFit/>
            </a:bodyPr>
            <a:lstStyle/>
            <a:p>
              <a:pPr marL="228600" indent="-228600" algn="ctr">
                <a:buFontTx/>
                <a:buAutoNum type="arabicPeriod" startAt="4"/>
                <a:defRPr/>
              </a:pPr>
              <a:r>
                <a:rPr lang="en-US" sz="1200" b="1" dirty="0">
                  <a:solidFill>
                    <a:srgbClr val="C00000"/>
                  </a:solidFill>
                  <a:highlight>
                    <a:srgbClr val="FFFF00"/>
                  </a:highlight>
                </a:rPr>
                <a:t>ETL</a:t>
              </a:r>
            </a:p>
            <a:p>
              <a:pPr>
                <a:defRPr/>
              </a:pPr>
              <a:r>
                <a:rPr lang="en-US" sz="1200" b="1" dirty="0">
                  <a:solidFill>
                    <a:srgbClr val="C00000"/>
                  </a:solidFill>
                  <a:highlight>
                    <a:srgbClr val="FFFF00"/>
                  </a:highlight>
                </a:rPr>
                <a:t>To extract, transform and load the data into Presentation Server)</a:t>
              </a:r>
            </a:p>
          </p:txBody>
        </p:sp>
        <p:sp>
          <p:nvSpPr>
            <p:cNvPr id="10" name="Rectangle 9">
              <a:extLst>
                <a:ext uri="{FF2B5EF4-FFF2-40B4-BE49-F238E27FC236}">
                  <a16:creationId xmlns:a16="http://schemas.microsoft.com/office/drawing/2014/main" id="{7B31505F-F0E3-4B5C-B0CC-BB7E657CA109}"/>
                </a:ext>
              </a:extLst>
            </p:cNvPr>
            <p:cNvSpPr/>
            <p:nvPr/>
          </p:nvSpPr>
          <p:spPr>
            <a:xfrm>
              <a:off x="6840538" y="3124200"/>
              <a:ext cx="1389062" cy="381000"/>
            </a:xfrm>
            <a:prstGeom prst="rect">
              <a:avLst/>
            </a:prstGeom>
            <a:solidFill>
              <a:srgbClr val="FFFF00"/>
            </a:solidFill>
            <a:ln w="127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ln>
                    <a:solidFill>
                      <a:schemeClr val="tx1"/>
                    </a:solidFill>
                  </a:ln>
                  <a:solidFill>
                    <a:srgbClr val="C00000"/>
                  </a:solidFill>
                </a:rPr>
                <a:t>2.  Choosing an Architecture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C0D676E-60EB-E4FC-A499-C7E5D1E93EE1}"/>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44035" name="Text Box 3">
            <a:extLst>
              <a:ext uri="{FF2B5EF4-FFF2-40B4-BE49-F238E27FC236}">
                <a16:creationId xmlns:a16="http://schemas.microsoft.com/office/drawing/2014/main" id="{4D480F5B-86BB-6CA4-DB2E-D9476899C669}"/>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44036" name="Text Box 4">
            <a:extLst>
              <a:ext uri="{FF2B5EF4-FFF2-40B4-BE49-F238E27FC236}">
                <a16:creationId xmlns:a16="http://schemas.microsoft.com/office/drawing/2014/main" id="{3077462B-7969-D999-3C2C-85F85F0E7C03}"/>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44037" name="Text Box 5">
            <a:extLst>
              <a:ext uri="{FF2B5EF4-FFF2-40B4-BE49-F238E27FC236}">
                <a16:creationId xmlns:a16="http://schemas.microsoft.com/office/drawing/2014/main" id="{A12D7E33-D48E-905B-8AEF-0BFD9753D508}"/>
              </a:ext>
            </a:extLst>
          </p:cNvPr>
          <p:cNvSpPr txBox="1">
            <a:spLocks noChangeArrowheads="1"/>
          </p:cNvSpPr>
          <p:nvPr/>
        </p:nvSpPr>
        <p:spPr bwMode="auto">
          <a:xfrm>
            <a:off x="2209800" y="1752601"/>
            <a:ext cx="8001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1.   History of Dimensional Modeling</a:t>
            </a:r>
            <a:endParaRPr lang="en-US" altLang="en-US" sz="2400">
              <a:latin typeface="Times New Roman" panose="02020603050405020304" pitchFamily="18" charset="0"/>
            </a:endParaRPr>
          </a:p>
          <a:p>
            <a:pPr lvl="1" eaLnBrk="1" hangingPunct="1">
              <a:spcBef>
                <a:spcPct val="50000"/>
              </a:spcBef>
              <a:buFontTx/>
              <a:buChar char="•"/>
            </a:pPr>
            <a:r>
              <a:rPr lang="en-US" altLang="en-US" sz="2400">
                <a:latin typeface="Times New Roman" panose="02020603050405020304" pitchFamily="18" charset="0"/>
              </a:rPr>
              <a:t>  first used by General Mills and Dartmouth University in 	1960’s</a:t>
            </a:r>
          </a:p>
          <a:p>
            <a:pPr lvl="1" eaLnBrk="1" hangingPunct="1">
              <a:spcBef>
                <a:spcPct val="50000"/>
              </a:spcBef>
              <a:buFontTx/>
              <a:buChar char="•"/>
            </a:pPr>
            <a:r>
              <a:rPr lang="en-US" altLang="en-US" sz="2400">
                <a:latin typeface="Times New Roman" panose="02020603050405020304" pitchFamily="18" charset="0"/>
              </a:rPr>
              <a:t>  in 1970’s it is used by Nielson Marketing</a:t>
            </a:r>
          </a:p>
          <a:p>
            <a:pPr lvl="1" eaLnBrk="1" hangingPunct="1">
              <a:spcBef>
                <a:spcPct val="50000"/>
              </a:spcBef>
              <a:buFontTx/>
              <a:buChar char="•"/>
            </a:pPr>
            <a:r>
              <a:rPr lang="en-US" altLang="en-US" sz="2400">
                <a:latin typeface="Times New Roman" panose="02020603050405020304" pitchFamily="18" charset="0"/>
              </a:rPr>
              <a:t>  in 1984 -- Kimball introduced it as a data modeling tool 	for conformable Data marts</a:t>
            </a:r>
          </a:p>
        </p:txBody>
      </p:sp>
      <p:sp>
        <p:nvSpPr>
          <p:cNvPr id="2" name="Date Placeholder 1">
            <a:extLst>
              <a:ext uri="{FF2B5EF4-FFF2-40B4-BE49-F238E27FC236}">
                <a16:creationId xmlns:a16="http://schemas.microsoft.com/office/drawing/2014/main" id="{7C68100D-73AC-7012-0FEE-B763B27EC6CF}"/>
              </a:ext>
            </a:extLst>
          </p:cNvPr>
          <p:cNvSpPr>
            <a:spLocks noGrp="1"/>
          </p:cNvSpPr>
          <p:nvPr>
            <p:ph type="dt" sz="quarter" idx="10"/>
          </p:nvPr>
        </p:nvSpPr>
        <p:spPr/>
        <p:txBody>
          <a:bodyPr/>
          <a:lstStyle/>
          <a:p>
            <a:pPr>
              <a:defRPr/>
            </a:pPr>
            <a:fld id="{D97500CB-6607-4E26-BA91-6ED1187EF36A}" type="datetime1">
              <a:rPr lang="en-US" smtClean="0"/>
              <a:t>9/30/2025</a:t>
            </a:fld>
            <a:endParaRPr lang="en-US"/>
          </a:p>
        </p:txBody>
      </p:sp>
      <p:sp>
        <p:nvSpPr>
          <p:cNvPr id="3" name="Footer Placeholder 2">
            <a:extLst>
              <a:ext uri="{FF2B5EF4-FFF2-40B4-BE49-F238E27FC236}">
                <a16:creationId xmlns:a16="http://schemas.microsoft.com/office/drawing/2014/main" id="{5F9CADA4-A26B-8CC9-0FD9-AD62FBF838FA}"/>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8E5FADD-1126-0684-CE77-3EB47FE43F4F}"/>
              </a:ext>
            </a:extLst>
          </p:cNvPr>
          <p:cNvSpPr>
            <a:spLocks noGrp="1"/>
          </p:cNvSpPr>
          <p:nvPr>
            <p:ph type="sldNum" sz="quarter" idx="12"/>
          </p:nvPr>
        </p:nvSpPr>
        <p:spPr/>
        <p:txBody>
          <a:bodyPr/>
          <a:lstStyle/>
          <a:p>
            <a:pPr>
              <a:defRPr/>
            </a:pPr>
            <a:fld id="{C1FA3B8C-E6FE-427A-80B4-935425C11028}" type="slidenum">
              <a:rPr lang="en-US" altLang="en-US" smtClean="0"/>
              <a:pPr>
                <a:defRPr/>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EA63011-3097-FB62-DF84-5A09732349B7}"/>
              </a:ext>
            </a:extLst>
          </p:cNvPr>
          <p:cNvSpPr>
            <a:spLocks noChangeArrowheads="1"/>
          </p:cNvSpPr>
          <p:nvPr/>
        </p:nvSpPr>
        <p:spPr bwMode="auto">
          <a:xfrm>
            <a:off x="2438400" y="304800"/>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46083" name="Text Box 3">
            <a:extLst>
              <a:ext uri="{FF2B5EF4-FFF2-40B4-BE49-F238E27FC236}">
                <a16:creationId xmlns:a16="http://schemas.microsoft.com/office/drawing/2014/main" id="{5FD59848-5105-739F-77B0-DA27B0088516}"/>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46084" name="Text Box 4">
            <a:extLst>
              <a:ext uri="{FF2B5EF4-FFF2-40B4-BE49-F238E27FC236}">
                <a16:creationId xmlns:a16="http://schemas.microsoft.com/office/drawing/2014/main" id="{D3620456-FF51-820A-3238-B3CF0FA2EFB9}"/>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46085" name="Text Box 5">
            <a:extLst>
              <a:ext uri="{FF2B5EF4-FFF2-40B4-BE49-F238E27FC236}">
                <a16:creationId xmlns:a16="http://schemas.microsoft.com/office/drawing/2014/main" id="{69994A50-B40F-D02D-C4EC-CCD5908F87E9}"/>
              </a:ext>
            </a:extLst>
          </p:cNvPr>
          <p:cNvSpPr txBox="1">
            <a:spLocks noChangeArrowheads="1"/>
          </p:cNvSpPr>
          <p:nvPr/>
        </p:nvSpPr>
        <p:spPr bwMode="auto">
          <a:xfrm>
            <a:off x="2523565" y="2017059"/>
            <a:ext cx="75438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2.   What is Dimensional Modeling?</a:t>
            </a:r>
            <a:endParaRPr lang="en-US" altLang="en-US" sz="2400" dirty="0">
              <a:latin typeface="Times New Roman" panose="02020603050405020304" pitchFamily="18" charset="0"/>
            </a:endParaRPr>
          </a:p>
          <a:p>
            <a:pPr lvl="1" eaLnBrk="1" hangingPunct="1">
              <a:spcBef>
                <a:spcPct val="50000"/>
              </a:spcBef>
              <a:buFontTx/>
              <a:buChar char="•"/>
            </a:pPr>
            <a:r>
              <a:rPr lang="en-US" altLang="en-US" sz="2400" dirty="0">
                <a:latin typeface="Times New Roman" panose="02020603050405020304" pitchFamily="18" charset="0"/>
              </a:rPr>
              <a:t>  </a:t>
            </a:r>
            <a:r>
              <a:rPr lang="en-US" altLang="en-US" sz="2000" dirty="0">
                <a:latin typeface="Times New Roman" panose="02020603050405020304" pitchFamily="18" charset="0"/>
              </a:rPr>
              <a:t>It is a logical design technique that seeks to present data in a standard format that is intuitive and allows for high-performance access</a:t>
            </a:r>
          </a:p>
          <a:p>
            <a:pPr lvl="1" eaLnBrk="1" hangingPunct="1">
              <a:spcBef>
                <a:spcPct val="50000"/>
              </a:spcBef>
              <a:buFontTx/>
              <a:buChar char="•"/>
            </a:pPr>
            <a:r>
              <a:rPr lang="en-US" altLang="en-US" sz="2000" dirty="0">
                <a:latin typeface="Times New Roman" panose="02020603050405020304" pitchFamily="18" charset="0"/>
              </a:rPr>
              <a:t>  Fundamental idea of dimensional modeling is that every type of business data can be represented as a Cube or Hypercube.</a:t>
            </a:r>
          </a:p>
          <a:p>
            <a:pPr lvl="1" eaLnBrk="1" hangingPunct="1">
              <a:spcBef>
                <a:spcPct val="50000"/>
              </a:spcBef>
              <a:buFontTx/>
              <a:buChar char="•"/>
            </a:pPr>
            <a:r>
              <a:rPr lang="en-US" altLang="en-US" sz="2000" dirty="0">
                <a:latin typeface="Times New Roman" panose="02020603050405020304" pitchFamily="18" charset="0"/>
              </a:rPr>
              <a:t>  More suitable for Kimball’s strategy</a:t>
            </a:r>
          </a:p>
          <a:p>
            <a:pPr lvl="1" eaLnBrk="1" hangingPunct="1">
              <a:spcBef>
                <a:spcPct val="50000"/>
              </a:spcBef>
              <a:buFontTx/>
              <a:buChar char="•"/>
            </a:pPr>
            <a:r>
              <a:rPr lang="en-US" altLang="en-US" sz="2000" dirty="0">
                <a:latin typeface="Times New Roman" panose="02020603050405020304" pitchFamily="18" charset="0"/>
              </a:rPr>
              <a:t>  </a:t>
            </a:r>
            <a:r>
              <a:rPr lang="en-US" altLang="en-US" sz="2000" dirty="0">
                <a:solidFill>
                  <a:srgbClr val="C00000"/>
                </a:solidFill>
                <a:latin typeface="Times New Roman" panose="02020603050405020304" pitchFamily="18" charset="0"/>
              </a:rPr>
              <a:t>Not much use in creating an enterprise-wise star schema!!</a:t>
            </a:r>
          </a:p>
        </p:txBody>
      </p:sp>
      <p:sp>
        <p:nvSpPr>
          <p:cNvPr id="2" name="Date Placeholder 1">
            <a:extLst>
              <a:ext uri="{FF2B5EF4-FFF2-40B4-BE49-F238E27FC236}">
                <a16:creationId xmlns:a16="http://schemas.microsoft.com/office/drawing/2014/main" id="{0624A511-5AE2-64F7-A10D-C97FFABC8FAB}"/>
              </a:ext>
            </a:extLst>
          </p:cNvPr>
          <p:cNvSpPr>
            <a:spLocks noGrp="1"/>
          </p:cNvSpPr>
          <p:nvPr>
            <p:ph type="dt" sz="quarter" idx="10"/>
          </p:nvPr>
        </p:nvSpPr>
        <p:spPr/>
        <p:txBody>
          <a:bodyPr/>
          <a:lstStyle/>
          <a:p>
            <a:pPr>
              <a:defRPr/>
            </a:pPr>
            <a:fld id="{B2CC620D-9B2E-458F-BE66-E7190A13A5B2}" type="datetime1">
              <a:rPr lang="en-US" smtClean="0"/>
              <a:t>9/30/2025</a:t>
            </a:fld>
            <a:endParaRPr lang="en-US"/>
          </a:p>
        </p:txBody>
      </p:sp>
      <p:sp>
        <p:nvSpPr>
          <p:cNvPr id="3" name="Footer Placeholder 2">
            <a:extLst>
              <a:ext uri="{FF2B5EF4-FFF2-40B4-BE49-F238E27FC236}">
                <a16:creationId xmlns:a16="http://schemas.microsoft.com/office/drawing/2014/main" id="{54EC050A-B46D-688D-CA7B-681B3412A487}"/>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129413B0-84DD-F187-21E8-C46830594C9F}"/>
              </a:ext>
            </a:extLst>
          </p:cNvPr>
          <p:cNvSpPr>
            <a:spLocks noGrp="1"/>
          </p:cNvSpPr>
          <p:nvPr>
            <p:ph type="sldNum" sz="quarter" idx="12"/>
          </p:nvPr>
        </p:nvSpPr>
        <p:spPr/>
        <p:txBody>
          <a:bodyPr/>
          <a:lstStyle/>
          <a:p>
            <a:pPr>
              <a:defRPr/>
            </a:pPr>
            <a:fld id="{AFC4130D-5328-46C6-8521-D3D7F2FFDE20}" type="slidenum">
              <a:rPr lang="en-US" altLang="en-US" smtClean="0"/>
              <a:pPr>
                <a:defRPr/>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90FB083-6F36-3C48-5092-1E79542A5FB6}"/>
              </a:ext>
            </a:extLst>
          </p:cNvPr>
          <p:cNvSpPr>
            <a:spLocks noChangeArrowheads="1"/>
          </p:cNvSpPr>
          <p:nvPr/>
        </p:nvSpPr>
        <p:spPr bwMode="auto">
          <a:xfrm>
            <a:off x="2438400" y="28575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Star Schema</a:t>
            </a:r>
          </a:p>
        </p:txBody>
      </p:sp>
      <p:grpSp>
        <p:nvGrpSpPr>
          <p:cNvPr id="7" name="Group 6">
            <a:extLst>
              <a:ext uri="{FF2B5EF4-FFF2-40B4-BE49-F238E27FC236}">
                <a16:creationId xmlns:a16="http://schemas.microsoft.com/office/drawing/2014/main" id="{751CC804-E408-14F8-4A93-88C7B8B9DAF0}"/>
              </a:ext>
            </a:extLst>
          </p:cNvPr>
          <p:cNvGrpSpPr/>
          <p:nvPr/>
        </p:nvGrpSpPr>
        <p:grpSpPr>
          <a:xfrm>
            <a:off x="2438400" y="1935804"/>
            <a:ext cx="7467600" cy="4042186"/>
            <a:chOff x="2438400" y="1935804"/>
            <a:chExt cx="7467600" cy="4042186"/>
          </a:xfrm>
        </p:grpSpPr>
        <p:sp>
          <p:nvSpPr>
            <p:cNvPr id="48140" name="Text Box 3">
              <a:extLst>
                <a:ext uri="{FF2B5EF4-FFF2-40B4-BE49-F238E27FC236}">
                  <a16:creationId xmlns:a16="http://schemas.microsoft.com/office/drawing/2014/main" id="{467FC02A-AD81-442A-1243-6A065716A34B}"/>
                </a:ext>
              </a:extLst>
            </p:cNvPr>
            <p:cNvSpPr txBox="1">
              <a:spLocks noChangeArrowheads="1"/>
            </p:cNvSpPr>
            <p:nvPr/>
          </p:nvSpPr>
          <p:spPr bwMode="auto">
            <a:xfrm>
              <a:off x="2819400" y="2673261"/>
              <a:ext cx="6934200" cy="327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1600">
                <a:latin typeface="Tahoma" panose="020B0604030504040204" pitchFamily="34" charset="0"/>
              </a:endParaRPr>
            </a:p>
          </p:txBody>
        </p:sp>
        <p:sp>
          <p:nvSpPr>
            <p:cNvPr id="48141" name="Text Box 4">
              <a:extLst>
                <a:ext uri="{FF2B5EF4-FFF2-40B4-BE49-F238E27FC236}">
                  <a16:creationId xmlns:a16="http://schemas.microsoft.com/office/drawing/2014/main" id="{321D3BCD-52A6-F0CB-D53C-A473CA4DBEB0}"/>
                </a:ext>
              </a:extLst>
            </p:cNvPr>
            <p:cNvSpPr txBox="1">
              <a:spLocks noChangeArrowheads="1"/>
            </p:cNvSpPr>
            <p:nvPr/>
          </p:nvSpPr>
          <p:spPr bwMode="auto">
            <a:xfrm>
              <a:off x="2895600" y="2673261"/>
              <a:ext cx="6934200" cy="327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1600">
                <a:latin typeface="Tahoma" panose="020B0604030504040204" pitchFamily="34" charset="0"/>
              </a:endParaRPr>
            </a:p>
          </p:txBody>
        </p:sp>
        <p:grpSp>
          <p:nvGrpSpPr>
            <p:cNvPr id="48142" name="Group 6">
              <a:extLst>
                <a:ext uri="{FF2B5EF4-FFF2-40B4-BE49-F238E27FC236}">
                  <a16:creationId xmlns:a16="http://schemas.microsoft.com/office/drawing/2014/main" id="{830A538F-8C1F-8656-055C-22661528C4AA}"/>
                </a:ext>
              </a:extLst>
            </p:cNvPr>
            <p:cNvGrpSpPr>
              <a:grpSpLocks/>
            </p:cNvGrpSpPr>
            <p:nvPr/>
          </p:nvGrpSpPr>
          <p:grpSpPr bwMode="auto">
            <a:xfrm>
              <a:off x="4876800" y="2230787"/>
              <a:ext cx="2438400" cy="1905097"/>
              <a:chOff x="2112" y="1872"/>
              <a:chExt cx="1536" cy="1240"/>
            </a:xfrm>
          </p:grpSpPr>
          <p:sp>
            <p:nvSpPr>
              <p:cNvPr id="48159" name="Text Box 7">
                <a:extLst>
                  <a:ext uri="{FF2B5EF4-FFF2-40B4-BE49-F238E27FC236}">
                    <a16:creationId xmlns:a16="http://schemas.microsoft.com/office/drawing/2014/main" id="{12C25E86-A22D-FFE8-7E44-D09D7243D511}"/>
                  </a:ext>
                </a:extLst>
              </p:cNvPr>
              <p:cNvSpPr txBox="1">
                <a:spLocks noChangeArrowheads="1"/>
              </p:cNvSpPr>
              <p:nvPr/>
            </p:nvSpPr>
            <p:spPr bwMode="auto">
              <a:xfrm>
                <a:off x="2160" y="2112"/>
                <a:ext cx="1440" cy="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Time-key (FK)</a:t>
                </a:r>
              </a:p>
              <a:p>
                <a:pPr eaLnBrk="1" hangingPunct="1">
                  <a:lnSpc>
                    <a:spcPct val="50000"/>
                  </a:lnSpc>
                  <a:spcBef>
                    <a:spcPct val="50000"/>
                  </a:spcBef>
                </a:pPr>
                <a:r>
                  <a:rPr lang="en-US" altLang="en-US" sz="1600">
                    <a:latin typeface="Times New Roman" panose="02020603050405020304" pitchFamily="18" charset="0"/>
                  </a:rPr>
                  <a:t>Product-key (FK)</a:t>
                </a:r>
              </a:p>
              <a:p>
                <a:pPr eaLnBrk="1" hangingPunct="1">
                  <a:lnSpc>
                    <a:spcPct val="50000"/>
                  </a:lnSpc>
                  <a:spcBef>
                    <a:spcPct val="50000"/>
                  </a:spcBef>
                </a:pPr>
                <a:r>
                  <a:rPr lang="en-US" altLang="en-US" sz="1600">
                    <a:latin typeface="Times New Roman" panose="02020603050405020304" pitchFamily="18" charset="0"/>
                  </a:rPr>
                  <a:t>Store-key (FK)</a:t>
                </a:r>
              </a:p>
              <a:p>
                <a:pPr eaLnBrk="1" hangingPunct="1">
                  <a:lnSpc>
                    <a:spcPct val="50000"/>
                  </a:lnSpc>
                  <a:spcBef>
                    <a:spcPct val="50000"/>
                  </a:spcBef>
                </a:pPr>
                <a:r>
                  <a:rPr lang="en-US" altLang="en-US" sz="1600">
                    <a:latin typeface="Times New Roman" panose="02020603050405020304" pitchFamily="18" charset="0"/>
                  </a:rPr>
                  <a:t>dollars-sold</a:t>
                </a:r>
              </a:p>
              <a:p>
                <a:pPr eaLnBrk="1" hangingPunct="1">
                  <a:lnSpc>
                    <a:spcPct val="50000"/>
                  </a:lnSpc>
                  <a:spcBef>
                    <a:spcPct val="50000"/>
                  </a:spcBef>
                </a:pPr>
                <a:r>
                  <a:rPr lang="en-US" altLang="en-US" sz="1600">
                    <a:latin typeface="Times New Roman" panose="02020603050405020304" pitchFamily="18" charset="0"/>
                  </a:rPr>
                  <a:t>units-sold</a:t>
                </a:r>
              </a:p>
              <a:p>
                <a:pPr eaLnBrk="1" hangingPunct="1">
                  <a:lnSpc>
                    <a:spcPct val="50000"/>
                  </a:lnSpc>
                  <a:spcBef>
                    <a:spcPct val="50000"/>
                  </a:spcBef>
                </a:pPr>
                <a:r>
                  <a:rPr lang="en-US" altLang="en-US" sz="1600">
                    <a:latin typeface="Times New Roman" panose="02020603050405020304" pitchFamily="18" charset="0"/>
                  </a:rPr>
                  <a:t>dollars-cost</a:t>
                </a:r>
              </a:p>
            </p:txBody>
          </p:sp>
          <p:sp>
            <p:nvSpPr>
              <p:cNvPr id="48160" name="Text Box 8">
                <a:extLst>
                  <a:ext uri="{FF2B5EF4-FFF2-40B4-BE49-F238E27FC236}">
                    <a16:creationId xmlns:a16="http://schemas.microsoft.com/office/drawing/2014/main" id="{C27B6358-E0FE-B937-84A4-347D5B2BEFE7}"/>
                  </a:ext>
                </a:extLst>
              </p:cNvPr>
              <p:cNvSpPr txBox="1">
                <a:spLocks noChangeArrowheads="1"/>
              </p:cNvSpPr>
              <p:nvPr/>
            </p:nvSpPr>
            <p:spPr bwMode="auto">
              <a:xfrm>
                <a:off x="2112" y="1872"/>
                <a:ext cx="15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600" b="1">
                    <a:latin typeface="Tahoma" panose="020B0604030504040204" pitchFamily="34" charset="0"/>
                  </a:rPr>
                  <a:t>Sales Fact Table</a:t>
                </a:r>
              </a:p>
            </p:txBody>
          </p:sp>
        </p:grpSp>
        <p:sp>
          <p:nvSpPr>
            <p:cNvPr id="48143" name="Text Box 10">
              <a:extLst>
                <a:ext uri="{FF2B5EF4-FFF2-40B4-BE49-F238E27FC236}">
                  <a16:creationId xmlns:a16="http://schemas.microsoft.com/office/drawing/2014/main" id="{9F52B5FD-682A-28C3-7E4E-CA701295CC89}"/>
                </a:ext>
              </a:extLst>
            </p:cNvPr>
            <p:cNvSpPr txBox="1">
              <a:spLocks noChangeArrowheads="1"/>
            </p:cNvSpPr>
            <p:nvPr/>
          </p:nvSpPr>
          <p:spPr bwMode="auto">
            <a:xfrm>
              <a:off x="2438400" y="2599515"/>
              <a:ext cx="1752600" cy="10693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80000"/>
                </a:lnSpc>
                <a:spcBef>
                  <a:spcPct val="50000"/>
                </a:spcBef>
              </a:pPr>
              <a:r>
                <a:rPr lang="en-US" altLang="en-US" sz="1400">
                  <a:latin typeface="Times New Roman" panose="02020603050405020304" pitchFamily="18" charset="0"/>
                </a:rPr>
                <a:t>Time-key (PK)</a:t>
              </a:r>
            </a:p>
            <a:p>
              <a:pPr eaLnBrk="1" hangingPunct="1">
                <a:lnSpc>
                  <a:spcPct val="80000"/>
                </a:lnSpc>
                <a:spcBef>
                  <a:spcPct val="50000"/>
                </a:spcBef>
              </a:pPr>
              <a:r>
                <a:rPr lang="en-US" altLang="en-US" sz="1400">
                  <a:latin typeface="Times New Roman" panose="02020603050405020304" pitchFamily="18" charset="0"/>
                </a:rPr>
                <a:t>Day-of-week</a:t>
              </a:r>
            </a:p>
            <a:p>
              <a:pPr eaLnBrk="1" hangingPunct="1">
                <a:lnSpc>
                  <a:spcPct val="80000"/>
                </a:lnSpc>
                <a:spcBef>
                  <a:spcPct val="50000"/>
                </a:spcBef>
              </a:pPr>
              <a:r>
                <a:rPr lang="en-US" altLang="en-US" sz="1400">
                  <a:latin typeface="Times New Roman" panose="02020603050405020304" pitchFamily="18" charset="0"/>
                </a:rPr>
                <a:t>week-number</a:t>
              </a:r>
            </a:p>
            <a:p>
              <a:pPr eaLnBrk="1" hangingPunct="1">
                <a:lnSpc>
                  <a:spcPct val="80000"/>
                </a:lnSpc>
                <a:spcBef>
                  <a:spcPct val="50000"/>
                </a:spcBef>
              </a:pPr>
              <a:r>
                <a:rPr lang="en-US" altLang="en-US" sz="1400">
                  <a:latin typeface="Times New Roman" panose="02020603050405020304" pitchFamily="18" charset="0"/>
                </a:rPr>
                <a:t>Month</a:t>
              </a:r>
              <a:endParaRPr lang="en-US" altLang="en-US">
                <a:latin typeface="Times New Roman" panose="02020603050405020304" pitchFamily="18" charset="0"/>
              </a:endParaRPr>
            </a:p>
          </p:txBody>
        </p:sp>
        <p:sp>
          <p:nvSpPr>
            <p:cNvPr id="48144" name="Text Box 11">
              <a:extLst>
                <a:ext uri="{FF2B5EF4-FFF2-40B4-BE49-F238E27FC236}">
                  <a16:creationId xmlns:a16="http://schemas.microsoft.com/office/drawing/2014/main" id="{73FDB3EC-8A9B-F4CF-E746-E9452037ACDD}"/>
                </a:ext>
              </a:extLst>
            </p:cNvPr>
            <p:cNvSpPr txBox="1">
              <a:spLocks noChangeArrowheads="1"/>
            </p:cNvSpPr>
            <p:nvPr/>
          </p:nvSpPr>
          <p:spPr bwMode="auto">
            <a:xfrm>
              <a:off x="2514600" y="1935804"/>
              <a:ext cx="1752600" cy="56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b="1" dirty="0">
                  <a:latin typeface="Tahoma" panose="020B0604030504040204" pitchFamily="34" charset="0"/>
                </a:rPr>
                <a:t>Time Dimension</a:t>
              </a:r>
            </a:p>
          </p:txBody>
        </p:sp>
        <p:sp>
          <p:nvSpPr>
            <p:cNvPr id="48145" name="Text Box 12">
              <a:extLst>
                <a:ext uri="{FF2B5EF4-FFF2-40B4-BE49-F238E27FC236}">
                  <a16:creationId xmlns:a16="http://schemas.microsoft.com/office/drawing/2014/main" id="{1E163432-26F3-8C42-1EE8-C1984AF45BB4}"/>
                </a:ext>
              </a:extLst>
            </p:cNvPr>
            <p:cNvSpPr txBox="1">
              <a:spLocks noChangeArrowheads="1"/>
            </p:cNvSpPr>
            <p:nvPr/>
          </p:nvSpPr>
          <p:spPr bwMode="auto">
            <a:xfrm>
              <a:off x="7848600" y="3115735"/>
              <a:ext cx="1981200" cy="1239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70000"/>
                </a:lnSpc>
                <a:spcBef>
                  <a:spcPct val="50000"/>
                </a:spcBef>
              </a:pPr>
              <a:r>
                <a:rPr lang="en-US" altLang="en-US" sz="1400">
                  <a:latin typeface="Times New Roman" panose="02020603050405020304" pitchFamily="18" charset="0"/>
                </a:rPr>
                <a:t>Product-key (PK)</a:t>
              </a:r>
            </a:p>
            <a:p>
              <a:pPr eaLnBrk="1" hangingPunct="1">
                <a:lnSpc>
                  <a:spcPct val="70000"/>
                </a:lnSpc>
                <a:spcBef>
                  <a:spcPct val="50000"/>
                </a:spcBef>
              </a:pPr>
              <a:r>
                <a:rPr lang="en-US" altLang="en-US" sz="1400">
                  <a:latin typeface="Times New Roman" panose="02020603050405020304" pitchFamily="18" charset="0"/>
                </a:rPr>
                <a:t>SKU</a:t>
              </a:r>
            </a:p>
            <a:p>
              <a:pPr eaLnBrk="1" hangingPunct="1">
                <a:lnSpc>
                  <a:spcPct val="70000"/>
                </a:lnSpc>
                <a:spcBef>
                  <a:spcPct val="50000"/>
                </a:spcBef>
              </a:pPr>
              <a:r>
                <a:rPr lang="en-US" altLang="en-US" sz="1400">
                  <a:latin typeface="Times New Roman" panose="02020603050405020304" pitchFamily="18" charset="0"/>
                </a:rPr>
                <a:t>description</a:t>
              </a:r>
            </a:p>
            <a:p>
              <a:pPr eaLnBrk="1" hangingPunct="1">
                <a:lnSpc>
                  <a:spcPct val="70000"/>
                </a:lnSpc>
                <a:spcBef>
                  <a:spcPct val="50000"/>
                </a:spcBef>
              </a:pPr>
              <a:r>
                <a:rPr lang="en-US" altLang="en-US" sz="1400">
                  <a:latin typeface="Times New Roman" panose="02020603050405020304" pitchFamily="18" charset="0"/>
                </a:rPr>
                <a:t>brand</a:t>
              </a:r>
            </a:p>
            <a:p>
              <a:pPr eaLnBrk="1" hangingPunct="1">
                <a:lnSpc>
                  <a:spcPct val="70000"/>
                </a:lnSpc>
                <a:spcBef>
                  <a:spcPct val="50000"/>
                </a:spcBef>
              </a:pPr>
              <a:r>
                <a:rPr lang="en-US" altLang="en-US" sz="1400">
                  <a:latin typeface="Times New Roman" panose="02020603050405020304" pitchFamily="18" charset="0"/>
                </a:rPr>
                <a:t>category</a:t>
              </a:r>
            </a:p>
          </p:txBody>
        </p:sp>
        <p:sp>
          <p:nvSpPr>
            <p:cNvPr id="48146" name="Text Box 13">
              <a:extLst>
                <a:ext uri="{FF2B5EF4-FFF2-40B4-BE49-F238E27FC236}">
                  <a16:creationId xmlns:a16="http://schemas.microsoft.com/office/drawing/2014/main" id="{00F70BAB-7D8C-42DD-7758-0B686558685D}"/>
                </a:ext>
              </a:extLst>
            </p:cNvPr>
            <p:cNvSpPr txBox="1">
              <a:spLocks noChangeArrowheads="1"/>
            </p:cNvSpPr>
            <p:nvPr/>
          </p:nvSpPr>
          <p:spPr bwMode="auto">
            <a:xfrm>
              <a:off x="7772400" y="2673261"/>
              <a:ext cx="2133600" cy="327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b="1">
                  <a:latin typeface="Tahoma" panose="020B0604030504040204" pitchFamily="34" charset="0"/>
                </a:rPr>
                <a:t>Product Dim</a:t>
              </a:r>
            </a:p>
          </p:txBody>
        </p:sp>
        <p:sp>
          <p:nvSpPr>
            <p:cNvPr id="48147" name="Text Box 14">
              <a:extLst>
                <a:ext uri="{FF2B5EF4-FFF2-40B4-BE49-F238E27FC236}">
                  <a16:creationId xmlns:a16="http://schemas.microsoft.com/office/drawing/2014/main" id="{CC1CAF17-5BD1-675A-CE32-8F2D6268F159}"/>
                </a:ext>
              </a:extLst>
            </p:cNvPr>
            <p:cNvSpPr txBox="1">
              <a:spLocks noChangeArrowheads="1"/>
            </p:cNvSpPr>
            <p:nvPr/>
          </p:nvSpPr>
          <p:spPr bwMode="auto">
            <a:xfrm>
              <a:off x="4779963" y="5065387"/>
              <a:ext cx="2438400" cy="91260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60000"/>
                </a:lnSpc>
                <a:spcBef>
                  <a:spcPct val="50000"/>
                </a:spcBef>
              </a:pPr>
              <a:r>
                <a:rPr lang="en-US" altLang="en-US" sz="1400">
                  <a:latin typeface="Times New Roman" panose="02020603050405020304" pitchFamily="18" charset="0"/>
                </a:rPr>
                <a:t>Store-key (PK)</a:t>
              </a:r>
            </a:p>
            <a:p>
              <a:pPr eaLnBrk="1" hangingPunct="1">
                <a:lnSpc>
                  <a:spcPct val="60000"/>
                </a:lnSpc>
                <a:spcBef>
                  <a:spcPct val="50000"/>
                </a:spcBef>
              </a:pPr>
              <a:r>
                <a:rPr lang="en-US" altLang="en-US" sz="1400">
                  <a:latin typeface="Times New Roman" panose="02020603050405020304" pitchFamily="18" charset="0"/>
                </a:rPr>
                <a:t>store-ID</a:t>
              </a:r>
            </a:p>
            <a:p>
              <a:pPr eaLnBrk="1" hangingPunct="1">
                <a:lnSpc>
                  <a:spcPct val="60000"/>
                </a:lnSpc>
                <a:spcBef>
                  <a:spcPct val="50000"/>
                </a:spcBef>
              </a:pPr>
              <a:r>
                <a:rPr lang="en-US" altLang="en-US" sz="1400">
                  <a:latin typeface="Times New Roman" panose="02020603050405020304" pitchFamily="18" charset="0"/>
                </a:rPr>
                <a:t>store-name</a:t>
              </a:r>
            </a:p>
            <a:p>
              <a:pPr eaLnBrk="1" hangingPunct="1">
                <a:lnSpc>
                  <a:spcPct val="60000"/>
                </a:lnSpc>
                <a:spcBef>
                  <a:spcPct val="50000"/>
                </a:spcBef>
              </a:pPr>
              <a:r>
                <a:rPr lang="en-US" altLang="en-US" sz="1400">
                  <a:latin typeface="Times New Roman" panose="02020603050405020304" pitchFamily="18" charset="0"/>
                </a:rPr>
                <a:t>address</a:t>
              </a:r>
            </a:p>
          </p:txBody>
        </p:sp>
        <p:sp>
          <p:nvSpPr>
            <p:cNvPr id="48148" name="Text Box 15">
              <a:extLst>
                <a:ext uri="{FF2B5EF4-FFF2-40B4-BE49-F238E27FC236}">
                  <a16:creationId xmlns:a16="http://schemas.microsoft.com/office/drawing/2014/main" id="{5A312B87-EDF1-C207-E473-F5AC6EF3FE69}"/>
                </a:ext>
              </a:extLst>
            </p:cNvPr>
            <p:cNvSpPr txBox="1">
              <a:spLocks noChangeArrowheads="1"/>
            </p:cNvSpPr>
            <p:nvPr/>
          </p:nvSpPr>
          <p:spPr bwMode="auto">
            <a:xfrm>
              <a:off x="3009900" y="4590649"/>
              <a:ext cx="3352800" cy="327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b="1" dirty="0">
                  <a:latin typeface="Tahoma" panose="020B0604030504040204" pitchFamily="34" charset="0"/>
                </a:rPr>
                <a:t>Store Dimension</a:t>
              </a:r>
            </a:p>
          </p:txBody>
        </p:sp>
        <p:sp>
          <p:nvSpPr>
            <p:cNvPr id="48149" name="Line 16">
              <a:extLst>
                <a:ext uri="{FF2B5EF4-FFF2-40B4-BE49-F238E27FC236}">
                  <a16:creationId xmlns:a16="http://schemas.microsoft.com/office/drawing/2014/main" id="{B6D857B9-CAFA-5C58-3E0F-088B03AD67BE}"/>
                </a:ext>
              </a:extLst>
            </p:cNvPr>
            <p:cNvSpPr>
              <a:spLocks noChangeShapeType="1"/>
            </p:cNvSpPr>
            <p:nvPr/>
          </p:nvSpPr>
          <p:spPr bwMode="auto">
            <a:xfrm>
              <a:off x="4191000" y="3410718"/>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48150" name="Line 17">
              <a:extLst>
                <a:ext uri="{FF2B5EF4-FFF2-40B4-BE49-F238E27FC236}">
                  <a16:creationId xmlns:a16="http://schemas.microsoft.com/office/drawing/2014/main" id="{49A7E47D-029A-099F-DE2A-A606C8E28CDB}"/>
                </a:ext>
              </a:extLst>
            </p:cNvPr>
            <p:cNvSpPr>
              <a:spLocks noChangeShapeType="1"/>
            </p:cNvSpPr>
            <p:nvPr/>
          </p:nvSpPr>
          <p:spPr bwMode="auto">
            <a:xfrm flipV="1">
              <a:off x="5410200" y="4135884"/>
              <a:ext cx="0" cy="88494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48151" name="Line 18">
              <a:extLst>
                <a:ext uri="{FF2B5EF4-FFF2-40B4-BE49-F238E27FC236}">
                  <a16:creationId xmlns:a16="http://schemas.microsoft.com/office/drawing/2014/main" id="{3AE44BB2-AA3D-E301-120E-CE367228C9FB}"/>
                </a:ext>
              </a:extLst>
            </p:cNvPr>
            <p:cNvSpPr>
              <a:spLocks noChangeShapeType="1"/>
            </p:cNvSpPr>
            <p:nvPr/>
          </p:nvSpPr>
          <p:spPr bwMode="auto">
            <a:xfrm>
              <a:off x="7239000" y="3779446"/>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grpSp>
          <p:nvGrpSpPr>
            <p:cNvPr id="48152" name="Group 23">
              <a:extLst>
                <a:ext uri="{FF2B5EF4-FFF2-40B4-BE49-F238E27FC236}">
                  <a16:creationId xmlns:a16="http://schemas.microsoft.com/office/drawing/2014/main" id="{1C20D1EA-4232-F62B-9145-AB7B4FF26CD0}"/>
                </a:ext>
              </a:extLst>
            </p:cNvPr>
            <p:cNvGrpSpPr>
              <a:grpSpLocks/>
            </p:cNvGrpSpPr>
            <p:nvPr/>
          </p:nvGrpSpPr>
          <p:grpSpPr bwMode="auto">
            <a:xfrm>
              <a:off x="4648200" y="3115735"/>
              <a:ext cx="304800" cy="589966"/>
              <a:chOff x="2016" y="1968"/>
              <a:chExt cx="192" cy="384"/>
            </a:xfrm>
          </p:grpSpPr>
          <p:sp>
            <p:nvSpPr>
              <p:cNvPr id="48157" name="Line 21">
                <a:extLst>
                  <a:ext uri="{FF2B5EF4-FFF2-40B4-BE49-F238E27FC236}">
                    <a16:creationId xmlns:a16="http://schemas.microsoft.com/office/drawing/2014/main" id="{0443D89C-98BD-C38B-912A-56188AFC39DA}"/>
                  </a:ext>
                </a:extLst>
              </p:cNvPr>
              <p:cNvSpPr>
                <a:spLocks noChangeShapeType="1"/>
              </p:cNvSpPr>
              <p:nvPr/>
            </p:nvSpPr>
            <p:spPr bwMode="auto">
              <a:xfrm flipV="1">
                <a:off x="2016" y="196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48158" name="Line 22">
                <a:extLst>
                  <a:ext uri="{FF2B5EF4-FFF2-40B4-BE49-F238E27FC236}">
                    <a16:creationId xmlns:a16="http://schemas.microsoft.com/office/drawing/2014/main" id="{9920C11C-6412-1888-B274-242CFA952660}"/>
                  </a:ext>
                </a:extLst>
              </p:cNvPr>
              <p:cNvSpPr>
                <a:spLocks noChangeShapeType="1"/>
              </p:cNvSpPr>
              <p:nvPr/>
            </p:nvSpPr>
            <p:spPr bwMode="auto">
              <a:xfrm>
                <a:off x="2016" y="216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grpSp>
        <p:sp>
          <p:nvSpPr>
            <p:cNvPr id="48153" name="Line 24">
              <a:extLst>
                <a:ext uri="{FF2B5EF4-FFF2-40B4-BE49-F238E27FC236}">
                  <a16:creationId xmlns:a16="http://schemas.microsoft.com/office/drawing/2014/main" id="{C81077CD-D867-7E95-115F-41E8701E2010}"/>
                </a:ext>
              </a:extLst>
            </p:cNvPr>
            <p:cNvSpPr>
              <a:spLocks noChangeShapeType="1"/>
            </p:cNvSpPr>
            <p:nvPr/>
          </p:nvSpPr>
          <p:spPr bwMode="auto">
            <a:xfrm flipH="1" flipV="1">
              <a:off x="5029200" y="4120520"/>
              <a:ext cx="381000" cy="221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48154" name="Line 25">
              <a:extLst>
                <a:ext uri="{FF2B5EF4-FFF2-40B4-BE49-F238E27FC236}">
                  <a16:creationId xmlns:a16="http://schemas.microsoft.com/office/drawing/2014/main" id="{8B901F85-0017-19CC-B0D0-12008B9EBEC9}"/>
                </a:ext>
              </a:extLst>
            </p:cNvPr>
            <p:cNvSpPr>
              <a:spLocks noChangeShapeType="1"/>
            </p:cNvSpPr>
            <p:nvPr/>
          </p:nvSpPr>
          <p:spPr bwMode="auto">
            <a:xfrm flipV="1">
              <a:off x="5410200" y="4148175"/>
              <a:ext cx="304800" cy="147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48155" name="Line 26">
              <a:extLst>
                <a:ext uri="{FF2B5EF4-FFF2-40B4-BE49-F238E27FC236}">
                  <a16:creationId xmlns:a16="http://schemas.microsoft.com/office/drawing/2014/main" id="{B9847A90-2BF0-6C33-9E41-7F17BDF2804D}"/>
                </a:ext>
              </a:extLst>
            </p:cNvPr>
            <p:cNvSpPr>
              <a:spLocks noChangeShapeType="1"/>
            </p:cNvSpPr>
            <p:nvPr/>
          </p:nvSpPr>
          <p:spPr bwMode="auto">
            <a:xfrm flipH="1" flipV="1">
              <a:off x="7239000" y="3429154"/>
              <a:ext cx="228600" cy="3502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48156" name="Line 27">
              <a:extLst>
                <a:ext uri="{FF2B5EF4-FFF2-40B4-BE49-F238E27FC236}">
                  <a16:creationId xmlns:a16="http://schemas.microsoft.com/office/drawing/2014/main" id="{0676DF08-7878-90E5-7352-A5BCB8EE8414}"/>
                </a:ext>
              </a:extLst>
            </p:cNvPr>
            <p:cNvSpPr>
              <a:spLocks noChangeShapeType="1"/>
            </p:cNvSpPr>
            <p:nvPr/>
          </p:nvSpPr>
          <p:spPr bwMode="auto">
            <a:xfrm flipH="1">
              <a:off x="7239000" y="3779446"/>
              <a:ext cx="228600" cy="2949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grpSp>
      <p:cxnSp>
        <p:nvCxnSpPr>
          <p:cNvPr id="3" name="Straight Connector 2">
            <a:extLst>
              <a:ext uri="{FF2B5EF4-FFF2-40B4-BE49-F238E27FC236}">
                <a16:creationId xmlns:a16="http://schemas.microsoft.com/office/drawing/2014/main" id="{F9582065-2C5E-B4A5-0F91-3FE9CDE872FE}"/>
              </a:ext>
            </a:extLst>
          </p:cNvPr>
          <p:cNvCxnSpPr>
            <a:cxnSpLocks/>
          </p:cNvCxnSpPr>
          <p:nvPr/>
        </p:nvCxnSpPr>
        <p:spPr>
          <a:xfrm>
            <a:off x="8118476" y="4459534"/>
            <a:ext cx="0" cy="1143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8133" name="Group 1">
            <a:extLst>
              <a:ext uri="{FF2B5EF4-FFF2-40B4-BE49-F238E27FC236}">
                <a16:creationId xmlns:a16="http://schemas.microsoft.com/office/drawing/2014/main" id="{9BC15814-0676-23E8-F177-3F76F0F37A26}"/>
              </a:ext>
            </a:extLst>
          </p:cNvPr>
          <p:cNvGrpSpPr>
            <a:grpSpLocks/>
          </p:cNvGrpSpPr>
          <p:nvPr/>
        </p:nvGrpSpPr>
        <p:grpSpPr bwMode="auto">
          <a:xfrm>
            <a:off x="7597303" y="4879750"/>
            <a:ext cx="1717675" cy="1295400"/>
            <a:chOff x="6324600" y="1143000"/>
            <a:chExt cx="1718187" cy="1295400"/>
          </a:xfrm>
        </p:grpSpPr>
        <p:cxnSp>
          <p:nvCxnSpPr>
            <p:cNvPr id="6" name="Straight Connector 5">
              <a:extLst>
                <a:ext uri="{FF2B5EF4-FFF2-40B4-BE49-F238E27FC236}">
                  <a16:creationId xmlns:a16="http://schemas.microsoft.com/office/drawing/2014/main" id="{FAED3AB6-01E3-0F64-489F-871E4E15EF44}"/>
                </a:ext>
              </a:extLst>
            </p:cNvPr>
            <p:cNvCxnSpPr/>
            <p:nvPr/>
          </p:nvCxnSpPr>
          <p:spPr>
            <a:xfrm>
              <a:off x="6823224" y="1828800"/>
              <a:ext cx="12195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CF3A3C-3403-6358-31D0-0373ED03DDDE}"/>
                </a:ext>
              </a:extLst>
            </p:cNvPr>
            <p:cNvCxnSpPr/>
            <p:nvPr/>
          </p:nvCxnSpPr>
          <p:spPr>
            <a:xfrm flipH="1">
              <a:off x="6324600" y="1828800"/>
              <a:ext cx="533559" cy="609600"/>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0D14D96-C671-E1BF-B2B3-AB8EB2CD890A}"/>
                </a:ext>
              </a:extLst>
            </p:cNvPr>
            <p:cNvSpPr/>
            <p:nvPr/>
          </p:nvSpPr>
          <p:spPr>
            <a:xfrm>
              <a:off x="7163050" y="1143000"/>
              <a:ext cx="228668"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 name="Date Placeholder 1">
            <a:extLst>
              <a:ext uri="{FF2B5EF4-FFF2-40B4-BE49-F238E27FC236}">
                <a16:creationId xmlns:a16="http://schemas.microsoft.com/office/drawing/2014/main" id="{34F0B739-D704-AB06-5710-37CACC9D309D}"/>
              </a:ext>
            </a:extLst>
          </p:cNvPr>
          <p:cNvSpPr>
            <a:spLocks noGrp="1"/>
          </p:cNvSpPr>
          <p:nvPr>
            <p:ph type="dt" sz="quarter" idx="10"/>
          </p:nvPr>
        </p:nvSpPr>
        <p:spPr/>
        <p:txBody>
          <a:bodyPr/>
          <a:lstStyle/>
          <a:p>
            <a:pPr>
              <a:defRPr/>
            </a:pPr>
            <a:fld id="{1713CC02-10A1-435E-9B96-2B749CBFDD66}" type="datetime1">
              <a:rPr lang="en-US" smtClean="0"/>
              <a:t>9/30/2025</a:t>
            </a:fld>
            <a:endParaRPr lang="en-US"/>
          </a:p>
        </p:txBody>
      </p:sp>
      <p:sp>
        <p:nvSpPr>
          <p:cNvPr id="4" name="Footer Placeholder 3">
            <a:extLst>
              <a:ext uri="{FF2B5EF4-FFF2-40B4-BE49-F238E27FC236}">
                <a16:creationId xmlns:a16="http://schemas.microsoft.com/office/drawing/2014/main" id="{9D2A0DB1-0895-8408-AD2A-325784DD7A24}"/>
              </a:ext>
            </a:extLst>
          </p:cNvPr>
          <p:cNvSpPr>
            <a:spLocks noGrp="1"/>
          </p:cNvSpPr>
          <p:nvPr>
            <p:ph type="ftr" sz="quarter" idx="11"/>
          </p:nvPr>
        </p:nvSpPr>
        <p:spPr/>
        <p:txBody>
          <a:bodyPr/>
          <a:lstStyle/>
          <a:p>
            <a:pPr>
              <a:defRPr/>
            </a:pPr>
            <a:r>
              <a:rPr lang="en-US"/>
              <a:t>Copyrighted by Arun Sen</a:t>
            </a:r>
          </a:p>
        </p:txBody>
      </p:sp>
      <p:sp>
        <p:nvSpPr>
          <p:cNvPr id="5" name="Slide Number Placeholder 4">
            <a:extLst>
              <a:ext uri="{FF2B5EF4-FFF2-40B4-BE49-F238E27FC236}">
                <a16:creationId xmlns:a16="http://schemas.microsoft.com/office/drawing/2014/main" id="{2F97B484-9E27-2AC0-B41F-C7B4F372D5C6}"/>
              </a:ext>
            </a:extLst>
          </p:cNvPr>
          <p:cNvSpPr>
            <a:spLocks noGrp="1"/>
          </p:cNvSpPr>
          <p:nvPr>
            <p:ph type="sldNum" sz="quarter" idx="12"/>
          </p:nvPr>
        </p:nvSpPr>
        <p:spPr/>
        <p:txBody>
          <a:bodyPr/>
          <a:lstStyle/>
          <a:p>
            <a:pPr>
              <a:defRPr/>
            </a:pPr>
            <a:fld id="{106B4C27-C9C1-4BCF-B186-982BA1F29906}" type="slidenum">
              <a:rPr lang="en-US" altLang="en-US" smtClean="0"/>
              <a:pPr>
                <a:defRPr/>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AEC38B8-386A-DA42-F50B-E5AE557F2B03}"/>
              </a:ext>
            </a:extLst>
          </p:cNvPr>
          <p:cNvSpPr>
            <a:spLocks noChangeArrowheads="1"/>
          </p:cNvSpPr>
          <p:nvPr/>
        </p:nvSpPr>
        <p:spPr bwMode="auto">
          <a:xfrm>
            <a:off x="2438400" y="304800"/>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50179" name="Text Box 3">
            <a:extLst>
              <a:ext uri="{FF2B5EF4-FFF2-40B4-BE49-F238E27FC236}">
                <a16:creationId xmlns:a16="http://schemas.microsoft.com/office/drawing/2014/main" id="{A057BDAF-3A38-A836-3D43-D79780434AE9}"/>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50180" name="Text Box 4">
            <a:extLst>
              <a:ext uri="{FF2B5EF4-FFF2-40B4-BE49-F238E27FC236}">
                <a16:creationId xmlns:a16="http://schemas.microsoft.com/office/drawing/2014/main" id="{39276B89-FF58-960D-90EE-F36338AFD013}"/>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50181" name="Text Box 5">
            <a:extLst>
              <a:ext uri="{FF2B5EF4-FFF2-40B4-BE49-F238E27FC236}">
                <a16:creationId xmlns:a16="http://schemas.microsoft.com/office/drawing/2014/main" id="{74E8F4B4-E218-ED04-43AE-D47DB26CA3A5}"/>
              </a:ext>
            </a:extLst>
          </p:cNvPr>
          <p:cNvSpPr txBox="1">
            <a:spLocks noChangeArrowheads="1"/>
          </p:cNvSpPr>
          <p:nvPr/>
        </p:nvSpPr>
        <p:spPr bwMode="auto">
          <a:xfrm>
            <a:off x="2743200" y="1752600"/>
            <a:ext cx="7010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3.   Components of Dimensional Model</a:t>
            </a:r>
            <a:endParaRPr lang="en-US" altLang="en-US" sz="2400">
              <a:latin typeface="Times New Roman" panose="02020603050405020304" pitchFamily="18" charset="0"/>
            </a:endParaRPr>
          </a:p>
          <a:p>
            <a:pPr lvl="1" eaLnBrk="1" hangingPunct="1">
              <a:spcBef>
                <a:spcPct val="50000"/>
              </a:spcBef>
              <a:buFontTx/>
              <a:buChar char="•"/>
            </a:pPr>
            <a:r>
              <a:rPr lang="en-US" altLang="en-US" sz="2400">
                <a:latin typeface="Times New Roman" panose="02020603050405020304" pitchFamily="18" charset="0"/>
              </a:rPr>
              <a:t>  It consists of two types of tables --</a:t>
            </a:r>
          </a:p>
          <a:p>
            <a:pPr lvl="2" eaLnBrk="1" hangingPunct="1">
              <a:spcBef>
                <a:spcPct val="50000"/>
              </a:spcBef>
              <a:buFontTx/>
              <a:buChar char="•"/>
            </a:pPr>
            <a:r>
              <a:rPr lang="en-US" altLang="en-US" sz="2400">
                <a:latin typeface="Times New Roman" panose="02020603050405020304" pitchFamily="18" charset="0"/>
              </a:rPr>
              <a:t>  Fact table with attributes</a:t>
            </a:r>
          </a:p>
          <a:p>
            <a:pPr lvl="2" eaLnBrk="1" hangingPunct="1">
              <a:spcBef>
                <a:spcPct val="50000"/>
              </a:spcBef>
              <a:buFontTx/>
              <a:buChar char="•"/>
            </a:pPr>
            <a:r>
              <a:rPr lang="en-US" altLang="en-US" sz="2400">
                <a:latin typeface="Times New Roman" panose="02020603050405020304" pitchFamily="18" charset="0"/>
              </a:rPr>
              <a:t>  Dimension table with attributes</a:t>
            </a:r>
          </a:p>
        </p:txBody>
      </p:sp>
      <p:sp>
        <p:nvSpPr>
          <p:cNvPr id="2" name="Date Placeholder 1">
            <a:extLst>
              <a:ext uri="{FF2B5EF4-FFF2-40B4-BE49-F238E27FC236}">
                <a16:creationId xmlns:a16="http://schemas.microsoft.com/office/drawing/2014/main" id="{7A0F7476-4273-AC36-ADC3-0B7518C37021}"/>
              </a:ext>
            </a:extLst>
          </p:cNvPr>
          <p:cNvSpPr>
            <a:spLocks noGrp="1"/>
          </p:cNvSpPr>
          <p:nvPr>
            <p:ph type="dt" sz="quarter" idx="10"/>
          </p:nvPr>
        </p:nvSpPr>
        <p:spPr/>
        <p:txBody>
          <a:bodyPr/>
          <a:lstStyle/>
          <a:p>
            <a:pPr>
              <a:defRPr/>
            </a:pPr>
            <a:fld id="{B9FB7FE2-BDEA-49DF-A81B-AEB9E7F35E30}" type="datetime1">
              <a:rPr lang="en-US" smtClean="0"/>
              <a:t>9/30/2025</a:t>
            </a:fld>
            <a:endParaRPr lang="en-US"/>
          </a:p>
        </p:txBody>
      </p:sp>
      <p:sp>
        <p:nvSpPr>
          <p:cNvPr id="3" name="Footer Placeholder 2">
            <a:extLst>
              <a:ext uri="{FF2B5EF4-FFF2-40B4-BE49-F238E27FC236}">
                <a16:creationId xmlns:a16="http://schemas.microsoft.com/office/drawing/2014/main" id="{250082E1-78AF-4CFC-349B-2F5524252B19}"/>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A90D17BB-A7D4-2EFF-A372-6E18A8AE75BE}"/>
              </a:ext>
            </a:extLst>
          </p:cNvPr>
          <p:cNvSpPr>
            <a:spLocks noGrp="1"/>
          </p:cNvSpPr>
          <p:nvPr>
            <p:ph type="sldNum" sz="quarter" idx="12"/>
          </p:nvPr>
        </p:nvSpPr>
        <p:spPr/>
        <p:txBody>
          <a:bodyPr/>
          <a:lstStyle/>
          <a:p>
            <a:pPr>
              <a:defRPr/>
            </a:pPr>
            <a:fld id="{69FD17F3-3479-45C0-A85A-23C0778AD56D}" type="slidenum">
              <a:rPr lang="en-US" altLang="en-US" smtClean="0"/>
              <a:pPr>
                <a:defRPr/>
              </a:pPr>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6791C87-DB06-B13F-D8C6-9CE207E27FA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52227" name="Text Box 3">
            <a:extLst>
              <a:ext uri="{FF2B5EF4-FFF2-40B4-BE49-F238E27FC236}">
                <a16:creationId xmlns:a16="http://schemas.microsoft.com/office/drawing/2014/main" id="{00B0EDD9-A627-9CF0-4020-309C365995CB}"/>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52228" name="Text Box 4">
            <a:extLst>
              <a:ext uri="{FF2B5EF4-FFF2-40B4-BE49-F238E27FC236}">
                <a16:creationId xmlns:a16="http://schemas.microsoft.com/office/drawing/2014/main" id="{FC045217-70EE-F2C7-2728-102A1312D716}"/>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52229" name="Text Box 5">
            <a:extLst>
              <a:ext uri="{FF2B5EF4-FFF2-40B4-BE49-F238E27FC236}">
                <a16:creationId xmlns:a16="http://schemas.microsoft.com/office/drawing/2014/main" id="{F57DE0ED-DE0D-AB7D-FAFC-E21DEE784EF5}"/>
              </a:ext>
            </a:extLst>
          </p:cNvPr>
          <p:cNvSpPr txBox="1">
            <a:spLocks noChangeArrowheads="1"/>
          </p:cNvSpPr>
          <p:nvPr/>
        </p:nvSpPr>
        <p:spPr bwMode="auto">
          <a:xfrm>
            <a:off x="2819400" y="1676400"/>
            <a:ext cx="7010400"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4.   What is a Fact Table?</a:t>
            </a:r>
            <a:endParaRPr lang="en-US" altLang="en-US" sz="2400">
              <a:latin typeface="Times New Roman" panose="02020603050405020304" pitchFamily="18" charset="0"/>
            </a:endParaRPr>
          </a:p>
          <a:p>
            <a:pPr lvl="1" eaLnBrk="1" hangingPunct="1">
              <a:spcBef>
                <a:spcPct val="50000"/>
              </a:spcBef>
              <a:buFontTx/>
              <a:buChar char="•"/>
            </a:pPr>
            <a:r>
              <a:rPr lang="en-US" altLang="en-US" sz="2400">
                <a:latin typeface="Times New Roman" panose="02020603050405020304" pitchFamily="18" charset="0"/>
              </a:rPr>
              <a:t>  </a:t>
            </a:r>
            <a:r>
              <a:rPr lang="en-US" altLang="en-US" sz="2000">
                <a:latin typeface="Times New Roman" panose="02020603050405020304" pitchFamily="18" charset="0"/>
              </a:rPr>
              <a:t>It contains the observations of the market place</a:t>
            </a:r>
          </a:p>
          <a:p>
            <a:pPr lvl="1" eaLnBrk="1" hangingPunct="1">
              <a:spcBef>
                <a:spcPct val="50000"/>
              </a:spcBef>
              <a:buFontTx/>
              <a:buChar char="•"/>
            </a:pPr>
            <a:r>
              <a:rPr lang="en-US" altLang="en-US" sz="2000">
                <a:latin typeface="Times New Roman" panose="02020603050405020304" pitchFamily="18" charset="0"/>
              </a:rPr>
              <a:t>  Facts should be</a:t>
            </a:r>
          </a:p>
          <a:p>
            <a:pPr lvl="2" eaLnBrk="1" hangingPunct="1">
              <a:spcBef>
                <a:spcPct val="50000"/>
              </a:spcBef>
              <a:buFontTx/>
              <a:buChar char="•"/>
            </a:pPr>
            <a:r>
              <a:rPr lang="en-US" altLang="en-US" sz="2000">
                <a:latin typeface="Times New Roman" panose="02020603050405020304" pitchFamily="18" charset="0"/>
              </a:rPr>
              <a:t>  Additive (e.g., sales data)</a:t>
            </a:r>
          </a:p>
          <a:p>
            <a:pPr lvl="2" eaLnBrk="1" hangingPunct="1">
              <a:spcBef>
                <a:spcPct val="50000"/>
              </a:spcBef>
              <a:buFontTx/>
              <a:buChar char="•"/>
            </a:pPr>
            <a:r>
              <a:rPr lang="en-US" altLang="en-US" sz="2000">
                <a:latin typeface="Times New Roman" panose="02020603050405020304" pitchFamily="18" charset="0"/>
              </a:rPr>
              <a:t>  Non-additive  (some facts could be non-additive such as account balance over time)</a:t>
            </a:r>
          </a:p>
          <a:p>
            <a:pPr lvl="2" eaLnBrk="1" hangingPunct="1">
              <a:spcBef>
                <a:spcPct val="50000"/>
              </a:spcBef>
              <a:buFontTx/>
              <a:buChar char="•"/>
            </a:pPr>
            <a:r>
              <a:rPr lang="en-US" altLang="en-US" sz="2000">
                <a:latin typeface="Times New Roman" panose="02020603050405020304" pitchFamily="18" charset="0"/>
              </a:rPr>
              <a:t>  Semi-additive (some account balance could be additive along other dimensions)</a:t>
            </a:r>
          </a:p>
          <a:p>
            <a:pPr lvl="2" eaLnBrk="1" hangingPunct="1">
              <a:spcBef>
                <a:spcPct val="50000"/>
              </a:spcBef>
              <a:buFontTx/>
              <a:buChar char="•"/>
            </a:pPr>
            <a:r>
              <a:rPr lang="en-US" altLang="en-US" sz="2000">
                <a:latin typeface="Times New Roman" panose="02020603050405020304" pitchFamily="18" charset="0"/>
              </a:rPr>
              <a:t>  Textual (keep them at minimum)</a:t>
            </a:r>
          </a:p>
        </p:txBody>
      </p:sp>
      <p:sp>
        <p:nvSpPr>
          <p:cNvPr id="2" name="Date Placeholder 1">
            <a:extLst>
              <a:ext uri="{FF2B5EF4-FFF2-40B4-BE49-F238E27FC236}">
                <a16:creationId xmlns:a16="http://schemas.microsoft.com/office/drawing/2014/main" id="{18D8A1C6-3F1B-A25A-6A31-5B6528530F1B}"/>
              </a:ext>
            </a:extLst>
          </p:cNvPr>
          <p:cNvSpPr>
            <a:spLocks noGrp="1"/>
          </p:cNvSpPr>
          <p:nvPr>
            <p:ph type="dt" sz="quarter" idx="10"/>
          </p:nvPr>
        </p:nvSpPr>
        <p:spPr/>
        <p:txBody>
          <a:bodyPr/>
          <a:lstStyle/>
          <a:p>
            <a:pPr>
              <a:defRPr/>
            </a:pPr>
            <a:fld id="{25FF012E-5C48-47FB-BD55-7DF6D91151AD}" type="datetime1">
              <a:rPr lang="en-US" smtClean="0"/>
              <a:t>9/30/2025</a:t>
            </a:fld>
            <a:endParaRPr lang="en-US"/>
          </a:p>
        </p:txBody>
      </p:sp>
      <p:sp>
        <p:nvSpPr>
          <p:cNvPr id="3" name="Footer Placeholder 2">
            <a:extLst>
              <a:ext uri="{FF2B5EF4-FFF2-40B4-BE49-F238E27FC236}">
                <a16:creationId xmlns:a16="http://schemas.microsoft.com/office/drawing/2014/main" id="{AFDF3F49-C24D-A259-F74D-F84C3206FBFF}"/>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B5E98A6D-2E99-197D-68CB-CE1DFF601D6F}"/>
              </a:ext>
            </a:extLst>
          </p:cNvPr>
          <p:cNvSpPr>
            <a:spLocks noGrp="1"/>
          </p:cNvSpPr>
          <p:nvPr>
            <p:ph type="sldNum" sz="quarter" idx="12"/>
          </p:nvPr>
        </p:nvSpPr>
        <p:spPr/>
        <p:txBody>
          <a:bodyPr/>
          <a:lstStyle/>
          <a:p>
            <a:pPr>
              <a:defRPr/>
            </a:pPr>
            <a:fld id="{E0CC5A0D-14EE-40C7-A30C-AC8B8B31D6DD}" type="slidenum">
              <a:rPr lang="en-US" altLang="en-US" smtClean="0"/>
              <a:pPr>
                <a:defRPr/>
              </a:pPr>
              <a:t>24</a:t>
            </a:fld>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1438B1F8-0C6C-56F3-A03D-CE0FB99352F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54275" name="Text Box 3">
            <a:extLst>
              <a:ext uri="{FF2B5EF4-FFF2-40B4-BE49-F238E27FC236}">
                <a16:creationId xmlns:a16="http://schemas.microsoft.com/office/drawing/2014/main" id="{30499D55-4F15-3EDF-7B9A-87990BC39B63}"/>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54276" name="Text Box 4">
            <a:extLst>
              <a:ext uri="{FF2B5EF4-FFF2-40B4-BE49-F238E27FC236}">
                <a16:creationId xmlns:a16="http://schemas.microsoft.com/office/drawing/2014/main" id="{654190D2-F719-A2DA-1080-EEE7BFDB3DE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54277" name="Text Box 5">
            <a:extLst>
              <a:ext uri="{FF2B5EF4-FFF2-40B4-BE49-F238E27FC236}">
                <a16:creationId xmlns:a16="http://schemas.microsoft.com/office/drawing/2014/main" id="{B90189FD-9CE4-6550-029F-E4F7B56690E2}"/>
              </a:ext>
            </a:extLst>
          </p:cNvPr>
          <p:cNvSpPr txBox="1">
            <a:spLocks noChangeArrowheads="1"/>
          </p:cNvSpPr>
          <p:nvPr/>
        </p:nvSpPr>
        <p:spPr bwMode="auto">
          <a:xfrm>
            <a:off x="2209800" y="1830134"/>
            <a:ext cx="7010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4.   What is a Fact Table?</a:t>
            </a:r>
            <a:endParaRPr lang="en-US" altLang="en-US" sz="2400" dirty="0">
              <a:latin typeface="Times New Roman" panose="02020603050405020304" pitchFamily="18" charset="0"/>
            </a:endParaRPr>
          </a:p>
          <a:p>
            <a:pPr lvl="1" eaLnBrk="1" hangingPunct="1">
              <a:spcBef>
                <a:spcPct val="50000"/>
              </a:spcBef>
              <a:buFontTx/>
              <a:buChar char="•"/>
            </a:pPr>
            <a:r>
              <a:rPr lang="en-US" altLang="en-US" sz="2400" dirty="0">
                <a:latin typeface="Times New Roman" panose="02020603050405020304" pitchFamily="18" charset="0"/>
              </a:rPr>
              <a:t>  It is usually the m:n relationship of the ERD</a:t>
            </a:r>
          </a:p>
          <a:p>
            <a:pPr lvl="1" eaLnBrk="1" hangingPunct="1">
              <a:spcBef>
                <a:spcPct val="50000"/>
              </a:spcBef>
              <a:buFontTx/>
              <a:buChar char="•"/>
            </a:pPr>
            <a:r>
              <a:rPr lang="en-US" altLang="en-US" sz="2400" dirty="0">
                <a:latin typeface="Times New Roman" panose="02020603050405020304" pitchFamily="18" charset="0"/>
              </a:rPr>
              <a:t>  contains lot of FKs</a:t>
            </a:r>
          </a:p>
          <a:p>
            <a:pPr lvl="1" eaLnBrk="1" hangingPunct="1">
              <a:spcBef>
                <a:spcPct val="50000"/>
              </a:spcBef>
            </a:pPr>
            <a:r>
              <a:rPr lang="en-US" altLang="en-US" sz="2400" dirty="0">
                <a:latin typeface="Times New Roman" panose="02020603050405020304" pitchFamily="18" charset="0"/>
              </a:rPr>
              <a:t>  </a:t>
            </a:r>
          </a:p>
        </p:txBody>
      </p:sp>
      <p:sp>
        <p:nvSpPr>
          <p:cNvPr id="2" name="Date Placeholder 1">
            <a:extLst>
              <a:ext uri="{FF2B5EF4-FFF2-40B4-BE49-F238E27FC236}">
                <a16:creationId xmlns:a16="http://schemas.microsoft.com/office/drawing/2014/main" id="{4F9CEEED-91F9-29AD-D79F-0A09425D72BC}"/>
              </a:ext>
            </a:extLst>
          </p:cNvPr>
          <p:cNvSpPr>
            <a:spLocks noGrp="1"/>
          </p:cNvSpPr>
          <p:nvPr>
            <p:ph type="dt" sz="quarter" idx="10"/>
          </p:nvPr>
        </p:nvSpPr>
        <p:spPr/>
        <p:txBody>
          <a:bodyPr/>
          <a:lstStyle/>
          <a:p>
            <a:pPr>
              <a:defRPr/>
            </a:pPr>
            <a:fld id="{F7A9FE8C-85D0-49A5-AE03-1C89C83FA7CE}" type="datetime1">
              <a:rPr lang="en-US" smtClean="0"/>
              <a:t>9/30/2025</a:t>
            </a:fld>
            <a:endParaRPr lang="en-US"/>
          </a:p>
        </p:txBody>
      </p:sp>
      <p:sp>
        <p:nvSpPr>
          <p:cNvPr id="3" name="Footer Placeholder 2">
            <a:extLst>
              <a:ext uri="{FF2B5EF4-FFF2-40B4-BE49-F238E27FC236}">
                <a16:creationId xmlns:a16="http://schemas.microsoft.com/office/drawing/2014/main" id="{13035721-DF8E-B6AB-2C2F-43EAEF4AAC7A}"/>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46DED936-D9F5-BD7B-9404-60DA86B84659}"/>
              </a:ext>
            </a:extLst>
          </p:cNvPr>
          <p:cNvSpPr>
            <a:spLocks noGrp="1"/>
          </p:cNvSpPr>
          <p:nvPr>
            <p:ph type="sldNum" sz="quarter" idx="12"/>
          </p:nvPr>
        </p:nvSpPr>
        <p:spPr/>
        <p:txBody>
          <a:bodyPr/>
          <a:lstStyle/>
          <a:p>
            <a:pPr>
              <a:defRPr/>
            </a:pPr>
            <a:fld id="{E2C628EE-B3E5-46E2-970A-416AA6BAAE3E}" type="slidenum">
              <a:rPr lang="en-US" altLang="en-US" smtClean="0"/>
              <a:pPr>
                <a:defRPr/>
              </a:pPr>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E83F44B-30A8-EE2B-B5B8-781E8E1E62A0}"/>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56323" name="Text Box 3">
            <a:extLst>
              <a:ext uri="{FF2B5EF4-FFF2-40B4-BE49-F238E27FC236}">
                <a16:creationId xmlns:a16="http://schemas.microsoft.com/office/drawing/2014/main" id="{0BDA39B6-2EE0-44C1-BC9B-9D413C3C370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56324" name="Text Box 4">
            <a:extLst>
              <a:ext uri="{FF2B5EF4-FFF2-40B4-BE49-F238E27FC236}">
                <a16:creationId xmlns:a16="http://schemas.microsoft.com/office/drawing/2014/main" id="{AD1F83B9-FD86-7F40-B558-7D2422CDF2DB}"/>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56325" name="Text Box 5">
            <a:extLst>
              <a:ext uri="{FF2B5EF4-FFF2-40B4-BE49-F238E27FC236}">
                <a16:creationId xmlns:a16="http://schemas.microsoft.com/office/drawing/2014/main" id="{FDEDAD13-CBAB-3ED1-1564-376DECCE3F99}"/>
              </a:ext>
            </a:extLst>
          </p:cNvPr>
          <p:cNvSpPr txBox="1">
            <a:spLocks noChangeArrowheads="1"/>
          </p:cNvSpPr>
          <p:nvPr/>
        </p:nvSpPr>
        <p:spPr bwMode="auto">
          <a:xfrm>
            <a:off x="2133600" y="1761565"/>
            <a:ext cx="8077200"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b="1" dirty="0">
                <a:latin typeface="Times New Roman" panose="02020603050405020304" pitchFamily="18" charset="0"/>
              </a:rPr>
              <a:t> </a:t>
            </a:r>
            <a:r>
              <a:rPr lang="en-US" altLang="en-US" sz="1600" b="1" dirty="0">
                <a:latin typeface="Tahoma" panose="020B0604030504040204" pitchFamily="34" charset="0"/>
              </a:rPr>
              <a:t>4.   What is a Fact Table?</a:t>
            </a:r>
            <a:endParaRPr lang="en-US" altLang="en-US" sz="1600" dirty="0">
              <a:latin typeface="Times New Roman" panose="02020603050405020304" pitchFamily="18" charset="0"/>
            </a:endParaRPr>
          </a:p>
          <a:p>
            <a:pPr lvl="1" eaLnBrk="1" hangingPunct="1">
              <a:spcBef>
                <a:spcPct val="50000"/>
              </a:spcBef>
              <a:buFontTx/>
              <a:buChar char="•"/>
            </a:pPr>
            <a:r>
              <a:rPr lang="en-US" altLang="en-US" sz="1600" dirty="0">
                <a:latin typeface="Times New Roman" panose="02020603050405020304" pitchFamily="18" charset="0"/>
              </a:rPr>
              <a:t>  </a:t>
            </a:r>
            <a:r>
              <a:rPr lang="en-US" altLang="en-US" sz="1600" dirty="0">
                <a:latin typeface="Arial" panose="020B0604020202020204" pitchFamily="34" charset="0"/>
              </a:rPr>
              <a:t>Characteristics of a fact table </a:t>
            </a:r>
          </a:p>
          <a:p>
            <a:pPr lvl="2" eaLnBrk="1" hangingPunct="1">
              <a:spcBef>
                <a:spcPct val="50000"/>
              </a:spcBef>
              <a:buFontTx/>
              <a:buChar char="•"/>
            </a:pPr>
            <a:r>
              <a:rPr lang="en-US" altLang="en-US" sz="1600" dirty="0">
                <a:latin typeface="Arial" panose="020B0604020202020204" pitchFamily="34" charset="0"/>
              </a:rPr>
              <a:t>  it will contain concatenated key</a:t>
            </a:r>
          </a:p>
          <a:p>
            <a:pPr lvl="2" eaLnBrk="1" hangingPunct="1">
              <a:spcBef>
                <a:spcPct val="50000"/>
              </a:spcBef>
              <a:buFontTx/>
              <a:buChar char="•"/>
            </a:pPr>
            <a:r>
              <a:rPr lang="en-US" altLang="en-US" sz="1600" dirty="0">
                <a:latin typeface="Arial" panose="020B0604020202020204" pitchFamily="34" charset="0"/>
              </a:rPr>
              <a:t>  data granularity is important for a fact table.</a:t>
            </a:r>
          </a:p>
          <a:p>
            <a:pPr lvl="2" eaLnBrk="1" hangingPunct="1">
              <a:spcBef>
                <a:spcPct val="50000"/>
              </a:spcBef>
              <a:buFontTx/>
              <a:buChar char="•"/>
            </a:pPr>
            <a:r>
              <a:rPr lang="en-US" altLang="en-US" sz="1600" dirty="0">
                <a:latin typeface="Arial" panose="020B0604020202020204" pitchFamily="34" charset="0"/>
              </a:rPr>
              <a:t>  fully additive measures</a:t>
            </a:r>
          </a:p>
          <a:p>
            <a:pPr lvl="2" eaLnBrk="1" hangingPunct="1">
              <a:spcBef>
                <a:spcPct val="50000"/>
              </a:spcBef>
              <a:buFontTx/>
              <a:buChar char="•"/>
            </a:pPr>
            <a:r>
              <a:rPr lang="en-US" altLang="en-US" sz="1600" dirty="0">
                <a:latin typeface="Arial" panose="020B0604020202020204" pitchFamily="34" charset="0"/>
              </a:rPr>
              <a:t>  semi-additive measures </a:t>
            </a:r>
          </a:p>
          <a:p>
            <a:pPr lvl="2" eaLnBrk="1" hangingPunct="1">
              <a:spcBef>
                <a:spcPct val="50000"/>
              </a:spcBef>
              <a:buFontTx/>
              <a:buChar char="•"/>
            </a:pPr>
            <a:r>
              <a:rPr lang="en-US" altLang="en-US" sz="1600" dirty="0">
                <a:latin typeface="Arial" panose="020B0604020202020204" pitchFamily="34" charset="0"/>
              </a:rPr>
              <a:t>  table is deep and not wide (i.e., not too many attributes)</a:t>
            </a:r>
          </a:p>
          <a:p>
            <a:pPr lvl="2" eaLnBrk="1" hangingPunct="1">
              <a:spcBef>
                <a:spcPct val="50000"/>
              </a:spcBef>
              <a:buFontTx/>
              <a:buChar char="•"/>
            </a:pPr>
            <a:r>
              <a:rPr lang="en-US" altLang="en-US" sz="1600" dirty="0">
                <a:latin typeface="Arial" panose="020B0604020202020204" pitchFamily="34" charset="0"/>
              </a:rPr>
              <a:t>  sparse data</a:t>
            </a:r>
          </a:p>
          <a:p>
            <a:pPr lvl="2" eaLnBrk="1" hangingPunct="1">
              <a:spcBef>
                <a:spcPct val="50000"/>
              </a:spcBef>
              <a:buFontTx/>
              <a:buChar char="•"/>
            </a:pPr>
            <a:r>
              <a:rPr lang="en-US" altLang="en-US" sz="1600" dirty="0">
                <a:latin typeface="Arial" panose="020B0604020202020204" pitchFamily="34" charset="0"/>
              </a:rPr>
              <a:t>  Degenerate dimension </a:t>
            </a:r>
          </a:p>
          <a:p>
            <a:pPr lvl="3" eaLnBrk="1" hangingPunct="1">
              <a:spcBef>
                <a:spcPct val="50000"/>
              </a:spcBef>
            </a:pPr>
            <a:r>
              <a:rPr lang="en-US" altLang="en-US" sz="1600" dirty="0">
                <a:latin typeface="Arial" panose="020B0604020202020204" pitchFamily="34" charset="0"/>
              </a:rPr>
              <a:t> Sometimes when we start to collect attributes from OLTP systems for dimension tables and fact tables, we may left out with attributes like Order# or Order-line#.  These are neither facts nor strictly dimension attributes.  Usually, we put them in the fact table are called “degenerate dimensions.”  They are needed to relate orders to products</a:t>
            </a:r>
          </a:p>
          <a:p>
            <a:pPr lvl="3" eaLnBrk="1" hangingPunct="1">
              <a:spcBef>
                <a:spcPct val="50000"/>
              </a:spcBef>
            </a:pPr>
            <a:endParaRPr lang="en-US" altLang="en-US" sz="1600" dirty="0">
              <a:latin typeface="Arial" panose="020B0604020202020204" pitchFamily="34" charset="0"/>
            </a:endParaRPr>
          </a:p>
          <a:p>
            <a:pPr lvl="2" eaLnBrk="1" hangingPunct="1">
              <a:spcBef>
                <a:spcPct val="50000"/>
              </a:spcBef>
              <a:buFontTx/>
              <a:buChar char="•"/>
            </a:pPr>
            <a:endParaRPr lang="en-US" altLang="en-US" sz="1600" dirty="0">
              <a:latin typeface="Arial" panose="020B0604020202020204" pitchFamily="34" charset="0"/>
            </a:endParaRPr>
          </a:p>
          <a:p>
            <a:pPr lvl="1" eaLnBrk="1" hangingPunct="1">
              <a:spcBef>
                <a:spcPct val="50000"/>
              </a:spcBef>
            </a:pPr>
            <a:r>
              <a:rPr lang="en-US" altLang="en-US" sz="1600" dirty="0">
                <a:latin typeface="Times New Roman" panose="02020603050405020304" pitchFamily="18" charset="0"/>
              </a:rPr>
              <a:t>  </a:t>
            </a:r>
          </a:p>
        </p:txBody>
      </p:sp>
      <p:sp>
        <p:nvSpPr>
          <p:cNvPr id="2" name="Date Placeholder 1">
            <a:extLst>
              <a:ext uri="{FF2B5EF4-FFF2-40B4-BE49-F238E27FC236}">
                <a16:creationId xmlns:a16="http://schemas.microsoft.com/office/drawing/2014/main" id="{CFFCA2A0-B9CF-1276-0308-F9B6EF308E99}"/>
              </a:ext>
            </a:extLst>
          </p:cNvPr>
          <p:cNvSpPr>
            <a:spLocks noGrp="1"/>
          </p:cNvSpPr>
          <p:nvPr>
            <p:ph type="dt" sz="quarter" idx="10"/>
          </p:nvPr>
        </p:nvSpPr>
        <p:spPr/>
        <p:txBody>
          <a:bodyPr/>
          <a:lstStyle/>
          <a:p>
            <a:pPr>
              <a:defRPr/>
            </a:pPr>
            <a:fld id="{ACB1F654-1B9F-4AD1-A8A4-EB2766E8D144}" type="datetime1">
              <a:rPr lang="en-US" smtClean="0"/>
              <a:t>9/30/2025</a:t>
            </a:fld>
            <a:endParaRPr lang="en-US"/>
          </a:p>
        </p:txBody>
      </p:sp>
      <p:sp>
        <p:nvSpPr>
          <p:cNvPr id="3" name="Footer Placeholder 2">
            <a:extLst>
              <a:ext uri="{FF2B5EF4-FFF2-40B4-BE49-F238E27FC236}">
                <a16:creationId xmlns:a16="http://schemas.microsoft.com/office/drawing/2014/main" id="{AD9FED6A-FAB0-B1AE-33A9-AF89A42E98A9}"/>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B1664513-7C3E-0103-8A53-5722922E4DCA}"/>
              </a:ext>
            </a:extLst>
          </p:cNvPr>
          <p:cNvSpPr>
            <a:spLocks noGrp="1"/>
          </p:cNvSpPr>
          <p:nvPr>
            <p:ph type="sldNum" sz="quarter" idx="12"/>
          </p:nvPr>
        </p:nvSpPr>
        <p:spPr/>
        <p:txBody>
          <a:bodyPr/>
          <a:lstStyle/>
          <a:p>
            <a:pPr>
              <a:defRPr/>
            </a:pPr>
            <a:fld id="{A36C51AB-3650-4720-B6DA-BB0D8DFD6990}" type="slidenum">
              <a:rPr lang="en-US" altLang="en-US" smtClean="0"/>
              <a:pPr>
                <a:defRPr/>
              </a:pPr>
              <a:t>26</a:t>
            </a:fld>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2BDBB84-E206-C8DF-4B94-626B390F5E3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58371" name="Text Box 3">
            <a:extLst>
              <a:ext uri="{FF2B5EF4-FFF2-40B4-BE49-F238E27FC236}">
                <a16:creationId xmlns:a16="http://schemas.microsoft.com/office/drawing/2014/main" id="{8288567F-BF47-39F8-C5F9-CC17932A44CF}"/>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58372" name="Text Box 4">
            <a:extLst>
              <a:ext uri="{FF2B5EF4-FFF2-40B4-BE49-F238E27FC236}">
                <a16:creationId xmlns:a16="http://schemas.microsoft.com/office/drawing/2014/main" id="{716B9237-0FAF-F3F7-BFC2-07FDA6D51105}"/>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58373" name="Text Box 5">
            <a:extLst>
              <a:ext uri="{FF2B5EF4-FFF2-40B4-BE49-F238E27FC236}">
                <a16:creationId xmlns:a16="http://schemas.microsoft.com/office/drawing/2014/main" id="{7FCF0636-095E-1DE6-6CF7-FABDBCD9E620}"/>
              </a:ext>
            </a:extLst>
          </p:cNvPr>
          <p:cNvSpPr txBox="1">
            <a:spLocks noChangeArrowheads="1"/>
          </p:cNvSpPr>
          <p:nvPr/>
        </p:nvSpPr>
        <p:spPr bwMode="auto">
          <a:xfrm>
            <a:off x="2819400" y="1676400"/>
            <a:ext cx="701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5.   Types of Fact Table?</a:t>
            </a:r>
            <a:endParaRPr lang="en-US" altLang="en-US" sz="2400">
              <a:latin typeface="Times New Roman" panose="02020603050405020304" pitchFamily="18" charset="0"/>
            </a:endParaRPr>
          </a:p>
          <a:p>
            <a:pPr lvl="1" eaLnBrk="1" hangingPunct="1">
              <a:spcBef>
                <a:spcPct val="50000"/>
              </a:spcBef>
              <a:buFontTx/>
              <a:buChar char="•"/>
            </a:pPr>
            <a:r>
              <a:rPr lang="en-US" altLang="en-US" sz="2400">
                <a:latin typeface="Times New Roman" panose="02020603050405020304" pitchFamily="18" charset="0"/>
              </a:rPr>
              <a:t>  </a:t>
            </a:r>
            <a:r>
              <a:rPr lang="en-US" altLang="en-US" sz="2000">
                <a:latin typeface="Times New Roman" panose="02020603050405020304" pitchFamily="18" charset="0"/>
              </a:rPr>
              <a:t>Different types of Fact Tables –</a:t>
            </a:r>
          </a:p>
          <a:p>
            <a:pPr lvl="2" eaLnBrk="1" hangingPunct="1">
              <a:spcBef>
                <a:spcPct val="50000"/>
              </a:spcBef>
              <a:buFontTx/>
              <a:buChar char="•"/>
            </a:pPr>
            <a:r>
              <a:rPr lang="en-US" altLang="en-US" sz="2000">
                <a:latin typeface="Times New Roman" panose="02020603050405020304" pitchFamily="18" charset="0"/>
              </a:rPr>
              <a:t>  Single fact table</a:t>
            </a:r>
          </a:p>
          <a:p>
            <a:pPr lvl="2" eaLnBrk="1" hangingPunct="1">
              <a:spcBef>
                <a:spcPct val="50000"/>
              </a:spcBef>
              <a:buFontTx/>
              <a:buChar char="•"/>
            </a:pPr>
            <a:r>
              <a:rPr lang="en-US" altLang="en-US" sz="2000">
                <a:latin typeface="Times New Roman" panose="02020603050405020304" pitchFamily="18" charset="0"/>
              </a:rPr>
              <a:t>  Multiple fact tables</a:t>
            </a:r>
          </a:p>
        </p:txBody>
      </p:sp>
      <p:sp>
        <p:nvSpPr>
          <p:cNvPr id="2" name="Date Placeholder 1">
            <a:extLst>
              <a:ext uri="{FF2B5EF4-FFF2-40B4-BE49-F238E27FC236}">
                <a16:creationId xmlns:a16="http://schemas.microsoft.com/office/drawing/2014/main" id="{E230822D-26BA-E733-8DC1-BF75A7AAE078}"/>
              </a:ext>
            </a:extLst>
          </p:cNvPr>
          <p:cNvSpPr>
            <a:spLocks noGrp="1"/>
          </p:cNvSpPr>
          <p:nvPr>
            <p:ph type="dt" sz="quarter" idx="10"/>
          </p:nvPr>
        </p:nvSpPr>
        <p:spPr/>
        <p:txBody>
          <a:bodyPr/>
          <a:lstStyle/>
          <a:p>
            <a:pPr>
              <a:defRPr/>
            </a:pPr>
            <a:fld id="{9DF04829-0185-4AFF-B834-0F1CF0F8171A}" type="datetime1">
              <a:rPr lang="en-US" smtClean="0"/>
              <a:t>9/30/2025</a:t>
            </a:fld>
            <a:endParaRPr lang="en-US"/>
          </a:p>
        </p:txBody>
      </p:sp>
      <p:sp>
        <p:nvSpPr>
          <p:cNvPr id="3" name="Footer Placeholder 2">
            <a:extLst>
              <a:ext uri="{FF2B5EF4-FFF2-40B4-BE49-F238E27FC236}">
                <a16:creationId xmlns:a16="http://schemas.microsoft.com/office/drawing/2014/main" id="{2254D858-6BFC-5D86-5C0C-9C97CD8909A4}"/>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4B426A7E-7EC1-5870-7956-489BA781133F}"/>
              </a:ext>
            </a:extLst>
          </p:cNvPr>
          <p:cNvSpPr>
            <a:spLocks noGrp="1"/>
          </p:cNvSpPr>
          <p:nvPr>
            <p:ph type="sldNum" sz="quarter" idx="12"/>
          </p:nvPr>
        </p:nvSpPr>
        <p:spPr/>
        <p:txBody>
          <a:bodyPr/>
          <a:lstStyle/>
          <a:p>
            <a:pPr>
              <a:defRPr/>
            </a:pPr>
            <a:fld id="{CE8FFC7E-9561-4BFA-829C-82D07D9E55A6}" type="slidenum">
              <a:rPr lang="en-US" altLang="en-US" smtClean="0"/>
              <a:pPr>
                <a:defRPr/>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2D003F7-118B-5645-E67D-DCD419E1BF5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60419" name="Text Box 3">
            <a:extLst>
              <a:ext uri="{FF2B5EF4-FFF2-40B4-BE49-F238E27FC236}">
                <a16:creationId xmlns:a16="http://schemas.microsoft.com/office/drawing/2014/main" id="{AC1F08CA-A113-D77B-B4EF-E26316113880}"/>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60420" name="Text Box 5">
            <a:extLst>
              <a:ext uri="{FF2B5EF4-FFF2-40B4-BE49-F238E27FC236}">
                <a16:creationId xmlns:a16="http://schemas.microsoft.com/office/drawing/2014/main" id="{8EB61251-42CA-5291-9ED2-DA92323B443B}"/>
              </a:ext>
            </a:extLst>
          </p:cNvPr>
          <p:cNvSpPr txBox="1">
            <a:spLocks noChangeArrowheads="1"/>
          </p:cNvSpPr>
          <p:nvPr/>
        </p:nvSpPr>
        <p:spPr bwMode="auto">
          <a:xfrm>
            <a:off x="2819400" y="17526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6.   Single Fact Table</a:t>
            </a:r>
          </a:p>
        </p:txBody>
      </p:sp>
      <p:grpSp>
        <p:nvGrpSpPr>
          <p:cNvPr id="60421" name="Group 9">
            <a:extLst>
              <a:ext uri="{FF2B5EF4-FFF2-40B4-BE49-F238E27FC236}">
                <a16:creationId xmlns:a16="http://schemas.microsoft.com/office/drawing/2014/main" id="{7561B0E5-37A1-0BAA-DF9C-564D54406A2C}"/>
              </a:ext>
            </a:extLst>
          </p:cNvPr>
          <p:cNvGrpSpPr>
            <a:grpSpLocks/>
          </p:cNvGrpSpPr>
          <p:nvPr/>
        </p:nvGrpSpPr>
        <p:grpSpPr bwMode="auto">
          <a:xfrm>
            <a:off x="4876800" y="2971802"/>
            <a:ext cx="2438400" cy="2341563"/>
            <a:chOff x="2112" y="1872"/>
            <a:chExt cx="1536" cy="1475"/>
          </a:xfrm>
        </p:grpSpPr>
        <p:sp>
          <p:nvSpPr>
            <p:cNvPr id="60425" name="Text Box 6">
              <a:extLst>
                <a:ext uri="{FF2B5EF4-FFF2-40B4-BE49-F238E27FC236}">
                  <a16:creationId xmlns:a16="http://schemas.microsoft.com/office/drawing/2014/main" id="{B278C772-17CC-31C3-A9E1-B50E6382E3F1}"/>
                </a:ext>
              </a:extLst>
            </p:cNvPr>
            <p:cNvSpPr txBox="1">
              <a:spLocks noChangeArrowheads="1"/>
            </p:cNvSpPr>
            <p:nvPr/>
          </p:nvSpPr>
          <p:spPr bwMode="auto">
            <a:xfrm>
              <a:off x="2160" y="2112"/>
              <a:ext cx="1440" cy="123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a:latin typeface="Times New Roman" panose="02020603050405020304" pitchFamily="18" charset="0"/>
                </a:rPr>
                <a:t>Time-key (FK)</a:t>
              </a:r>
            </a:p>
            <a:p>
              <a:pPr eaLnBrk="1" hangingPunct="1">
                <a:lnSpc>
                  <a:spcPct val="50000"/>
                </a:lnSpc>
                <a:spcBef>
                  <a:spcPct val="50000"/>
                </a:spcBef>
              </a:pPr>
              <a:r>
                <a:rPr lang="en-US" altLang="en-US" sz="2000">
                  <a:latin typeface="Times New Roman" panose="02020603050405020304" pitchFamily="18" charset="0"/>
                </a:rPr>
                <a:t>Product-key (FK)</a:t>
              </a:r>
            </a:p>
            <a:p>
              <a:pPr eaLnBrk="1" hangingPunct="1">
                <a:lnSpc>
                  <a:spcPct val="50000"/>
                </a:lnSpc>
                <a:spcBef>
                  <a:spcPct val="50000"/>
                </a:spcBef>
              </a:pPr>
              <a:r>
                <a:rPr lang="en-US" altLang="en-US" sz="2000">
                  <a:latin typeface="Times New Roman" panose="02020603050405020304" pitchFamily="18" charset="0"/>
                </a:rPr>
                <a:t>Store-key (FK)</a:t>
              </a:r>
            </a:p>
            <a:p>
              <a:pPr eaLnBrk="1" hangingPunct="1">
                <a:lnSpc>
                  <a:spcPct val="50000"/>
                </a:lnSpc>
                <a:spcBef>
                  <a:spcPct val="50000"/>
                </a:spcBef>
              </a:pPr>
              <a:r>
                <a:rPr lang="en-US" altLang="en-US" sz="2000">
                  <a:latin typeface="Times New Roman" panose="02020603050405020304" pitchFamily="18" charset="0"/>
                </a:rPr>
                <a:t>dollars-sold</a:t>
              </a:r>
            </a:p>
            <a:p>
              <a:pPr eaLnBrk="1" hangingPunct="1">
                <a:lnSpc>
                  <a:spcPct val="50000"/>
                </a:lnSpc>
                <a:spcBef>
                  <a:spcPct val="50000"/>
                </a:spcBef>
              </a:pPr>
              <a:r>
                <a:rPr lang="en-US" altLang="en-US" sz="2000">
                  <a:latin typeface="Times New Roman" panose="02020603050405020304" pitchFamily="18" charset="0"/>
                </a:rPr>
                <a:t>units-sold</a:t>
              </a:r>
            </a:p>
            <a:p>
              <a:pPr eaLnBrk="1" hangingPunct="1">
                <a:lnSpc>
                  <a:spcPct val="50000"/>
                </a:lnSpc>
                <a:spcBef>
                  <a:spcPct val="50000"/>
                </a:spcBef>
              </a:pPr>
              <a:r>
                <a:rPr lang="en-US" altLang="en-US" sz="2000">
                  <a:latin typeface="Times New Roman" panose="02020603050405020304" pitchFamily="18" charset="0"/>
                </a:rPr>
                <a:t>dollars-cost</a:t>
              </a:r>
            </a:p>
          </p:txBody>
        </p:sp>
        <p:sp>
          <p:nvSpPr>
            <p:cNvPr id="60426" name="Text Box 8">
              <a:extLst>
                <a:ext uri="{FF2B5EF4-FFF2-40B4-BE49-F238E27FC236}">
                  <a16:creationId xmlns:a16="http://schemas.microsoft.com/office/drawing/2014/main" id="{011568D9-9E7C-D43B-9589-A7775FE90FE3}"/>
                </a:ext>
              </a:extLst>
            </p:cNvPr>
            <p:cNvSpPr txBox="1">
              <a:spLocks noChangeArrowheads="1"/>
            </p:cNvSpPr>
            <p:nvPr/>
          </p:nvSpPr>
          <p:spPr bwMode="auto">
            <a:xfrm>
              <a:off x="2112" y="1872"/>
              <a:ext cx="15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2000" b="1">
                  <a:latin typeface="Tahoma" panose="020B0604030504040204" pitchFamily="34" charset="0"/>
                </a:rPr>
                <a:t>Sales Fact Table</a:t>
              </a:r>
            </a:p>
          </p:txBody>
        </p:sp>
      </p:grpSp>
      <p:sp>
        <p:nvSpPr>
          <p:cNvPr id="2" name="Date Placeholder 1">
            <a:extLst>
              <a:ext uri="{FF2B5EF4-FFF2-40B4-BE49-F238E27FC236}">
                <a16:creationId xmlns:a16="http://schemas.microsoft.com/office/drawing/2014/main" id="{8823676F-0775-30E8-5822-5040778AA643}"/>
              </a:ext>
            </a:extLst>
          </p:cNvPr>
          <p:cNvSpPr>
            <a:spLocks noGrp="1"/>
          </p:cNvSpPr>
          <p:nvPr>
            <p:ph type="dt" sz="quarter" idx="10"/>
          </p:nvPr>
        </p:nvSpPr>
        <p:spPr/>
        <p:txBody>
          <a:bodyPr/>
          <a:lstStyle/>
          <a:p>
            <a:pPr>
              <a:defRPr/>
            </a:pPr>
            <a:fld id="{7A80D49D-3F5A-4C37-B3AD-2E112AC208E2}" type="datetime1">
              <a:rPr lang="en-US" smtClean="0"/>
              <a:t>9/30/2025</a:t>
            </a:fld>
            <a:endParaRPr lang="en-US"/>
          </a:p>
        </p:txBody>
      </p:sp>
      <p:sp>
        <p:nvSpPr>
          <p:cNvPr id="3" name="Footer Placeholder 2">
            <a:extLst>
              <a:ext uri="{FF2B5EF4-FFF2-40B4-BE49-F238E27FC236}">
                <a16:creationId xmlns:a16="http://schemas.microsoft.com/office/drawing/2014/main" id="{72B92BFE-F3F6-D27A-EEA7-6D8F691765C5}"/>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C3B1A80E-48CE-A7C5-C9AF-3A5316DFB81A}"/>
              </a:ext>
            </a:extLst>
          </p:cNvPr>
          <p:cNvSpPr>
            <a:spLocks noGrp="1"/>
          </p:cNvSpPr>
          <p:nvPr>
            <p:ph type="sldNum" sz="quarter" idx="12"/>
          </p:nvPr>
        </p:nvSpPr>
        <p:spPr/>
        <p:txBody>
          <a:bodyPr/>
          <a:lstStyle/>
          <a:p>
            <a:pPr>
              <a:defRPr/>
            </a:pPr>
            <a:fld id="{102DA016-4B0E-4B34-BDCA-EE57A033FE08}" type="slidenum">
              <a:rPr lang="en-US" altLang="en-US" smtClean="0"/>
              <a:pPr>
                <a:defRPr/>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360D4C37-4AA0-29AD-7008-980DAA0EC4E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62467" name="Text Box 3">
            <a:extLst>
              <a:ext uri="{FF2B5EF4-FFF2-40B4-BE49-F238E27FC236}">
                <a16:creationId xmlns:a16="http://schemas.microsoft.com/office/drawing/2014/main" id="{0ACBE703-DB6D-36E8-5AB5-859CC0F05F9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62468" name="Text Box 4">
            <a:extLst>
              <a:ext uri="{FF2B5EF4-FFF2-40B4-BE49-F238E27FC236}">
                <a16:creationId xmlns:a16="http://schemas.microsoft.com/office/drawing/2014/main" id="{C527F3E8-B00A-9557-23F2-9BE26BC214F2}"/>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62469" name="Text Box 5">
            <a:extLst>
              <a:ext uri="{FF2B5EF4-FFF2-40B4-BE49-F238E27FC236}">
                <a16:creationId xmlns:a16="http://schemas.microsoft.com/office/drawing/2014/main" id="{B7C77AA5-8386-0F5E-61D0-0A8FD66D3450}"/>
              </a:ext>
            </a:extLst>
          </p:cNvPr>
          <p:cNvSpPr txBox="1">
            <a:spLocks noChangeArrowheads="1"/>
          </p:cNvSpPr>
          <p:nvPr/>
        </p:nvSpPr>
        <p:spPr bwMode="auto">
          <a:xfrm>
            <a:off x="2133600" y="1600201"/>
            <a:ext cx="807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cs typeface="Tahoma" panose="020B0604030504040204" pitchFamily="34" charset="0"/>
              </a:rPr>
              <a:t>6.  Single </a:t>
            </a:r>
            <a:r>
              <a:rPr lang="en-US" altLang="en-US" sz="2400" b="1">
                <a:latin typeface="Tahoma" panose="020B0604030504040204" pitchFamily="34" charset="0"/>
              </a:rPr>
              <a:t>Fact Table</a:t>
            </a:r>
            <a:r>
              <a:rPr lang="en-US" altLang="en-US" sz="2400">
                <a:latin typeface="Times New Roman" panose="02020603050405020304" pitchFamily="18" charset="0"/>
              </a:rPr>
              <a:t>  </a:t>
            </a:r>
          </a:p>
        </p:txBody>
      </p:sp>
      <p:pic>
        <p:nvPicPr>
          <p:cNvPr id="62470" name="Picture 3">
            <a:extLst>
              <a:ext uri="{FF2B5EF4-FFF2-40B4-BE49-F238E27FC236}">
                <a16:creationId xmlns:a16="http://schemas.microsoft.com/office/drawing/2014/main" id="{BE4F522F-6319-B705-52E3-CBC74195A7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92" y="2062164"/>
            <a:ext cx="6219815" cy="4178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1" name="TextBox 1">
            <a:extLst>
              <a:ext uri="{FF2B5EF4-FFF2-40B4-BE49-F238E27FC236}">
                <a16:creationId xmlns:a16="http://schemas.microsoft.com/office/drawing/2014/main" id="{C158A8CB-EFEF-A4D0-2DBA-79CAAB53E6A2}"/>
              </a:ext>
            </a:extLst>
          </p:cNvPr>
          <p:cNvSpPr txBox="1">
            <a:spLocks noChangeArrowheads="1"/>
          </p:cNvSpPr>
          <p:nvPr/>
        </p:nvSpPr>
        <p:spPr bwMode="auto">
          <a:xfrm>
            <a:off x="8001000" y="4592638"/>
            <a:ext cx="1524000" cy="646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200" b="1">
                <a:solidFill>
                  <a:srgbClr val="C00000"/>
                </a:solidFill>
              </a:rPr>
              <a:t>Look at AdventureWorks DW database</a:t>
            </a:r>
          </a:p>
        </p:txBody>
      </p:sp>
      <p:sp>
        <p:nvSpPr>
          <p:cNvPr id="2" name="Date Placeholder 1">
            <a:extLst>
              <a:ext uri="{FF2B5EF4-FFF2-40B4-BE49-F238E27FC236}">
                <a16:creationId xmlns:a16="http://schemas.microsoft.com/office/drawing/2014/main" id="{E10D509C-CA19-1A11-EBB9-E4E564AC8054}"/>
              </a:ext>
            </a:extLst>
          </p:cNvPr>
          <p:cNvSpPr>
            <a:spLocks noGrp="1"/>
          </p:cNvSpPr>
          <p:nvPr>
            <p:ph type="dt" sz="quarter" idx="10"/>
          </p:nvPr>
        </p:nvSpPr>
        <p:spPr/>
        <p:txBody>
          <a:bodyPr/>
          <a:lstStyle/>
          <a:p>
            <a:pPr>
              <a:defRPr/>
            </a:pPr>
            <a:fld id="{BA8AF1BF-5F51-4C00-B4A9-856B485E4FA5}" type="datetime1">
              <a:rPr lang="en-US" smtClean="0"/>
              <a:t>9/30/2025</a:t>
            </a:fld>
            <a:endParaRPr lang="en-US"/>
          </a:p>
        </p:txBody>
      </p:sp>
      <p:sp>
        <p:nvSpPr>
          <p:cNvPr id="3" name="Footer Placeholder 2">
            <a:extLst>
              <a:ext uri="{FF2B5EF4-FFF2-40B4-BE49-F238E27FC236}">
                <a16:creationId xmlns:a16="http://schemas.microsoft.com/office/drawing/2014/main" id="{79DAFF75-6D0E-6264-1002-80542B1587A3}"/>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597E6230-76B6-B161-1BF6-95987DF54983}"/>
              </a:ext>
            </a:extLst>
          </p:cNvPr>
          <p:cNvSpPr>
            <a:spLocks noGrp="1"/>
          </p:cNvSpPr>
          <p:nvPr>
            <p:ph type="sldNum" sz="quarter" idx="12"/>
          </p:nvPr>
        </p:nvSpPr>
        <p:spPr/>
        <p:txBody>
          <a:bodyPr/>
          <a:lstStyle/>
          <a:p>
            <a:pPr>
              <a:defRPr/>
            </a:pPr>
            <a:fld id="{F3E6C7A0-077A-4892-B1A3-2D2981FF6F21}" type="slidenum">
              <a:rPr lang="en-US" altLang="en-US" smtClean="0"/>
              <a:pPr>
                <a:defRPr/>
              </a:pPr>
              <a:t>29</a:t>
            </a:fld>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0E03E436-9D68-67EB-5BE6-56668D77B558}"/>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64515" name="Text Box 3">
            <a:extLst>
              <a:ext uri="{FF2B5EF4-FFF2-40B4-BE49-F238E27FC236}">
                <a16:creationId xmlns:a16="http://schemas.microsoft.com/office/drawing/2014/main" id="{12F0E76B-1DCF-EC9F-72E5-5F50DF913AA4}"/>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64516" name="Text Box 4">
            <a:extLst>
              <a:ext uri="{FF2B5EF4-FFF2-40B4-BE49-F238E27FC236}">
                <a16:creationId xmlns:a16="http://schemas.microsoft.com/office/drawing/2014/main" id="{AC3438EC-7D2C-6A62-91FC-5C7129C00E3D}"/>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64517" name="Text Box 5">
            <a:extLst>
              <a:ext uri="{FF2B5EF4-FFF2-40B4-BE49-F238E27FC236}">
                <a16:creationId xmlns:a16="http://schemas.microsoft.com/office/drawing/2014/main" id="{898AA5A0-65C4-BF7C-E3B4-87A53D7E5DE5}"/>
              </a:ext>
            </a:extLst>
          </p:cNvPr>
          <p:cNvSpPr txBox="1">
            <a:spLocks noChangeArrowheads="1"/>
          </p:cNvSpPr>
          <p:nvPr/>
        </p:nvSpPr>
        <p:spPr bwMode="auto">
          <a:xfrm>
            <a:off x="2133600" y="1666846"/>
            <a:ext cx="807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dirty="0">
                <a:latin typeface="Times New Roman" panose="02020603050405020304" pitchFamily="18" charset="0"/>
              </a:rPr>
              <a:t> </a:t>
            </a:r>
            <a:r>
              <a:rPr lang="en-US" altLang="en-US" sz="2000" b="1" dirty="0">
                <a:latin typeface="Tahoma" panose="020B0604030504040204" pitchFamily="34" charset="0"/>
              </a:rPr>
              <a:t>6.  Single Fact Table</a:t>
            </a:r>
            <a:r>
              <a:rPr lang="en-US" altLang="en-US" sz="2000" dirty="0">
                <a:latin typeface="Times New Roman" panose="02020603050405020304" pitchFamily="18" charset="0"/>
              </a:rPr>
              <a:t>  </a:t>
            </a:r>
          </a:p>
        </p:txBody>
      </p:sp>
      <p:pic>
        <p:nvPicPr>
          <p:cNvPr id="64518" name="Picture 2">
            <a:extLst>
              <a:ext uri="{FF2B5EF4-FFF2-40B4-BE49-F238E27FC236}">
                <a16:creationId xmlns:a16="http://schemas.microsoft.com/office/drawing/2014/main" id="{92FFF9A8-6271-883C-2091-9C2D44002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1764" y="2133602"/>
            <a:ext cx="6391835" cy="429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87679C6-7B15-83D0-FE1D-EA12E87A8E5B}"/>
              </a:ext>
            </a:extLst>
          </p:cNvPr>
          <p:cNvSpPr>
            <a:spLocks noGrp="1"/>
          </p:cNvSpPr>
          <p:nvPr>
            <p:ph type="dt" sz="quarter" idx="10"/>
          </p:nvPr>
        </p:nvSpPr>
        <p:spPr/>
        <p:txBody>
          <a:bodyPr/>
          <a:lstStyle/>
          <a:p>
            <a:pPr>
              <a:defRPr/>
            </a:pPr>
            <a:fld id="{F0181C1C-8B15-413A-A067-4B6233B0A5D4}" type="datetime1">
              <a:rPr lang="en-US" smtClean="0"/>
              <a:t>9/30/2025</a:t>
            </a:fld>
            <a:endParaRPr lang="en-US"/>
          </a:p>
        </p:txBody>
      </p:sp>
      <p:sp>
        <p:nvSpPr>
          <p:cNvPr id="3" name="Footer Placeholder 2">
            <a:extLst>
              <a:ext uri="{FF2B5EF4-FFF2-40B4-BE49-F238E27FC236}">
                <a16:creationId xmlns:a16="http://schemas.microsoft.com/office/drawing/2014/main" id="{C0E49C42-700C-C38D-B7A3-95C29EB25532}"/>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713A19FD-5DE2-86CC-652C-77BB741D3070}"/>
              </a:ext>
            </a:extLst>
          </p:cNvPr>
          <p:cNvSpPr>
            <a:spLocks noGrp="1"/>
          </p:cNvSpPr>
          <p:nvPr>
            <p:ph type="sldNum" sz="quarter" idx="12"/>
          </p:nvPr>
        </p:nvSpPr>
        <p:spPr/>
        <p:txBody>
          <a:bodyPr/>
          <a:lstStyle/>
          <a:p>
            <a:pPr>
              <a:defRPr/>
            </a:pPr>
            <a:fld id="{A45F6AE7-5C23-4127-9E60-BBFB7FBD6BB7}" type="slidenum">
              <a:rPr lang="en-US" altLang="en-US" smtClean="0"/>
              <a:pPr>
                <a:defRPr/>
              </a:pPr>
              <a:t>30</a:t>
            </a:fld>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91736D4F-3045-0C89-6FA1-11FBE6AE71A8}"/>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66563" name="Text Box 3">
            <a:extLst>
              <a:ext uri="{FF2B5EF4-FFF2-40B4-BE49-F238E27FC236}">
                <a16:creationId xmlns:a16="http://schemas.microsoft.com/office/drawing/2014/main" id="{F8CC222A-EFCA-4E81-D4CD-ACED2498E71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66564" name="Text Box 4">
            <a:extLst>
              <a:ext uri="{FF2B5EF4-FFF2-40B4-BE49-F238E27FC236}">
                <a16:creationId xmlns:a16="http://schemas.microsoft.com/office/drawing/2014/main" id="{49695F5A-FBED-0D85-1829-3E2D194ADF19}"/>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66565" name="Text Box 5">
            <a:extLst>
              <a:ext uri="{FF2B5EF4-FFF2-40B4-BE49-F238E27FC236}">
                <a16:creationId xmlns:a16="http://schemas.microsoft.com/office/drawing/2014/main" id="{3715435A-A952-A5F4-AB4A-B666559E77F7}"/>
              </a:ext>
            </a:extLst>
          </p:cNvPr>
          <p:cNvSpPr txBox="1">
            <a:spLocks noChangeArrowheads="1"/>
          </p:cNvSpPr>
          <p:nvPr/>
        </p:nvSpPr>
        <p:spPr bwMode="auto">
          <a:xfrm>
            <a:off x="2667000" y="1676401"/>
            <a:ext cx="70104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6.   Single Fact Table</a:t>
            </a:r>
            <a:endParaRPr lang="en-US" altLang="en-US" sz="2400" dirty="0">
              <a:latin typeface="Times New Roman" panose="02020603050405020304" pitchFamily="18" charset="0"/>
            </a:endParaRPr>
          </a:p>
          <a:p>
            <a:pPr lvl="1" eaLnBrk="1" hangingPunct="1">
              <a:spcBef>
                <a:spcPct val="50000"/>
              </a:spcBef>
              <a:buFontTx/>
              <a:buChar char="•"/>
            </a:pPr>
            <a:r>
              <a:rPr lang="en-US" altLang="en-US" sz="2000" dirty="0">
                <a:latin typeface="Times New Roman" panose="02020603050405020304" pitchFamily="18" charset="0"/>
              </a:rPr>
              <a:t>  Factless Fact Table</a:t>
            </a:r>
          </a:p>
          <a:p>
            <a:pPr lvl="2" eaLnBrk="1" hangingPunct="1">
              <a:spcBef>
                <a:spcPct val="50000"/>
              </a:spcBef>
            </a:pPr>
            <a:r>
              <a:rPr lang="en-US" altLang="en-US" sz="2000" dirty="0">
                <a:latin typeface="Symbol" panose="05050102010706020507" pitchFamily="18" charset="2"/>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FF0000"/>
                </a:solidFill>
                <a:latin typeface="Times New Roman" panose="02020603050405020304" pitchFamily="18" charset="0"/>
                <a:cs typeface="Times New Roman" panose="02020603050405020304" pitchFamily="18" charset="0"/>
              </a:rPr>
              <a:t>A fact table can be factless </a:t>
            </a:r>
            <a:r>
              <a:rPr lang="en-US" altLang="en-US" sz="2000" dirty="0">
                <a:latin typeface="Times New Roman" panose="02020603050405020304" pitchFamily="18" charset="0"/>
                <a:cs typeface="Times New Roman" panose="02020603050405020304" pitchFamily="18" charset="0"/>
              </a:rPr>
              <a:t>if it records an </a:t>
            </a:r>
            <a:r>
              <a:rPr lang="en-US" altLang="en-US" sz="2000" b="1" dirty="0">
                <a:latin typeface="Times New Roman" panose="02020603050405020304" pitchFamily="18" charset="0"/>
                <a:cs typeface="Times New Roman" panose="02020603050405020304" pitchFamily="18" charset="0"/>
              </a:rPr>
              <a:t>event</a:t>
            </a:r>
            <a:r>
              <a:rPr lang="en-US" altLang="en-US" sz="2000" dirty="0">
                <a:latin typeface="Times New Roman" panose="02020603050405020304" pitchFamily="18" charset="0"/>
                <a:cs typeface="Times New Roman" panose="02020603050405020304" pitchFamily="18" charset="0"/>
              </a:rPr>
              <a:t> 	e.g., student attendance event </a:t>
            </a:r>
          </a:p>
          <a:p>
            <a:pPr lvl="2" eaLnBrk="1" hangingPunct="1">
              <a:spcBef>
                <a:spcPct val="50000"/>
              </a:spcBef>
            </a:pPr>
            <a:r>
              <a:rPr lang="en-US" altLang="en-US" sz="2000" dirty="0">
                <a:latin typeface="Symbol" panose="05050102010706020507" pitchFamily="18" charset="2"/>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A fact table is factless if it records </a:t>
            </a:r>
            <a:r>
              <a:rPr lang="en-US" altLang="en-US" sz="2000" b="1" dirty="0">
                <a:latin typeface="Times New Roman" panose="02020603050405020304" pitchFamily="18" charset="0"/>
                <a:cs typeface="Times New Roman" panose="02020603050405020304" pitchFamily="18" charset="0"/>
              </a:rPr>
              <a:t>coverage</a:t>
            </a:r>
            <a:r>
              <a:rPr lang="en-US" altLang="en-US" sz="2000" dirty="0">
                <a:latin typeface="Times New Roman" panose="02020603050405020304" pitchFamily="18" charset="0"/>
                <a:cs typeface="Times New Roman" panose="02020603050405020304" pitchFamily="18" charset="0"/>
              </a:rPr>
              <a:t>.  For 	example, if a fact table is used to store the 	promotion coverage only, it cannot have product data 	for those that did not sell in spite of promotions.   </a:t>
            </a:r>
            <a:endParaRPr lang="en-US" altLang="en-US" sz="2000" dirty="0">
              <a:latin typeface="Times New Roman" panose="02020603050405020304" pitchFamily="18" charset="0"/>
            </a:endParaRPr>
          </a:p>
          <a:p>
            <a:pPr lvl="1" eaLnBrk="1" hangingPunct="1">
              <a:spcBef>
                <a:spcPct val="50000"/>
              </a:spcBef>
              <a:buFontTx/>
              <a:buChar char="•"/>
            </a:pPr>
            <a:endParaRPr lang="en-US" altLang="en-US" sz="2000" dirty="0">
              <a:latin typeface="Times New Roman" panose="02020603050405020304" pitchFamily="18" charset="0"/>
            </a:endParaRPr>
          </a:p>
        </p:txBody>
      </p:sp>
      <p:sp>
        <p:nvSpPr>
          <p:cNvPr id="66566" name="Text Box 2">
            <a:extLst>
              <a:ext uri="{FF2B5EF4-FFF2-40B4-BE49-F238E27FC236}">
                <a16:creationId xmlns:a16="http://schemas.microsoft.com/office/drawing/2014/main" id="{B507C3BE-D22F-003C-624C-0971E80B6260}"/>
              </a:ext>
            </a:extLst>
          </p:cNvPr>
          <p:cNvSpPr txBox="1">
            <a:spLocks noChangeArrowheads="1"/>
          </p:cNvSpPr>
          <p:nvPr/>
        </p:nvSpPr>
        <p:spPr bwMode="auto">
          <a:xfrm>
            <a:off x="2324100" y="3209925"/>
            <a:ext cx="1295400" cy="116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000">
                <a:solidFill>
                  <a:srgbClr val="C00000"/>
                </a:solidFill>
                <a:latin typeface="Arial" panose="020B0604020202020204" pitchFamily="34" charset="0"/>
              </a:rPr>
              <a:t>Date_Key</a:t>
            </a:r>
          </a:p>
          <a:p>
            <a:pPr eaLnBrk="1" hangingPunct="1">
              <a:spcBef>
                <a:spcPct val="50000"/>
              </a:spcBef>
            </a:pPr>
            <a:r>
              <a:rPr lang="en-US" altLang="en-US" sz="1000">
                <a:solidFill>
                  <a:srgbClr val="C00000"/>
                </a:solidFill>
                <a:latin typeface="Arial" panose="020B0604020202020204" pitchFamily="34" charset="0"/>
              </a:rPr>
              <a:t>Course_Key</a:t>
            </a:r>
          </a:p>
          <a:p>
            <a:pPr eaLnBrk="1" hangingPunct="1">
              <a:spcBef>
                <a:spcPct val="50000"/>
              </a:spcBef>
            </a:pPr>
            <a:r>
              <a:rPr lang="en-US" altLang="en-US" sz="1000">
                <a:solidFill>
                  <a:srgbClr val="C00000"/>
                </a:solidFill>
                <a:latin typeface="Arial" panose="020B0604020202020204" pitchFamily="34" charset="0"/>
              </a:rPr>
              <a:t>Professor_Key </a:t>
            </a:r>
          </a:p>
          <a:p>
            <a:pPr eaLnBrk="1" hangingPunct="1">
              <a:spcBef>
                <a:spcPct val="50000"/>
              </a:spcBef>
            </a:pPr>
            <a:r>
              <a:rPr lang="en-US" altLang="en-US" sz="1000">
                <a:solidFill>
                  <a:srgbClr val="C00000"/>
                </a:solidFill>
                <a:latin typeface="Arial" panose="020B0604020202020204" pitchFamily="34" charset="0"/>
              </a:rPr>
              <a:t>Room_Key</a:t>
            </a:r>
          </a:p>
          <a:p>
            <a:pPr eaLnBrk="1" hangingPunct="1">
              <a:spcBef>
                <a:spcPct val="50000"/>
              </a:spcBef>
            </a:pPr>
            <a:r>
              <a:rPr lang="en-US" altLang="en-US" sz="1000">
                <a:solidFill>
                  <a:srgbClr val="C00000"/>
                </a:solidFill>
                <a:latin typeface="Arial" panose="020B0604020202020204" pitchFamily="34" charset="0"/>
              </a:rPr>
              <a:t>Student_Key</a:t>
            </a:r>
          </a:p>
        </p:txBody>
      </p:sp>
      <p:sp>
        <p:nvSpPr>
          <p:cNvPr id="66567" name="Line 3">
            <a:extLst>
              <a:ext uri="{FF2B5EF4-FFF2-40B4-BE49-F238E27FC236}">
                <a16:creationId xmlns:a16="http://schemas.microsoft.com/office/drawing/2014/main" id="{BD94DAEF-D5A4-6F79-C38B-66A1B840804B}"/>
              </a:ext>
            </a:extLst>
          </p:cNvPr>
          <p:cNvSpPr>
            <a:spLocks noChangeShapeType="1"/>
          </p:cNvSpPr>
          <p:nvPr/>
        </p:nvSpPr>
        <p:spPr bwMode="auto">
          <a:xfrm flipH="1">
            <a:off x="3276600" y="3048000"/>
            <a:ext cx="1143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568" name="Text Box 4">
            <a:extLst>
              <a:ext uri="{FF2B5EF4-FFF2-40B4-BE49-F238E27FC236}">
                <a16:creationId xmlns:a16="http://schemas.microsoft.com/office/drawing/2014/main" id="{A3C2D31C-33D3-CD57-B816-9D3E84D13D4B}"/>
              </a:ext>
            </a:extLst>
          </p:cNvPr>
          <p:cNvSpPr txBox="1">
            <a:spLocks noChangeArrowheads="1"/>
          </p:cNvSpPr>
          <p:nvPr/>
        </p:nvSpPr>
        <p:spPr bwMode="auto">
          <a:xfrm>
            <a:off x="2133600" y="4419601"/>
            <a:ext cx="91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000">
                <a:latin typeface="Arial" panose="020B0604020202020204" pitchFamily="34" charset="0"/>
              </a:rPr>
              <a:t>Student attendance Fact Table</a:t>
            </a:r>
          </a:p>
        </p:txBody>
      </p:sp>
      <p:sp>
        <p:nvSpPr>
          <p:cNvPr id="66569" name="Text Box 5">
            <a:extLst>
              <a:ext uri="{FF2B5EF4-FFF2-40B4-BE49-F238E27FC236}">
                <a16:creationId xmlns:a16="http://schemas.microsoft.com/office/drawing/2014/main" id="{9E1AFE12-9469-0984-29F4-BBB492ED2DE2}"/>
              </a:ext>
            </a:extLst>
          </p:cNvPr>
          <p:cNvSpPr txBox="1">
            <a:spLocks noChangeArrowheads="1"/>
          </p:cNvSpPr>
          <p:nvPr/>
        </p:nvSpPr>
        <p:spPr bwMode="auto">
          <a:xfrm>
            <a:off x="6438900" y="5495925"/>
            <a:ext cx="1295400" cy="93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000">
                <a:solidFill>
                  <a:srgbClr val="C00000"/>
                </a:solidFill>
                <a:latin typeface="Arial" panose="020B0604020202020204" pitchFamily="34" charset="0"/>
              </a:rPr>
              <a:t>Time_Key</a:t>
            </a:r>
          </a:p>
          <a:p>
            <a:pPr eaLnBrk="1" hangingPunct="1">
              <a:spcBef>
                <a:spcPct val="50000"/>
              </a:spcBef>
            </a:pPr>
            <a:r>
              <a:rPr lang="en-US" altLang="en-US" sz="1000">
                <a:solidFill>
                  <a:srgbClr val="C00000"/>
                </a:solidFill>
                <a:latin typeface="Arial" panose="020B0604020202020204" pitchFamily="34" charset="0"/>
              </a:rPr>
              <a:t>Product_Key</a:t>
            </a:r>
          </a:p>
          <a:p>
            <a:pPr eaLnBrk="1" hangingPunct="1">
              <a:spcBef>
                <a:spcPct val="50000"/>
              </a:spcBef>
            </a:pPr>
            <a:r>
              <a:rPr lang="en-US" altLang="en-US" sz="1000">
                <a:solidFill>
                  <a:srgbClr val="C00000"/>
                </a:solidFill>
                <a:latin typeface="Arial" panose="020B0604020202020204" pitchFamily="34" charset="0"/>
              </a:rPr>
              <a:t>Store_Key </a:t>
            </a:r>
          </a:p>
          <a:p>
            <a:pPr eaLnBrk="1" hangingPunct="1">
              <a:spcBef>
                <a:spcPct val="50000"/>
              </a:spcBef>
            </a:pPr>
            <a:r>
              <a:rPr lang="en-US" altLang="en-US" sz="1000">
                <a:solidFill>
                  <a:srgbClr val="C00000"/>
                </a:solidFill>
                <a:latin typeface="Arial" panose="020B0604020202020204" pitchFamily="34" charset="0"/>
              </a:rPr>
              <a:t>Promo_Key</a:t>
            </a:r>
          </a:p>
        </p:txBody>
      </p:sp>
      <p:sp>
        <p:nvSpPr>
          <p:cNvPr id="66570" name="Line 6">
            <a:extLst>
              <a:ext uri="{FF2B5EF4-FFF2-40B4-BE49-F238E27FC236}">
                <a16:creationId xmlns:a16="http://schemas.microsoft.com/office/drawing/2014/main" id="{4CAFF21E-8875-0BD2-1A0E-51A8830E8071}"/>
              </a:ext>
            </a:extLst>
          </p:cNvPr>
          <p:cNvSpPr>
            <a:spLocks noChangeShapeType="1"/>
          </p:cNvSpPr>
          <p:nvPr/>
        </p:nvSpPr>
        <p:spPr bwMode="auto">
          <a:xfrm>
            <a:off x="6019800" y="4800600"/>
            <a:ext cx="381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Date Placeholder 1">
            <a:extLst>
              <a:ext uri="{FF2B5EF4-FFF2-40B4-BE49-F238E27FC236}">
                <a16:creationId xmlns:a16="http://schemas.microsoft.com/office/drawing/2014/main" id="{4B37159E-6E56-2D7C-34EE-F56448D7ABC3}"/>
              </a:ext>
            </a:extLst>
          </p:cNvPr>
          <p:cNvSpPr>
            <a:spLocks noGrp="1"/>
          </p:cNvSpPr>
          <p:nvPr>
            <p:ph type="dt" sz="quarter" idx="10"/>
          </p:nvPr>
        </p:nvSpPr>
        <p:spPr/>
        <p:txBody>
          <a:bodyPr/>
          <a:lstStyle/>
          <a:p>
            <a:pPr>
              <a:defRPr/>
            </a:pPr>
            <a:fld id="{0E3CA301-2265-4066-8421-7B4353A0FF53}" type="datetime1">
              <a:rPr lang="en-US" smtClean="0"/>
              <a:t>9/30/2025</a:t>
            </a:fld>
            <a:endParaRPr lang="en-US"/>
          </a:p>
        </p:txBody>
      </p:sp>
      <p:sp>
        <p:nvSpPr>
          <p:cNvPr id="3" name="Footer Placeholder 2">
            <a:extLst>
              <a:ext uri="{FF2B5EF4-FFF2-40B4-BE49-F238E27FC236}">
                <a16:creationId xmlns:a16="http://schemas.microsoft.com/office/drawing/2014/main" id="{A2B8C92B-5A3A-3A5E-1FF5-2EBD4BA10689}"/>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8A5F0F46-E6A3-279D-7F9E-AF2D53344B7F}"/>
              </a:ext>
            </a:extLst>
          </p:cNvPr>
          <p:cNvSpPr>
            <a:spLocks noGrp="1"/>
          </p:cNvSpPr>
          <p:nvPr>
            <p:ph type="sldNum" sz="quarter" idx="12"/>
          </p:nvPr>
        </p:nvSpPr>
        <p:spPr/>
        <p:txBody>
          <a:bodyPr/>
          <a:lstStyle/>
          <a:p>
            <a:pPr>
              <a:defRPr/>
            </a:pPr>
            <a:fld id="{7848B761-9CE7-4568-8F44-AD43F30E5BDE}" type="slidenum">
              <a:rPr lang="en-US" altLang="en-US" smtClean="0"/>
              <a:pPr>
                <a:defRPr/>
              </a:pPr>
              <a:t>31</a:t>
            </a:fld>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B8F7677-1849-1933-3B54-139BA8A2714E}"/>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68611" name="Text Box 3">
            <a:extLst>
              <a:ext uri="{FF2B5EF4-FFF2-40B4-BE49-F238E27FC236}">
                <a16:creationId xmlns:a16="http://schemas.microsoft.com/office/drawing/2014/main" id="{F3B2914D-03DC-D23C-0B85-9A2C93E0525D}"/>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68612" name="Text Box 4">
            <a:extLst>
              <a:ext uri="{FF2B5EF4-FFF2-40B4-BE49-F238E27FC236}">
                <a16:creationId xmlns:a16="http://schemas.microsoft.com/office/drawing/2014/main" id="{F0E6DAD2-24E7-924A-9554-464B3BA403CB}"/>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68613" name="Text Box 5">
            <a:extLst>
              <a:ext uri="{FF2B5EF4-FFF2-40B4-BE49-F238E27FC236}">
                <a16:creationId xmlns:a16="http://schemas.microsoft.com/office/drawing/2014/main" id="{57FB30D3-31D0-3D93-755A-706E6867211B}"/>
              </a:ext>
            </a:extLst>
          </p:cNvPr>
          <p:cNvSpPr txBox="1">
            <a:spLocks noChangeArrowheads="1"/>
          </p:cNvSpPr>
          <p:nvPr/>
        </p:nvSpPr>
        <p:spPr bwMode="auto">
          <a:xfrm>
            <a:off x="2590800" y="2012577"/>
            <a:ext cx="70104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7.   Why Need Multiple Fact Tables?</a:t>
            </a:r>
          </a:p>
          <a:p>
            <a:pPr eaLnBrk="1" hangingPunct="1">
              <a:spcBef>
                <a:spcPct val="50000"/>
              </a:spcBef>
            </a:pPr>
            <a:r>
              <a:rPr lang="en-US" altLang="en-US" sz="2400" b="1" dirty="0">
                <a:latin typeface="Tahoma" panose="020B0604030504040204" pitchFamily="34" charset="0"/>
              </a:rPr>
              <a:t>      </a:t>
            </a:r>
            <a:r>
              <a:rPr lang="en-US" altLang="en-US" sz="2000" dirty="0">
                <a:latin typeface="Times New Roman" panose="02020603050405020304" pitchFamily="18" charset="0"/>
              </a:rPr>
              <a:t>Multiple fact tables are needed in several scenarios like: </a:t>
            </a:r>
          </a:p>
          <a:p>
            <a:pPr lvl="2" eaLnBrk="1" hangingPunct="1">
              <a:spcBef>
                <a:spcPct val="50000"/>
              </a:spcBef>
              <a:buFontTx/>
              <a:buChar char="•"/>
            </a:pPr>
            <a:r>
              <a:rPr lang="en-US" altLang="en-US" sz="2000" dirty="0">
                <a:latin typeface="Times New Roman" panose="02020603050405020304" pitchFamily="18" charset="0"/>
              </a:rPr>
              <a:t>  value chain</a:t>
            </a:r>
          </a:p>
          <a:p>
            <a:pPr lvl="2" eaLnBrk="1" hangingPunct="1">
              <a:spcBef>
                <a:spcPct val="50000"/>
              </a:spcBef>
              <a:buFontTx/>
              <a:buChar char="•"/>
            </a:pPr>
            <a:r>
              <a:rPr lang="en-US" altLang="en-US" sz="2000" dirty="0">
                <a:latin typeface="Times New Roman" panose="02020603050405020304" pitchFamily="18" charset="0"/>
              </a:rPr>
              <a:t>  value circle</a:t>
            </a:r>
          </a:p>
          <a:p>
            <a:pPr lvl="2" eaLnBrk="1" hangingPunct="1">
              <a:spcBef>
                <a:spcPct val="50000"/>
              </a:spcBef>
              <a:buFontTx/>
              <a:buChar char="•"/>
            </a:pPr>
            <a:r>
              <a:rPr lang="en-US" altLang="en-US" sz="2000" dirty="0">
                <a:latin typeface="Times New Roman" panose="02020603050405020304" pitchFamily="18" charset="0"/>
              </a:rPr>
              <a:t>  heterogeneous product schemas</a:t>
            </a:r>
          </a:p>
          <a:p>
            <a:pPr lvl="2" eaLnBrk="1" hangingPunct="1">
              <a:spcBef>
                <a:spcPct val="50000"/>
              </a:spcBef>
              <a:buFontTx/>
              <a:buChar char="•"/>
            </a:pPr>
            <a:r>
              <a:rPr lang="en-US" altLang="en-US" sz="2000" dirty="0">
                <a:latin typeface="Times New Roman" panose="02020603050405020304" pitchFamily="18" charset="0"/>
              </a:rPr>
              <a:t>  Transaction and snapshot schemas</a:t>
            </a:r>
          </a:p>
          <a:p>
            <a:pPr lvl="2" eaLnBrk="1" hangingPunct="1">
              <a:spcBef>
                <a:spcPct val="50000"/>
              </a:spcBef>
              <a:buFontTx/>
              <a:buChar char="•"/>
            </a:pPr>
            <a:r>
              <a:rPr lang="en-US" altLang="en-US" sz="2000" dirty="0">
                <a:latin typeface="Times New Roman" panose="02020603050405020304" pitchFamily="18" charset="0"/>
              </a:rPr>
              <a:t>  Aggregates</a:t>
            </a:r>
          </a:p>
        </p:txBody>
      </p:sp>
      <p:sp>
        <p:nvSpPr>
          <p:cNvPr id="2" name="Date Placeholder 1">
            <a:extLst>
              <a:ext uri="{FF2B5EF4-FFF2-40B4-BE49-F238E27FC236}">
                <a16:creationId xmlns:a16="http://schemas.microsoft.com/office/drawing/2014/main" id="{CDDA0421-6B27-F67B-70E5-76CC9B740111}"/>
              </a:ext>
            </a:extLst>
          </p:cNvPr>
          <p:cNvSpPr>
            <a:spLocks noGrp="1"/>
          </p:cNvSpPr>
          <p:nvPr>
            <p:ph type="dt" sz="quarter" idx="10"/>
          </p:nvPr>
        </p:nvSpPr>
        <p:spPr/>
        <p:txBody>
          <a:bodyPr/>
          <a:lstStyle/>
          <a:p>
            <a:pPr>
              <a:defRPr/>
            </a:pPr>
            <a:fld id="{ABCDA4FA-045A-4D1D-A1AB-D63D2F01BA67}" type="datetime1">
              <a:rPr lang="en-US" smtClean="0"/>
              <a:t>9/30/2025</a:t>
            </a:fld>
            <a:endParaRPr lang="en-US"/>
          </a:p>
        </p:txBody>
      </p:sp>
      <p:sp>
        <p:nvSpPr>
          <p:cNvPr id="3" name="Footer Placeholder 2">
            <a:extLst>
              <a:ext uri="{FF2B5EF4-FFF2-40B4-BE49-F238E27FC236}">
                <a16:creationId xmlns:a16="http://schemas.microsoft.com/office/drawing/2014/main" id="{CF36FCAB-D77C-9B8B-A9C1-F78E28D1B72A}"/>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CD7DF4A6-11EC-D0D7-6B13-FA7534DB67E8}"/>
              </a:ext>
            </a:extLst>
          </p:cNvPr>
          <p:cNvSpPr>
            <a:spLocks noGrp="1"/>
          </p:cNvSpPr>
          <p:nvPr>
            <p:ph type="sldNum" sz="quarter" idx="12"/>
          </p:nvPr>
        </p:nvSpPr>
        <p:spPr/>
        <p:txBody>
          <a:bodyPr/>
          <a:lstStyle/>
          <a:p>
            <a:pPr>
              <a:defRPr/>
            </a:pPr>
            <a:fld id="{EE69A0DA-2540-47EE-A3AB-A3F00A83AA43}" type="slidenum">
              <a:rPr lang="en-US" altLang="en-US" smtClean="0"/>
              <a:pPr>
                <a:defRPr/>
              </a:pPr>
              <a:t>32</a:t>
            </a:fld>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5CA43CE-E047-738F-A761-9009C44843CE}"/>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74755" name="Text Box 3">
            <a:extLst>
              <a:ext uri="{FF2B5EF4-FFF2-40B4-BE49-F238E27FC236}">
                <a16:creationId xmlns:a16="http://schemas.microsoft.com/office/drawing/2014/main" id="{694896E7-411C-5B50-B76B-94A76F119DD9}"/>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74756" name="Text Box 4">
            <a:extLst>
              <a:ext uri="{FF2B5EF4-FFF2-40B4-BE49-F238E27FC236}">
                <a16:creationId xmlns:a16="http://schemas.microsoft.com/office/drawing/2014/main" id="{2018D8F8-7391-B57A-6B5D-5E361FEB9BA0}"/>
              </a:ext>
            </a:extLst>
          </p:cNvPr>
          <p:cNvSpPr txBox="1">
            <a:spLocks noChangeArrowheads="1"/>
          </p:cNvSpPr>
          <p:nvPr/>
        </p:nvSpPr>
        <p:spPr bwMode="auto">
          <a:xfrm>
            <a:off x="2743200" y="1752601"/>
            <a:ext cx="74676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7.   Why Need Multiple Fact Tables?</a:t>
            </a:r>
          </a:p>
          <a:p>
            <a:pPr lvl="1" eaLnBrk="1" hangingPunct="1">
              <a:spcBef>
                <a:spcPct val="50000"/>
              </a:spcBef>
            </a:pPr>
            <a:r>
              <a:rPr lang="en-US" altLang="en-US" sz="2400">
                <a:latin typeface="Symbol" panose="05050102010706020507" pitchFamily="18" charset="2"/>
                <a:cs typeface="Times New Roman" panose="02020603050405020304" pitchFamily="18" charset="0"/>
              </a:rPr>
              <a:t>·</a:t>
            </a:r>
            <a:r>
              <a:rPr lang="en-US" altLang="en-US" sz="2400">
                <a:latin typeface="Times New Roman" panose="02020603050405020304" pitchFamily="18" charset="0"/>
                <a:cs typeface="Times New Roman" panose="02020603050405020304" pitchFamily="18" charset="0"/>
              </a:rPr>
              <a:t>  Case of </a:t>
            </a:r>
            <a:r>
              <a:rPr lang="en-US" altLang="en-US" sz="2000">
                <a:latin typeface="Times New Roman" panose="02020603050405020304" pitchFamily="18" charset="0"/>
                <a:cs typeface="Times New Roman" panose="02020603050405020304" pitchFamily="18" charset="0"/>
              </a:rPr>
              <a:t>Value chain    </a:t>
            </a:r>
          </a:p>
          <a:p>
            <a:pPr lvl="1" eaLnBrk="1" hangingPunct="1">
              <a:spcBef>
                <a:spcPct val="50000"/>
              </a:spcBef>
            </a:pPr>
            <a:r>
              <a:rPr lang="en-US" altLang="en-US" sz="2000">
                <a:latin typeface="Times New Roman" panose="02020603050405020304" pitchFamily="18" charset="0"/>
                <a:cs typeface="Times New Roman" panose="02020603050405020304" pitchFamily="18" charset="0"/>
              </a:rPr>
              <a:t>Multiple fact tables are needed to support a business with many processes.  Each process creates one or more fact tables.  When these processes are arranged in order, they are called Value Chain.  </a:t>
            </a:r>
            <a:endParaRPr lang="en-US" altLang="en-US" sz="2000">
              <a:latin typeface="Times New Roman" panose="02020603050405020304" pitchFamily="18" charset="0"/>
            </a:endParaRPr>
          </a:p>
        </p:txBody>
      </p:sp>
      <p:sp>
        <p:nvSpPr>
          <p:cNvPr id="2" name="Date Placeholder 1">
            <a:extLst>
              <a:ext uri="{FF2B5EF4-FFF2-40B4-BE49-F238E27FC236}">
                <a16:creationId xmlns:a16="http://schemas.microsoft.com/office/drawing/2014/main" id="{2495AA7D-DDAE-159A-82E7-E6EA0E07FD9B}"/>
              </a:ext>
            </a:extLst>
          </p:cNvPr>
          <p:cNvSpPr>
            <a:spLocks noGrp="1"/>
          </p:cNvSpPr>
          <p:nvPr>
            <p:ph type="dt" sz="quarter" idx="10"/>
          </p:nvPr>
        </p:nvSpPr>
        <p:spPr/>
        <p:txBody>
          <a:bodyPr/>
          <a:lstStyle/>
          <a:p>
            <a:pPr>
              <a:defRPr/>
            </a:pPr>
            <a:fld id="{0083C02E-3BE4-417A-A492-DEEB76F0F2E3}" type="datetime1">
              <a:rPr lang="en-US" smtClean="0"/>
              <a:t>9/30/2025</a:t>
            </a:fld>
            <a:endParaRPr lang="en-US"/>
          </a:p>
        </p:txBody>
      </p:sp>
      <p:sp>
        <p:nvSpPr>
          <p:cNvPr id="3" name="Footer Placeholder 2">
            <a:extLst>
              <a:ext uri="{FF2B5EF4-FFF2-40B4-BE49-F238E27FC236}">
                <a16:creationId xmlns:a16="http://schemas.microsoft.com/office/drawing/2014/main" id="{AE23FDD4-9E0D-BCA5-4A4C-5D747E9C50EB}"/>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0926FBFB-276F-8BD3-00E0-668305486D51}"/>
              </a:ext>
            </a:extLst>
          </p:cNvPr>
          <p:cNvSpPr>
            <a:spLocks noGrp="1"/>
          </p:cNvSpPr>
          <p:nvPr>
            <p:ph type="sldNum" sz="quarter" idx="12"/>
          </p:nvPr>
        </p:nvSpPr>
        <p:spPr/>
        <p:txBody>
          <a:bodyPr/>
          <a:lstStyle/>
          <a:p>
            <a:pPr>
              <a:defRPr/>
            </a:pPr>
            <a:fld id="{B1A18564-3680-41F2-B138-1887D1096886}" type="slidenum">
              <a:rPr lang="en-US" altLang="en-US" smtClean="0"/>
              <a:pPr>
                <a:defRPr/>
              </a:pPr>
              <a:t>33</a:t>
            </a:fld>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ABA7F6C-F745-6A11-78EC-8F7C91129CDC}"/>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70659" name="Text Box 3">
            <a:extLst>
              <a:ext uri="{FF2B5EF4-FFF2-40B4-BE49-F238E27FC236}">
                <a16:creationId xmlns:a16="http://schemas.microsoft.com/office/drawing/2014/main" id="{EF1278E8-F3B6-E6ED-40FB-8CC83F3BF7C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70660" name="Text Box 6">
            <a:extLst>
              <a:ext uri="{FF2B5EF4-FFF2-40B4-BE49-F238E27FC236}">
                <a16:creationId xmlns:a16="http://schemas.microsoft.com/office/drawing/2014/main" id="{4C33CAA7-3122-BF47-E654-722C23319815}"/>
              </a:ext>
            </a:extLst>
          </p:cNvPr>
          <p:cNvSpPr txBox="1">
            <a:spLocks noChangeArrowheads="1"/>
          </p:cNvSpPr>
          <p:nvPr/>
        </p:nvSpPr>
        <p:spPr bwMode="auto">
          <a:xfrm>
            <a:off x="2743200" y="1752601"/>
            <a:ext cx="7010400" cy="398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7.   Why Need Multiple Fact Tables?</a:t>
            </a:r>
          </a:p>
          <a:p>
            <a:pPr lvl="1" eaLnBrk="1" hangingPunct="1">
              <a:spcBef>
                <a:spcPct val="50000"/>
              </a:spcBef>
            </a:pPr>
            <a:r>
              <a:rPr lang="en-US" altLang="en-US" sz="2400" dirty="0">
                <a:latin typeface="Symbol" panose="05050102010706020507" pitchFamily="18" charset="2"/>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C00000"/>
                </a:solidFill>
                <a:latin typeface="Times New Roman" panose="02020603050405020304" pitchFamily="18" charset="0"/>
                <a:cs typeface="Times New Roman" panose="02020603050405020304" pitchFamily="18" charset="0"/>
              </a:rPr>
              <a:t>For a </a:t>
            </a:r>
            <a:r>
              <a:rPr lang="en-US" altLang="en-US" sz="2000" dirty="0">
                <a:solidFill>
                  <a:srgbClr val="C00000"/>
                </a:solidFill>
                <a:latin typeface="Times New Roman" panose="02020603050405020304" pitchFamily="18" charset="0"/>
                <a:cs typeface="Times New Roman" panose="02020603050405020304" pitchFamily="18" charset="0"/>
              </a:rPr>
              <a:t>Value chain </a:t>
            </a:r>
            <a:r>
              <a:rPr lang="en-US" altLang="en-US" sz="2000" dirty="0">
                <a:latin typeface="Times New Roman" panose="02020603050405020304" pitchFamily="18" charset="0"/>
                <a:cs typeface="Times New Roman" panose="02020603050405020304" pitchFamily="18" charset="0"/>
              </a:rPr>
              <a:t>  </a:t>
            </a:r>
          </a:p>
          <a:p>
            <a:pPr lvl="2" eaLnBrk="1" hangingPunct="1">
              <a:spcBef>
                <a:spcPct val="50000"/>
              </a:spcBef>
              <a:buFontTx/>
              <a:buChar char="•"/>
            </a:pPr>
            <a:r>
              <a:rPr lang="en-US" altLang="en-US" sz="1600" dirty="0">
                <a:latin typeface="Times New Roman" panose="02020603050405020304" pitchFamily="18" charset="0"/>
                <a:cs typeface="Times New Roman" panose="02020603050405020304" pitchFamily="18" charset="0"/>
              </a:rPr>
              <a:t>  In Manufacturing business, a product travels through various steps, starting off as raw materials and ending as finished goods in the warehouse inventory.  Steps include addition of ingredients, assembly of materials, process control, packaging etc.  </a:t>
            </a:r>
          </a:p>
          <a:p>
            <a:pPr lvl="2" eaLnBrk="1" hangingPunct="1">
              <a:spcBef>
                <a:spcPct val="50000"/>
              </a:spcBef>
              <a:buFontTx/>
              <a:buChar char="•"/>
            </a:pPr>
            <a:r>
              <a:rPr lang="en-US" altLang="en-US" sz="1600" dirty="0">
                <a:latin typeface="Times New Roman" panose="02020603050405020304" pitchFamily="18" charset="0"/>
                <a:cs typeface="Times New Roman" panose="02020603050405020304" pitchFamily="18" charset="0"/>
              </a:rPr>
              <a:t> From finished goods inventory, a product moves into shipment to distributor, distributor inventory, distributor shipment, retail inventory, …  </a:t>
            </a:r>
          </a:p>
          <a:p>
            <a:pPr lvl="2" eaLnBrk="1" hangingPunct="1">
              <a:spcBef>
                <a:spcPct val="50000"/>
              </a:spcBef>
              <a:buFontTx/>
              <a:buChar char="•"/>
            </a:pPr>
            <a:r>
              <a:rPr lang="en-US" altLang="en-US" sz="1600" dirty="0">
                <a:latin typeface="Times New Roman" panose="02020603050405020304" pitchFamily="18" charset="0"/>
                <a:cs typeface="Times New Roman" panose="02020603050405020304" pitchFamily="18" charset="0"/>
              </a:rPr>
              <a:t> At each step, value is added to the product.  This workflow forms value chain or </a:t>
            </a:r>
            <a:r>
              <a:rPr lang="en-US" altLang="en-US" sz="1600" b="1" dirty="0">
                <a:latin typeface="Times New Roman" panose="02020603050405020304" pitchFamily="18" charset="0"/>
                <a:cs typeface="Times New Roman" panose="02020603050405020304" pitchFamily="18" charset="0"/>
              </a:rPr>
              <a:t>supply chain</a:t>
            </a:r>
            <a:r>
              <a:rPr lang="en-US" altLang="en-US" sz="1600" dirty="0">
                <a:latin typeface="Times New Roman" panose="02020603050405020304" pitchFamily="18" charset="0"/>
                <a:cs typeface="Times New Roman" panose="02020603050405020304" pitchFamily="18" charset="0"/>
              </a:rPr>
              <a:t>.   </a:t>
            </a:r>
          </a:p>
          <a:p>
            <a:pPr lvl="1" eaLnBrk="1" hangingPunct="1">
              <a:spcBef>
                <a:spcPct val="50000"/>
              </a:spcBef>
            </a:pPr>
            <a:r>
              <a:rPr lang="en-US" altLang="en-US" dirty="0">
                <a:latin typeface="Arial" panose="020B0604020202020204" pitchFamily="34" charset="0"/>
              </a:rPr>
              <a:t>Other Examples are Insurance, Order Processing, and others.</a:t>
            </a:r>
            <a:endParaRPr lang="en-US" altLang="en-US" sz="1600"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7D19BDDD-1870-E3A7-B321-406FBA1F5732}"/>
              </a:ext>
            </a:extLst>
          </p:cNvPr>
          <p:cNvSpPr>
            <a:spLocks noGrp="1"/>
          </p:cNvSpPr>
          <p:nvPr>
            <p:ph type="dt" sz="quarter" idx="10"/>
          </p:nvPr>
        </p:nvSpPr>
        <p:spPr/>
        <p:txBody>
          <a:bodyPr/>
          <a:lstStyle/>
          <a:p>
            <a:pPr>
              <a:defRPr/>
            </a:pPr>
            <a:fld id="{69524004-0AB7-4927-8063-ECE621224553}" type="datetime1">
              <a:rPr lang="en-US" smtClean="0"/>
              <a:t>9/30/2025</a:t>
            </a:fld>
            <a:endParaRPr lang="en-US"/>
          </a:p>
        </p:txBody>
      </p:sp>
      <p:sp>
        <p:nvSpPr>
          <p:cNvPr id="3" name="Footer Placeholder 2">
            <a:extLst>
              <a:ext uri="{FF2B5EF4-FFF2-40B4-BE49-F238E27FC236}">
                <a16:creationId xmlns:a16="http://schemas.microsoft.com/office/drawing/2014/main" id="{BEFB34E1-7B51-F8AE-EAE2-0BDCC26733DE}"/>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D2948AC-3079-EAD6-C77C-749D0DEAC371}"/>
              </a:ext>
            </a:extLst>
          </p:cNvPr>
          <p:cNvSpPr>
            <a:spLocks noGrp="1"/>
          </p:cNvSpPr>
          <p:nvPr>
            <p:ph type="sldNum" sz="quarter" idx="12"/>
          </p:nvPr>
        </p:nvSpPr>
        <p:spPr/>
        <p:txBody>
          <a:bodyPr/>
          <a:lstStyle/>
          <a:p>
            <a:pPr>
              <a:defRPr/>
            </a:pPr>
            <a:fld id="{2F4F01DE-B7B5-4264-9396-116341363D81}" type="slidenum">
              <a:rPr lang="en-US" altLang="en-US" smtClean="0"/>
              <a:pPr>
                <a:defRPr/>
              </a:pPr>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07129B2-28D4-32FC-0AC2-248EB0A0D28C}"/>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72707" name="Text Box 4">
            <a:extLst>
              <a:ext uri="{FF2B5EF4-FFF2-40B4-BE49-F238E27FC236}">
                <a16:creationId xmlns:a16="http://schemas.microsoft.com/office/drawing/2014/main" id="{7FC878F5-D933-6EA8-3374-68EB1D6C19F8}"/>
              </a:ext>
            </a:extLst>
          </p:cNvPr>
          <p:cNvSpPr txBox="1">
            <a:spLocks noChangeArrowheads="1"/>
          </p:cNvSpPr>
          <p:nvPr/>
        </p:nvSpPr>
        <p:spPr bwMode="auto">
          <a:xfrm>
            <a:off x="2743200" y="1752601"/>
            <a:ext cx="7010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7.   Why Need Multiple Fact Tables?</a:t>
            </a:r>
          </a:p>
          <a:p>
            <a:pPr lvl="1" eaLnBrk="1" hangingPunct="1">
              <a:spcBef>
                <a:spcPct val="50000"/>
              </a:spcBef>
            </a:pPr>
            <a:r>
              <a:rPr lang="en-US" altLang="en-US" sz="2400" dirty="0">
                <a:latin typeface="Symbol" panose="05050102010706020507" pitchFamily="18" charset="2"/>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 Typical Value chain    </a:t>
            </a:r>
          </a:p>
          <a:p>
            <a:pPr lvl="2" eaLnBrk="1" hangingPunct="1">
              <a:spcBef>
                <a:spcPct val="50000"/>
              </a:spcBef>
              <a:buFontTx/>
              <a:buChar char="•"/>
            </a:pPr>
            <a:r>
              <a:rPr lang="en-US" altLang="en-US" sz="1600" dirty="0">
                <a:latin typeface="Times New Roman" panose="02020603050405020304" pitchFamily="18" charset="0"/>
                <a:cs typeface="Times New Roman" panose="02020603050405020304" pitchFamily="18" charset="0"/>
              </a:rPr>
              <a:t>  If you are in one of these businesses, you need to track important metrics at different steps along the value chain.</a:t>
            </a:r>
            <a:endParaRPr lang="en-US" altLang="en-US" sz="1600" dirty="0">
              <a:latin typeface="Times New Roman" panose="02020603050405020304" pitchFamily="18" charset="0"/>
            </a:endParaRPr>
          </a:p>
        </p:txBody>
      </p:sp>
      <p:grpSp>
        <p:nvGrpSpPr>
          <p:cNvPr id="72708" name="Group 2">
            <a:extLst>
              <a:ext uri="{FF2B5EF4-FFF2-40B4-BE49-F238E27FC236}">
                <a16:creationId xmlns:a16="http://schemas.microsoft.com/office/drawing/2014/main" id="{7196BBD0-BF47-3ABE-CFAD-2E1D648FB65B}"/>
              </a:ext>
            </a:extLst>
          </p:cNvPr>
          <p:cNvGrpSpPr>
            <a:grpSpLocks/>
          </p:cNvGrpSpPr>
          <p:nvPr/>
        </p:nvGrpSpPr>
        <p:grpSpPr bwMode="auto">
          <a:xfrm>
            <a:off x="2438400" y="2971800"/>
            <a:ext cx="8077200" cy="3581400"/>
            <a:chOff x="228600" y="2667000"/>
            <a:chExt cx="8077200" cy="3581400"/>
          </a:xfrm>
        </p:grpSpPr>
        <p:sp>
          <p:nvSpPr>
            <p:cNvPr id="2" name="Rectangle 1">
              <a:extLst>
                <a:ext uri="{FF2B5EF4-FFF2-40B4-BE49-F238E27FC236}">
                  <a16:creationId xmlns:a16="http://schemas.microsoft.com/office/drawing/2014/main" id="{9D02B57E-F7D8-BEC9-D136-4C9321D4E8A2}"/>
                </a:ext>
              </a:extLst>
            </p:cNvPr>
            <p:cNvSpPr/>
            <p:nvPr/>
          </p:nvSpPr>
          <p:spPr>
            <a:xfrm>
              <a:off x="457200" y="3503613"/>
              <a:ext cx="1828800" cy="9906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72713" name="Text Box 3">
              <a:extLst>
                <a:ext uri="{FF2B5EF4-FFF2-40B4-BE49-F238E27FC236}">
                  <a16:creationId xmlns:a16="http://schemas.microsoft.com/office/drawing/2014/main" id="{EBD2A8D0-9459-2D76-D00C-69088A5F808C}"/>
                </a:ext>
              </a:extLst>
            </p:cNvPr>
            <p:cNvSpPr txBox="1">
              <a:spLocks noChangeArrowheads="1"/>
            </p:cNvSpPr>
            <p:nvPr/>
          </p:nvSpPr>
          <p:spPr bwMode="auto">
            <a:xfrm>
              <a:off x="1371600" y="2667000"/>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72714" name="Text Box 5">
              <a:extLst>
                <a:ext uri="{FF2B5EF4-FFF2-40B4-BE49-F238E27FC236}">
                  <a16:creationId xmlns:a16="http://schemas.microsoft.com/office/drawing/2014/main" id="{B4F23DD6-0E06-A70C-5669-D9CFC2A55AC1}"/>
                </a:ext>
              </a:extLst>
            </p:cNvPr>
            <p:cNvSpPr txBox="1">
              <a:spLocks noChangeArrowheads="1"/>
            </p:cNvSpPr>
            <p:nvPr/>
          </p:nvSpPr>
          <p:spPr bwMode="auto">
            <a:xfrm>
              <a:off x="762000" y="3657600"/>
              <a:ext cx="1447800" cy="77001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Times New Roman" panose="02020603050405020304" pitchFamily="18" charset="0"/>
                </a:rPr>
                <a:t>Finished goods Inventory</a:t>
              </a:r>
            </a:p>
            <a:p>
              <a:pPr eaLnBrk="1" hangingPunct="1">
                <a:lnSpc>
                  <a:spcPct val="60000"/>
                </a:lnSpc>
                <a:spcBef>
                  <a:spcPct val="50000"/>
                </a:spcBef>
              </a:pPr>
              <a:r>
                <a:rPr lang="en-US" altLang="en-US" sz="1400" b="1">
                  <a:latin typeface="Times New Roman" panose="02020603050405020304" pitchFamily="18" charset="0"/>
                </a:rPr>
                <a:t>fact table</a:t>
              </a:r>
            </a:p>
          </p:txBody>
        </p:sp>
        <p:sp>
          <p:nvSpPr>
            <p:cNvPr id="72715" name="Text Box 6">
              <a:extLst>
                <a:ext uri="{FF2B5EF4-FFF2-40B4-BE49-F238E27FC236}">
                  <a16:creationId xmlns:a16="http://schemas.microsoft.com/office/drawing/2014/main" id="{79EDF58D-87F4-EA6E-D215-9D151937D9AC}"/>
                </a:ext>
              </a:extLst>
            </p:cNvPr>
            <p:cNvSpPr txBox="1">
              <a:spLocks noChangeArrowheads="1"/>
            </p:cNvSpPr>
            <p:nvPr/>
          </p:nvSpPr>
          <p:spPr bwMode="auto">
            <a:xfrm>
              <a:off x="2438400" y="3657600"/>
              <a:ext cx="1905000"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Times New Roman" panose="02020603050405020304" pitchFamily="18" charset="0"/>
                </a:rPr>
                <a:t>Manufacturing Shipments to Distr. Center fact table</a:t>
              </a:r>
            </a:p>
          </p:txBody>
        </p:sp>
        <p:sp>
          <p:nvSpPr>
            <p:cNvPr id="72716" name="Text Box 7">
              <a:extLst>
                <a:ext uri="{FF2B5EF4-FFF2-40B4-BE49-F238E27FC236}">
                  <a16:creationId xmlns:a16="http://schemas.microsoft.com/office/drawing/2014/main" id="{C90B123D-1D07-8EA5-C4D9-2E898973D11B}"/>
                </a:ext>
              </a:extLst>
            </p:cNvPr>
            <p:cNvSpPr txBox="1">
              <a:spLocks noChangeArrowheads="1"/>
            </p:cNvSpPr>
            <p:nvPr/>
          </p:nvSpPr>
          <p:spPr bwMode="auto">
            <a:xfrm>
              <a:off x="4648200" y="3657600"/>
              <a:ext cx="1219200" cy="9525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Times New Roman" panose="02020603050405020304" pitchFamily="18" charset="0"/>
                </a:rPr>
                <a:t>Distribution Center Inventory fact table</a:t>
              </a:r>
            </a:p>
          </p:txBody>
        </p:sp>
        <p:sp>
          <p:nvSpPr>
            <p:cNvPr id="72717" name="Text Box 8">
              <a:extLst>
                <a:ext uri="{FF2B5EF4-FFF2-40B4-BE49-F238E27FC236}">
                  <a16:creationId xmlns:a16="http://schemas.microsoft.com/office/drawing/2014/main" id="{899A60D6-4BA2-B038-02B6-081D0AADA3A7}"/>
                </a:ext>
              </a:extLst>
            </p:cNvPr>
            <p:cNvSpPr txBox="1">
              <a:spLocks noChangeArrowheads="1"/>
            </p:cNvSpPr>
            <p:nvPr/>
          </p:nvSpPr>
          <p:spPr bwMode="auto">
            <a:xfrm>
              <a:off x="6172200" y="3733800"/>
              <a:ext cx="1752600"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Times New Roman" panose="02020603050405020304" pitchFamily="18" charset="0"/>
                </a:rPr>
                <a:t>DC Depletions  to Retail Stores fact table</a:t>
              </a:r>
            </a:p>
          </p:txBody>
        </p:sp>
        <p:sp>
          <p:nvSpPr>
            <p:cNvPr id="72718" name="Text Box 12">
              <a:extLst>
                <a:ext uri="{FF2B5EF4-FFF2-40B4-BE49-F238E27FC236}">
                  <a16:creationId xmlns:a16="http://schemas.microsoft.com/office/drawing/2014/main" id="{1074A16C-727A-33AB-7E5B-852DB0742EC9}"/>
                </a:ext>
              </a:extLst>
            </p:cNvPr>
            <p:cNvSpPr txBox="1">
              <a:spLocks noChangeArrowheads="1"/>
            </p:cNvSpPr>
            <p:nvPr/>
          </p:nvSpPr>
          <p:spPr bwMode="auto">
            <a:xfrm>
              <a:off x="6172200" y="4648200"/>
              <a:ext cx="1752600" cy="527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Times New Roman" panose="02020603050405020304" pitchFamily="18" charset="0"/>
                </a:rPr>
                <a:t>Retail Store Inventory fact table</a:t>
              </a:r>
            </a:p>
          </p:txBody>
        </p:sp>
        <p:sp>
          <p:nvSpPr>
            <p:cNvPr id="72719" name="Text Box 13">
              <a:extLst>
                <a:ext uri="{FF2B5EF4-FFF2-40B4-BE49-F238E27FC236}">
                  <a16:creationId xmlns:a16="http://schemas.microsoft.com/office/drawing/2014/main" id="{6C18B721-50F8-EBEB-111E-03754F4380CD}"/>
                </a:ext>
              </a:extLst>
            </p:cNvPr>
            <p:cNvSpPr txBox="1">
              <a:spLocks noChangeArrowheads="1"/>
            </p:cNvSpPr>
            <p:nvPr/>
          </p:nvSpPr>
          <p:spPr bwMode="auto">
            <a:xfrm>
              <a:off x="6172200" y="5410200"/>
              <a:ext cx="1752600" cy="527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Times New Roman" panose="02020603050405020304" pitchFamily="18" charset="0"/>
                </a:rPr>
                <a:t>Retail Stores Sale fact table</a:t>
              </a:r>
            </a:p>
          </p:txBody>
        </p:sp>
        <p:sp>
          <p:nvSpPr>
            <p:cNvPr id="72720" name="Line 14">
              <a:extLst>
                <a:ext uri="{FF2B5EF4-FFF2-40B4-BE49-F238E27FC236}">
                  <a16:creationId xmlns:a16="http://schemas.microsoft.com/office/drawing/2014/main" id="{45FB3E16-FAE1-EFBE-43FD-6F4B64F43E2D}"/>
                </a:ext>
              </a:extLst>
            </p:cNvPr>
            <p:cNvSpPr>
              <a:spLocks noChangeShapeType="1"/>
            </p:cNvSpPr>
            <p:nvPr/>
          </p:nvSpPr>
          <p:spPr bwMode="auto">
            <a:xfrm>
              <a:off x="990600" y="4800600"/>
              <a:ext cx="4953000" cy="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1" name="Line 15">
              <a:extLst>
                <a:ext uri="{FF2B5EF4-FFF2-40B4-BE49-F238E27FC236}">
                  <a16:creationId xmlns:a16="http://schemas.microsoft.com/office/drawing/2014/main" id="{894B329E-7CA1-F234-A77A-9378F9FDD021}"/>
                </a:ext>
              </a:extLst>
            </p:cNvPr>
            <p:cNvSpPr>
              <a:spLocks noChangeShapeType="1"/>
            </p:cNvSpPr>
            <p:nvPr/>
          </p:nvSpPr>
          <p:spPr bwMode="auto">
            <a:xfrm>
              <a:off x="5943600" y="4800600"/>
              <a:ext cx="0" cy="14478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2" name="Text Box 16">
              <a:extLst>
                <a:ext uri="{FF2B5EF4-FFF2-40B4-BE49-F238E27FC236}">
                  <a16:creationId xmlns:a16="http://schemas.microsoft.com/office/drawing/2014/main" id="{E6CD91E1-4141-498B-B5ED-ED2BE6B978C3}"/>
                </a:ext>
              </a:extLst>
            </p:cNvPr>
            <p:cNvSpPr txBox="1">
              <a:spLocks noChangeArrowheads="1"/>
            </p:cNvSpPr>
            <p:nvPr/>
          </p:nvSpPr>
          <p:spPr bwMode="auto">
            <a:xfrm>
              <a:off x="2895600" y="4800600"/>
              <a:ext cx="289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r" eaLnBrk="1" hangingPunct="1">
                <a:spcBef>
                  <a:spcPct val="50000"/>
                </a:spcBef>
              </a:pPr>
              <a:r>
                <a:rPr lang="en-US" altLang="en-US">
                  <a:solidFill>
                    <a:schemeClr val="accent2"/>
                  </a:solidFill>
                  <a:latin typeface="Arena Black" pitchFamily="2" charset="0"/>
                </a:rPr>
                <a:t>Value chain </a:t>
              </a:r>
              <a:r>
                <a:rPr lang="en-US" altLang="en-US">
                  <a:solidFill>
                    <a:schemeClr val="accent2"/>
                  </a:solidFill>
                  <a:latin typeface="Arena Black" pitchFamily="2" charset="0"/>
                  <a:sym typeface="Wingdings" panose="05000000000000000000" pitchFamily="2" charset="2"/>
                </a:rPr>
                <a:t></a:t>
              </a:r>
              <a:endParaRPr lang="en-US" altLang="en-US">
                <a:solidFill>
                  <a:schemeClr val="accent2"/>
                </a:solidFill>
                <a:latin typeface="Arena Black" pitchFamily="2" charset="0"/>
              </a:endParaRPr>
            </a:p>
          </p:txBody>
        </p:sp>
        <p:sp>
          <p:nvSpPr>
            <p:cNvPr id="72723" name="Text Box 17">
              <a:extLst>
                <a:ext uri="{FF2B5EF4-FFF2-40B4-BE49-F238E27FC236}">
                  <a16:creationId xmlns:a16="http://schemas.microsoft.com/office/drawing/2014/main" id="{00F86B3F-EC12-C948-B09B-D2925136396E}"/>
                </a:ext>
              </a:extLst>
            </p:cNvPr>
            <p:cNvSpPr txBox="1">
              <a:spLocks noChangeArrowheads="1"/>
            </p:cNvSpPr>
            <p:nvPr/>
          </p:nvSpPr>
          <p:spPr bwMode="auto">
            <a:xfrm>
              <a:off x="457200" y="5410200"/>
              <a:ext cx="6096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TIME</a:t>
              </a:r>
            </a:p>
          </p:txBody>
        </p:sp>
        <p:sp>
          <p:nvSpPr>
            <p:cNvPr id="72724" name="Text Box 18">
              <a:extLst>
                <a:ext uri="{FF2B5EF4-FFF2-40B4-BE49-F238E27FC236}">
                  <a16:creationId xmlns:a16="http://schemas.microsoft.com/office/drawing/2014/main" id="{6CE6E19E-AD52-D8E2-11C9-5DDACFD0B005}"/>
                </a:ext>
              </a:extLst>
            </p:cNvPr>
            <p:cNvSpPr txBox="1">
              <a:spLocks noChangeArrowheads="1"/>
            </p:cNvSpPr>
            <p:nvPr/>
          </p:nvSpPr>
          <p:spPr bwMode="auto">
            <a:xfrm>
              <a:off x="3505200" y="5257800"/>
              <a:ext cx="6096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DC</a:t>
              </a:r>
            </a:p>
          </p:txBody>
        </p:sp>
        <p:sp>
          <p:nvSpPr>
            <p:cNvPr id="72725" name="Text Box 19">
              <a:extLst>
                <a:ext uri="{FF2B5EF4-FFF2-40B4-BE49-F238E27FC236}">
                  <a16:creationId xmlns:a16="http://schemas.microsoft.com/office/drawing/2014/main" id="{17A0DACD-6AD0-090A-032E-08EC531E073F}"/>
                </a:ext>
              </a:extLst>
            </p:cNvPr>
            <p:cNvSpPr txBox="1">
              <a:spLocks noChangeArrowheads="1"/>
            </p:cNvSpPr>
            <p:nvPr/>
          </p:nvSpPr>
          <p:spPr bwMode="auto">
            <a:xfrm>
              <a:off x="228600" y="2862263"/>
              <a:ext cx="990600" cy="28416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WAREHS</a:t>
              </a:r>
            </a:p>
          </p:txBody>
        </p:sp>
        <p:sp>
          <p:nvSpPr>
            <p:cNvPr id="72726" name="Text Box 20">
              <a:extLst>
                <a:ext uri="{FF2B5EF4-FFF2-40B4-BE49-F238E27FC236}">
                  <a16:creationId xmlns:a16="http://schemas.microsoft.com/office/drawing/2014/main" id="{3E2DE2F2-0AE1-0F67-D20B-5DDB45DE89CC}"/>
                </a:ext>
              </a:extLst>
            </p:cNvPr>
            <p:cNvSpPr txBox="1">
              <a:spLocks noChangeArrowheads="1"/>
            </p:cNvSpPr>
            <p:nvPr/>
          </p:nvSpPr>
          <p:spPr bwMode="auto">
            <a:xfrm>
              <a:off x="1371600" y="5410200"/>
              <a:ext cx="6096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SKU</a:t>
              </a:r>
            </a:p>
          </p:txBody>
        </p:sp>
        <p:sp>
          <p:nvSpPr>
            <p:cNvPr id="72727" name="Line 21">
              <a:extLst>
                <a:ext uri="{FF2B5EF4-FFF2-40B4-BE49-F238E27FC236}">
                  <a16:creationId xmlns:a16="http://schemas.microsoft.com/office/drawing/2014/main" id="{DD3DBAD5-CB07-69F4-662C-DBFA89259940}"/>
                </a:ext>
              </a:extLst>
            </p:cNvPr>
            <p:cNvSpPr>
              <a:spLocks noChangeShapeType="1"/>
            </p:cNvSpPr>
            <p:nvPr/>
          </p:nvSpPr>
          <p:spPr bwMode="auto">
            <a:xfrm>
              <a:off x="609600" y="3200400"/>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8" name="Line 22">
              <a:extLst>
                <a:ext uri="{FF2B5EF4-FFF2-40B4-BE49-F238E27FC236}">
                  <a16:creationId xmlns:a16="http://schemas.microsoft.com/office/drawing/2014/main" id="{D14EE6F7-3B31-2145-59E5-06E97FDBB413}"/>
                </a:ext>
              </a:extLst>
            </p:cNvPr>
            <p:cNvSpPr>
              <a:spLocks noChangeShapeType="1"/>
            </p:cNvSpPr>
            <p:nvPr/>
          </p:nvSpPr>
          <p:spPr bwMode="auto">
            <a:xfrm flipV="1">
              <a:off x="685800" y="44196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9" name="Line 23">
              <a:extLst>
                <a:ext uri="{FF2B5EF4-FFF2-40B4-BE49-F238E27FC236}">
                  <a16:creationId xmlns:a16="http://schemas.microsoft.com/office/drawing/2014/main" id="{FFD54BDC-9EA7-9C35-FA11-3B31825FD107}"/>
                </a:ext>
              </a:extLst>
            </p:cNvPr>
            <p:cNvSpPr>
              <a:spLocks noChangeShapeType="1"/>
            </p:cNvSpPr>
            <p:nvPr/>
          </p:nvSpPr>
          <p:spPr bwMode="auto">
            <a:xfrm flipH="1" flipV="1">
              <a:off x="1219200" y="4419600"/>
              <a:ext cx="3810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0" name="Line 24">
              <a:extLst>
                <a:ext uri="{FF2B5EF4-FFF2-40B4-BE49-F238E27FC236}">
                  <a16:creationId xmlns:a16="http://schemas.microsoft.com/office/drawing/2014/main" id="{5D443DF7-798D-98F4-FBAC-3D8BAF2DF64B}"/>
                </a:ext>
              </a:extLst>
            </p:cNvPr>
            <p:cNvSpPr>
              <a:spLocks noChangeShapeType="1"/>
            </p:cNvSpPr>
            <p:nvPr/>
          </p:nvSpPr>
          <p:spPr bwMode="auto">
            <a:xfrm flipV="1">
              <a:off x="762000" y="4419600"/>
              <a:ext cx="18288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1" name="Line 25">
              <a:extLst>
                <a:ext uri="{FF2B5EF4-FFF2-40B4-BE49-F238E27FC236}">
                  <a16:creationId xmlns:a16="http://schemas.microsoft.com/office/drawing/2014/main" id="{999B5D12-D0D3-CDF8-2A8B-23EDE35F7672}"/>
                </a:ext>
              </a:extLst>
            </p:cNvPr>
            <p:cNvSpPr>
              <a:spLocks noChangeShapeType="1"/>
            </p:cNvSpPr>
            <p:nvPr/>
          </p:nvSpPr>
          <p:spPr bwMode="auto">
            <a:xfrm flipV="1">
              <a:off x="1828800" y="4419600"/>
              <a:ext cx="838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2" name="Line 26">
              <a:extLst>
                <a:ext uri="{FF2B5EF4-FFF2-40B4-BE49-F238E27FC236}">
                  <a16:creationId xmlns:a16="http://schemas.microsoft.com/office/drawing/2014/main" id="{6642CD6A-B122-4034-91EC-817DC88AF250}"/>
                </a:ext>
              </a:extLst>
            </p:cNvPr>
            <p:cNvSpPr>
              <a:spLocks noChangeShapeType="1"/>
            </p:cNvSpPr>
            <p:nvPr/>
          </p:nvSpPr>
          <p:spPr bwMode="auto">
            <a:xfrm flipH="1" flipV="1">
              <a:off x="2743200" y="4419600"/>
              <a:ext cx="10668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3" name="Text Box 27">
              <a:extLst>
                <a:ext uri="{FF2B5EF4-FFF2-40B4-BE49-F238E27FC236}">
                  <a16:creationId xmlns:a16="http://schemas.microsoft.com/office/drawing/2014/main" id="{E3E9499D-D6A1-AC3B-1C0B-F3C2ED6640F1}"/>
                </a:ext>
              </a:extLst>
            </p:cNvPr>
            <p:cNvSpPr txBox="1">
              <a:spLocks noChangeArrowheads="1"/>
            </p:cNvSpPr>
            <p:nvPr/>
          </p:nvSpPr>
          <p:spPr bwMode="auto">
            <a:xfrm>
              <a:off x="2209800" y="5867400"/>
              <a:ext cx="11430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CONTRACT</a:t>
              </a:r>
            </a:p>
          </p:txBody>
        </p:sp>
        <p:sp>
          <p:nvSpPr>
            <p:cNvPr id="72734" name="Line 28">
              <a:extLst>
                <a:ext uri="{FF2B5EF4-FFF2-40B4-BE49-F238E27FC236}">
                  <a16:creationId xmlns:a16="http://schemas.microsoft.com/office/drawing/2014/main" id="{2AE63619-7735-CAF8-7396-058B014388A7}"/>
                </a:ext>
              </a:extLst>
            </p:cNvPr>
            <p:cNvSpPr>
              <a:spLocks noChangeShapeType="1"/>
            </p:cNvSpPr>
            <p:nvPr/>
          </p:nvSpPr>
          <p:spPr bwMode="auto">
            <a:xfrm flipH="1" flipV="1">
              <a:off x="2667000" y="4343400"/>
              <a:ext cx="7620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5" name="Line 29">
              <a:extLst>
                <a:ext uri="{FF2B5EF4-FFF2-40B4-BE49-F238E27FC236}">
                  <a16:creationId xmlns:a16="http://schemas.microsoft.com/office/drawing/2014/main" id="{51B485B3-D9D7-8756-4550-A3E2BE927565}"/>
                </a:ext>
              </a:extLst>
            </p:cNvPr>
            <p:cNvSpPr>
              <a:spLocks noChangeShapeType="1"/>
            </p:cNvSpPr>
            <p:nvPr/>
          </p:nvSpPr>
          <p:spPr bwMode="auto">
            <a:xfrm flipV="1">
              <a:off x="838200" y="4495800"/>
              <a:ext cx="3810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6" name="Line 30">
              <a:extLst>
                <a:ext uri="{FF2B5EF4-FFF2-40B4-BE49-F238E27FC236}">
                  <a16:creationId xmlns:a16="http://schemas.microsoft.com/office/drawing/2014/main" id="{ED8556E2-E8E1-BE1B-909C-1F09F51FCA5F}"/>
                </a:ext>
              </a:extLst>
            </p:cNvPr>
            <p:cNvSpPr>
              <a:spLocks noChangeShapeType="1"/>
            </p:cNvSpPr>
            <p:nvPr/>
          </p:nvSpPr>
          <p:spPr bwMode="auto">
            <a:xfrm flipV="1">
              <a:off x="1981200" y="4495800"/>
              <a:ext cx="26670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7" name="Line 31">
              <a:extLst>
                <a:ext uri="{FF2B5EF4-FFF2-40B4-BE49-F238E27FC236}">
                  <a16:creationId xmlns:a16="http://schemas.microsoft.com/office/drawing/2014/main" id="{3C1B87EF-184C-6D1C-AD9A-2A83771AC5EE}"/>
                </a:ext>
              </a:extLst>
            </p:cNvPr>
            <p:cNvSpPr>
              <a:spLocks noChangeShapeType="1"/>
            </p:cNvSpPr>
            <p:nvPr/>
          </p:nvSpPr>
          <p:spPr bwMode="auto">
            <a:xfrm flipV="1">
              <a:off x="3886200" y="4495800"/>
              <a:ext cx="762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 name="Date Placeholder 2">
            <a:extLst>
              <a:ext uri="{FF2B5EF4-FFF2-40B4-BE49-F238E27FC236}">
                <a16:creationId xmlns:a16="http://schemas.microsoft.com/office/drawing/2014/main" id="{6ED389FA-47B3-6B67-13CB-EDA58F1E0EA5}"/>
              </a:ext>
            </a:extLst>
          </p:cNvPr>
          <p:cNvSpPr>
            <a:spLocks noGrp="1"/>
          </p:cNvSpPr>
          <p:nvPr>
            <p:ph type="dt" sz="quarter" idx="10"/>
          </p:nvPr>
        </p:nvSpPr>
        <p:spPr/>
        <p:txBody>
          <a:bodyPr/>
          <a:lstStyle/>
          <a:p>
            <a:pPr>
              <a:defRPr/>
            </a:pPr>
            <a:fld id="{4FC96A27-3EDF-4B93-9383-A2C3FCBDD0EA}" type="datetime1">
              <a:rPr lang="en-US" smtClean="0"/>
              <a:t>9/30/2025</a:t>
            </a:fld>
            <a:endParaRPr lang="en-US"/>
          </a:p>
        </p:txBody>
      </p:sp>
      <p:sp>
        <p:nvSpPr>
          <p:cNvPr id="4" name="Footer Placeholder 3">
            <a:extLst>
              <a:ext uri="{FF2B5EF4-FFF2-40B4-BE49-F238E27FC236}">
                <a16:creationId xmlns:a16="http://schemas.microsoft.com/office/drawing/2014/main" id="{43AAE37A-A335-D6C1-9DF2-A749332B5763}"/>
              </a:ext>
            </a:extLst>
          </p:cNvPr>
          <p:cNvSpPr>
            <a:spLocks noGrp="1"/>
          </p:cNvSpPr>
          <p:nvPr>
            <p:ph type="ftr" sz="quarter" idx="11"/>
          </p:nvPr>
        </p:nvSpPr>
        <p:spPr/>
        <p:txBody>
          <a:bodyPr/>
          <a:lstStyle/>
          <a:p>
            <a:pPr>
              <a:defRPr/>
            </a:pPr>
            <a:r>
              <a:rPr lang="en-US"/>
              <a:t>Copyrighted by Arun Sen</a:t>
            </a:r>
          </a:p>
        </p:txBody>
      </p:sp>
      <p:sp>
        <p:nvSpPr>
          <p:cNvPr id="5" name="Slide Number Placeholder 4">
            <a:extLst>
              <a:ext uri="{FF2B5EF4-FFF2-40B4-BE49-F238E27FC236}">
                <a16:creationId xmlns:a16="http://schemas.microsoft.com/office/drawing/2014/main" id="{CA1BDCE4-05B7-0313-51EC-D65F0E2A9350}"/>
              </a:ext>
            </a:extLst>
          </p:cNvPr>
          <p:cNvSpPr>
            <a:spLocks noGrp="1"/>
          </p:cNvSpPr>
          <p:nvPr>
            <p:ph type="sldNum" sz="quarter" idx="12"/>
          </p:nvPr>
        </p:nvSpPr>
        <p:spPr/>
        <p:txBody>
          <a:bodyPr/>
          <a:lstStyle/>
          <a:p>
            <a:pPr>
              <a:defRPr/>
            </a:pPr>
            <a:fld id="{86DAC0C3-3E42-4DA3-B1EF-A262ED1FB48A}" type="slidenum">
              <a:rPr lang="en-US" altLang="en-US" smtClean="0"/>
              <a:pPr>
                <a:defRPr/>
              </a:pPr>
              <a:t>35</a:t>
            </a:fld>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57D17A56-792A-93E5-9864-6A0519E32801}"/>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76803" name="Text Box 3">
            <a:extLst>
              <a:ext uri="{FF2B5EF4-FFF2-40B4-BE49-F238E27FC236}">
                <a16:creationId xmlns:a16="http://schemas.microsoft.com/office/drawing/2014/main" id="{9C49C726-7F08-CDCC-A9CA-21D01D36A9B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76804" name="Text Box 4">
            <a:extLst>
              <a:ext uri="{FF2B5EF4-FFF2-40B4-BE49-F238E27FC236}">
                <a16:creationId xmlns:a16="http://schemas.microsoft.com/office/drawing/2014/main" id="{FAD24FB8-2C93-3D1E-E89C-F3C26BBDCE2D}"/>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76805" name="Text Box 5">
            <a:extLst>
              <a:ext uri="{FF2B5EF4-FFF2-40B4-BE49-F238E27FC236}">
                <a16:creationId xmlns:a16="http://schemas.microsoft.com/office/drawing/2014/main" id="{9C59D37F-F15A-75DB-6A85-BAE40033491A}"/>
              </a:ext>
            </a:extLst>
          </p:cNvPr>
          <p:cNvSpPr txBox="1">
            <a:spLocks noChangeArrowheads="1"/>
          </p:cNvSpPr>
          <p:nvPr/>
        </p:nvSpPr>
        <p:spPr bwMode="auto">
          <a:xfrm>
            <a:off x="2819399" y="1752600"/>
            <a:ext cx="7884459"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7.   Why Need Multiple Fact Tables?</a:t>
            </a:r>
            <a:endParaRPr lang="en-US" altLang="en-US" sz="2400" dirty="0">
              <a:latin typeface="Times New Roman" panose="02020603050405020304" pitchFamily="18" charset="0"/>
            </a:endParaRPr>
          </a:p>
          <a:p>
            <a:pPr lvl="2" eaLnBrk="1" hangingPunct="1">
              <a:spcBef>
                <a:spcPct val="50000"/>
              </a:spcBef>
              <a:buFontTx/>
              <a:buChar char="•"/>
            </a:pPr>
            <a:r>
              <a:rPr lang="en-US" altLang="en-US" sz="2000" dirty="0">
                <a:latin typeface="Times New Roman" panose="02020603050405020304" pitchFamily="18" charset="0"/>
              </a:rPr>
              <a:t> </a:t>
            </a:r>
            <a:r>
              <a:rPr lang="en-US" altLang="en-US" sz="2000" dirty="0">
                <a:solidFill>
                  <a:srgbClr val="FF0000"/>
                </a:solidFill>
                <a:latin typeface="Times New Roman" panose="02020603050405020304" pitchFamily="18" charset="0"/>
              </a:rPr>
              <a:t>For a Value circle</a:t>
            </a:r>
          </a:p>
          <a:p>
            <a:pPr lvl="3" eaLnBrk="1" hangingPunct="1">
              <a:spcBef>
                <a:spcPct val="50000"/>
              </a:spcBef>
            </a:pPr>
            <a:r>
              <a:rPr lang="en-US" altLang="en-US" sz="2000" dirty="0">
                <a:latin typeface="Symbol" panose="05050102010706020507" pitchFamily="18" charset="2"/>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The businesses can be organized in a  value circle so that they are performing or measuring the same kind of transaction.  Examples are hospitals, clinics, physician offices, etc. for patient treatments.</a:t>
            </a:r>
            <a:endParaRPr lang="en-US" altLang="en-US" sz="2000" dirty="0">
              <a:latin typeface="Times New Roman" panose="02020603050405020304" pitchFamily="18" charset="0"/>
            </a:endParaRPr>
          </a:p>
        </p:txBody>
      </p:sp>
      <p:sp>
        <p:nvSpPr>
          <p:cNvPr id="76806" name="Text Box 7">
            <a:extLst>
              <a:ext uri="{FF2B5EF4-FFF2-40B4-BE49-F238E27FC236}">
                <a16:creationId xmlns:a16="http://schemas.microsoft.com/office/drawing/2014/main" id="{7ADAE6B8-4DB2-E0F3-2621-CB0DD72D338C}"/>
              </a:ext>
            </a:extLst>
          </p:cNvPr>
          <p:cNvSpPr txBox="1">
            <a:spLocks noChangeArrowheads="1"/>
          </p:cNvSpPr>
          <p:nvPr/>
        </p:nvSpPr>
        <p:spPr bwMode="auto">
          <a:xfrm>
            <a:off x="4267200" y="4267200"/>
            <a:ext cx="1371600" cy="584200"/>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ahoma" panose="020B0604030504040204" pitchFamily="34" charset="0"/>
              </a:rPr>
              <a:t>Hospital fact table</a:t>
            </a:r>
          </a:p>
        </p:txBody>
      </p:sp>
      <p:sp>
        <p:nvSpPr>
          <p:cNvPr id="76807" name="Text Box 8">
            <a:extLst>
              <a:ext uri="{FF2B5EF4-FFF2-40B4-BE49-F238E27FC236}">
                <a16:creationId xmlns:a16="http://schemas.microsoft.com/office/drawing/2014/main" id="{6B8F963B-1582-575A-6A2F-2A52D3A72EB3}"/>
              </a:ext>
            </a:extLst>
          </p:cNvPr>
          <p:cNvSpPr txBox="1">
            <a:spLocks noChangeArrowheads="1"/>
          </p:cNvSpPr>
          <p:nvPr/>
        </p:nvSpPr>
        <p:spPr bwMode="auto">
          <a:xfrm>
            <a:off x="7467600" y="5105401"/>
            <a:ext cx="1447800" cy="346075"/>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ahoma" panose="020B0604030504040204" pitchFamily="34" charset="0"/>
              </a:rPr>
              <a:t>laboratories</a:t>
            </a:r>
          </a:p>
        </p:txBody>
      </p:sp>
      <p:sp>
        <p:nvSpPr>
          <p:cNvPr id="76808" name="Text Box 9">
            <a:extLst>
              <a:ext uri="{FF2B5EF4-FFF2-40B4-BE49-F238E27FC236}">
                <a16:creationId xmlns:a16="http://schemas.microsoft.com/office/drawing/2014/main" id="{B1D188E6-F4DE-47A9-1E5F-76AB9ABC49EF}"/>
              </a:ext>
            </a:extLst>
          </p:cNvPr>
          <p:cNvSpPr txBox="1">
            <a:spLocks noChangeArrowheads="1"/>
          </p:cNvSpPr>
          <p:nvPr/>
        </p:nvSpPr>
        <p:spPr bwMode="auto">
          <a:xfrm>
            <a:off x="6248400" y="4267201"/>
            <a:ext cx="1219200" cy="346075"/>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ahoma" panose="020B0604030504040204" pitchFamily="34" charset="0"/>
              </a:rPr>
              <a:t>pharmacies</a:t>
            </a:r>
          </a:p>
        </p:txBody>
      </p:sp>
      <p:sp>
        <p:nvSpPr>
          <p:cNvPr id="76809" name="Text Box 10">
            <a:extLst>
              <a:ext uri="{FF2B5EF4-FFF2-40B4-BE49-F238E27FC236}">
                <a16:creationId xmlns:a16="http://schemas.microsoft.com/office/drawing/2014/main" id="{1026F9A0-4DE4-70D7-C212-E3908084EC74}"/>
              </a:ext>
            </a:extLst>
          </p:cNvPr>
          <p:cNvSpPr txBox="1">
            <a:spLocks noChangeArrowheads="1"/>
          </p:cNvSpPr>
          <p:nvPr/>
        </p:nvSpPr>
        <p:spPr bwMode="auto">
          <a:xfrm>
            <a:off x="3657600" y="5105400"/>
            <a:ext cx="1066800" cy="584200"/>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ahoma" panose="020B0604030504040204" pitchFamily="34" charset="0"/>
              </a:rPr>
              <a:t>Clinics fact table</a:t>
            </a:r>
          </a:p>
        </p:txBody>
      </p:sp>
      <p:sp>
        <p:nvSpPr>
          <p:cNvPr id="76810" name="Text Box 4">
            <a:extLst>
              <a:ext uri="{FF2B5EF4-FFF2-40B4-BE49-F238E27FC236}">
                <a16:creationId xmlns:a16="http://schemas.microsoft.com/office/drawing/2014/main" id="{79BA663F-510E-2DF5-3376-124443A0704B}"/>
              </a:ext>
            </a:extLst>
          </p:cNvPr>
          <p:cNvSpPr txBox="1">
            <a:spLocks noChangeArrowheads="1"/>
          </p:cNvSpPr>
          <p:nvPr/>
        </p:nvSpPr>
        <p:spPr bwMode="auto">
          <a:xfrm>
            <a:off x="4114800" y="6096001"/>
            <a:ext cx="1143000" cy="346075"/>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ahoma" panose="020B0604030504040204" pitchFamily="34" charset="0"/>
              </a:rPr>
              <a:t>medicare</a:t>
            </a:r>
          </a:p>
        </p:txBody>
      </p:sp>
      <p:sp>
        <p:nvSpPr>
          <p:cNvPr id="76811" name="Text Box 5">
            <a:extLst>
              <a:ext uri="{FF2B5EF4-FFF2-40B4-BE49-F238E27FC236}">
                <a16:creationId xmlns:a16="http://schemas.microsoft.com/office/drawing/2014/main" id="{E5AEB05D-DE17-01F1-F32F-583762C2030A}"/>
              </a:ext>
            </a:extLst>
          </p:cNvPr>
          <p:cNvSpPr txBox="1">
            <a:spLocks noChangeArrowheads="1"/>
          </p:cNvSpPr>
          <p:nvPr/>
        </p:nvSpPr>
        <p:spPr bwMode="auto">
          <a:xfrm>
            <a:off x="6629400" y="6248401"/>
            <a:ext cx="1066800" cy="346075"/>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ahoma" panose="020B0604030504040204" pitchFamily="34" charset="0"/>
              </a:rPr>
              <a:t>insurance</a:t>
            </a:r>
          </a:p>
        </p:txBody>
      </p:sp>
      <p:sp>
        <p:nvSpPr>
          <p:cNvPr id="76812" name="Text Box 6">
            <a:extLst>
              <a:ext uri="{FF2B5EF4-FFF2-40B4-BE49-F238E27FC236}">
                <a16:creationId xmlns:a16="http://schemas.microsoft.com/office/drawing/2014/main" id="{CC05581D-550D-EC7E-DBA5-D952ED324A69}"/>
              </a:ext>
            </a:extLst>
          </p:cNvPr>
          <p:cNvSpPr txBox="1">
            <a:spLocks noChangeArrowheads="1"/>
          </p:cNvSpPr>
          <p:nvPr/>
        </p:nvSpPr>
        <p:spPr bwMode="auto">
          <a:xfrm>
            <a:off x="2057400" y="4953001"/>
            <a:ext cx="9144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PATIENT</a:t>
            </a:r>
          </a:p>
        </p:txBody>
      </p:sp>
      <p:sp>
        <p:nvSpPr>
          <p:cNvPr id="76813" name="Text Box 7">
            <a:extLst>
              <a:ext uri="{FF2B5EF4-FFF2-40B4-BE49-F238E27FC236}">
                <a16:creationId xmlns:a16="http://schemas.microsoft.com/office/drawing/2014/main" id="{E6F4EF26-319D-E6D7-5311-A9A0D4665DCD}"/>
              </a:ext>
            </a:extLst>
          </p:cNvPr>
          <p:cNvSpPr txBox="1">
            <a:spLocks noChangeArrowheads="1"/>
          </p:cNvSpPr>
          <p:nvPr/>
        </p:nvSpPr>
        <p:spPr bwMode="auto">
          <a:xfrm>
            <a:off x="2057400" y="5791201"/>
            <a:ext cx="10668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PROVIDER</a:t>
            </a:r>
          </a:p>
        </p:txBody>
      </p:sp>
      <p:sp>
        <p:nvSpPr>
          <p:cNvPr id="76814" name="Text Box 8">
            <a:extLst>
              <a:ext uri="{FF2B5EF4-FFF2-40B4-BE49-F238E27FC236}">
                <a16:creationId xmlns:a16="http://schemas.microsoft.com/office/drawing/2014/main" id="{597E91C9-4C65-5082-BADC-C88829A3B9B0}"/>
              </a:ext>
            </a:extLst>
          </p:cNvPr>
          <p:cNvSpPr txBox="1">
            <a:spLocks noChangeArrowheads="1"/>
          </p:cNvSpPr>
          <p:nvPr/>
        </p:nvSpPr>
        <p:spPr bwMode="auto">
          <a:xfrm>
            <a:off x="2819400" y="6324601"/>
            <a:ext cx="9906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LOCATION</a:t>
            </a:r>
          </a:p>
        </p:txBody>
      </p:sp>
      <p:sp>
        <p:nvSpPr>
          <p:cNvPr id="76815" name="Text Box 9">
            <a:extLst>
              <a:ext uri="{FF2B5EF4-FFF2-40B4-BE49-F238E27FC236}">
                <a16:creationId xmlns:a16="http://schemas.microsoft.com/office/drawing/2014/main" id="{8EAEA80F-ED9F-5903-63AA-1238D1B79A56}"/>
              </a:ext>
            </a:extLst>
          </p:cNvPr>
          <p:cNvSpPr txBox="1">
            <a:spLocks noChangeArrowheads="1"/>
          </p:cNvSpPr>
          <p:nvPr/>
        </p:nvSpPr>
        <p:spPr bwMode="auto">
          <a:xfrm>
            <a:off x="2362200" y="4267201"/>
            <a:ext cx="12954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TIME dimension</a:t>
            </a:r>
          </a:p>
        </p:txBody>
      </p:sp>
      <p:sp>
        <p:nvSpPr>
          <p:cNvPr id="76816" name="Text Box 10">
            <a:extLst>
              <a:ext uri="{FF2B5EF4-FFF2-40B4-BE49-F238E27FC236}">
                <a16:creationId xmlns:a16="http://schemas.microsoft.com/office/drawing/2014/main" id="{F26F8852-FA4E-2BCF-DD75-655920FE9B83}"/>
              </a:ext>
            </a:extLst>
          </p:cNvPr>
          <p:cNvSpPr txBox="1">
            <a:spLocks noChangeArrowheads="1"/>
          </p:cNvSpPr>
          <p:nvPr/>
        </p:nvSpPr>
        <p:spPr bwMode="auto">
          <a:xfrm>
            <a:off x="8458200" y="6172201"/>
            <a:ext cx="11430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TREATMENT</a:t>
            </a:r>
          </a:p>
        </p:txBody>
      </p:sp>
      <p:sp>
        <p:nvSpPr>
          <p:cNvPr id="76817" name="Text Box 11">
            <a:extLst>
              <a:ext uri="{FF2B5EF4-FFF2-40B4-BE49-F238E27FC236}">
                <a16:creationId xmlns:a16="http://schemas.microsoft.com/office/drawing/2014/main" id="{05E93275-4A24-E2C3-BE21-83E183408B3F}"/>
              </a:ext>
            </a:extLst>
          </p:cNvPr>
          <p:cNvSpPr txBox="1">
            <a:spLocks noChangeArrowheads="1"/>
          </p:cNvSpPr>
          <p:nvPr/>
        </p:nvSpPr>
        <p:spPr bwMode="auto">
          <a:xfrm>
            <a:off x="8915400" y="4267201"/>
            <a:ext cx="12192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DIAGNOSIS</a:t>
            </a:r>
          </a:p>
        </p:txBody>
      </p:sp>
      <p:sp>
        <p:nvSpPr>
          <p:cNvPr id="76818" name="Text Box 12">
            <a:extLst>
              <a:ext uri="{FF2B5EF4-FFF2-40B4-BE49-F238E27FC236}">
                <a16:creationId xmlns:a16="http://schemas.microsoft.com/office/drawing/2014/main" id="{4C24D2E5-2073-FF84-9E40-B35860B6CE27}"/>
              </a:ext>
            </a:extLst>
          </p:cNvPr>
          <p:cNvSpPr txBox="1">
            <a:spLocks noChangeArrowheads="1"/>
          </p:cNvSpPr>
          <p:nvPr/>
        </p:nvSpPr>
        <p:spPr bwMode="auto">
          <a:xfrm>
            <a:off x="9525000" y="5105401"/>
            <a:ext cx="762000" cy="284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Arial" panose="020B0604020202020204" pitchFamily="34" charset="0"/>
              </a:rPr>
              <a:t>PAYER</a:t>
            </a:r>
          </a:p>
        </p:txBody>
      </p:sp>
      <p:sp>
        <p:nvSpPr>
          <p:cNvPr id="76819" name="Oval 14">
            <a:extLst>
              <a:ext uri="{FF2B5EF4-FFF2-40B4-BE49-F238E27FC236}">
                <a16:creationId xmlns:a16="http://schemas.microsoft.com/office/drawing/2014/main" id="{23021826-F182-8E7E-A209-41BBF1223AB6}"/>
              </a:ext>
            </a:extLst>
          </p:cNvPr>
          <p:cNvSpPr>
            <a:spLocks noChangeArrowheads="1"/>
          </p:cNvSpPr>
          <p:nvPr/>
        </p:nvSpPr>
        <p:spPr bwMode="auto">
          <a:xfrm>
            <a:off x="4648200" y="4724400"/>
            <a:ext cx="2743200" cy="1371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endParaRPr lang="en-US" altLang="en-US" sz="1400">
              <a:latin typeface="Century Gothic" panose="020B0502020202020204" pitchFamily="34" charset="0"/>
            </a:endParaRPr>
          </a:p>
        </p:txBody>
      </p:sp>
      <p:sp>
        <p:nvSpPr>
          <p:cNvPr id="76820" name="Text Box 15">
            <a:extLst>
              <a:ext uri="{FF2B5EF4-FFF2-40B4-BE49-F238E27FC236}">
                <a16:creationId xmlns:a16="http://schemas.microsoft.com/office/drawing/2014/main" id="{074AFA38-213F-8E4F-A48E-3BD17D7B540E}"/>
              </a:ext>
            </a:extLst>
          </p:cNvPr>
          <p:cNvSpPr txBox="1">
            <a:spLocks noChangeArrowheads="1"/>
          </p:cNvSpPr>
          <p:nvPr/>
        </p:nvSpPr>
        <p:spPr bwMode="auto">
          <a:xfrm>
            <a:off x="4953000" y="5181601"/>
            <a:ext cx="2209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000">
                <a:latin typeface="Arial" panose="020B0604020202020204" pitchFamily="34" charset="0"/>
              </a:rPr>
              <a:t>GENERATING “PATIENT TREATMENT” OR MEASURING IT</a:t>
            </a:r>
          </a:p>
        </p:txBody>
      </p:sp>
      <p:cxnSp>
        <p:nvCxnSpPr>
          <p:cNvPr id="3" name="Straight Connector 2">
            <a:extLst>
              <a:ext uri="{FF2B5EF4-FFF2-40B4-BE49-F238E27FC236}">
                <a16:creationId xmlns:a16="http://schemas.microsoft.com/office/drawing/2014/main" id="{9B944A83-66EE-56AA-BC83-27FC48D62401}"/>
              </a:ext>
            </a:extLst>
          </p:cNvPr>
          <p:cNvCxnSpPr>
            <a:cxnSpLocks/>
            <a:stCxn id="76815" idx="3"/>
            <a:endCxn id="76806" idx="1"/>
          </p:cNvCxnSpPr>
          <p:nvPr/>
        </p:nvCxnSpPr>
        <p:spPr>
          <a:xfrm>
            <a:off x="3657600" y="4410076"/>
            <a:ext cx="609600" cy="149225"/>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4B51720F-6AE8-8389-3E76-76683BD340EE}"/>
              </a:ext>
            </a:extLst>
          </p:cNvPr>
          <p:cNvCxnSpPr>
            <a:cxnSpLocks/>
            <a:stCxn id="76812" idx="3"/>
            <a:endCxn id="76806" idx="1"/>
          </p:cNvCxnSpPr>
          <p:nvPr/>
        </p:nvCxnSpPr>
        <p:spPr>
          <a:xfrm flipV="1">
            <a:off x="2971800" y="4559301"/>
            <a:ext cx="1295400" cy="536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E46E82A-B4A4-37D6-19D5-8CA097C8A465}"/>
              </a:ext>
            </a:extLst>
          </p:cNvPr>
          <p:cNvCxnSpPr>
            <a:stCxn id="76815" idx="2"/>
          </p:cNvCxnSpPr>
          <p:nvPr/>
        </p:nvCxnSpPr>
        <p:spPr>
          <a:xfrm>
            <a:off x="3009900" y="4551364"/>
            <a:ext cx="876300" cy="554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D6C29A-1215-C314-276A-5C44802C416A}"/>
              </a:ext>
            </a:extLst>
          </p:cNvPr>
          <p:cNvCxnSpPr>
            <a:cxnSpLocks/>
            <a:stCxn id="76812" idx="3"/>
            <a:endCxn id="76809" idx="1"/>
          </p:cNvCxnSpPr>
          <p:nvPr/>
        </p:nvCxnSpPr>
        <p:spPr>
          <a:xfrm>
            <a:off x="2971800" y="5095876"/>
            <a:ext cx="685800" cy="301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F08940D-DCC6-41D2-1A36-FF2FDCA0E05B}"/>
              </a:ext>
            </a:extLst>
          </p:cNvPr>
          <p:cNvCxnSpPr>
            <a:cxnSpLocks/>
            <a:stCxn id="76813" idx="3"/>
            <a:endCxn id="76809" idx="1"/>
          </p:cNvCxnSpPr>
          <p:nvPr/>
        </p:nvCxnSpPr>
        <p:spPr>
          <a:xfrm flipV="1">
            <a:off x="3124200" y="5397501"/>
            <a:ext cx="533400" cy="536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C551A12-B63F-131F-565D-28840D61D026}"/>
              </a:ext>
            </a:extLst>
          </p:cNvPr>
          <p:cNvCxnSpPr>
            <a:stCxn id="76813" idx="3"/>
          </p:cNvCxnSpPr>
          <p:nvPr/>
        </p:nvCxnSpPr>
        <p:spPr>
          <a:xfrm flipV="1">
            <a:off x="3124200" y="4440239"/>
            <a:ext cx="1143000" cy="1493837"/>
          </a:xfrm>
          <a:prstGeom prst="line">
            <a:avLst/>
          </a:prstGeom>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AE45E04D-32F6-48DC-C522-0ABCF2D6576D}"/>
              </a:ext>
            </a:extLst>
          </p:cNvPr>
          <p:cNvSpPr>
            <a:spLocks noGrp="1"/>
          </p:cNvSpPr>
          <p:nvPr>
            <p:ph type="dt" sz="quarter" idx="10"/>
          </p:nvPr>
        </p:nvSpPr>
        <p:spPr/>
        <p:txBody>
          <a:bodyPr/>
          <a:lstStyle/>
          <a:p>
            <a:pPr>
              <a:defRPr/>
            </a:pPr>
            <a:fld id="{6DCFF95D-249F-43B9-9F17-B2E26B7A576D}" type="datetime1">
              <a:rPr lang="en-US" smtClean="0"/>
              <a:t>9/30/2025</a:t>
            </a:fld>
            <a:endParaRPr lang="en-US" dirty="0"/>
          </a:p>
        </p:txBody>
      </p:sp>
      <p:sp>
        <p:nvSpPr>
          <p:cNvPr id="4" name="Footer Placeholder 3">
            <a:extLst>
              <a:ext uri="{FF2B5EF4-FFF2-40B4-BE49-F238E27FC236}">
                <a16:creationId xmlns:a16="http://schemas.microsoft.com/office/drawing/2014/main" id="{A4E9A228-F7FD-20F9-8C35-1BF8968FE680}"/>
              </a:ext>
            </a:extLst>
          </p:cNvPr>
          <p:cNvSpPr>
            <a:spLocks noGrp="1"/>
          </p:cNvSpPr>
          <p:nvPr>
            <p:ph type="ftr" sz="quarter" idx="11"/>
          </p:nvPr>
        </p:nvSpPr>
        <p:spPr/>
        <p:txBody>
          <a:bodyPr/>
          <a:lstStyle/>
          <a:p>
            <a:pPr>
              <a:defRPr/>
            </a:pPr>
            <a:r>
              <a:rPr lang="en-US"/>
              <a:t>Copyrighted by Arun Sen</a:t>
            </a:r>
          </a:p>
        </p:txBody>
      </p:sp>
      <p:sp>
        <p:nvSpPr>
          <p:cNvPr id="6" name="Slide Number Placeholder 5">
            <a:extLst>
              <a:ext uri="{FF2B5EF4-FFF2-40B4-BE49-F238E27FC236}">
                <a16:creationId xmlns:a16="http://schemas.microsoft.com/office/drawing/2014/main" id="{25D3CBE0-B404-DDD4-64D0-1C4761F10E7F}"/>
              </a:ext>
            </a:extLst>
          </p:cNvPr>
          <p:cNvSpPr>
            <a:spLocks noGrp="1"/>
          </p:cNvSpPr>
          <p:nvPr>
            <p:ph type="sldNum" sz="quarter" idx="12"/>
          </p:nvPr>
        </p:nvSpPr>
        <p:spPr/>
        <p:txBody>
          <a:bodyPr/>
          <a:lstStyle/>
          <a:p>
            <a:pPr>
              <a:defRPr/>
            </a:pPr>
            <a:fld id="{E87663D5-EAAF-43B1-B180-5F03818AB1C2}" type="slidenum">
              <a:rPr lang="en-US" altLang="en-US" smtClean="0"/>
              <a:pPr>
                <a:defRPr/>
              </a:pPr>
              <a:t>36</a:t>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CAEBC568-8F1B-FED0-88E4-BD1905CEF047}"/>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78851" name="Text Box 3">
            <a:extLst>
              <a:ext uri="{FF2B5EF4-FFF2-40B4-BE49-F238E27FC236}">
                <a16:creationId xmlns:a16="http://schemas.microsoft.com/office/drawing/2014/main" id="{BD73B9FD-34E2-BD89-4E74-7DD4D5235B5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78852" name="Text Box 4">
            <a:extLst>
              <a:ext uri="{FF2B5EF4-FFF2-40B4-BE49-F238E27FC236}">
                <a16:creationId xmlns:a16="http://schemas.microsoft.com/office/drawing/2014/main" id="{24978A90-0835-E48E-D137-29B4505B80AB}"/>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78853" name="Text Box 5">
            <a:extLst>
              <a:ext uri="{FF2B5EF4-FFF2-40B4-BE49-F238E27FC236}">
                <a16:creationId xmlns:a16="http://schemas.microsoft.com/office/drawing/2014/main" id="{EA35EB1D-E3CA-A13D-363A-A3C1EDBDB234}"/>
              </a:ext>
            </a:extLst>
          </p:cNvPr>
          <p:cNvSpPr txBox="1">
            <a:spLocks noChangeArrowheads="1"/>
          </p:cNvSpPr>
          <p:nvPr/>
        </p:nvSpPr>
        <p:spPr bwMode="auto">
          <a:xfrm>
            <a:off x="2743200" y="1676400"/>
            <a:ext cx="70104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7.   Why Need Multiple Fact Tables?</a:t>
            </a:r>
            <a:endParaRPr lang="en-US" altLang="en-US" sz="2400" dirty="0">
              <a:latin typeface="Times New Roman" panose="02020603050405020304" pitchFamily="18" charset="0"/>
            </a:endParaRPr>
          </a:p>
          <a:p>
            <a:pPr lvl="1" eaLnBrk="1" hangingPunct="1">
              <a:spcBef>
                <a:spcPct val="50000"/>
              </a:spcBef>
              <a:buFontTx/>
              <a:buChar char="•"/>
            </a:pPr>
            <a:r>
              <a:rPr lang="en-US" altLang="en-US" sz="2400" dirty="0">
                <a:latin typeface="Times New Roman" panose="02020603050405020304" pitchFamily="18" charset="0"/>
              </a:rPr>
              <a:t>  </a:t>
            </a:r>
            <a:r>
              <a:rPr lang="en-US" altLang="en-US" sz="2400" dirty="0">
                <a:solidFill>
                  <a:srgbClr val="FF0000"/>
                </a:solidFill>
                <a:latin typeface="Times New Roman" panose="02020603050405020304" pitchFamily="18" charset="0"/>
              </a:rPr>
              <a:t>For a </a:t>
            </a:r>
            <a:r>
              <a:rPr lang="en-US" altLang="en-US" sz="2000" dirty="0">
                <a:solidFill>
                  <a:srgbClr val="FF0000"/>
                </a:solidFill>
                <a:latin typeface="Times New Roman" panose="02020603050405020304" pitchFamily="18" charset="0"/>
              </a:rPr>
              <a:t>Heterogeneous product schema</a:t>
            </a:r>
          </a:p>
          <a:p>
            <a:pPr lvl="2" eaLnBrk="1" hangingPunct="1">
              <a:spcBef>
                <a:spcPct val="50000"/>
              </a:spcBef>
              <a:buFontTx/>
              <a:buChar char="•"/>
            </a:pPr>
            <a:r>
              <a:rPr lang="en-US" altLang="en-US" sz="2000" dirty="0">
                <a:latin typeface="Times New Roman" panose="02020603050405020304" pitchFamily="18" charset="0"/>
              </a:rPr>
              <a:t>  </a:t>
            </a:r>
            <a:r>
              <a:rPr lang="en-US" altLang="en-US" sz="1600" dirty="0">
                <a:latin typeface="Times New Roman" panose="02020603050405020304" pitchFamily="18" charset="0"/>
              </a:rPr>
              <a:t>There are many business that apparently “produce” things that are quite dissimilar.  </a:t>
            </a:r>
            <a:r>
              <a:rPr lang="en-US" altLang="en-US" sz="1600" dirty="0">
                <a:solidFill>
                  <a:srgbClr val="FF0000"/>
                </a:solidFill>
                <a:latin typeface="Times New Roman" panose="02020603050405020304" pitchFamily="18" charset="0"/>
              </a:rPr>
              <a:t>For example, a bank may have different lines of businesses, some of which are similar and others are dissimilar</a:t>
            </a:r>
            <a:r>
              <a:rPr lang="en-US" altLang="en-US" sz="1600" dirty="0">
                <a:latin typeface="Times New Roman" panose="02020603050405020304" pitchFamily="18" charset="0"/>
              </a:rPr>
              <a:t>.  The  “savings a/c” and “checking a/c” are similar businesses while they are different from “credit card ops.”  These are called “</a:t>
            </a:r>
            <a:r>
              <a:rPr lang="en-US" altLang="en-US" sz="1600" b="1" dirty="0">
                <a:latin typeface="Times New Roman" panose="02020603050405020304" pitchFamily="18" charset="0"/>
              </a:rPr>
              <a:t>heterogeneous products.</a:t>
            </a:r>
            <a:r>
              <a:rPr lang="en-US" altLang="en-US" sz="1600" dirty="0">
                <a:latin typeface="Times New Roman" panose="02020603050405020304" pitchFamily="18" charset="0"/>
              </a:rPr>
              <a:t>”  </a:t>
            </a:r>
            <a:r>
              <a:rPr lang="en-US" altLang="en-US" sz="1600" i="1" dirty="0">
                <a:latin typeface="Times New Roman" panose="02020603050405020304" pitchFamily="18" charset="0"/>
              </a:rPr>
              <a:t>How do you track these dissimilar services or products?   </a:t>
            </a:r>
          </a:p>
          <a:p>
            <a:pPr lvl="3" eaLnBrk="1" hangingPunct="1">
              <a:spcBef>
                <a:spcPct val="50000"/>
              </a:spcBef>
              <a:buFontTx/>
              <a:buChar char="•"/>
            </a:pPr>
            <a:r>
              <a:rPr lang="en-US" altLang="en-US" sz="1600" i="1" dirty="0">
                <a:latin typeface="Times New Roman" panose="02020603050405020304" pitchFamily="18" charset="0"/>
              </a:rPr>
              <a:t>   We use CORE FACT TABLE and CUSTOM FACT TABLE.  </a:t>
            </a:r>
            <a:endParaRPr lang="en-US" altLang="en-US" sz="2000" dirty="0">
              <a:latin typeface="Times New Roman" panose="02020603050405020304" pitchFamily="18" charset="0"/>
            </a:endParaRPr>
          </a:p>
          <a:p>
            <a:pPr lvl="2" eaLnBrk="1" hangingPunct="1">
              <a:spcBef>
                <a:spcPct val="50000"/>
              </a:spcBef>
            </a:pPr>
            <a:endParaRPr lang="en-US" altLang="en-US" sz="2000"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6E73B0C7-858A-E693-0053-E2974886B000}"/>
              </a:ext>
            </a:extLst>
          </p:cNvPr>
          <p:cNvSpPr>
            <a:spLocks noGrp="1"/>
          </p:cNvSpPr>
          <p:nvPr>
            <p:ph type="dt" sz="quarter" idx="10"/>
          </p:nvPr>
        </p:nvSpPr>
        <p:spPr/>
        <p:txBody>
          <a:bodyPr/>
          <a:lstStyle/>
          <a:p>
            <a:pPr>
              <a:defRPr/>
            </a:pPr>
            <a:fld id="{37FB2496-1489-4F88-8964-7845D0A610D3}" type="datetime1">
              <a:rPr lang="en-US" smtClean="0"/>
              <a:t>9/30/2025</a:t>
            </a:fld>
            <a:endParaRPr lang="en-US"/>
          </a:p>
        </p:txBody>
      </p:sp>
      <p:sp>
        <p:nvSpPr>
          <p:cNvPr id="3" name="Footer Placeholder 2">
            <a:extLst>
              <a:ext uri="{FF2B5EF4-FFF2-40B4-BE49-F238E27FC236}">
                <a16:creationId xmlns:a16="http://schemas.microsoft.com/office/drawing/2014/main" id="{54679F38-B853-EAD2-F997-EA30F444B421}"/>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5B79CFB0-4160-A22D-2F6B-749BA3908DA7}"/>
              </a:ext>
            </a:extLst>
          </p:cNvPr>
          <p:cNvSpPr>
            <a:spLocks noGrp="1"/>
          </p:cNvSpPr>
          <p:nvPr>
            <p:ph type="sldNum" sz="quarter" idx="12"/>
          </p:nvPr>
        </p:nvSpPr>
        <p:spPr/>
        <p:txBody>
          <a:bodyPr/>
          <a:lstStyle/>
          <a:p>
            <a:pPr>
              <a:defRPr/>
            </a:pPr>
            <a:fld id="{A674DC5F-F6C3-44DF-B3AE-F84C63F7C24A}" type="slidenum">
              <a:rPr lang="en-US" altLang="en-US" smtClean="0"/>
              <a:pPr>
                <a:defRPr/>
              </a:pPr>
              <a:t>37</a:t>
            </a:fld>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5A2E7184-31B2-41AE-81E4-E5FD070983A0}"/>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80899" name="Text Box 3">
            <a:extLst>
              <a:ext uri="{FF2B5EF4-FFF2-40B4-BE49-F238E27FC236}">
                <a16:creationId xmlns:a16="http://schemas.microsoft.com/office/drawing/2014/main" id="{AA411609-D93F-08B6-7F4C-C70EBAC3523D}"/>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80900" name="Text Box 4">
            <a:extLst>
              <a:ext uri="{FF2B5EF4-FFF2-40B4-BE49-F238E27FC236}">
                <a16:creationId xmlns:a16="http://schemas.microsoft.com/office/drawing/2014/main" id="{8E5B87B3-4CBE-834F-6924-BC747F904279}"/>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80901" name="Text Box 5">
            <a:extLst>
              <a:ext uri="{FF2B5EF4-FFF2-40B4-BE49-F238E27FC236}">
                <a16:creationId xmlns:a16="http://schemas.microsoft.com/office/drawing/2014/main" id="{D4FD2605-3AA9-9CC2-70DC-E61960FA0DEA}"/>
              </a:ext>
            </a:extLst>
          </p:cNvPr>
          <p:cNvSpPr txBox="1">
            <a:spLocks noChangeArrowheads="1"/>
          </p:cNvSpPr>
          <p:nvPr/>
        </p:nvSpPr>
        <p:spPr bwMode="auto">
          <a:xfrm>
            <a:off x="2743200" y="16764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7.   Why Need Multiple Fact Tables?</a:t>
            </a:r>
            <a:endParaRPr lang="en-US" altLang="en-US" sz="2000">
              <a:latin typeface="Times New Roman" panose="02020603050405020304" pitchFamily="18" charset="0"/>
            </a:endParaRPr>
          </a:p>
        </p:txBody>
      </p:sp>
      <p:sp>
        <p:nvSpPr>
          <p:cNvPr id="80902" name="Text Box 6">
            <a:extLst>
              <a:ext uri="{FF2B5EF4-FFF2-40B4-BE49-F238E27FC236}">
                <a16:creationId xmlns:a16="http://schemas.microsoft.com/office/drawing/2014/main" id="{9C881686-4BB6-02D1-F044-45D3C4437CE1}"/>
              </a:ext>
            </a:extLst>
          </p:cNvPr>
          <p:cNvSpPr txBox="1">
            <a:spLocks noChangeArrowheads="1"/>
          </p:cNvSpPr>
          <p:nvPr/>
        </p:nvSpPr>
        <p:spPr bwMode="auto">
          <a:xfrm>
            <a:off x="4876800" y="2362201"/>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b="1">
                <a:latin typeface="Tahoma" panose="020B0604030504040204" pitchFamily="34" charset="0"/>
              </a:rPr>
              <a:t>Core fact table</a:t>
            </a:r>
          </a:p>
        </p:txBody>
      </p:sp>
      <p:sp>
        <p:nvSpPr>
          <p:cNvPr id="80903" name="Text Box 7">
            <a:extLst>
              <a:ext uri="{FF2B5EF4-FFF2-40B4-BE49-F238E27FC236}">
                <a16:creationId xmlns:a16="http://schemas.microsoft.com/office/drawing/2014/main" id="{034AEBE0-F5BC-FC27-1E2B-9437379A1BB1}"/>
              </a:ext>
            </a:extLst>
          </p:cNvPr>
          <p:cNvSpPr txBox="1">
            <a:spLocks noChangeArrowheads="1"/>
          </p:cNvSpPr>
          <p:nvPr/>
        </p:nvSpPr>
        <p:spPr bwMode="auto">
          <a:xfrm>
            <a:off x="5029200" y="2743201"/>
            <a:ext cx="2514600" cy="18208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time-key</a:t>
            </a:r>
          </a:p>
          <a:p>
            <a:pPr eaLnBrk="1" hangingPunct="1">
              <a:lnSpc>
                <a:spcPct val="30000"/>
              </a:lnSpc>
              <a:spcBef>
                <a:spcPct val="50000"/>
              </a:spcBef>
            </a:pPr>
            <a:r>
              <a:rPr lang="en-US" altLang="en-US" sz="1600">
                <a:latin typeface="Times New Roman" panose="02020603050405020304" pitchFamily="18" charset="0"/>
              </a:rPr>
              <a:t>account-key</a:t>
            </a:r>
          </a:p>
          <a:p>
            <a:pPr eaLnBrk="1" hangingPunct="1">
              <a:lnSpc>
                <a:spcPct val="30000"/>
              </a:lnSpc>
              <a:spcBef>
                <a:spcPct val="50000"/>
              </a:spcBef>
            </a:pPr>
            <a:r>
              <a:rPr lang="en-US" altLang="en-US" sz="1600">
                <a:latin typeface="Times New Roman" panose="02020603050405020304" pitchFamily="18" charset="0"/>
              </a:rPr>
              <a:t>branch-key</a:t>
            </a:r>
          </a:p>
          <a:p>
            <a:pPr eaLnBrk="1" hangingPunct="1">
              <a:lnSpc>
                <a:spcPct val="30000"/>
              </a:lnSpc>
              <a:spcBef>
                <a:spcPct val="50000"/>
              </a:spcBef>
            </a:pPr>
            <a:r>
              <a:rPr lang="en-US" altLang="en-US" sz="1600">
                <a:latin typeface="Times New Roman" panose="02020603050405020304" pitchFamily="18" charset="0"/>
              </a:rPr>
              <a:t>Household-key</a:t>
            </a:r>
          </a:p>
          <a:p>
            <a:pPr eaLnBrk="1" hangingPunct="1">
              <a:lnSpc>
                <a:spcPct val="30000"/>
              </a:lnSpc>
              <a:spcBef>
                <a:spcPct val="50000"/>
              </a:spcBef>
            </a:pPr>
            <a:r>
              <a:rPr lang="en-US" altLang="en-US" sz="1600">
                <a:latin typeface="Times New Roman" panose="02020603050405020304" pitchFamily="18" charset="0"/>
              </a:rPr>
              <a:t>:</a:t>
            </a:r>
          </a:p>
          <a:p>
            <a:pPr eaLnBrk="1" hangingPunct="1">
              <a:lnSpc>
                <a:spcPct val="60000"/>
              </a:lnSpc>
              <a:spcBef>
                <a:spcPct val="50000"/>
              </a:spcBef>
            </a:pPr>
            <a:r>
              <a:rPr lang="en-US" altLang="en-US" sz="1600">
                <a:latin typeface="Times New Roman" panose="02020603050405020304" pitchFamily="18" charset="0"/>
              </a:rPr>
              <a:t>fees earned</a:t>
            </a:r>
          </a:p>
          <a:p>
            <a:pPr eaLnBrk="1" hangingPunct="1">
              <a:lnSpc>
                <a:spcPct val="30000"/>
              </a:lnSpc>
              <a:spcBef>
                <a:spcPct val="50000"/>
              </a:spcBef>
            </a:pPr>
            <a:r>
              <a:rPr lang="en-US" altLang="en-US" sz="1600">
                <a:latin typeface="Times New Roman" panose="02020603050405020304" pitchFamily="18" charset="0"/>
              </a:rPr>
              <a:t>Num_transactions</a:t>
            </a:r>
          </a:p>
          <a:p>
            <a:pPr eaLnBrk="1" hangingPunct="1">
              <a:lnSpc>
                <a:spcPct val="30000"/>
              </a:lnSpc>
              <a:spcBef>
                <a:spcPct val="50000"/>
              </a:spcBef>
            </a:pPr>
            <a:r>
              <a:rPr lang="en-US" altLang="en-US" sz="1600">
                <a:latin typeface="Times New Roman" panose="02020603050405020304" pitchFamily="18" charset="0"/>
              </a:rPr>
              <a:t>Primary balance</a:t>
            </a:r>
          </a:p>
        </p:txBody>
      </p:sp>
      <p:sp>
        <p:nvSpPr>
          <p:cNvPr id="80904" name="Text Box 8">
            <a:extLst>
              <a:ext uri="{FF2B5EF4-FFF2-40B4-BE49-F238E27FC236}">
                <a16:creationId xmlns:a16="http://schemas.microsoft.com/office/drawing/2014/main" id="{744BD62E-CAEA-0DC2-4964-4B134AA2E4A7}"/>
              </a:ext>
            </a:extLst>
          </p:cNvPr>
          <p:cNvSpPr txBox="1">
            <a:spLocks noChangeArrowheads="1"/>
          </p:cNvSpPr>
          <p:nvPr/>
        </p:nvSpPr>
        <p:spPr bwMode="auto">
          <a:xfrm>
            <a:off x="2514600" y="2819400"/>
            <a:ext cx="1524000" cy="590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Core Account dimension</a:t>
            </a:r>
          </a:p>
        </p:txBody>
      </p:sp>
      <p:sp>
        <p:nvSpPr>
          <p:cNvPr id="80905" name="Text Box 9">
            <a:extLst>
              <a:ext uri="{FF2B5EF4-FFF2-40B4-BE49-F238E27FC236}">
                <a16:creationId xmlns:a16="http://schemas.microsoft.com/office/drawing/2014/main" id="{5A2AF87E-F1BC-E42F-3268-C16EFD85F3B5}"/>
              </a:ext>
            </a:extLst>
          </p:cNvPr>
          <p:cNvSpPr txBox="1">
            <a:spLocks noChangeArrowheads="1"/>
          </p:cNvSpPr>
          <p:nvPr/>
        </p:nvSpPr>
        <p:spPr bwMode="auto">
          <a:xfrm>
            <a:off x="2514600" y="3733800"/>
            <a:ext cx="1524000" cy="590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Household dimension</a:t>
            </a:r>
          </a:p>
        </p:txBody>
      </p:sp>
      <p:sp>
        <p:nvSpPr>
          <p:cNvPr id="80906" name="Text Box 10">
            <a:extLst>
              <a:ext uri="{FF2B5EF4-FFF2-40B4-BE49-F238E27FC236}">
                <a16:creationId xmlns:a16="http://schemas.microsoft.com/office/drawing/2014/main" id="{08A1298E-BCC5-A052-114B-4B48B3618871}"/>
              </a:ext>
            </a:extLst>
          </p:cNvPr>
          <p:cNvSpPr txBox="1">
            <a:spLocks noChangeArrowheads="1"/>
          </p:cNvSpPr>
          <p:nvPr/>
        </p:nvSpPr>
        <p:spPr bwMode="auto">
          <a:xfrm>
            <a:off x="8229600" y="2895601"/>
            <a:ext cx="1524000" cy="3460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Time dimension</a:t>
            </a:r>
          </a:p>
        </p:txBody>
      </p:sp>
      <p:sp>
        <p:nvSpPr>
          <p:cNvPr id="80907" name="Text Box 11">
            <a:extLst>
              <a:ext uri="{FF2B5EF4-FFF2-40B4-BE49-F238E27FC236}">
                <a16:creationId xmlns:a16="http://schemas.microsoft.com/office/drawing/2014/main" id="{E961A68A-D8B5-D8BA-50F5-DC856C3E05AF}"/>
              </a:ext>
            </a:extLst>
          </p:cNvPr>
          <p:cNvSpPr txBox="1">
            <a:spLocks noChangeArrowheads="1"/>
          </p:cNvSpPr>
          <p:nvPr/>
        </p:nvSpPr>
        <p:spPr bwMode="auto">
          <a:xfrm>
            <a:off x="8077200" y="3733801"/>
            <a:ext cx="1828800" cy="3460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Branch dimension</a:t>
            </a:r>
          </a:p>
        </p:txBody>
      </p:sp>
      <p:sp>
        <p:nvSpPr>
          <p:cNvPr id="80908" name="Line 12">
            <a:extLst>
              <a:ext uri="{FF2B5EF4-FFF2-40B4-BE49-F238E27FC236}">
                <a16:creationId xmlns:a16="http://schemas.microsoft.com/office/drawing/2014/main" id="{2846B832-3D97-C497-53E5-7F1713230A4A}"/>
              </a:ext>
            </a:extLst>
          </p:cNvPr>
          <p:cNvSpPr>
            <a:spLocks noChangeShapeType="1"/>
          </p:cNvSpPr>
          <p:nvPr/>
        </p:nvSpPr>
        <p:spPr bwMode="auto">
          <a:xfrm>
            <a:off x="40386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9" name="Line 13">
            <a:extLst>
              <a:ext uri="{FF2B5EF4-FFF2-40B4-BE49-F238E27FC236}">
                <a16:creationId xmlns:a16="http://schemas.microsoft.com/office/drawing/2014/main" id="{5E4A9FBE-0B3B-1261-C9F4-A9581B013DB0}"/>
              </a:ext>
            </a:extLst>
          </p:cNvPr>
          <p:cNvSpPr>
            <a:spLocks noChangeShapeType="1"/>
          </p:cNvSpPr>
          <p:nvPr/>
        </p:nvSpPr>
        <p:spPr bwMode="auto">
          <a:xfrm flipV="1">
            <a:off x="4038600" y="3657600"/>
            <a:ext cx="990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0" name="Line 14">
            <a:extLst>
              <a:ext uri="{FF2B5EF4-FFF2-40B4-BE49-F238E27FC236}">
                <a16:creationId xmlns:a16="http://schemas.microsoft.com/office/drawing/2014/main" id="{A6AB91EC-F623-60D4-C63E-B3FDA770D537}"/>
              </a:ext>
            </a:extLst>
          </p:cNvPr>
          <p:cNvSpPr>
            <a:spLocks noChangeShapeType="1"/>
          </p:cNvSpPr>
          <p:nvPr/>
        </p:nvSpPr>
        <p:spPr bwMode="auto">
          <a:xfrm flipV="1">
            <a:off x="7543800" y="2971800"/>
            <a:ext cx="685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1" name="Line 15">
            <a:extLst>
              <a:ext uri="{FF2B5EF4-FFF2-40B4-BE49-F238E27FC236}">
                <a16:creationId xmlns:a16="http://schemas.microsoft.com/office/drawing/2014/main" id="{DAE1982C-BBA2-EEFA-ADE7-40FD35337978}"/>
              </a:ext>
            </a:extLst>
          </p:cNvPr>
          <p:cNvSpPr>
            <a:spLocks noChangeShapeType="1"/>
          </p:cNvSpPr>
          <p:nvPr/>
        </p:nvSpPr>
        <p:spPr bwMode="auto">
          <a:xfrm>
            <a:off x="7543800" y="3733800"/>
            <a:ext cx="533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2" name="Text Box 26">
            <a:extLst>
              <a:ext uri="{FF2B5EF4-FFF2-40B4-BE49-F238E27FC236}">
                <a16:creationId xmlns:a16="http://schemas.microsoft.com/office/drawing/2014/main" id="{057894EF-10CF-9D65-6C4B-CBEBD87638B0}"/>
              </a:ext>
            </a:extLst>
          </p:cNvPr>
          <p:cNvSpPr txBox="1">
            <a:spLocks noChangeArrowheads="1"/>
          </p:cNvSpPr>
          <p:nvPr/>
        </p:nvSpPr>
        <p:spPr bwMode="auto">
          <a:xfrm>
            <a:off x="4724400" y="5029201"/>
            <a:ext cx="3886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a:solidFill>
                <a:schemeClr val="accent2"/>
              </a:solidFill>
              <a:latin typeface="Arial" panose="020B0604020202020204" pitchFamily="34" charset="0"/>
            </a:endParaRPr>
          </a:p>
        </p:txBody>
      </p:sp>
      <p:sp>
        <p:nvSpPr>
          <p:cNvPr id="80913" name="Text Box 27">
            <a:extLst>
              <a:ext uri="{FF2B5EF4-FFF2-40B4-BE49-F238E27FC236}">
                <a16:creationId xmlns:a16="http://schemas.microsoft.com/office/drawing/2014/main" id="{A162EAAD-CC86-F00D-1C1F-B6A398B2469F}"/>
              </a:ext>
            </a:extLst>
          </p:cNvPr>
          <p:cNvSpPr txBox="1">
            <a:spLocks noChangeArrowheads="1"/>
          </p:cNvSpPr>
          <p:nvPr/>
        </p:nvSpPr>
        <p:spPr bwMode="auto">
          <a:xfrm>
            <a:off x="2743200" y="5257801"/>
            <a:ext cx="708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b="1">
                <a:solidFill>
                  <a:srgbClr val="C00000"/>
                </a:solidFill>
                <a:latin typeface="Arial" panose="020B0604020202020204" pitchFamily="34" charset="0"/>
              </a:rPr>
              <a:t>Bank Example: Global View of all accounts</a:t>
            </a:r>
          </a:p>
        </p:txBody>
      </p:sp>
      <p:sp>
        <p:nvSpPr>
          <p:cNvPr id="2" name="Date Placeholder 1">
            <a:extLst>
              <a:ext uri="{FF2B5EF4-FFF2-40B4-BE49-F238E27FC236}">
                <a16:creationId xmlns:a16="http://schemas.microsoft.com/office/drawing/2014/main" id="{D4E12A83-9B81-3AFD-57B3-BD24C5EAF47E}"/>
              </a:ext>
            </a:extLst>
          </p:cNvPr>
          <p:cNvSpPr>
            <a:spLocks noGrp="1"/>
          </p:cNvSpPr>
          <p:nvPr>
            <p:ph type="dt" sz="quarter" idx="10"/>
          </p:nvPr>
        </p:nvSpPr>
        <p:spPr/>
        <p:txBody>
          <a:bodyPr/>
          <a:lstStyle/>
          <a:p>
            <a:pPr>
              <a:defRPr/>
            </a:pPr>
            <a:fld id="{01FCA067-16E6-4EE5-B631-55B65E76ED27}" type="datetime1">
              <a:rPr lang="en-US" smtClean="0"/>
              <a:t>9/30/2025</a:t>
            </a:fld>
            <a:endParaRPr lang="en-US"/>
          </a:p>
        </p:txBody>
      </p:sp>
      <p:sp>
        <p:nvSpPr>
          <p:cNvPr id="3" name="Footer Placeholder 2">
            <a:extLst>
              <a:ext uri="{FF2B5EF4-FFF2-40B4-BE49-F238E27FC236}">
                <a16:creationId xmlns:a16="http://schemas.microsoft.com/office/drawing/2014/main" id="{8AFF52A0-978B-930A-DA3C-AA5569A3FB9B}"/>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5E3865D-080B-96C0-EFB6-433CBA2D84AC}"/>
              </a:ext>
            </a:extLst>
          </p:cNvPr>
          <p:cNvSpPr>
            <a:spLocks noGrp="1"/>
          </p:cNvSpPr>
          <p:nvPr>
            <p:ph type="sldNum" sz="quarter" idx="12"/>
          </p:nvPr>
        </p:nvSpPr>
        <p:spPr/>
        <p:txBody>
          <a:bodyPr/>
          <a:lstStyle/>
          <a:p>
            <a:pPr>
              <a:defRPr/>
            </a:pPr>
            <a:fld id="{453F2A00-F921-417D-84C9-3CB7355144EA}" type="slidenum">
              <a:rPr lang="en-US" altLang="en-US" smtClean="0"/>
              <a:pPr>
                <a:defRPr/>
              </a:pPr>
              <a:t>38</a:t>
            </a:fld>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CAF0B680-FD78-D3FA-8A4B-A61C0ABE0C05}"/>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82947" name="Text Box 3">
            <a:extLst>
              <a:ext uri="{FF2B5EF4-FFF2-40B4-BE49-F238E27FC236}">
                <a16:creationId xmlns:a16="http://schemas.microsoft.com/office/drawing/2014/main" id="{BA893FAF-52F1-2009-F51D-C20FB02DD3E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82948" name="Text Box 4">
            <a:extLst>
              <a:ext uri="{FF2B5EF4-FFF2-40B4-BE49-F238E27FC236}">
                <a16:creationId xmlns:a16="http://schemas.microsoft.com/office/drawing/2014/main" id="{D636FB10-1570-23E9-E066-D04515964325}"/>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82949" name="Text Box 5">
            <a:extLst>
              <a:ext uri="{FF2B5EF4-FFF2-40B4-BE49-F238E27FC236}">
                <a16:creationId xmlns:a16="http://schemas.microsoft.com/office/drawing/2014/main" id="{E257F43D-87C1-3FE6-5E5E-72AC9DE9C6BE}"/>
              </a:ext>
            </a:extLst>
          </p:cNvPr>
          <p:cNvSpPr txBox="1">
            <a:spLocks noChangeArrowheads="1"/>
          </p:cNvSpPr>
          <p:nvPr/>
        </p:nvSpPr>
        <p:spPr bwMode="auto">
          <a:xfrm>
            <a:off x="2743200" y="16764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7.   Why Need Multiple Fact Tables?</a:t>
            </a:r>
            <a:endParaRPr lang="en-US" altLang="en-US" sz="2400">
              <a:latin typeface="Times New Roman" panose="02020603050405020304" pitchFamily="18" charset="0"/>
            </a:endParaRPr>
          </a:p>
        </p:txBody>
      </p:sp>
      <p:grpSp>
        <p:nvGrpSpPr>
          <p:cNvPr id="82950" name="Group 16">
            <a:extLst>
              <a:ext uri="{FF2B5EF4-FFF2-40B4-BE49-F238E27FC236}">
                <a16:creationId xmlns:a16="http://schemas.microsoft.com/office/drawing/2014/main" id="{12DF43F3-C945-50A6-A452-29324FBFE8F7}"/>
              </a:ext>
            </a:extLst>
          </p:cNvPr>
          <p:cNvGrpSpPr>
            <a:grpSpLocks/>
          </p:cNvGrpSpPr>
          <p:nvPr/>
        </p:nvGrpSpPr>
        <p:grpSpPr bwMode="auto">
          <a:xfrm>
            <a:off x="3200400" y="2438402"/>
            <a:ext cx="5867400" cy="2678113"/>
            <a:chOff x="1200" y="1872"/>
            <a:chExt cx="3696" cy="1687"/>
          </a:xfrm>
        </p:grpSpPr>
        <p:sp>
          <p:nvSpPr>
            <p:cNvPr id="82955" name="Text Box 6">
              <a:extLst>
                <a:ext uri="{FF2B5EF4-FFF2-40B4-BE49-F238E27FC236}">
                  <a16:creationId xmlns:a16="http://schemas.microsoft.com/office/drawing/2014/main" id="{54E3CA21-E418-23FA-1BB5-C3824742D8AE}"/>
                </a:ext>
              </a:extLst>
            </p:cNvPr>
            <p:cNvSpPr txBox="1">
              <a:spLocks noChangeArrowheads="1"/>
            </p:cNvSpPr>
            <p:nvPr/>
          </p:nvSpPr>
          <p:spPr bwMode="auto">
            <a:xfrm>
              <a:off x="1200" y="1968"/>
              <a:ext cx="14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Century Gothic" panose="020B0502020202020204" pitchFamily="34" charset="0"/>
                </a:rPr>
                <a:t>Fact table restricted to </a:t>
              </a:r>
              <a:r>
                <a:rPr lang="en-US" altLang="en-US" sz="1400" b="1" u="sng">
                  <a:latin typeface="Century Gothic" panose="020B0502020202020204" pitchFamily="34" charset="0"/>
                </a:rPr>
                <a:t>all</a:t>
              </a:r>
              <a:r>
                <a:rPr lang="en-US" altLang="en-US" sz="1400" b="1">
                  <a:latin typeface="Century Gothic" panose="020B0502020202020204" pitchFamily="34" charset="0"/>
                </a:rPr>
                <a:t> checking accounts</a:t>
              </a:r>
            </a:p>
          </p:txBody>
        </p:sp>
        <p:sp>
          <p:nvSpPr>
            <p:cNvPr id="82956" name="Text Box 7">
              <a:extLst>
                <a:ext uri="{FF2B5EF4-FFF2-40B4-BE49-F238E27FC236}">
                  <a16:creationId xmlns:a16="http://schemas.microsoft.com/office/drawing/2014/main" id="{6AB301C9-9659-1641-2215-EB9DE562E49F}"/>
                </a:ext>
              </a:extLst>
            </p:cNvPr>
            <p:cNvSpPr txBox="1">
              <a:spLocks noChangeArrowheads="1"/>
            </p:cNvSpPr>
            <p:nvPr/>
          </p:nvSpPr>
          <p:spPr bwMode="auto">
            <a:xfrm>
              <a:off x="1248" y="2400"/>
              <a:ext cx="1584" cy="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time-key</a:t>
              </a:r>
            </a:p>
            <a:p>
              <a:pPr eaLnBrk="1" hangingPunct="1">
                <a:lnSpc>
                  <a:spcPct val="30000"/>
                </a:lnSpc>
                <a:spcBef>
                  <a:spcPct val="50000"/>
                </a:spcBef>
              </a:pPr>
              <a:r>
                <a:rPr lang="en-US" altLang="en-US" sz="1600">
                  <a:latin typeface="Times New Roman" panose="02020603050405020304" pitchFamily="18" charset="0"/>
                </a:rPr>
                <a:t>account-key</a:t>
              </a:r>
            </a:p>
            <a:p>
              <a:pPr eaLnBrk="1" hangingPunct="1">
                <a:lnSpc>
                  <a:spcPct val="30000"/>
                </a:lnSpc>
                <a:spcBef>
                  <a:spcPct val="50000"/>
                </a:spcBef>
              </a:pPr>
              <a:r>
                <a:rPr lang="en-US" altLang="en-US" sz="1600">
                  <a:latin typeface="Times New Roman" panose="02020603050405020304" pitchFamily="18" charset="0"/>
                </a:rPr>
                <a:t>:</a:t>
              </a:r>
            </a:p>
            <a:p>
              <a:pPr eaLnBrk="1" hangingPunct="1">
                <a:lnSpc>
                  <a:spcPct val="60000"/>
                </a:lnSpc>
                <a:spcBef>
                  <a:spcPct val="50000"/>
                </a:spcBef>
              </a:pPr>
              <a:r>
                <a:rPr lang="en-US" altLang="en-US" sz="1600">
                  <a:latin typeface="Times New Roman" panose="02020603050405020304" pitchFamily="18" charset="0"/>
                </a:rPr>
                <a:t>fees earned</a:t>
              </a:r>
            </a:p>
            <a:p>
              <a:pPr eaLnBrk="1" hangingPunct="1">
                <a:lnSpc>
                  <a:spcPct val="30000"/>
                </a:lnSpc>
                <a:spcBef>
                  <a:spcPct val="50000"/>
                </a:spcBef>
              </a:pPr>
              <a:r>
                <a:rPr lang="en-US" altLang="en-US" sz="1600">
                  <a:latin typeface="Times New Roman" panose="02020603050405020304" pitchFamily="18" charset="0"/>
                </a:rPr>
                <a:t>custom fact join key</a:t>
              </a:r>
            </a:p>
          </p:txBody>
        </p:sp>
        <p:sp>
          <p:nvSpPr>
            <p:cNvPr id="82957" name="Text Box 8">
              <a:extLst>
                <a:ext uri="{FF2B5EF4-FFF2-40B4-BE49-F238E27FC236}">
                  <a16:creationId xmlns:a16="http://schemas.microsoft.com/office/drawing/2014/main" id="{CF838444-8A7C-5FE1-5BC5-633E780009F4}"/>
                </a:ext>
              </a:extLst>
            </p:cNvPr>
            <p:cNvSpPr txBox="1">
              <a:spLocks noChangeArrowheads="1"/>
            </p:cNvSpPr>
            <p:nvPr/>
          </p:nvSpPr>
          <p:spPr bwMode="auto">
            <a:xfrm>
              <a:off x="3216" y="2544"/>
              <a:ext cx="16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latin typeface="Century Gothic" panose="020B0502020202020204" pitchFamily="34" charset="0"/>
                </a:rPr>
                <a:t>Custom Checking fact table</a:t>
              </a:r>
            </a:p>
          </p:txBody>
        </p:sp>
        <p:sp>
          <p:nvSpPr>
            <p:cNvPr id="82958" name="Text Box 9">
              <a:extLst>
                <a:ext uri="{FF2B5EF4-FFF2-40B4-BE49-F238E27FC236}">
                  <a16:creationId xmlns:a16="http://schemas.microsoft.com/office/drawing/2014/main" id="{032EA143-3883-E664-CAAC-D4DD5A3693E3}"/>
                </a:ext>
              </a:extLst>
            </p:cNvPr>
            <p:cNvSpPr txBox="1">
              <a:spLocks noChangeArrowheads="1"/>
            </p:cNvSpPr>
            <p:nvPr/>
          </p:nvSpPr>
          <p:spPr bwMode="auto">
            <a:xfrm>
              <a:off x="3216" y="2784"/>
              <a:ext cx="1584" cy="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custom fact join key</a:t>
              </a:r>
            </a:p>
            <a:p>
              <a:pPr eaLnBrk="1" hangingPunct="1">
                <a:lnSpc>
                  <a:spcPct val="30000"/>
                </a:lnSpc>
                <a:spcBef>
                  <a:spcPct val="50000"/>
                </a:spcBef>
              </a:pPr>
              <a:r>
                <a:rPr lang="en-US" altLang="en-US" sz="1600">
                  <a:latin typeface="Times New Roman" panose="02020603050405020304" pitchFamily="18" charset="0"/>
                </a:rPr>
                <a:t>num-overdrafts</a:t>
              </a:r>
            </a:p>
            <a:p>
              <a:pPr eaLnBrk="1" hangingPunct="1">
                <a:lnSpc>
                  <a:spcPct val="30000"/>
                </a:lnSpc>
                <a:spcBef>
                  <a:spcPct val="50000"/>
                </a:spcBef>
              </a:pPr>
              <a:r>
                <a:rPr lang="en-US" altLang="en-US" sz="1600">
                  <a:latin typeface="Times New Roman" panose="02020603050405020304" pitchFamily="18" charset="0"/>
                </a:rPr>
                <a:t>:</a:t>
              </a:r>
            </a:p>
            <a:p>
              <a:pPr eaLnBrk="1" hangingPunct="1">
                <a:lnSpc>
                  <a:spcPct val="60000"/>
                </a:lnSpc>
                <a:spcBef>
                  <a:spcPct val="50000"/>
                </a:spcBef>
              </a:pPr>
              <a:r>
                <a:rPr lang="en-US" altLang="en-US" sz="1600">
                  <a:latin typeface="Times New Roman" panose="02020603050405020304" pitchFamily="18" charset="0"/>
                </a:rPr>
                <a:t>num-deposits</a:t>
              </a:r>
            </a:p>
            <a:p>
              <a:pPr eaLnBrk="1" hangingPunct="1">
                <a:lnSpc>
                  <a:spcPct val="30000"/>
                </a:lnSpc>
                <a:spcBef>
                  <a:spcPct val="50000"/>
                </a:spcBef>
              </a:pPr>
              <a:r>
                <a:rPr lang="en-US" altLang="en-US" sz="1600">
                  <a:latin typeface="Times New Roman" panose="02020603050405020304" pitchFamily="18" charset="0"/>
                </a:rPr>
                <a:t>total-deposits</a:t>
              </a:r>
            </a:p>
          </p:txBody>
        </p:sp>
        <p:sp>
          <p:nvSpPr>
            <p:cNvPr id="82959" name="Text Box 11">
              <a:extLst>
                <a:ext uri="{FF2B5EF4-FFF2-40B4-BE49-F238E27FC236}">
                  <a16:creationId xmlns:a16="http://schemas.microsoft.com/office/drawing/2014/main" id="{B896F772-F2A0-0CE9-77A3-7E6EFDCA3A5E}"/>
                </a:ext>
              </a:extLst>
            </p:cNvPr>
            <p:cNvSpPr txBox="1">
              <a:spLocks noChangeArrowheads="1"/>
            </p:cNvSpPr>
            <p:nvPr/>
          </p:nvSpPr>
          <p:spPr bwMode="auto">
            <a:xfrm>
              <a:off x="3216" y="1872"/>
              <a:ext cx="1248"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Time dimension</a:t>
              </a:r>
            </a:p>
          </p:txBody>
        </p:sp>
        <p:sp>
          <p:nvSpPr>
            <p:cNvPr id="82960" name="Line 12">
              <a:extLst>
                <a:ext uri="{FF2B5EF4-FFF2-40B4-BE49-F238E27FC236}">
                  <a16:creationId xmlns:a16="http://schemas.microsoft.com/office/drawing/2014/main" id="{A0D10FE0-3933-832C-4E5A-81C9547E92EE}"/>
                </a:ext>
              </a:extLst>
            </p:cNvPr>
            <p:cNvSpPr>
              <a:spLocks noChangeShapeType="1"/>
            </p:cNvSpPr>
            <p:nvPr/>
          </p:nvSpPr>
          <p:spPr bwMode="auto">
            <a:xfrm flipV="1">
              <a:off x="2832" y="1968"/>
              <a:ext cx="384"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2951" name="Text Box 15">
            <a:extLst>
              <a:ext uri="{FF2B5EF4-FFF2-40B4-BE49-F238E27FC236}">
                <a16:creationId xmlns:a16="http://schemas.microsoft.com/office/drawing/2014/main" id="{E4C9A924-B4C6-2D9E-6E66-1E84730A18E4}"/>
              </a:ext>
            </a:extLst>
          </p:cNvPr>
          <p:cNvSpPr txBox="1">
            <a:spLocks noChangeArrowheads="1"/>
          </p:cNvSpPr>
          <p:nvPr/>
        </p:nvSpPr>
        <p:spPr bwMode="auto">
          <a:xfrm>
            <a:off x="2743200" y="5410201"/>
            <a:ext cx="708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b="1">
                <a:solidFill>
                  <a:srgbClr val="C00000"/>
                </a:solidFill>
                <a:latin typeface="Arial" panose="020B0604020202020204" pitchFamily="34" charset="0"/>
              </a:rPr>
              <a:t>Bank Example: Line of Business View</a:t>
            </a:r>
          </a:p>
        </p:txBody>
      </p:sp>
      <p:sp>
        <p:nvSpPr>
          <p:cNvPr id="2" name="Date Placeholder 1">
            <a:extLst>
              <a:ext uri="{FF2B5EF4-FFF2-40B4-BE49-F238E27FC236}">
                <a16:creationId xmlns:a16="http://schemas.microsoft.com/office/drawing/2014/main" id="{7771CC31-FA78-D112-3368-05EC420B45D8}"/>
              </a:ext>
            </a:extLst>
          </p:cNvPr>
          <p:cNvSpPr>
            <a:spLocks noGrp="1"/>
          </p:cNvSpPr>
          <p:nvPr>
            <p:ph type="dt" sz="quarter" idx="10"/>
          </p:nvPr>
        </p:nvSpPr>
        <p:spPr/>
        <p:txBody>
          <a:bodyPr/>
          <a:lstStyle/>
          <a:p>
            <a:pPr>
              <a:defRPr/>
            </a:pPr>
            <a:fld id="{6FA0D141-F86F-43A4-A8F1-D7AE3CEC256C}" type="datetime1">
              <a:rPr lang="en-US" smtClean="0"/>
              <a:t>9/30/2025</a:t>
            </a:fld>
            <a:endParaRPr lang="en-US"/>
          </a:p>
        </p:txBody>
      </p:sp>
      <p:sp>
        <p:nvSpPr>
          <p:cNvPr id="3" name="Footer Placeholder 2">
            <a:extLst>
              <a:ext uri="{FF2B5EF4-FFF2-40B4-BE49-F238E27FC236}">
                <a16:creationId xmlns:a16="http://schemas.microsoft.com/office/drawing/2014/main" id="{049C42E3-524E-8DC0-1AED-ED5AD9BE32A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990F4D94-2CB1-ADD6-94A2-82A30B00A10F}"/>
              </a:ext>
            </a:extLst>
          </p:cNvPr>
          <p:cNvSpPr>
            <a:spLocks noGrp="1"/>
          </p:cNvSpPr>
          <p:nvPr>
            <p:ph type="sldNum" sz="quarter" idx="12"/>
          </p:nvPr>
        </p:nvSpPr>
        <p:spPr/>
        <p:txBody>
          <a:bodyPr/>
          <a:lstStyle/>
          <a:p>
            <a:pPr>
              <a:defRPr/>
            </a:pPr>
            <a:fld id="{ACFF216D-1EA5-4994-A713-500F5746EA86}" type="slidenum">
              <a:rPr lang="en-US" altLang="en-US" smtClean="0"/>
              <a:pPr>
                <a:defRPr/>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5880A739-3DF9-C9A0-00BF-C0080961659A}"/>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84996" name="Text Box 4">
            <a:extLst>
              <a:ext uri="{FF2B5EF4-FFF2-40B4-BE49-F238E27FC236}">
                <a16:creationId xmlns:a16="http://schemas.microsoft.com/office/drawing/2014/main" id="{786BAAEC-D2DE-DBF6-B03D-F831DDCF8BC1}"/>
              </a:ext>
            </a:extLst>
          </p:cNvPr>
          <p:cNvSpPr txBox="1">
            <a:spLocks noChangeArrowheads="1"/>
          </p:cNvSpPr>
          <p:nvPr/>
        </p:nvSpPr>
        <p:spPr bwMode="auto">
          <a:xfrm>
            <a:off x="2129117" y="1687374"/>
            <a:ext cx="70104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b="1" dirty="0">
                <a:latin typeface="Times New Roman" panose="02020603050405020304" pitchFamily="18" charset="0"/>
              </a:rPr>
              <a:t> </a:t>
            </a:r>
            <a:r>
              <a:rPr lang="en-US" altLang="en-US" b="1" dirty="0">
                <a:latin typeface="Tahoma" panose="020B0604030504040204" pitchFamily="34" charset="0"/>
              </a:rPr>
              <a:t>7.   Why Need Multiple Fact Tables?</a:t>
            </a:r>
          </a:p>
          <a:p>
            <a:pPr lvl="1" eaLnBrk="1" hangingPunct="1">
              <a:spcBef>
                <a:spcPct val="50000"/>
              </a:spcBef>
            </a:pPr>
            <a:r>
              <a:rPr lang="en-US" altLang="en-US" dirty="0">
                <a:latin typeface="Symbol" panose="05050102010706020507" pitchFamily="18" charset="2"/>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Transaction and Snapshot Schema  Case</a:t>
            </a:r>
            <a:endParaRPr lang="en-US" altLang="en-US" dirty="0">
              <a:latin typeface="Times New Roman" panose="02020603050405020304" pitchFamily="18" charset="0"/>
            </a:endParaRPr>
          </a:p>
        </p:txBody>
      </p:sp>
      <p:sp>
        <p:nvSpPr>
          <p:cNvPr id="84995" name="Text Box 3">
            <a:extLst>
              <a:ext uri="{FF2B5EF4-FFF2-40B4-BE49-F238E27FC236}">
                <a16:creationId xmlns:a16="http://schemas.microsoft.com/office/drawing/2014/main" id="{66C37B17-83B8-B067-6DC1-6BD02D987F53}"/>
              </a:ext>
            </a:extLst>
          </p:cNvPr>
          <p:cNvSpPr txBox="1">
            <a:spLocks noChangeArrowheads="1"/>
          </p:cNvSpPr>
          <p:nvPr/>
        </p:nvSpPr>
        <p:spPr bwMode="auto">
          <a:xfrm>
            <a:off x="3099657" y="2560275"/>
            <a:ext cx="6461689" cy="36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dirty="0">
              <a:latin typeface="Tahoma" panose="020B0604030504040204" pitchFamily="34" charset="0"/>
            </a:endParaRPr>
          </a:p>
        </p:txBody>
      </p:sp>
      <p:sp>
        <p:nvSpPr>
          <p:cNvPr id="84997" name="Text Box 5">
            <a:extLst>
              <a:ext uri="{FF2B5EF4-FFF2-40B4-BE49-F238E27FC236}">
                <a16:creationId xmlns:a16="http://schemas.microsoft.com/office/drawing/2014/main" id="{B85599C7-3B9A-1601-197D-8AC4EFCDA91D}"/>
              </a:ext>
            </a:extLst>
          </p:cNvPr>
          <p:cNvSpPr txBox="1">
            <a:spLocks noChangeArrowheads="1"/>
          </p:cNvSpPr>
          <p:nvPr/>
        </p:nvSpPr>
        <p:spPr bwMode="auto">
          <a:xfrm>
            <a:off x="4874846" y="2490509"/>
            <a:ext cx="1704182" cy="2077492"/>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200" b="1" dirty="0">
                <a:latin typeface="Arial" panose="020B0604020202020204" pitchFamily="34" charset="0"/>
              </a:rPr>
              <a:t>ATM Transaction </a:t>
            </a:r>
          </a:p>
          <a:p>
            <a:pPr algn="ctr" eaLnBrk="1" hangingPunct="1"/>
            <a:r>
              <a:rPr lang="en-US" altLang="en-US" sz="1200" b="1" dirty="0">
                <a:latin typeface="Arial" panose="020B0604020202020204" pitchFamily="34" charset="0"/>
              </a:rPr>
              <a:t>Fact Table</a:t>
            </a:r>
          </a:p>
          <a:p>
            <a:pPr eaLnBrk="1" hangingPunct="1">
              <a:spcBef>
                <a:spcPct val="50000"/>
              </a:spcBef>
            </a:pPr>
            <a:r>
              <a:rPr lang="en-US" altLang="en-US" sz="1000" dirty="0" err="1">
                <a:latin typeface="Arial" panose="020B0604020202020204" pitchFamily="34" charset="0"/>
              </a:rPr>
              <a:t>Time_key</a:t>
            </a:r>
            <a:r>
              <a:rPr lang="en-US" altLang="en-US" sz="1000" dirty="0">
                <a:latin typeface="Arial" panose="020B0604020202020204" pitchFamily="34" charset="0"/>
              </a:rPr>
              <a:t> (FK)</a:t>
            </a:r>
          </a:p>
          <a:p>
            <a:pPr eaLnBrk="1" hangingPunct="1">
              <a:spcBef>
                <a:spcPct val="50000"/>
              </a:spcBef>
            </a:pPr>
            <a:r>
              <a:rPr lang="en-US" altLang="en-US" sz="1000" dirty="0" err="1">
                <a:latin typeface="Arial" panose="020B0604020202020204" pitchFamily="34" charset="0"/>
              </a:rPr>
              <a:t>Account_key</a:t>
            </a:r>
            <a:r>
              <a:rPr lang="en-US" altLang="en-US" sz="1000" dirty="0">
                <a:latin typeface="Arial" panose="020B0604020202020204" pitchFamily="34" charset="0"/>
              </a:rPr>
              <a:t> (FK)</a:t>
            </a:r>
          </a:p>
          <a:p>
            <a:pPr eaLnBrk="1" hangingPunct="1">
              <a:spcBef>
                <a:spcPct val="50000"/>
              </a:spcBef>
            </a:pPr>
            <a:r>
              <a:rPr lang="en-US" altLang="en-US" sz="1000" dirty="0" err="1">
                <a:latin typeface="Arial" panose="020B0604020202020204" pitchFamily="34" charset="0"/>
              </a:rPr>
              <a:t>Transaction_key</a:t>
            </a:r>
            <a:r>
              <a:rPr lang="en-US" altLang="en-US" sz="1000" dirty="0">
                <a:latin typeface="Arial" panose="020B0604020202020204" pitchFamily="34" charset="0"/>
              </a:rPr>
              <a:t> (FK)</a:t>
            </a:r>
          </a:p>
          <a:p>
            <a:pPr eaLnBrk="1" hangingPunct="1">
              <a:spcBef>
                <a:spcPct val="50000"/>
              </a:spcBef>
            </a:pPr>
            <a:r>
              <a:rPr lang="en-US" altLang="en-US" sz="1000" dirty="0" err="1">
                <a:latin typeface="Arial" panose="020B0604020202020204" pitchFamily="34" charset="0"/>
              </a:rPr>
              <a:t>Location_key</a:t>
            </a:r>
            <a:r>
              <a:rPr lang="en-US" altLang="en-US" sz="1000" dirty="0">
                <a:latin typeface="Arial" panose="020B0604020202020204" pitchFamily="34" charset="0"/>
              </a:rPr>
              <a:t> (FK)</a:t>
            </a:r>
          </a:p>
          <a:p>
            <a:pPr eaLnBrk="1" hangingPunct="1">
              <a:spcBef>
                <a:spcPct val="50000"/>
              </a:spcBef>
            </a:pPr>
            <a:r>
              <a:rPr lang="en-US" altLang="en-US" sz="1000" dirty="0">
                <a:latin typeface="Arial" panose="020B0604020202020204" pitchFamily="34" charset="0"/>
              </a:rPr>
              <a:t>account-_num</a:t>
            </a:r>
          </a:p>
          <a:p>
            <a:pPr eaLnBrk="1" hangingPunct="1">
              <a:spcBef>
                <a:spcPct val="50000"/>
              </a:spcBef>
            </a:pPr>
            <a:r>
              <a:rPr lang="en-US" altLang="en-US" sz="1000" dirty="0" err="1">
                <a:latin typeface="Arial" panose="020B0604020202020204" pitchFamily="34" charset="0"/>
              </a:rPr>
              <a:t>Transaction_ref</a:t>
            </a:r>
            <a:endParaRPr lang="en-US" altLang="en-US" sz="1000" dirty="0">
              <a:latin typeface="Arial" panose="020B0604020202020204" pitchFamily="34" charset="0"/>
            </a:endParaRPr>
          </a:p>
          <a:p>
            <a:pPr eaLnBrk="1" hangingPunct="1">
              <a:spcBef>
                <a:spcPct val="50000"/>
              </a:spcBef>
            </a:pPr>
            <a:r>
              <a:rPr lang="en-US" altLang="en-US" sz="1000" dirty="0">
                <a:latin typeface="Arial" panose="020B0604020202020204" pitchFamily="34" charset="0"/>
              </a:rPr>
              <a:t>amount</a:t>
            </a:r>
          </a:p>
        </p:txBody>
      </p:sp>
      <p:sp>
        <p:nvSpPr>
          <p:cNvPr id="84998" name="Text Box 6">
            <a:extLst>
              <a:ext uri="{FF2B5EF4-FFF2-40B4-BE49-F238E27FC236}">
                <a16:creationId xmlns:a16="http://schemas.microsoft.com/office/drawing/2014/main" id="{2096CCC6-35EC-5611-57EA-151FFFB4AB15}"/>
              </a:ext>
            </a:extLst>
          </p:cNvPr>
          <p:cNvSpPr txBox="1">
            <a:spLocks noChangeArrowheads="1"/>
          </p:cNvSpPr>
          <p:nvPr/>
        </p:nvSpPr>
        <p:spPr bwMode="auto">
          <a:xfrm>
            <a:off x="2886634" y="2839336"/>
            <a:ext cx="1207129" cy="287781"/>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Time Dim</a:t>
            </a:r>
          </a:p>
        </p:txBody>
      </p:sp>
      <p:sp>
        <p:nvSpPr>
          <p:cNvPr id="84999" name="Text Box 7">
            <a:extLst>
              <a:ext uri="{FF2B5EF4-FFF2-40B4-BE49-F238E27FC236}">
                <a16:creationId xmlns:a16="http://schemas.microsoft.com/office/drawing/2014/main" id="{385DE82D-F222-F2A2-C9F8-0E34509598AD}"/>
              </a:ext>
            </a:extLst>
          </p:cNvPr>
          <p:cNvSpPr txBox="1">
            <a:spLocks noChangeArrowheads="1"/>
          </p:cNvSpPr>
          <p:nvPr/>
        </p:nvSpPr>
        <p:spPr bwMode="auto">
          <a:xfrm>
            <a:off x="2957642" y="3676517"/>
            <a:ext cx="1207129" cy="48254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Transaction Dim</a:t>
            </a:r>
          </a:p>
        </p:txBody>
      </p:sp>
      <p:sp>
        <p:nvSpPr>
          <p:cNvPr id="85000" name="Text Box 8">
            <a:extLst>
              <a:ext uri="{FF2B5EF4-FFF2-40B4-BE49-F238E27FC236}">
                <a16:creationId xmlns:a16="http://schemas.microsoft.com/office/drawing/2014/main" id="{F1E6E1F7-03A4-99F0-EBAB-91E82C589ECC}"/>
              </a:ext>
            </a:extLst>
          </p:cNvPr>
          <p:cNvSpPr txBox="1">
            <a:spLocks noChangeArrowheads="1"/>
          </p:cNvSpPr>
          <p:nvPr/>
        </p:nvSpPr>
        <p:spPr bwMode="auto">
          <a:xfrm>
            <a:off x="7076081" y="2839335"/>
            <a:ext cx="1207129" cy="48254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Account Dim</a:t>
            </a:r>
          </a:p>
        </p:txBody>
      </p:sp>
      <p:sp>
        <p:nvSpPr>
          <p:cNvPr id="85001" name="Text Box 9">
            <a:extLst>
              <a:ext uri="{FF2B5EF4-FFF2-40B4-BE49-F238E27FC236}">
                <a16:creationId xmlns:a16="http://schemas.microsoft.com/office/drawing/2014/main" id="{F759DDD9-7577-19FA-59D7-171540E99289}"/>
              </a:ext>
            </a:extLst>
          </p:cNvPr>
          <p:cNvSpPr txBox="1">
            <a:spLocks noChangeArrowheads="1"/>
          </p:cNvSpPr>
          <p:nvPr/>
        </p:nvSpPr>
        <p:spPr bwMode="auto">
          <a:xfrm>
            <a:off x="7076081" y="3467222"/>
            <a:ext cx="1207129" cy="48254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Location Dim</a:t>
            </a:r>
          </a:p>
        </p:txBody>
      </p:sp>
      <p:sp>
        <p:nvSpPr>
          <p:cNvPr id="85002" name="Text Box 10">
            <a:extLst>
              <a:ext uri="{FF2B5EF4-FFF2-40B4-BE49-F238E27FC236}">
                <a16:creationId xmlns:a16="http://schemas.microsoft.com/office/drawing/2014/main" id="{5108D755-91E9-138E-E405-3A837B2A6581}"/>
              </a:ext>
            </a:extLst>
          </p:cNvPr>
          <p:cNvSpPr txBox="1">
            <a:spLocks noChangeArrowheads="1"/>
          </p:cNvSpPr>
          <p:nvPr/>
        </p:nvSpPr>
        <p:spPr bwMode="auto">
          <a:xfrm>
            <a:off x="7076081" y="4095110"/>
            <a:ext cx="1207129" cy="287781"/>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Audit Dim</a:t>
            </a:r>
          </a:p>
        </p:txBody>
      </p:sp>
      <p:sp>
        <p:nvSpPr>
          <p:cNvPr id="85003" name="Line 11">
            <a:extLst>
              <a:ext uri="{FF2B5EF4-FFF2-40B4-BE49-F238E27FC236}">
                <a16:creationId xmlns:a16="http://schemas.microsoft.com/office/drawing/2014/main" id="{386FD2F7-86B4-5C1D-4A94-8984E988B50E}"/>
              </a:ext>
            </a:extLst>
          </p:cNvPr>
          <p:cNvSpPr>
            <a:spLocks noChangeShapeType="1"/>
          </p:cNvSpPr>
          <p:nvPr/>
        </p:nvSpPr>
        <p:spPr bwMode="auto">
          <a:xfrm>
            <a:off x="4093763" y="2978865"/>
            <a:ext cx="78108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4" name="Line 12">
            <a:extLst>
              <a:ext uri="{FF2B5EF4-FFF2-40B4-BE49-F238E27FC236}">
                <a16:creationId xmlns:a16="http://schemas.microsoft.com/office/drawing/2014/main" id="{AA9C41E1-C55C-4C0B-0408-CB62E17D7133}"/>
              </a:ext>
            </a:extLst>
          </p:cNvPr>
          <p:cNvSpPr>
            <a:spLocks noChangeShapeType="1"/>
          </p:cNvSpPr>
          <p:nvPr/>
        </p:nvSpPr>
        <p:spPr bwMode="auto">
          <a:xfrm>
            <a:off x="4164770" y="3885813"/>
            <a:ext cx="7100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5" name="Line 13">
            <a:extLst>
              <a:ext uri="{FF2B5EF4-FFF2-40B4-BE49-F238E27FC236}">
                <a16:creationId xmlns:a16="http://schemas.microsoft.com/office/drawing/2014/main" id="{7F2E749C-65AC-67AA-E2FC-5205ED1B15DF}"/>
              </a:ext>
            </a:extLst>
          </p:cNvPr>
          <p:cNvSpPr>
            <a:spLocks noChangeShapeType="1"/>
          </p:cNvSpPr>
          <p:nvPr/>
        </p:nvSpPr>
        <p:spPr bwMode="auto">
          <a:xfrm>
            <a:off x="6579028" y="3048631"/>
            <a:ext cx="4970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6" name="Line 14">
            <a:extLst>
              <a:ext uri="{FF2B5EF4-FFF2-40B4-BE49-F238E27FC236}">
                <a16:creationId xmlns:a16="http://schemas.microsoft.com/office/drawing/2014/main" id="{756E6583-1AF5-9468-433D-50A7229B18C9}"/>
              </a:ext>
            </a:extLst>
          </p:cNvPr>
          <p:cNvSpPr>
            <a:spLocks noChangeShapeType="1"/>
          </p:cNvSpPr>
          <p:nvPr/>
        </p:nvSpPr>
        <p:spPr bwMode="auto">
          <a:xfrm>
            <a:off x="6579028" y="3746283"/>
            <a:ext cx="4970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7" name="Line 15">
            <a:extLst>
              <a:ext uri="{FF2B5EF4-FFF2-40B4-BE49-F238E27FC236}">
                <a16:creationId xmlns:a16="http://schemas.microsoft.com/office/drawing/2014/main" id="{8EC0E9A9-5BED-6D09-11CE-25A01CB07C9E}"/>
              </a:ext>
            </a:extLst>
          </p:cNvPr>
          <p:cNvSpPr>
            <a:spLocks noChangeShapeType="1"/>
          </p:cNvSpPr>
          <p:nvPr/>
        </p:nvSpPr>
        <p:spPr bwMode="auto">
          <a:xfrm>
            <a:off x="6579028" y="4234639"/>
            <a:ext cx="4970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8" name="Text Box 16">
            <a:extLst>
              <a:ext uri="{FF2B5EF4-FFF2-40B4-BE49-F238E27FC236}">
                <a16:creationId xmlns:a16="http://schemas.microsoft.com/office/drawing/2014/main" id="{42C2D02A-B35F-7634-EA09-EC2C3AB7BB6F}"/>
              </a:ext>
            </a:extLst>
          </p:cNvPr>
          <p:cNvSpPr txBox="1">
            <a:spLocks noChangeArrowheads="1"/>
          </p:cNvSpPr>
          <p:nvPr/>
        </p:nvSpPr>
        <p:spPr bwMode="auto">
          <a:xfrm>
            <a:off x="4874846" y="4740552"/>
            <a:ext cx="1704182" cy="1846659"/>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200" b="1" dirty="0">
                <a:latin typeface="Arial" panose="020B0604020202020204" pitchFamily="34" charset="0"/>
              </a:rPr>
              <a:t>ATM Snapshot </a:t>
            </a:r>
          </a:p>
          <a:p>
            <a:pPr algn="ctr" eaLnBrk="1" hangingPunct="1"/>
            <a:r>
              <a:rPr lang="en-US" altLang="en-US" sz="1200" b="1" dirty="0">
                <a:latin typeface="Arial" panose="020B0604020202020204" pitchFamily="34" charset="0"/>
              </a:rPr>
              <a:t>Fact Table</a:t>
            </a:r>
          </a:p>
          <a:p>
            <a:pPr eaLnBrk="1" hangingPunct="1">
              <a:spcBef>
                <a:spcPct val="50000"/>
              </a:spcBef>
            </a:pPr>
            <a:r>
              <a:rPr lang="en-US" altLang="en-US" sz="1000" dirty="0" err="1">
                <a:latin typeface="Arial" panose="020B0604020202020204" pitchFamily="34" charset="0"/>
              </a:rPr>
              <a:t>Time_key</a:t>
            </a:r>
            <a:r>
              <a:rPr lang="en-US" altLang="en-US" sz="1000" dirty="0">
                <a:latin typeface="Arial" panose="020B0604020202020204" pitchFamily="34" charset="0"/>
              </a:rPr>
              <a:t> (FK)</a:t>
            </a:r>
          </a:p>
          <a:p>
            <a:pPr eaLnBrk="1" hangingPunct="1">
              <a:spcBef>
                <a:spcPct val="50000"/>
              </a:spcBef>
            </a:pPr>
            <a:r>
              <a:rPr lang="en-US" altLang="en-US" sz="1000" dirty="0" err="1">
                <a:latin typeface="Arial" panose="020B0604020202020204" pitchFamily="34" charset="0"/>
              </a:rPr>
              <a:t>Account_key</a:t>
            </a:r>
            <a:r>
              <a:rPr lang="en-US" altLang="en-US" sz="1000" dirty="0">
                <a:latin typeface="Arial" panose="020B0604020202020204" pitchFamily="34" charset="0"/>
              </a:rPr>
              <a:t> (FK)</a:t>
            </a:r>
          </a:p>
          <a:p>
            <a:pPr eaLnBrk="1" hangingPunct="1">
              <a:spcBef>
                <a:spcPct val="50000"/>
              </a:spcBef>
            </a:pPr>
            <a:r>
              <a:rPr lang="en-US" altLang="en-US" sz="1000" dirty="0" err="1">
                <a:latin typeface="Arial" panose="020B0604020202020204" pitchFamily="34" charset="0"/>
              </a:rPr>
              <a:t>Status_key</a:t>
            </a:r>
            <a:r>
              <a:rPr lang="en-US" altLang="en-US" sz="1000" dirty="0">
                <a:latin typeface="Arial" panose="020B0604020202020204" pitchFamily="34" charset="0"/>
              </a:rPr>
              <a:t> (FK)</a:t>
            </a:r>
          </a:p>
          <a:p>
            <a:pPr eaLnBrk="1" hangingPunct="1">
              <a:spcBef>
                <a:spcPct val="50000"/>
              </a:spcBef>
            </a:pPr>
            <a:r>
              <a:rPr lang="en-US" altLang="en-US" sz="1000" dirty="0" err="1">
                <a:latin typeface="Arial" panose="020B0604020202020204" pitchFamily="34" charset="0"/>
              </a:rPr>
              <a:t>Earned_revenue</a:t>
            </a:r>
            <a:endParaRPr lang="en-US" altLang="en-US" sz="1000" dirty="0">
              <a:latin typeface="Arial" panose="020B0604020202020204" pitchFamily="34" charset="0"/>
            </a:endParaRPr>
          </a:p>
          <a:p>
            <a:pPr eaLnBrk="1" hangingPunct="1">
              <a:spcBef>
                <a:spcPct val="50000"/>
              </a:spcBef>
            </a:pPr>
            <a:r>
              <a:rPr lang="en-US" altLang="en-US" sz="1000" dirty="0" err="1">
                <a:latin typeface="Arial" panose="020B0604020202020204" pitchFamily="34" charset="0"/>
              </a:rPr>
              <a:t>Transaction_count</a:t>
            </a:r>
            <a:endParaRPr lang="en-US" altLang="en-US" sz="1000" dirty="0">
              <a:latin typeface="Arial" panose="020B0604020202020204" pitchFamily="34" charset="0"/>
            </a:endParaRPr>
          </a:p>
          <a:p>
            <a:pPr eaLnBrk="1" hangingPunct="1">
              <a:spcBef>
                <a:spcPct val="50000"/>
              </a:spcBef>
            </a:pPr>
            <a:r>
              <a:rPr lang="en-US" altLang="en-US" sz="1000" dirty="0" err="1">
                <a:latin typeface="Arial" panose="020B0604020202020204" pitchFamily="34" charset="0"/>
              </a:rPr>
              <a:t>Ending_balance</a:t>
            </a:r>
            <a:r>
              <a:rPr lang="en-US" altLang="en-US" sz="1000" dirty="0">
                <a:latin typeface="Arial" panose="020B0604020202020204" pitchFamily="34" charset="0"/>
              </a:rPr>
              <a:t>, ETC.</a:t>
            </a:r>
          </a:p>
        </p:txBody>
      </p:sp>
      <p:sp>
        <p:nvSpPr>
          <p:cNvPr id="85009" name="Text Box 18">
            <a:extLst>
              <a:ext uri="{FF2B5EF4-FFF2-40B4-BE49-F238E27FC236}">
                <a16:creationId xmlns:a16="http://schemas.microsoft.com/office/drawing/2014/main" id="{2C416C99-2208-8ECB-832B-956552CF117A}"/>
              </a:ext>
            </a:extLst>
          </p:cNvPr>
          <p:cNvSpPr txBox="1">
            <a:spLocks noChangeArrowheads="1"/>
          </p:cNvSpPr>
          <p:nvPr/>
        </p:nvSpPr>
        <p:spPr bwMode="auto">
          <a:xfrm>
            <a:off x="2886634" y="5002057"/>
            <a:ext cx="1207129" cy="287781"/>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Time Dim</a:t>
            </a:r>
          </a:p>
        </p:txBody>
      </p:sp>
      <p:sp>
        <p:nvSpPr>
          <p:cNvPr id="85010" name="Text Box 19">
            <a:extLst>
              <a:ext uri="{FF2B5EF4-FFF2-40B4-BE49-F238E27FC236}">
                <a16:creationId xmlns:a16="http://schemas.microsoft.com/office/drawing/2014/main" id="{F1AA344F-C8EC-8F5E-55A9-6564B3B52030}"/>
              </a:ext>
            </a:extLst>
          </p:cNvPr>
          <p:cNvSpPr txBox="1">
            <a:spLocks noChangeArrowheads="1"/>
          </p:cNvSpPr>
          <p:nvPr/>
        </p:nvSpPr>
        <p:spPr bwMode="auto">
          <a:xfrm>
            <a:off x="7076081" y="4722995"/>
            <a:ext cx="1207129" cy="48254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Account Dim</a:t>
            </a:r>
          </a:p>
        </p:txBody>
      </p:sp>
      <p:sp>
        <p:nvSpPr>
          <p:cNvPr id="85011" name="Text Box 20">
            <a:extLst>
              <a:ext uri="{FF2B5EF4-FFF2-40B4-BE49-F238E27FC236}">
                <a16:creationId xmlns:a16="http://schemas.microsoft.com/office/drawing/2014/main" id="{3CEDFA00-F537-4540-C86D-22D72581E11E}"/>
              </a:ext>
            </a:extLst>
          </p:cNvPr>
          <p:cNvSpPr txBox="1">
            <a:spLocks noChangeArrowheads="1"/>
          </p:cNvSpPr>
          <p:nvPr/>
        </p:nvSpPr>
        <p:spPr bwMode="auto">
          <a:xfrm>
            <a:off x="7076081" y="5490414"/>
            <a:ext cx="1207129" cy="287781"/>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Audit Dim</a:t>
            </a:r>
          </a:p>
        </p:txBody>
      </p:sp>
      <p:sp>
        <p:nvSpPr>
          <p:cNvPr id="85012" name="Text Box 21">
            <a:extLst>
              <a:ext uri="{FF2B5EF4-FFF2-40B4-BE49-F238E27FC236}">
                <a16:creationId xmlns:a16="http://schemas.microsoft.com/office/drawing/2014/main" id="{1A36BA97-CFEC-BF60-71B6-9028D632BDC9}"/>
              </a:ext>
            </a:extLst>
          </p:cNvPr>
          <p:cNvSpPr txBox="1">
            <a:spLocks noChangeArrowheads="1"/>
          </p:cNvSpPr>
          <p:nvPr/>
        </p:nvSpPr>
        <p:spPr bwMode="auto">
          <a:xfrm>
            <a:off x="2957642" y="5629944"/>
            <a:ext cx="1207129" cy="287781"/>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400">
                <a:latin typeface="Century Gothic" panose="020B0502020202020204" pitchFamily="34" charset="0"/>
              </a:rPr>
              <a:t>Status Dim</a:t>
            </a:r>
          </a:p>
        </p:txBody>
      </p:sp>
      <p:sp>
        <p:nvSpPr>
          <p:cNvPr id="85013" name="Line 22">
            <a:extLst>
              <a:ext uri="{FF2B5EF4-FFF2-40B4-BE49-F238E27FC236}">
                <a16:creationId xmlns:a16="http://schemas.microsoft.com/office/drawing/2014/main" id="{31AC66F4-411A-CDB8-3537-7C60344A6BA4}"/>
              </a:ext>
            </a:extLst>
          </p:cNvPr>
          <p:cNvSpPr>
            <a:spLocks noChangeShapeType="1"/>
          </p:cNvSpPr>
          <p:nvPr/>
        </p:nvSpPr>
        <p:spPr bwMode="auto">
          <a:xfrm>
            <a:off x="4093763" y="5141587"/>
            <a:ext cx="78108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4" name="Line 23">
            <a:extLst>
              <a:ext uri="{FF2B5EF4-FFF2-40B4-BE49-F238E27FC236}">
                <a16:creationId xmlns:a16="http://schemas.microsoft.com/office/drawing/2014/main" id="{C11F539C-18B3-C44C-7A25-19DDD8CFE324}"/>
              </a:ext>
            </a:extLst>
          </p:cNvPr>
          <p:cNvSpPr>
            <a:spLocks noChangeShapeType="1"/>
          </p:cNvSpPr>
          <p:nvPr/>
        </p:nvSpPr>
        <p:spPr bwMode="auto">
          <a:xfrm>
            <a:off x="4164770" y="5769474"/>
            <a:ext cx="7100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5" name="Line 24">
            <a:extLst>
              <a:ext uri="{FF2B5EF4-FFF2-40B4-BE49-F238E27FC236}">
                <a16:creationId xmlns:a16="http://schemas.microsoft.com/office/drawing/2014/main" id="{B5CDD38B-5349-4495-5081-5E89869C092D}"/>
              </a:ext>
            </a:extLst>
          </p:cNvPr>
          <p:cNvSpPr>
            <a:spLocks noChangeShapeType="1"/>
          </p:cNvSpPr>
          <p:nvPr/>
        </p:nvSpPr>
        <p:spPr bwMode="auto">
          <a:xfrm>
            <a:off x="6579028" y="5002056"/>
            <a:ext cx="4970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6" name="Line 25">
            <a:extLst>
              <a:ext uri="{FF2B5EF4-FFF2-40B4-BE49-F238E27FC236}">
                <a16:creationId xmlns:a16="http://schemas.microsoft.com/office/drawing/2014/main" id="{C2D87BD5-D5E5-62F5-FC87-8845DD79D100}"/>
              </a:ext>
            </a:extLst>
          </p:cNvPr>
          <p:cNvSpPr>
            <a:spLocks noChangeShapeType="1"/>
          </p:cNvSpPr>
          <p:nvPr/>
        </p:nvSpPr>
        <p:spPr bwMode="auto">
          <a:xfrm flipH="1">
            <a:off x="6579028" y="5629943"/>
            <a:ext cx="4970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7" name="Text Box 26">
            <a:extLst>
              <a:ext uri="{FF2B5EF4-FFF2-40B4-BE49-F238E27FC236}">
                <a16:creationId xmlns:a16="http://schemas.microsoft.com/office/drawing/2014/main" id="{2CC7538A-6380-C2FE-66B0-537FBC5A99E3}"/>
              </a:ext>
            </a:extLst>
          </p:cNvPr>
          <p:cNvSpPr txBox="1">
            <a:spLocks noChangeArrowheads="1"/>
          </p:cNvSpPr>
          <p:nvPr/>
        </p:nvSpPr>
        <p:spPr bwMode="auto">
          <a:xfrm>
            <a:off x="8780263" y="3188162"/>
            <a:ext cx="1136121" cy="59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Century Gothic" panose="020B0502020202020204" pitchFamily="34" charset="0"/>
              </a:rPr>
              <a:t>Models raw ATM transactions</a:t>
            </a:r>
          </a:p>
        </p:txBody>
      </p:sp>
      <p:sp>
        <p:nvSpPr>
          <p:cNvPr id="85018" name="Text Box 27">
            <a:extLst>
              <a:ext uri="{FF2B5EF4-FFF2-40B4-BE49-F238E27FC236}">
                <a16:creationId xmlns:a16="http://schemas.microsoft.com/office/drawing/2014/main" id="{3F793D66-D4AB-F673-979A-2E918B340DA6}"/>
              </a:ext>
            </a:extLst>
          </p:cNvPr>
          <p:cNvSpPr txBox="1">
            <a:spLocks noChangeArrowheads="1"/>
          </p:cNvSpPr>
          <p:nvPr/>
        </p:nvSpPr>
        <p:spPr bwMode="auto">
          <a:xfrm>
            <a:off x="8709255" y="4365450"/>
            <a:ext cx="1349144" cy="76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200">
                <a:latin typeface="Century Gothic" panose="020B0502020202020204" pitchFamily="34" charset="0"/>
              </a:rPr>
              <a:t>Models periodic snapshots obtained from ATM transactions</a:t>
            </a:r>
          </a:p>
        </p:txBody>
      </p:sp>
      <p:sp>
        <p:nvSpPr>
          <p:cNvPr id="2" name="Date Placeholder 1">
            <a:extLst>
              <a:ext uri="{FF2B5EF4-FFF2-40B4-BE49-F238E27FC236}">
                <a16:creationId xmlns:a16="http://schemas.microsoft.com/office/drawing/2014/main" id="{E7D270BC-4B3E-B8DC-75DA-21DC7A10AEB6}"/>
              </a:ext>
            </a:extLst>
          </p:cNvPr>
          <p:cNvSpPr>
            <a:spLocks noGrp="1"/>
          </p:cNvSpPr>
          <p:nvPr>
            <p:ph type="dt" sz="quarter" idx="10"/>
          </p:nvPr>
        </p:nvSpPr>
        <p:spPr/>
        <p:txBody>
          <a:bodyPr/>
          <a:lstStyle/>
          <a:p>
            <a:pPr>
              <a:defRPr/>
            </a:pPr>
            <a:fld id="{9974D288-7262-4396-AD59-EE81013A6DC4}" type="datetime1">
              <a:rPr lang="en-US" smtClean="0"/>
              <a:t>9/30/2025</a:t>
            </a:fld>
            <a:endParaRPr lang="en-US"/>
          </a:p>
        </p:txBody>
      </p:sp>
      <p:sp>
        <p:nvSpPr>
          <p:cNvPr id="3" name="Footer Placeholder 2">
            <a:extLst>
              <a:ext uri="{FF2B5EF4-FFF2-40B4-BE49-F238E27FC236}">
                <a16:creationId xmlns:a16="http://schemas.microsoft.com/office/drawing/2014/main" id="{D336E5FA-589E-39FA-8907-88489FA5C076}"/>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B6FEA182-9057-731A-A28D-E9244D5EB672}"/>
              </a:ext>
            </a:extLst>
          </p:cNvPr>
          <p:cNvSpPr>
            <a:spLocks noGrp="1"/>
          </p:cNvSpPr>
          <p:nvPr>
            <p:ph type="sldNum" sz="quarter" idx="12"/>
          </p:nvPr>
        </p:nvSpPr>
        <p:spPr/>
        <p:txBody>
          <a:bodyPr/>
          <a:lstStyle/>
          <a:p>
            <a:pPr>
              <a:defRPr/>
            </a:pPr>
            <a:fld id="{83AF27EA-9724-45C3-85EB-3D200C4E0A80}" type="slidenum">
              <a:rPr lang="en-US" altLang="en-US" smtClean="0"/>
              <a:pPr>
                <a:defRPr/>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83FADC79-E684-9BFF-DD68-B92803FA79A6}"/>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87043" name="Text Box 3">
            <a:extLst>
              <a:ext uri="{FF2B5EF4-FFF2-40B4-BE49-F238E27FC236}">
                <a16:creationId xmlns:a16="http://schemas.microsoft.com/office/drawing/2014/main" id="{2DD75721-04AF-7C7B-6BB0-1429961A78FF}"/>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87044" name="Text Box 4">
            <a:extLst>
              <a:ext uri="{FF2B5EF4-FFF2-40B4-BE49-F238E27FC236}">
                <a16:creationId xmlns:a16="http://schemas.microsoft.com/office/drawing/2014/main" id="{96FDB951-2308-D408-6E3F-A9DF18D4D888}"/>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87045" name="Text Box 5">
            <a:extLst>
              <a:ext uri="{FF2B5EF4-FFF2-40B4-BE49-F238E27FC236}">
                <a16:creationId xmlns:a16="http://schemas.microsoft.com/office/drawing/2014/main" id="{236566A4-3B96-74BB-DDD1-3F80E96462CA}"/>
              </a:ext>
            </a:extLst>
          </p:cNvPr>
          <p:cNvSpPr txBox="1">
            <a:spLocks noChangeArrowheads="1"/>
          </p:cNvSpPr>
          <p:nvPr/>
        </p:nvSpPr>
        <p:spPr bwMode="auto">
          <a:xfrm>
            <a:off x="2743200" y="1676400"/>
            <a:ext cx="7010400" cy="424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7.   Why Need Multiple Fact Tables?</a:t>
            </a:r>
            <a:endParaRPr lang="en-US" altLang="en-US" sz="2400">
              <a:latin typeface="Times New Roman" panose="02020603050405020304" pitchFamily="18" charset="0"/>
            </a:endParaRPr>
          </a:p>
          <a:p>
            <a:pPr lvl="1" eaLnBrk="1" hangingPunct="1">
              <a:spcBef>
                <a:spcPct val="50000"/>
              </a:spcBef>
              <a:buFontTx/>
              <a:buChar char="•"/>
            </a:pPr>
            <a:r>
              <a:rPr lang="en-US" altLang="en-US" sz="2400">
                <a:latin typeface="Times New Roman" panose="02020603050405020304" pitchFamily="18" charset="0"/>
              </a:rPr>
              <a:t>  </a:t>
            </a:r>
            <a:r>
              <a:rPr lang="en-US" altLang="en-US" sz="2000">
                <a:latin typeface="Times New Roman" panose="02020603050405020304" pitchFamily="18" charset="0"/>
              </a:rPr>
              <a:t>Notion of Aggregates</a:t>
            </a:r>
          </a:p>
          <a:p>
            <a:pPr lvl="2" eaLnBrk="1" hangingPunct="1">
              <a:spcBef>
                <a:spcPct val="50000"/>
              </a:spcBef>
              <a:buFontTx/>
              <a:buChar char="•"/>
            </a:pPr>
            <a:r>
              <a:rPr lang="en-US" altLang="en-US" sz="2000">
                <a:latin typeface="Times New Roman" panose="02020603050405020304" pitchFamily="18" charset="0"/>
              </a:rPr>
              <a:t>  </a:t>
            </a:r>
            <a:r>
              <a:rPr lang="en-US" altLang="en-US" sz="1600">
                <a:latin typeface="Times New Roman" panose="02020603050405020304" pitchFamily="18" charset="0"/>
              </a:rPr>
              <a:t>Aggregates are stored summaries built primarily to improve query performance.</a:t>
            </a:r>
          </a:p>
          <a:p>
            <a:pPr lvl="2" eaLnBrk="1" hangingPunct="1">
              <a:spcBef>
                <a:spcPct val="50000"/>
              </a:spcBef>
              <a:buFontTx/>
              <a:buChar char="•"/>
            </a:pPr>
            <a:r>
              <a:rPr lang="en-US" altLang="en-US" sz="1600">
                <a:latin typeface="Times New Roman" panose="02020603050405020304" pitchFamily="18" charset="0"/>
              </a:rPr>
              <a:t>  The creation of aggregates introduces a family of fact tables that are usually derived from the most granular fact table in each data mart. </a:t>
            </a:r>
          </a:p>
          <a:p>
            <a:pPr lvl="2" eaLnBrk="1" hangingPunct="1">
              <a:spcBef>
                <a:spcPct val="50000"/>
              </a:spcBef>
              <a:buFontTx/>
              <a:buChar char="•"/>
            </a:pPr>
            <a:r>
              <a:rPr lang="en-US" altLang="en-US" sz="1600">
                <a:latin typeface="Times New Roman" panose="02020603050405020304" pitchFamily="18" charset="0"/>
              </a:rPr>
              <a:t>  Each member of the family represents a particular degree of summarization alone one or more of the fact table’s dimensions.</a:t>
            </a:r>
          </a:p>
          <a:p>
            <a:pPr lvl="2" eaLnBrk="1" hangingPunct="1">
              <a:spcBef>
                <a:spcPct val="50000"/>
              </a:spcBef>
              <a:buFontTx/>
              <a:buChar char="•"/>
            </a:pPr>
            <a:r>
              <a:rPr lang="en-US" altLang="en-US" sz="1600">
                <a:latin typeface="Times New Roman" panose="02020603050405020304" pitchFamily="18" charset="0"/>
              </a:rPr>
              <a:t>  A mature and full set of aggregates could involve a dozen separate aggregate fact tables, all echoing the original structure of the base fact table.</a:t>
            </a:r>
            <a:endParaRPr lang="en-US" altLang="en-US" sz="2000">
              <a:latin typeface="Times New Roman" panose="02020603050405020304" pitchFamily="18" charset="0"/>
            </a:endParaRPr>
          </a:p>
          <a:p>
            <a:pPr lvl="2" eaLnBrk="1" hangingPunct="1">
              <a:spcBef>
                <a:spcPct val="50000"/>
              </a:spcBef>
            </a:pPr>
            <a:endParaRPr lang="en-US" altLang="en-US" sz="2000">
              <a:latin typeface="Times New Roman" panose="02020603050405020304" pitchFamily="18" charset="0"/>
            </a:endParaRPr>
          </a:p>
        </p:txBody>
      </p:sp>
      <p:sp>
        <p:nvSpPr>
          <p:cNvPr id="2" name="Date Placeholder 1">
            <a:extLst>
              <a:ext uri="{FF2B5EF4-FFF2-40B4-BE49-F238E27FC236}">
                <a16:creationId xmlns:a16="http://schemas.microsoft.com/office/drawing/2014/main" id="{F28CF835-1D07-A008-FFF0-02F5BCBB3071}"/>
              </a:ext>
            </a:extLst>
          </p:cNvPr>
          <p:cNvSpPr>
            <a:spLocks noGrp="1"/>
          </p:cNvSpPr>
          <p:nvPr>
            <p:ph type="dt" sz="quarter" idx="10"/>
          </p:nvPr>
        </p:nvSpPr>
        <p:spPr/>
        <p:txBody>
          <a:bodyPr/>
          <a:lstStyle/>
          <a:p>
            <a:pPr>
              <a:defRPr/>
            </a:pPr>
            <a:fld id="{61163225-BED1-44DD-9DD9-005CAAF3E2B2}" type="datetime1">
              <a:rPr lang="en-US" smtClean="0"/>
              <a:t>9/30/2025</a:t>
            </a:fld>
            <a:endParaRPr lang="en-US"/>
          </a:p>
        </p:txBody>
      </p:sp>
      <p:sp>
        <p:nvSpPr>
          <p:cNvPr id="3" name="Footer Placeholder 2">
            <a:extLst>
              <a:ext uri="{FF2B5EF4-FFF2-40B4-BE49-F238E27FC236}">
                <a16:creationId xmlns:a16="http://schemas.microsoft.com/office/drawing/2014/main" id="{43E31B92-C217-CFED-6CF6-0BADEC8CE9A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02A8766E-4B20-891D-62C6-C6E0FA439FBF}"/>
              </a:ext>
            </a:extLst>
          </p:cNvPr>
          <p:cNvSpPr>
            <a:spLocks noGrp="1"/>
          </p:cNvSpPr>
          <p:nvPr>
            <p:ph type="sldNum" sz="quarter" idx="12"/>
          </p:nvPr>
        </p:nvSpPr>
        <p:spPr/>
        <p:txBody>
          <a:bodyPr/>
          <a:lstStyle/>
          <a:p>
            <a:pPr>
              <a:defRPr/>
            </a:pPr>
            <a:fld id="{A72217AD-7906-48F8-A522-3CD04508B139}" type="slidenum">
              <a:rPr lang="en-US" altLang="en-US" smtClean="0"/>
              <a:pPr>
                <a:defRPr/>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75092819-642F-6ADF-54E8-F1975A6C2B48}"/>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89091" name="Text Box 3">
            <a:extLst>
              <a:ext uri="{FF2B5EF4-FFF2-40B4-BE49-F238E27FC236}">
                <a16:creationId xmlns:a16="http://schemas.microsoft.com/office/drawing/2014/main" id="{0B985676-36D6-6068-F30C-F1E4B79FEF18}"/>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89092" name="Text Box 4">
            <a:extLst>
              <a:ext uri="{FF2B5EF4-FFF2-40B4-BE49-F238E27FC236}">
                <a16:creationId xmlns:a16="http://schemas.microsoft.com/office/drawing/2014/main" id="{A0D24642-AFFB-ADFF-778D-710DE16FE18B}"/>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89093" name="Text Box 5">
            <a:extLst>
              <a:ext uri="{FF2B5EF4-FFF2-40B4-BE49-F238E27FC236}">
                <a16:creationId xmlns:a16="http://schemas.microsoft.com/office/drawing/2014/main" id="{CA4E8664-0D36-8ED6-D279-3F1E5440CBEB}"/>
              </a:ext>
            </a:extLst>
          </p:cNvPr>
          <p:cNvSpPr txBox="1">
            <a:spLocks noChangeArrowheads="1"/>
          </p:cNvSpPr>
          <p:nvPr/>
        </p:nvSpPr>
        <p:spPr bwMode="auto">
          <a:xfrm>
            <a:off x="2590800" y="1676400"/>
            <a:ext cx="7010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8.   What is a Dimension Table?</a:t>
            </a:r>
            <a:endParaRPr lang="en-US" altLang="en-US" sz="2400">
              <a:latin typeface="Times New Roman" panose="02020603050405020304" pitchFamily="18" charset="0"/>
            </a:endParaRPr>
          </a:p>
          <a:p>
            <a:pPr lvl="2" eaLnBrk="1" hangingPunct="1">
              <a:buFont typeface="Symbol" panose="05050102010706020507" pitchFamily="18" charset="2"/>
              <a:buChar char="·"/>
            </a:pPr>
            <a:endParaRPr lang="en-US" altLang="en-US" sz="2000">
              <a:latin typeface="Times New Roman" panose="02020603050405020304" pitchFamily="18" charset="0"/>
            </a:endParaRPr>
          </a:p>
          <a:p>
            <a:pPr lvl="2" eaLnBrk="1" hangingPunct="1">
              <a:buFont typeface="Symbol" panose="05050102010706020507" pitchFamily="18" charset="2"/>
              <a:buChar char="·"/>
            </a:pPr>
            <a:r>
              <a:rPr lang="en-US" altLang="en-US" sz="2000">
                <a:latin typeface="Times New Roman" panose="02020603050405020304" pitchFamily="18" charset="0"/>
              </a:rPr>
              <a:t>Contains </a:t>
            </a:r>
            <a:r>
              <a:rPr lang="en-US" altLang="en-US" sz="2000" b="1">
                <a:latin typeface="Times New Roman" panose="02020603050405020304" pitchFamily="18" charset="0"/>
              </a:rPr>
              <a:t>descriptive</a:t>
            </a:r>
            <a:r>
              <a:rPr lang="en-US" altLang="en-US" sz="2000">
                <a:latin typeface="Times New Roman" panose="02020603050405020304" pitchFamily="18" charset="0"/>
              </a:rPr>
              <a:t> and </a:t>
            </a:r>
            <a:r>
              <a:rPr lang="en-US" altLang="en-US" sz="2000" b="1">
                <a:latin typeface="Times New Roman" panose="02020603050405020304" pitchFamily="18" charset="0"/>
              </a:rPr>
              <a:t>textual information</a:t>
            </a:r>
          </a:p>
          <a:p>
            <a:pPr lvl="2" eaLnBrk="1" hangingPunct="1">
              <a:buFont typeface="Symbol" panose="05050102010706020507" pitchFamily="18" charset="2"/>
              <a:buNone/>
            </a:pPr>
            <a:endParaRPr lang="en-US" altLang="en-US" sz="2000">
              <a:latin typeface="Times New Roman" panose="02020603050405020304" pitchFamily="18" charset="0"/>
            </a:endParaRPr>
          </a:p>
          <a:p>
            <a:pPr lvl="2" eaLnBrk="1" hangingPunct="1">
              <a:buFont typeface="Symbol" panose="05050102010706020507" pitchFamily="18" charset="2"/>
              <a:buChar char="·"/>
            </a:pPr>
            <a:r>
              <a:rPr lang="en-US" altLang="en-US" sz="2000">
                <a:latin typeface="Times New Roman" panose="02020603050405020304" pitchFamily="18" charset="0"/>
              </a:rPr>
              <a:t> Attributes of Dimension Table are the source of most of constraints in the SQL Queries</a:t>
            </a:r>
          </a:p>
          <a:p>
            <a:pPr lvl="2" eaLnBrk="1" hangingPunct="1">
              <a:buFont typeface="Symbol" panose="05050102010706020507" pitchFamily="18" charset="2"/>
              <a:buChar char="·"/>
            </a:pPr>
            <a:endParaRPr lang="en-US" altLang="en-US" sz="2000">
              <a:latin typeface="Times New Roman" panose="02020603050405020304" pitchFamily="18" charset="0"/>
            </a:endParaRPr>
          </a:p>
          <a:p>
            <a:pPr lvl="2" eaLnBrk="1" hangingPunct="1">
              <a:buFont typeface="Symbol" panose="05050102010706020507" pitchFamily="18" charset="2"/>
              <a:buChar char="·"/>
            </a:pPr>
            <a:r>
              <a:rPr lang="en-US" altLang="en-US" sz="2000">
                <a:latin typeface="Times New Roman" panose="02020603050405020304" pitchFamily="18" charset="0"/>
              </a:rPr>
              <a:t> Examples of dimension are:</a:t>
            </a:r>
          </a:p>
          <a:p>
            <a:pPr lvl="3" eaLnBrk="1" hangingPunct="1"/>
            <a:r>
              <a:rPr lang="en-US" altLang="en-US" sz="2000">
                <a:latin typeface="Times New Roman" panose="02020603050405020304" pitchFamily="18" charset="0"/>
              </a:rPr>
              <a:t>a.	product dimension</a:t>
            </a:r>
          </a:p>
          <a:p>
            <a:pPr lvl="3" eaLnBrk="1" hangingPunct="1"/>
            <a:r>
              <a:rPr lang="en-US" altLang="en-US" sz="2000">
                <a:latin typeface="Times New Roman" panose="02020603050405020304" pitchFamily="18" charset="0"/>
              </a:rPr>
              <a:t>b.	store dimension</a:t>
            </a:r>
          </a:p>
          <a:p>
            <a:pPr lvl="3" eaLnBrk="1" hangingPunct="1"/>
            <a:r>
              <a:rPr lang="en-US" altLang="en-US" sz="2000">
                <a:latin typeface="Times New Roman" panose="02020603050405020304" pitchFamily="18" charset="0"/>
              </a:rPr>
              <a:t>c.	customer dimension</a:t>
            </a:r>
          </a:p>
          <a:p>
            <a:pPr lvl="3" eaLnBrk="1" hangingPunct="1"/>
            <a:r>
              <a:rPr lang="en-US" altLang="en-US" sz="2000">
                <a:latin typeface="Times New Roman" panose="02020603050405020304" pitchFamily="18" charset="0"/>
              </a:rPr>
              <a:t>d.    time dimension</a:t>
            </a:r>
          </a:p>
          <a:p>
            <a:pPr lvl="3" eaLnBrk="1" hangingPunct="1"/>
            <a:r>
              <a:rPr lang="en-US" altLang="en-US" sz="2000">
                <a:latin typeface="Times New Roman" panose="02020603050405020304" pitchFamily="18" charset="0"/>
              </a:rPr>
              <a:t>e.    customer address  - (commercial customers 		usually have hierarchies -- location to region)</a:t>
            </a:r>
          </a:p>
        </p:txBody>
      </p:sp>
      <p:sp>
        <p:nvSpPr>
          <p:cNvPr id="2" name="Date Placeholder 1">
            <a:extLst>
              <a:ext uri="{FF2B5EF4-FFF2-40B4-BE49-F238E27FC236}">
                <a16:creationId xmlns:a16="http://schemas.microsoft.com/office/drawing/2014/main" id="{56B15538-23BC-5B37-3198-271C9199439A}"/>
              </a:ext>
            </a:extLst>
          </p:cNvPr>
          <p:cNvSpPr>
            <a:spLocks noGrp="1"/>
          </p:cNvSpPr>
          <p:nvPr>
            <p:ph type="dt" sz="quarter" idx="10"/>
          </p:nvPr>
        </p:nvSpPr>
        <p:spPr/>
        <p:txBody>
          <a:bodyPr/>
          <a:lstStyle/>
          <a:p>
            <a:pPr>
              <a:defRPr/>
            </a:pPr>
            <a:fld id="{1C2933AB-FF67-41E1-BA69-91C3DA52CB56}" type="datetime1">
              <a:rPr lang="en-US" smtClean="0"/>
              <a:t>9/30/2025</a:t>
            </a:fld>
            <a:endParaRPr lang="en-US"/>
          </a:p>
        </p:txBody>
      </p:sp>
      <p:sp>
        <p:nvSpPr>
          <p:cNvPr id="3" name="Footer Placeholder 2">
            <a:extLst>
              <a:ext uri="{FF2B5EF4-FFF2-40B4-BE49-F238E27FC236}">
                <a16:creationId xmlns:a16="http://schemas.microsoft.com/office/drawing/2014/main" id="{A077D49E-AB38-7535-E8C3-1D4A1EF01AC1}"/>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550226ED-66FC-2452-C383-C794F6BDC90F}"/>
              </a:ext>
            </a:extLst>
          </p:cNvPr>
          <p:cNvSpPr>
            <a:spLocks noGrp="1"/>
          </p:cNvSpPr>
          <p:nvPr>
            <p:ph type="sldNum" sz="quarter" idx="12"/>
          </p:nvPr>
        </p:nvSpPr>
        <p:spPr/>
        <p:txBody>
          <a:bodyPr/>
          <a:lstStyle/>
          <a:p>
            <a:pPr>
              <a:defRPr/>
            </a:pPr>
            <a:fld id="{21B2949B-C50D-419B-A397-CF45343EA997}" type="slidenum">
              <a:rPr lang="en-US" altLang="en-US" smtClean="0"/>
              <a:pPr>
                <a:defRPr/>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97C1FBB1-4836-5096-4D10-33EDBE1C80E6}"/>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91139" name="Text Box 5">
            <a:extLst>
              <a:ext uri="{FF2B5EF4-FFF2-40B4-BE49-F238E27FC236}">
                <a16:creationId xmlns:a16="http://schemas.microsoft.com/office/drawing/2014/main" id="{C7CC1AE5-EF8C-1B1A-4CF5-56213900C18C}"/>
              </a:ext>
            </a:extLst>
          </p:cNvPr>
          <p:cNvSpPr txBox="1">
            <a:spLocks noChangeArrowheads="1"/>
          </p:cNvSpPr>
          <p:nvPr/>
        </p:nvSpPr>
        <p:spPr bwMode="auto">
          <a:xfrm>
            <a:off x="2819400" y="19812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8.   What is a Dimension Table?</a:t>
            </a:r>
            <a:endParaRPr lang="en-US" altLang="en-US" sz="2000">
              <a:latin typeface="Times New Roman" panose="02020603050405020304" pitchFamily="18" charset="0"/>
            </a:endParaRPr>
          </a:p>
        </p:txBody>
      </p:sp>
      <p:sp>
        <p:nvSpPr>
          <p:cNvPr id="91140" name="Text Box 6">
            <a:extLst>
              <a:ext uri="{FF2B5EF4-FFF2-40B4-BE49-F238E27FC236}">
                <a16:creationId xmlns:a16="http://schemas.microsoft.com/office/drawing/2014/main" id="{E8528362-A05C-687F-7EFD-09D104E746A3}"/>
              </a:ext>
            </a:extLst>
          </p:cNvPr>
          <p:cNvSpPr txBox="1">
            <a:spLocks noChangeArrowheads="1"/>
          </p:cNvSpPr>
          <p:nvPr/>
        </p:nvSpPr>
        <p:spPr bwMode="auto">
          <a:xfrm>
            <a:off x="2882153" y="2829078"/>
            <a:ext cx="1752600" cy="1392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80000"/>
              </a:lnSpc>
              <a:spcBef>
                <a:spcPct val="50000"/>
              </a:spcBef>
            </a:pPr>
            <a:r>
              <a:rPr lang="en-US" altLang="en-US">
                <a:latin typeface="Times New Roman" panose="02020603050405020304" pitchFamily="18" charset="0"/>
              </a:rPr>
              <a:t>Time-key (PK)</a:t>
            </a:r>
          </a:p>
          <a:p>
            <a:pPr eaLnBrk="1" hangingPunct="1">
              <a:lnSpc>
                <a:spcPct val="80000"/>
              </a:lnSpc>
              <a:spcBef>
                <a:spcPct val="50000"/>
              </a:spcBef>
            </a:pPr>
            <a:r>
              <a:rPr lang="en-US" altLang="en-US">
                <a:latin typeface="Times New Roman" panose="02020603050405020304" pitchFamily="18" charset="0"/>
              </a:rPr>
              <a:t>Day-of-week</a:t>
            </a:r>
          </a:p>
          <a:p>
            <a:pPr eaLnBrk="1" hangingPunct="1">
              <a:lnSpc>
                <a:spcPct val="80000"/>
              </a:lnSpc>
              <a:spcBef>
                <a:spcPct val="50000"/>
              </a:spcBef>
            </a:pPr>
            <a:r>
              <a:rPr lang="en-US" altLang="en-US">
                <a:latin typeface="Times New Roman" panose="02020603050405020304" pitchFamily="18" charset="0"/>
              </a:rPr>
              <a:t>week-number</a:t>
            </a:r>
          </a:p>
          <a:p>
            <a:pPr eaLnBrk="1" hangingPunct="1">
              <a:lnSpc>
                <a:spcPct val="80000"/>
              </a:lnSpc>
              <a:spcBef>
                <a:spcPct val="50000"/>
              </a:spcBef>
            </a:pPr>
            <a:r>
              <a:rPr lang="en-US" altLang="en-US">
                <a:latin typeface="Times New Roman" panose="02020603050405020304" pitchFamily="18" charset="0"/>
              </a:rPr>
              <a:t>Month</a:t>
            </a:r>
            <a:endParaRPr lang="en-US" altLang="en-US" sz="2400">
              <a:latin typeface="Times New Roman" panose="02020603050405020304" pitchFamily="18" charset="0"/>
            </a:endParaRPr>
          </a:p>
        </p:txBody>
      </p:sp>
      <p:sp>
        <p:nvSpPr>
          <p:cNvPr id="91141" name="Text Box 7">
            <a:extLst>
              <a:ext uri="{FF2B5EF4-FFF2-40B4-BE49-F238E27FC236}">
                <a16:creationId xmlns:a16="http://schemas.microsoft.com/office/drawing/2014/main" id="{664138C6-665B-B701-0DCC-9897DABFB8F2}"/>
              </a:ext>
            </a:extLst>
          </p:cNvPr>
          <p:cNvSpPr txBox="1">
            <a:spLocks noChangeArrowheads="1"/>
          </p:cNvSpPr>
          <p:nvPr/>
        </p:nvSpPr>
        <p:spPr bwMode="auto">
          <a:xfrm>
            <a:off x="2776175" y="2530382"/>
            <a:ext cx="1752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b="1" dirty="0">
                <a:latin typeface="Century Gothic" panose="020B0502020202020204" pitchFamily="34" charset="0"/>
              </a:rPr>
              <a:t>Time Dimension</a:t>
            </a:r>
          </a:p>
        </p:txBody>
      </p:sp>
      <p:sp>
        <p:nvSpPr>
          <p:cNvPr id="91142" name="Text Box 8">
            <a:extLst>
              <a:ext uri="{FF2B5EF4-FFF2-40B4-BE49-F238E27FC236}">
                <a16:creationId xmlns:a16="http://schemas.microsoft.com/office/drawing/2014/main" id="{C5B46227-7387-1CE9-5204-A62F47BBCEA2}"/>
              </a:ext>
            </a:extLst>
          </p:cNvPr>
          <p:cNvSpPr txBox="1">
            <a:spLocks noChangeArrowheads="1"/>
          </p:cNvSpPr>
          <p:nvPr/>
        </p:nvSpPr>
        <p:spPr bwMode="auto">
          <a:xfrm>
            <a:off x="7924800" y="3124200"/>
            <a:ext cx="1981200" cy="16144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70000"/>
              </a:lnSpc>
              <a:spcBef>
                <a:spcPct val="50000"/>
              </a:spcBef>
            </a:pPr>
            <a:r>
              <a:rPr lang="en-US" altLang="en-US">
                <a:latin typeface="Times New Roman" panose="02020603050405020304" pitchFamily="18" charset="0"/>
              </a:rPr>
              <a:t>Product-key (PK)</a:t>
            </a:r>
          </a:p>
          <a:p>
            <a:pPr eaLnBrk="1" hangingPunct="1">
              <a:lnSpc>
                <a:spcPct val="70000"/>
              </a:lnSpc>
              <a:spcBef>
                <a:spcPct val="50000"/>
              </a:spcBef>
            </a:pPr>
            <a:r>
              <a:rPr lang="en-US" altLang="en-US">
                <a:latin typeface="Times New Roman" panose="02020603050405020304" pitchFamily="18" charset="0"/>
              </a:rPr>
              <a:t>SKU</a:t>
            </a:r>
          </a:p>
          <a:p>
            <a:pPr eaLnBrk="1" hangingPunct="1">
              <a:lnSpc>
                <a:spcPct val="70000"/>
              </a:lnSpc>
              <a:spcBef>
                <a:spcPct val="50000"/>
              </a:spcBef>
            </a:pPr>
            <a:r>
              <a:rPr lang="en-US" altLang="en-US">
                <a:latin typeface="Times New Roman" panose="02020603050405020304" pitchFamily="18" charset="0"/>
              </a:rPr>
              <a:t>description</a:t>
            </a:r>
          </a:p>
          <a:p>
            <a:pPr eaLnBrk="1" hangingPunct="1">
              <a:lnSpc>
                <a:spcPct val="70000"/>
              </a:lnSpc>
              <a:spcBef>
                <a:spcPct val="50000"/>
              </a:spcBef>
            </a:pPr>
            <a:r>
              <a:rPr lang="en-US" altLang="en-US">
                <a:latin typeface="Times New Roman" panose="02020603050405020304" pitchFamily="18" charset="0"/>
              </a:rPr>
              <a:t>brand</a:t>
            </a:r>
          </a:p>
          <a:p>
            <a:pPr eaLnBrk="1" hangingPunct="1">
              <a:lnSpc>
                <a:spcPct val="70000"/>
              </a:lnSpc>
              <a:spcBef>
                <a:spcPct val="50000"/>
              </a:spcBef>
            </a:pPr>
            <a:r>
              <a:rPr lang="en-US" altLang="en-US">
                <a:latin typeface="Times New Roman" panose="02020603050405020304" pitchFamily="18" charset="0"/>
              </a:rPr>
              <a:t>category</a:t>
            </a:r>
          </a:p>
        </p:txBody>
      </p:sp>
      <p:sp>
        <p:nvSpPr>
          <p:cNvPr id="91143" name="Text Box 9">
            <a:extLst>
              <a:ext uri="{FF2B5EF4-FFF2-40B4-BE49-F238E27FC236}">
                <a16:creationId xmlns:a16="http://schemas.microsoft.com/office/drawing/2014/main" id="{0C97F637-F0E0-4F58-6094-584ACF813D2D}"/>
              </a:ext>
            </a:extLst>
          </p:cNvPr>
          <p:cNvSpPr txBox="1">
            <a:spLocks noChangeArrowheads="1"/>
          </p:cNvSpPr>
          <p:nvPr/>
        </p:nvSpPr>
        <p:spPr bwMode="auto">
          <a:xfrm>
            <a:off x="7848600" y="2667000"/>
            <a:ext cx="213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b="1">
                <a:latin typeface="Century Gothic" panose="020B0502020202020204" pitchFamily="34" charset="0"/>
              </a:rPr>
              <a:t>Product Dim</a:t>
            </a:r>
          </a:p>
        </p:txBody>
      </p:sp>
      <p:sp>
        <p:nvSpPr>
          <p:cNvPr id="91144" name="Text Box 10">
            <a:extLst>
              <a:ext uri="{FF2B5EF4-FFF2-40B4-BE49-F238E27FC236}">
                <a16:creationId xmlns:a16="http://schemas.microsoft.com/office/drawing/2014/main" id="{F77925FF-24A1-8F9D-33B4-60A27036CA63}"/>
              </a:ext>
            </a:extLst>
          </p:cNvPr>
          <p:cNvSpPr txBox="1">
            <a:spLocks noChangeArrowheads="1"/>
          </p:cNvSpPr>
          <p:nvPr/>
        </p:nvSpPr>
        <p:spPr bwMode="auto">
          <a:xfrm>
            <a:off x="3142130" y="4642913"/>
            <a:ext cx="2438400" cy="1604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60000"/>
              </a:lnSpc>
              <a:spcBef>
                <a:spcPct val="50000"/>
              </a:spcBef>
            </a:pPr>
            <a:r>
              <a:rPr lang="en-US" altLang="en-US" sz="1600">
                <a:latin typeface="Times New Roman" panose="02020603050405020304" pitchFamily="18" charset="0"/>
              </a:rPr>
              <a:t>Store-key (PK)</a:t>
            </a:r>
          </a:p>
          <a:p>
            <a:pPr eaLnBrk="1" hangingPunct="1">
              <a:lnSpc>
                <a:spcPct val="60000"/>
              </a:lnSpc>
              <a:spcBef>
                <a:spcPct val="50000"/>
              </a:spcBef>
            </a:pPr>
            <a:r>
              <a:rPr lang="en-US" altLang="en-US" sz="1600">
                <a:latin typeface="Times New Roman" panose="02020603050405020304" pitchFamily="18" charset="0"/>
              </a:rPr>
              <a:t>store-ID</a:t>
            </a:r>
          </a:p>
          <a:p>
            <a:pPr eaLnBrk="1" hangingPunct="1">
              <a:lnSpc>
                <a:spcPct val="60000"/>
              </a:lnSpc>
              <a:spcBef>
                <a:spcPct val="50000"/>
              </a:spcBef>
            </a:pPr>
            <a:r>
              <a:rPr lang="en-US" altLang="en-US" sz="1600">
                <a:latin typeface="Times New Roman" panose="02020603050405020304" pitchFamily="18" charset="0"/>
              </a:rPr>
              <a:t>store-name</a:t>
            </a:r>
          </a:p>
          <a:p>
            <a:pPr eaLnBrk="1" hangingPunct="1">
              <a:lnSpc>
                <a:spcPct val="60000"/>
              </a:lnSpc>
              <a:spcBef>
                <a:spcPct val="50000"/>
              </a:spcBef>
            </a:pPr>
            <a:r>
              <a:rPr lang="en-US" altLang="en-US" sz="1600">
                <a:latin typeface="Times New Roman" panose="02020603050405020304" pitchFamily="18" charset="0"/>
              </a:rPr>
              <a:t>City</a:t>
            </a:r>
          </a:p>
          <a:p>
            <a:pPr eaLnBrk="1" hangingPunct="1">
              <a:lnSpc>
                <a:spcPct val="60000"/>
              </a:lnSpc>
              <a:spcBef>
                <a:spcPct val="50000"/>
              </a:spcBef>
            </a:pPr>
            <a:r>
              <a:rPr lang="en-US" altLang="en-US" sz="1600">
                <a:latin typeface="Times New Roman" panose="02020603050405020304" pitchFamily="18" charset="0"/>
              </a:rPr>
              <a:t>State</a:t>
            </a:r>
          </a:p>
          <a:p>
            <a:pPr eaLnBrk="1" hangingPunct="1">
              <a:lnSpc>
                <a:spcPct val="60000"/>
              </a:lnSpc>
              <a:spcBef>
                <a:spcPct val="50000"/>
              </a:spcBef>
            </a:pPr>
            <a:r>
              <a:rPr lang="en-US" altLang="en-US" sz="1600">
                <a:latin typeface="Times New Roman" panose="02020603050405020304" pitchFamily="18" charset="0"/>
              </a:rPr>
              <a:t>Region</a:t>
            </a:r>
          </a:p>
        </p:txBody>
      </p:sp>
      <p:sp>
        <p:nvSpPr>
          <p:cNvPr id="91145" name="Text Box 11">
            <a:extLst>
              <a:ext uri="{FF2B5EF4-FFF2-40B4-BE49-F238E27FC236}">
                <a16:creationId xmlns:a16="http://schemas.microsoft.com/office/drawing/2014/main" id="{47683F6F-C6D4-0850-FC31-D53A9F101970}"/>
              </a:ext>
            </a:extLst>
          </p:cNvPr>
          <p:cNvSpPr txBox="1">
            <a:spLocks noChangeArrowheads="1"/>
          </p:cNvSpPr>
          <p:nvPr/>
        </p:nvSpPr>
        <p:spPr bwMode="auto">
          <a:xfrm>
            <a:off x="2814918" y="4351737"/>
            <a:ext cx="3352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600" b="1" dirty="0">
                <a:latin typeface="Century Gothic" panose="020B0502020202020204" pitchFamily="34" charset="0"/>
              </a:rPr>
              <a:t>Store Dimension</a:t>
            </a:r>
          </a:p>
        </p:txBody>
      </p:sp>
      <p:sp>
        <p:nvSpPr>
          <p:cNvPr id="2" name="Date Placeholder 1">
            <a:extLst>
              <a:ext uri="{FF2B5EF4-FFF2-40B4-BE49-F238E27FC236}">
                <a16:creationId xmlns:a16="http://schemas.microsoft.com/office/drawing/2014/main" id="{6E5E3A13-C4CE-1A7F-48DE-6B0374289007}"/>
              </a:ext>
            </a:extLst>
          </p:cNvPr>
          <p:cNvSpPr>
            <a:spLocks noGrp="1"/>
          </p:cNvSpPr>
          <p:nvPr>
            <p:ph type="dt" sz="quarter" idx="10"/>
          </p:nvPr>
        </p:nvSpPr>
        <p:spPr/>
        <p:txBody>
          <a:bodyPr/>
          <a:lstStyle/>
          <a:p>
            <a:pPr>
              <a:defRPr/>
            </a:pPr>
            <a:fld id="{601700CC-91C0-42A6-9864-E4A4CE719804}" type="datetime1">
              <a:rPr lang="en-US" smtClean="0"/>
              <a:t>9/30/2025</a:t>
            </a:fld>
            <a:endParaRPr lang="en-US"/>
          </a:p>
        </p:txBody>
      </p:sp>
      <p:sp>
        <p:nvSpPr>
          <p:cNvPr id="3" name="Footer Placeholder 2">
            <a:extLst>
              <a:ext uri="{FF2B5EF4-FFF2-40B4-BE49-F238E27FC236}">
                <a16:creationId xmlns:a16="http://schemas.microsoft.com/office/drawing/2014/main" id="{A39922E9-BCA3-C9E4-B733-5D53F8A83C8B}"/>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EAF7B6F4-15F5-AE6B-5450-B4D366BF73F8}"/>
              </a:ext>
            </a:extLst>
          </p:cNvPr>
          <p:cNvSpPr>
            <a:spLocks noGrp="1"/>
          </p:cNvSpPr>
          <p:nvPr>
            <p:ph type="sldNum" sz="quarter" idx="12"/>
          </p:nvPr>
        </p:nvSpPr>
        <p:spPr/>
        <p:txBody>
          <a:bodyPr/>
          <a:lstStyle/>
          <a:p>
            <a:pPr>
              <a:defRPr/>
            </a:pPr>
            <a:fld id="{C09507F9-F384-442E-8F1F-956A60C70D14}" type="slidenum">
              <a:rPr lang="en-US" altLang="en-US" smtClean="0"/>
              <a:pPr>
                <a:defRPr/>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1555A2F9-D4C7-44F7-7937-E323F8DC0B37}"/>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93187" name="Text Box 5">
            <a:extLst>
              <a:ext uri="{FF2B5EF4-FFF2-40B4-BE49-F238E27FC236}">
                <a16:creationId xmlns:a16="http://schemas.microsoft.com/office/drawing/2014/main" id="{14AFDE0D-A8E9-923D-9D48-50857234365A}"/>
              </a:ext>
            </a:extLst>
          </p:cNvPr>
          <p:cNvSpPr txBox="1">
            <a:spLocks noChangeArrowheads="1"/>
          </p:cNvSpPr>
          <p:nvPr/>
        </p:nvSpPr>
        <p:spPr bwMode="auto">
          <a:xfrm>
            <a:off x="2226012" y="1676239"/>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8.   What is a Dimension Table?</a:t>
            </a:r>
            <a:endParaRPr lang="en-US" altLang="en-US" sz="2000" dirty="0">
              <a:latin typeface="Times New Roman" panose="02020603050405020304" pitchFamily="18" charset="0"/>
            </a:endParaRPr>
          </a:p>
        </p:txBody>
      </p:sp>
      <p:pic>
        <p:nvPicPr>
          <p:cNvPr id="93188" name="Picture 3">
            <a:extLst>
              <a:ext uri="{FF2B5EF4-FFF2-40B4-BE49-F238E27FC236}">
                <a16:creationId xmlns:a16="http://schemas.microsoft.com/office/drawing/2014/main" id="{6B316F9A-5F9C-BF9C-546B-E038E1F08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123" y="2033258"/>
            <a:ext cx="6588868" cy="442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TextBox 1">
            <a:extLst>
              <a:ext uri="{FF2B5EF4-FFF2-40B4-BE49-F238E27FC236}">
                <a16:creationId xmlns:a16="http://schemas.microsoft.com/office/drawing/2014/main" id="{7ED56934-6283-E55F-EB33-3430A85F5236}"/>
              </a:ext>
            </a:extLst>
          </p:cNvPr>
          <p:cNvSpPr txBox="1">
            <a:spLocks noChangeArrowheads="1"/>
          </p:cNvSpPr>
          <p:nvPr/>
        </p:nvSpPr>
        <p:spPr bwMode="auto">
          <a:xfrm>
            <a:off x="6858000" y="3505201"/>
            <a:ext cx="25146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b="1">
                <a:solidFill>
                  <a:srgbClr val="C00000"/>
                </a:solidFill>
              </a:rPr>
              <a:t>See AdventureWorks DW database</a:t>
            </a:r>
          </a:p>
        </p:txBody>
      </p:sp>
      <p:sp>
        <p:nvSpPr>
          <p:cNvPr id="2" name="Date Placeholder 1">
            <a:extLst>
              <a:ext uri="{FF2B5EF4-FFF2-40B4-BE49-F238E27FC236}">
                <a16:creationId xmlns:a16="http://schemas.microsoft.com/office/drawing/2014/main" id="{54C6A685-677E-FCAD-BB13-EC349F4964BF}"/>
              </a:ext>
            </a:extLst>
          </p:cNvPr>
          <p:cNvSpPr>
            <a:spLocks noGrp="1"/>
          </p:cNvSpPr>
          <p:nvPr>
            <p:ph type="dt" sz="quarter" idx="10"/>
          </p:nvPr>
        </p:nvSpPr>
        <p:spPr/>
        <p:txBody>
          <a:bodyPr/>
          <a:lstStyle/>
          <a:p>
            <a:pPr>
              <a:defRPr/>
            </a:pPr>
            <a:fld id="{F45A6B14-E661-4929-BA70-4FF645E255FD}" type="datetime1">
              <a:rPr lang="en-US" smtClean="0"/>
              <a:t>9/30/2025</a:t>
            </a:fld>
            <a:endParaRPr lang="en-US"/>
          </a:p>
        </p:txBody>
      </p:sp>
      <p:sp>
        <p:nvSpPr>
          <p:cNvPr id="3" name="Footer Placeholder 2">
            <a:extLst>
              <a:ext uri="{FF2B5EF4-FFF2-40B4-BE49-F238E27FC236}">
                <a16:creationId xmlns:a16="http://schemas.microsoft.com/office/drawing/2014/main" id="{7CAF8A7C-BD5B-34FC-5410-1E532E26F4C2}"/>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7539CFB0-C44C-8192-3D1A-F52FC13E7141}"/>
              </a:ext>
            </a:extLst>
          </p:cNvPr>
          <p:cNvSpPr>
            <a:spLocks noGrp="1"/>
          </p:cNvSpPr>
          <p:nvPr>
            <p:ph type="sldNum" sz="quarter" idx="12"/>
          </p:nvPr>
        </p:nvSpPr>
        <p:spPr/>
        <p:txBody>
          <a:bodyPr/>
          <a:lstStyle/>
          <a:p>
            <a:pPr>
              <a:defRPr/>
            </a:pPr>
            <a:fld id="{6C504BF7-C49A-4BF7-BFC1-7EB05D8978C2}" type="slidenum">
              <a:rPr lang="en-US" altLang="en-US" smtClean="0"/>
              <a:pPr>
                <a:defRPr/>
              </a:pPr>
              <a:t>44</a:t>
            </a:fld>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39B9314-79AB-432A-5070-0E491B1CCFEF}"/>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95235" name="Text Box 5">
            <a:extLst>
              <a:ext uri="{FF2B5EF4-FFF2-40B4-BE49-F238E27FC236}">
                <a16:creationId xmlns:a16="http://schemas.microsoft.com/office/drawing/2014/main" id="{6F5F4321-F3EC-407E-6E86-E428DFD51296}"/>
              </a:ext>
            </a:extLst>
          </p:cNvPr>
          <p:cNvSpPr txBox="1">
            <a:spLocks noChangeArrowheads="1"/>
          </p:cNvSpPr>
          <p:nvPr/>
        </p:nvSpPr>
        <p:spPr bwMode="auto">
          <a:xfrm>
            <a:off x="2244896" y="1713845"/>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8.   What is a Dimension Table?</a:t>
            </a:r>
            <a:endParaRPr lang="en-US" altLang="en-US" sz="2000" dirty="0">
              <a:latin typeface="Times New Roman" panose="02020603050405020304" pitchFamily="18" charset="0"/>
            </a:endParaRPr>
          </a:p>
        </p:txBody>
      </p:sp>
      <p:pic>
        <p:nvPicPr>
          <p:cNvPr id="95236" name="Picture 3">
            <a:extLst>
              <a:ext uri="{FF2B5EF4-FFF2-40B4-BE49-F238E27FC236}">
                <a16:creationId xmlns:a16="http://schemas.microsoft.com/office/drawing/2014/main" id="{24453495-4C6A-C02F-5BE8-C39721622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1139" y="2120277"/>
            <a:ext cx="6485965" cy="435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TextBox 4">
            <a:extLst>
              <a:ext uri="{FF2B5EF4-FFF2-40B4-BE49-F238E27FC236}">
                <a16:creationId xmlns:a16="http://schemas.microsoft.com/office/drawing/2014/main" id="{B1322DBA-2795-1334-43B1-AD980C2031DC}"/>
              </a:ext>
            </a:extLst>
          </p:cNvPr>
          <p:cNvSpPr txBox="1">
            <a:spLocks noChangeArrowheads="1"/>
          </p:cNvSpPr>
          <p:nvPr/>
        </p:nvSpPr>
        <p:spPr bwMode="auto">
          <a:xfrm>
            <a:off x="10068127" y="3652869"/>
            <a:ext cx="1209471" cy="120032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b="1">
                <a:solidFill>
                  <a:srgbClr val="C00000"/>
                </a:solidFill>
              </a:rPr>
              <a:t>See AdventureWorks DW database</a:t>
            </a:r>
          </a:p>
        </p:txBody>
      </p:sp>
      <p:sp>
        <p:nvSpPr>
          <p:cNvPr id="2" name="Date Placeholder 1">
            <a:extLst>
              <a:ext uri="{FF2B5EF4-FFF2-40B4-BE49-F238E27FC236}">
                <a16:creationId xmlns:a16="http://schemas.microsoft.com/office/drawing/2014/main" id="{9524EBA6-EDDA-1DC7-F60A-59391382A44D}"/>
              </a:ext>
            </a:extLst>
          </p:cNvPr>
          <p:cNvSpPr>
            <a:spLocks noGrp="1"/>
          </p:cNvSpPr>
          <p:nvPr>
            <p:ph type="dt" sz="quarter" idx="10"/>
          </p:nvPr>
        </p:nvSpPr>
        <p:spPr/>
        <p:txBody>
          <a:bodyPr/>
          <a:lstStyle/>
          <a:p>
            <a:pPr>
              <a:defRPr/>
            </a:pPr>
            <a:fld id="{2D5E7A26-EA92-421B-8AD0-3AA553035C56}" type="datetime1">
              <a:rPr lang="en-US" smtClean="0"/>
              <a:t>9/30/2025</a:t>
            </a:fld>
            <a:endParaRPr lang="en-US"/>
          </a:p>
        </p:txBody>
      </p:sp>
      <p:sp>
        <p:nvSpPr>
          <p:cNvPr id="3" name="Footer Placeholder 2">
            <a:extLst>
              <a:ext uri="{FF2B5EF4-FFF2-40B4-BE49-F238E27FC236}">
                <a16:creationId xmlns:a16="http://schemas.microsoft.com/office/drawing/2014/main" id="{471A2BC7-B395-C537-C8B0-03D4A26A5E1E}"/>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413B0864-266D-2CDD-D69E-3B195AC36C8C}"/>
              </a:ext>
            </a:extLst>
          </p:cNvPr>
          <p:cNvSpPr>
            <a:spLocks noGrp="1"/>
          </p:cNvSpPr>
          <p:nvPr>
            <p:ph type="sldNum" sz="quarter" idx="12"/>
          </p:nvPr>
        </p:nvSpPr>
        <p:spPr/>
        <p:txBody>
          <a:bodyPr/>
          <a:lstStyle/>
          <a:p>
            <a:pPr>
              <a:defRPr/>
            </a:pPr>
            <a:fld id="{76488A46-4F31-405C-A750-50955948DC83}" type="slidenum">
              <a:rPr lang="en-US" altLang="en-US" smtClean="0"/>
              <a:pPr>
                <a:defRPr/>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B36EB87-3B45-B84B-2605-63459E4A9770}"/>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97283" name="Text Box 3">
            <a:extLst>
              <a:ext uri="{FF2B5EF4-FFF2-40B4-BE49-F238E27FC236}">
                <a16:creationId xmlns:a16="http://schemas.microsoft.com/office/drawing/2014/main" id="{5C508225-3D0C-EE8D-B0A8-FC037D226A14}"/>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97284" name="Text Box 4">
            <a:extLst>
              <a:ext uri="{FF2B5EF4-FFF2-40B4-BE49-F238E27FC236}">
                <a16:creationId xmlns:a16="http://schemas.microsoft.com/office/drawing/2014/main" id="{736956F4-769E-DD88-2E96-A2DC6379D68A}"/>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97285" name="Text Box 5">
            <a:extLst>
              <a:ext uri="{FF2B5EF4-FFF2-40B4-BE49-F238E27FC236}">
                <a16:creationId xmlns:a16="http://schemas.microsoft.com/office/drawing/2014/main" id="{D116AF3D-E352-1627-919D-3A2DAACD6744}"/>
              </a:ext>
            </a:extLst>
          </p:cNvPr>
          <p:cNvSpPr txBox="1">
            <a:spLocks noChangeArrowheads="1"/>
          </p:cNvSpPr>
          <p:nvPr/>
        </p:nvSpPr>
        <p:spPr bwMode="auto">
          <a:xfrm>
            <a:off x="2438400" y="1855694"/>
            <a:ext cx="72390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8.   What is a Dimension Table?</a:t>
            </a:r>
          </a:p>
          <a:p>
            <a:pPr lvl="1" eaLnBrk="1" hangingPunct="1">
              <a:spcBef>
                <a:spcPct val="50000"/>
              </a:spcBef>
              <a:buFontTx/>
              <a:buChar char="•"/>
            </a:pPr>
            <a:r>
              <a:rPr lang="en-US" altLang="en-US" sz="2400" dirty="0">
                <a:latin typeface="Times New Roman" panose="02020603050405020304" pitchFamily="18" charset="0"/>
              </a:rPr>
              <a:t> </a:t>
            </a:r>
            <a:r>
              <a:rPr lang="en-US" altLang="en-US" dirty="0">
                <a:latin typeface="Times New Roman" panose="02020603050405020304" pitchFamily="18" charset="0"/>
              </a:rPr>
              <a:t>Dimensions</a:t>
            </a:r>
            <a:r>
              <a:rPr lang="en-US" altLang="en-US" sz="2000" dirty="0">
                <a:latin typeface="Times New Roman" panose="02020603050405020304" pitchFamily="18" charset="0"/>
              </a:rPr>
              <a:t> can be </a:t>
            </a:r>
            <a:r>
              <a:rPr lang="en-US" altLang="en-US" sz="2000" b="1" dirty="0">
                <a:latin typeface="Times New Roman" panose="02020603050405020304" pitchFamily="18" charset="0"/>
              </a:rPr>
              <a:t>lumped</a:t>
            </a:r>
            <a:r>
              <a:rPr lang="en-US" altLang="en-US" sz="2000" dirty="0">
                <a:latin typeface="Times New Roman" panose="02020603050405020304" pitchFamily="18" charset="0"/>
              </a:rPr>
              <a:t> to create more meaningful dimension such as</a:t>
            </a:r>
          </a:p>
          <a:p>
            <a:pPr lvl="3" eaLnBrk="1" hangingPunct="1"/>
            <a:r>
              <a:rPr lang="en-US" altLang="en-US" sz="2000" dirty="0">
                <a:latin typeface="Times New Roman" panose="02020603050405020304" pitchFamily="18" charset="0"/>
              </a:rPr>
              <a:t>&lt;product, store&gt;  -- 	in case products are branded to sell in certain stores and also used for browsing</a:t>
            </a:r>
          </a:p>
          <a:p>
            <a:pPr lvl="3" eaLnBrk="1" hangingPunct="1"/>
            <a:endParaRPr lang="en-US" altLang="en-US" sz="2000" dirty="0">
              <a:latin typeface="Times New Roman" panose="02020603050405020304" pitchFamily="18" charset="0"/>
            </a:endParaRPr>
          </a:p>
          <a:p>
            <a:pPr lvl="1" eaLnBrk="1" hangingPunct="1">
              <a:buFont typeface="Symbol" panose="05050102010706020507" pitchFamily="18" charset="2"/>
              <a:buChar char="·"/>
            </a:pPr>
            <a:r>
              <a:rPr lang="en-US" altLang="en-US" sz="2000" dirty="0">
                <a:latin typeface="Times New Roman" panose="02020603050405020304" pitchFamily="18" charset="0"/>
              </a:rPr>
              <a:t>Drilling Up and Down</a:t>
            </a:r>
          </a:p>
          <a:p>
            <a:pPr lvl="2" eaLnBrk="1" hangingPunct="1">
              <a:buFont typeface="Symbol" panose="05050102010706020507" pitchFamily="18" charset="2"/>
              <a:buChar char="·"/>
            </a:pPr>
            <a:r>
              <a:rPr lang="en-US" altLang="en-US" sz="2000" dirty="0">
                <a:latin typeface="Times New Roman" panose="02020603050405020304" pitchFamily="18" charset="0"/>
              </a:rPr>
              <a:t>Each dimension can have </a:t>
            </a:r>
            <a:r>
              <a:rPr lang="en-US" altLang="en-US" sz="2000" dirty="0">
                <a:solidFill>
                  <a:srgbClr val="C00000"/>
                </a:solidFill>
                <a:latin typeface="Times New Roman" panose="02020603050405020304" pitchFamily="18" charset="0"/>
              </a:rPr>
              <a:t>hierarchies</a:t>
            </a:r>
            <a:r>
              <a:rPr lang="en-US" altLang="en-US" sz="2000" dirty="0">
                <a:solidFill>
                  <a:schemeClr val="accent2"/>
                </a:solidFill>
                <a:latin typeface="Times New Roman" panose="02020603050405020304" pitchFamily="18" charset="0"/>
              </a:rPr>
              <a:t> </a:t>
            </a:r>
            <a:r>
              <a:rPr lang="en-US" altLang="en-US" sz="2000" dirty="0">
                <a:latin typeface="Times New Roman" panose="02020603050405020304" pitchFamily="18" charset="0"/>
              </a:rPr>
              <a:t>(which could be more than one; also will talk about implementing this in SSAS) and browsers can be used to see the number of distinct values and to enumerate distinct relationships</a:t>
            </a:r>
          </a:p>
          <a:p>
            <a:pPr lvl="2" eaLnBrk="1" hangingPunct="1">
              <a:buFont typeface="Symbol" panose="05050102010706020507" pitchFamily="18" charset="2"/>
              <a:buChar char="·"/>
            </a:pPr>
            <a:r>
              <a:rPr lang="en-US" altLang="en-US" sz="2000" dirty="0">
                <a:latin typeface="Times New Roman" panose="02020603050405020304" pitchFamily="18" charset="0"/>
              </a:rPr>
              <a:t>"Drill down" means adding more details </a:t>
            </a:r>
          </a:p>
          <a:p>
            <a:pPr lvl="2" eaLnBrk="1" hangingPunct="1">
              <a:buFont typeface="Symbol" panose="05050102010706020507" pitchFamily="18" charset="2"/>
              <a:buChar char="·"/>
            </a:pPr>
            <a:r>
              <a:rPr lang="en-US" altLang="en-US" sz="2000" dirty="0">
                <a:latin typeface="Times New Roman" panose="02020603050405020304" pitchFamily="18" charset="0"/>
              </a:rPr>
              <a:t>"Drill up" means summarization or aggregation</a:t>
            </a:r>
          </a:p>
          <a:p>
            <a:pPr lvl="2" eaLnBrk="1" hangingPunct="1">
              <a:buFont typeface="Symbol" panose="05050102010706020507" pitchFamily="18" charset="2"/>
              <a:buNone/>
            </a:pPr>
            <a:r>
              <a:rPr lang="en-US"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E88B3AC5-1A97-0033-4653-6F13DE77B7B6}"/>
              </a:ext>
            </a:extLst>
          </p:cNvPr>
          <p:cNvSpPr>
            <a:spLocks noGrp="1"/>
          </p:cNvSpPr>
          <p:nvPr>
            <p:ph type="dt" sz="quarter" idx="10"/>
          </p:nvPr>
        </p:nvSpPr>
        <p:spPr/>
        <p:txBody>
          <a:bodyPr/>
          <a:lstStyle/>
          <a:p>
            <a:pPr>
              <a:defRPr/>
            </a:pPr>
            <a:fld id="{21B73C10-E5AB-44FE-8668-9125193C5E85}" type="datetime1">
              <a:rPr lang="en-US" smtClean="0"/>
              <a:t>9/30/2025</a:t>
            </a:fld>
            <a:endParaRPr lang="en-US"/>
          </a:p>
        </p:txBody>
      </p:sp>
      <p:sp>
        <p:nvSpPr>
          <p:cNvPr id="3" name="Footer Placeholder 2">
            <a:extLst>
              <a:ext uri="{FF2B5EF4-FFF2-40B4-BE49-F238E27FC236}">
                <a16:creationId xmlns:a16="http://schemas.microsoft.com/office/drawing/2014/main" id="{6A1F933E-9B29-0A11-A21A-F53461D34E4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518ACC50-733F-7BED-9102-A823E0F37E5D}"/>
              </a:ext>
            </a:extLst>
          </p:cNvPr>
          <p:cNvSpPr>
            <a:spLocks noGrp="1"/>
          </p:cNvSpPr>
          <p:nvPr>
            <p:ph type="sldNum" sz="quarter" idx="12"/>
          </p:nvPr>
        </p:nvSpPr>
        <p:spPr/>
        <p:txBody>
          <a:bodyPr/>
          <a:lstStyle/>
          <a:p>
            <a:pPr>
              <a:defRPr/>
            </a:pPr>
            <a:fld id="{D3EB54F7-E732-43F2-9007-9874F7BD778A}" type="slidenum">
              <a:rPr lang="en-US" altLang="en-US" smtClean="0"/>
              <a:pPr>
                <a:defRPr/>
              </a:pPr>
              <a:t>46</a:t>
            </a:fld>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A94D9D2D-F76B-1A3B-9235-EB957E0189B3}"/>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99331" name="Text Box 3">
            <a:extLst>
              <a:ext uri="{FF2B5EF4-FFF2-40B4-BE49-F238E27FC236}">
                <a16:creationId xmlns:a16="http://schemas.microsoft.com/office/drawing/2014/main" id="{04D6E376-78FC-585C-A77D-F49045C60858}"/>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99332" name="Text Box 4">
            <a:extLst>
              <a:ext uri="{FF2B5EF4-FFF2-40B4-BE49-F238E27FC236}">
                <a16:creationId xmlns:a16="http://schemas.microsoft.com/office/drawing/2014/main" id="{96589B26-4905-FE24-9045-0E84D8453AD8}"/>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99333" name="Text Box 5">
            <a:extLst>
              <a:ext uri="{FF2B5EF4-FFF2-40B4-BE49-F238E27FC236}">
                <a16:creationId xmlns:a16="http://schemas.microsoft.com/office/drawing/2014/main" id="{2282931C-FE56-3250-16D3-FC5AD0583C49}"/>
              </a:ext>
            </a:extLst>
          </p:cNvPr>
          <p:cNvSpPr txBox="1">
            <a:spLocks noChangeArrowheads="1"/>
          </p:cNvSpPr>
          <p:nvPr/>
        </p:nvSpPr>
        <p:spPr bwMode="auto">
          <a:xfrm>
            <a:off x="2819400" y="1981200"/>
            <a:ext cx="70104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400" b="1">
                <a:solidFill>
                  <a:schemeClr val="hlink"/>
                </a:solidFill>
                <a:latin typeface="Times New Roman" panose="02020603050405020304" pitchFamily="18" charset="0"/>
              </a:rPr>
              <a:t>Slowly Changing Dimension</a:t>
            </a:r>
          </a:p>
          <a:p>
            <a:pPr lvl="2" eaLnBrk="1" hangingPunct="1">
              <a:buFont typeface="Symbol" panose="05050102010706020507" pitchFamily="18" charset="2"/>
              <a:buChar char="·"/>
            </a:pPr>
            <a:r>
              <a:rPr lang="en-US" altLang="en-US" sz="2000">
                <a:latin typeface="Times New Roman" panose="02020603050405020304" pitchFamily="18" charset="0"/>
              </a:rPr>
              <a:t>even if product key or production-customer key do not change the description of the product or customer does.  To handle this problem, three options are available</a:t>
            </a:r>
          </a:p>
          <a:p>
            <a:pPr eaLnBrk="1" hangingPunct="1"/>
            <a:endParaRPr lang="en-US" altLang="en-US" sz="2400">
              <a:latin typeface="Times New Roman" panose="02020603050405020304" pitchFamily="18" charset="0"/>
            </a:endParaRPr>
          </a:p>
          <a:p>
            <a:pPr lvl="3" eaLnBrk="1" hangingPunct="1">
              <a:buFont typeface="Symbol" panose="05050102010706020507" pitchFamily="18" charset="2"/>
              <a:buChar char="·"/>
            </a:pPr>
            <a:r>
              <a:rPr lang="en-US" altLang="en-US" sz="2000" b="1">
                <a:latin typeface="Times New Roman" panose="02020603050405020304" pitchFamily="18" charset="0"/>
              </a:rPr>
              <a:t> Type 1 Response: </a:t>
            </a:r>
            <a:r>
              <a:rPr lang="en-US" altLang="en-US" sz="2000">
                <a:latin typeface="Times New Roman" panose="02020603050405020304" pitchFamily="18" charset="0"/>
              </a:rPr>
              <a:t>Overwrite the dimension record with the new values.  This is used when old description is not useful any more.</a:t>
            </a:r>
            <a:endParaRPr lang="en-US" altLang="en-US" sz="2000" b="1">
              <a:latin typeface="Times New Roman" panose="02020603050405020304" pitchFamily="18" charset="0"/>
            </a:endParaRPr>
          </a:p>
        </p:txBody>
      </p:sp>
      <p:sp>
        <p:nvSpPr>
          <p:cNvPr id="2" name="Date Placeholder 1">
            <a:extLst>
              <a:ext uri="{FF2B5EF4-FFF2-40B4-BE49-F238E27FC236}">
                <a16:creationId xmlns:a16="http://schemas.microsoft.com/office/drawing/2014/main" id="{DB05CA0B-A341-6982-7F5E-F5778DCCF722}"/>
              </a:ext>
            </a:extLst>
          </p:cNvPr>
          <p:cNvSpPr>
            <a:spLocks noGrp="1"/>
          </p:cNvSpPr>
          <p:nvPr>
            <p:ph type="dt" sz="quarter" idx="10"/>
          </p:nvPr>
        </p:nvSpPr>
        <p:spPr/>
        <p:txBody>
          <a:bodyPr/>
          <a:lstStyle/>
          <a:p>
            <a:pPr>
              <a:defRPr/>
            </a:pPr>
            <a:fld id="{E1250823-2BF5-4302-AF5F-D53EE5D13400}" type="datetime1">
              <a:rPr lang="en-US" smtClean="0"/>
              <a:t>9/30/2025</a:t>
            </a:fld>
            <a:endParaRPr lang="en-US"/>
          </a:p>
        </p:txBody>
      </p:sp>
      <p:sp>
        <p:nvSpPr>
          <p:cNvPr id="3" name="Footer Placeholder 2">
            <a:extLst>
              <a:ext uri="{FF2B5EF4-FFF2-40B4-BE49-F238E27FC236}">
                <a16:creationId xmlns:a16="http://schemas.microsoft.com/office/drawing/2014/main" id="{FA5A4611-BC5B-070F-DDB0-1CC04C71A126}"/>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6C6B2DBC-6D72-D511-6420-BDA9B2314355}"/>
              </a:ext>
            </a:extLst>
          </p:cNvPr>
          <p:cNvSpPr>
            <a:spLocks noGrp="1"/>
          </p:cNvSpPr>
          <p:nvPr>
            <p:ph type="sldNum" sz="quarter" idx="12"/>
          </p:nvPr>
        </p:nvSpPr>
        <p:spPr/>
        <p:txBody>
          <a:bodyPr/>
          <a:lstStyle/>
          <a:p>
            <a:pPr>
              <a:defRPr/>
            </a:pPr>
            <a:fld id="{2D7CD572-93C2-4238-8AA4-27A557EBC915}" type="slidenum">
              <a:rPr lang="en-US" altLang="en-US" smtClean="0"/>
              <a:pPr>
                <a:defRPr/>
              </a:pPr>
              <a:t>47</a:t>
            </a:fld>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BBB539E2-AC7D-1C72-EB13-C9D616518290}"/>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01379" name="Text Box 3">
            <a:extLst>
              <a:ext uri="{FF2B5EF4-FFF2-40B4-BE49-F238E27FC236}">
                <a16:creationId xmlns:a16="http://schemas.microsoft.com/office/drawing/2014/main" id="{CA7FF94A-DEE3-FE60-3136-CE2FA33F8B3D}"/>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01380" name="Text Box 4">
            <a:extLst>
              <a:ext uri="{FF2B5EF4-FFF2-40B4-BE49-F238E27FC236}">
                <a16:creationId xmlns:a16="http://schemas.microsoft.com/office/drawing/2014/main" id="{CFB8D351-8469-4C65-FC0E-5D71CE0923F6}"/>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01381" name="Text Box 5">
            <a:extLst>
              <a:ext uri="{FF2B5EF4-FFF2-40B4-BE49-F238E27FC236}">
                <a16:creationId xmlns:a16="http://schemas.microsoft.com/office/drawing/2014/main" id="{E06E43A5-8116-72A4-202B-7686BA36F5BD}"/>
              </a:ext>
            </a:extLst>
          </p:cNvPr>
          <p:cNvSpPr txBox="1">
            <a:spLocks noChangeArrowheads="1"/>
          </p:cNvSpPr>
          <p:nvPr/>
        </p:nvSpPr>
        <p:spPr bwMode="auto">
          <a:xfrm>
            <a:off x="2819400" y="1981200"/>
            <a:ext cx="70104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400" b="1">
                <a:solidFill>
                  <a:schemeClr val="hlink"/>
                </a:solidFill>
                <a:latin typeface="Times New Roman" panose="02020603050405020304" pitchFamily="18" charset="0"/>
              </a:rPr>
              <a:t>Slowly Changing Dimension</a:t>
            </a:r>
          </a:p>
          <a:p>
            <a:pPr lvl="3" eaLnBrk="1" hangingPunct="1">
              <a:buFont typeface="Symbol" panose="05050102010706020507" pitchFamily="18" charset="2"/>
              <a:buChar char="·"/>
            </a:pPr>
            <a:r>
              <a:rPr lang="en-US" altLang="en-US" sz="2000" b="1">
                <a:latin typeface="Times New Roman" panose="02020603050405020304" pitchFamily="18" charset="0"/>
              </a:rPr>
              <a:t>Type 2 Response: </a:t>
            </a:r>
            <a:r>
              <a:rPr lang="en-US" altLang="en-US" sz="2000">
                <a:latin typeface="Times New Roman" panose="02020603050405020304" pitchFamily="18" charset="0"/>
              </a:rPr>
              <a:t>Create effective date attributes in the dimension table.  This is used when a true physical change has taken place and it is appropriate to perfectly partition history by different descriptions. That is “Adding one row per change.”</a:t>
            </a:r>
          </a:p>
          <a:p>
            <a:pPr lvl="3" eaLnBrk="1" hangingPunct="1">
              <a:buFont typeface="Symbol" panose="05050102010706020507" pitchFamily="18" charset="2"/>
              <a:buNone/>
            </a:pPr>
            <a:endParaRPr lang="en-US" altLang="en-US" sz="2000" b="1">
              <a:latin typeface="Times New Roman" panose="02020603050405020304" pitchFamily="18" charset="0"/>
            </a:endParaRPr>
          </a:p>
          <a:p>
            <a:pPr lvl="3" eaLnBrk="1" hangingPunct="1">
              <a:buFontTx/>
              <a:buChar char="•"/>
            </a:pPr>
            <a:r>
              <a:rPr lang="en-US" altLang="en-US" sz="2000" b="1">
                <a:latin typeface="Times New Roman" panose="02020603050405020304" pitchFamily="18" charset="0"/>
              </a:rPr>
              <a:t>Type 3 Response:</a:t>
            </a:r>
            <a:r>
              <a:rPr lang="en-US" altLang="en-US" sz="2000">
                <a:latin typeface="Times New Roman" panose="02020603050405020304" pitchFamily="18" charset="0"/>
              </a:rPr>
              <a:t> We do not have a change that perfectly partitions history.  We create an "old" field in the dimension record to store the immediate previous attribute value.  This is used when the sales district has occurred and the change is "soft."</a:t>
            </a:r>
          </a:p>
        </p:txBody>
      </p:sp>
      <p:sp>
        <p:nvSpPr>
          <p:cNvPr id="2" name="Date Placeholder 1">
            <a:extLst>
              <a:ext uri="{FF2B5EF4-FFF2-40B4-BE49-F238E27FC236}">
                <a16:creationId xmlns:a16="http://schemas.microsoft.com/office/drawing/2014/main" id="{C81C89EA-9BAB-A59B-8405-9BAD6BB9E5CA}"/>
              </a:ext>
            </a:extLst>
          </p:cNvPr>
          <p:cNvSpPr>
            <a:spLocks noGrp="1"/>
          </p:cNvSpPr>
          <p:nvPr>
            <p:ph type="dt" sz="quarter" idx="10"/>
          </p:nvPr>
        </p:nvSpPr>
        <p:spPr/>
        <p:txBody>
          <a:bodyPr/>
          <a:lstStyle/>
          <a:p>
            <a:pPr>
              <a:defRPr/>
            </a:pPr>
            <a:fld id="{FEEB10D8-4D60-4D57-854F-ED4BE27D82F9}" type="datetime1">
              <a:rPr lang="en-US" smtClean="0"/>
              <a:t>9/30/2025</a:t>
            </a:fld>
            <a:endParaRPr lang="en-US"/>
          </a:p>
        </p:txBody>
      </p:sp>
      <p:sp>
        <p:nvSpPr>
          <p:cNvPr id="3" name="Footer Placeholder 2">
            <a:extLst>
              <a:ext uri="{FF2B5EF4-FFF2-40B4-BE49-F238E27FC236}">
                <a16:creationId xmlns:a16="http://schemas.microsoft.com/office/drawing/2014/main" id="{440D4181-7656-087B-116A-9BC17BFB75A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992365A7-ECC2-BBF3-5BEB-7D7C89EC4024}"/>
              </a:ext>
            </a:extLst>
          </p:cNvPr>
          <p:cNvSpPr>
            <a:spLocks noGrp="1"/>
          </p:cNvSpPr>
          <p:nvPr>
            <p:ph type="sldNum" sz="quarter" idx="12"/>
          </p:nvPr>
        </p:nvSpPr>
        <p:spPr/>
        <p:txBody>
          <a:bodyPr/>
          <a:lstStyle/>
          <a:p>
            <a:pPr>
              <a:defRPr/>
            </a:pPr>
            <a:fld id="{D0478FB2-930A-4CC6-BDF5-B147EFE688EF}" type="slidenum">
              <a:rPr lang="en-US" altLang="en-US" smtClean="0"/>
              <a:pPr>
                <a:defRPr/>
              </a:pPr>
              <a:t>48</a:t>
            </a:fld>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0AF91F6-ED80-5A10-8B4C-228F392AFC96}"/>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03427" name="Text Box 3">
            <a:extLst>
              <a:ext uri="{FF2B5EF4-FFF2-40B4-BE49-F238E27FC236}">
                <a16:creationId xmlns:a16="http://schemas.microsoft.com/office/drawing/2014/main" id="{68606B6A-7986-9136-A129-7B6F084F94CF}"/>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03428" name="Text Box 4">
            <a:extLst>
              <a:ext uri="{FF2B5EF4-FFF2-40B4-BE49-F238E27FC236}">
                <a16:creationId xmlns:a16="http://schemas.microsoft.com/office/drawing/2014/main" id="{28E60971-8463-8E37-4768-4479BEC8922A}"/>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03429" name="Text Box 5">
            <a:extLst>
              <a:ext uri="{FF2B5EF4-FFF2-40B4-BE49-F238E27FC236}">
                <a16:creationId xmlns:a16="http://schemas.microsoft.com/office/drawing/2014/main" id="{20C1A8DF-BFBC-E042-EA1C-E20DE8BF7382}"/>
              </a:ext>
            </a:extLst>
          </p:cNvPr>
          <p:cNvSpPr txBox="1">
            <a:spLocks noChangeArrowheads="1"/>
          </p:cNvSpPr>
          <p:nvPr/>
        </p:nvSpPr>
        <p:spPr bwMode="auto">
          <a:xfrm>
            <a:off x="2819400" y="1981201"/>
            <a:ext cx="70104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400" b="1">
                <a:solidFill>
                  <a:schemeClr val="hlink"/>
                </a:solidFill>
                <a:latin typeface="Times New Roman" panose="02020603050405020304" pitchFamily="18" charset="0"/>
              </a:rPr>
              <a:t>Rapidly Changing Small Dimension</a:t>
            </a:r>
          </a:p>
          <a:p>
            <a:pPr lvl="2" eaLnBrk="1" hangingPunct="1">
              <a:spcBef>
                <a:spcPct val="50000"/>
              </a:spcBef>
              <a:buFontTx/>
              <a:buChar char="•"/>
            </a:pPr>
            <a:r>
              <a:rPr lang="en-US" altLang="en-US" sz="2000">
                <a:latin typeface="Times New Roman" panose="02020603050405020304" pitchFamily="18" charset="0"/>
              </a:rPr>
              <a:t>   Rate structures continuously change in telecom 	industry</a:t>
            </a:r>
          </a:p>
          <a:p>
            <a:pPr lvl="2" eaLnBrk="1" hangingPunct="1">
              <a:buFont typeface="Symbol" panose="05050102010706020507" pitchFamily="18" charset="2"/>
              <a:buChar char="·"/>
            </a:pPr>
            <a:r>
              <a:rPr lang="en-US" altLang="en-US" sz="2000">
                <a:latin typeface="Times New Roman" panose="02020603050405020304" pitchFamily="18" charset="0"/>
              </a:rPr>
              <a:t>   Use Type 2 of the above</a:t>
            </a:r>
          </a:p>
          <a:p>
            <a:pPr eaLnBrk="1" hangingPunct="1"/>
            <a:endParaRPr lang="en-US" altLang="en-US" sz="2400" b="1">
              <a:latin typeface="Times New Roman" panose="02020603050405020304" pitchFamily="18" charset="0"/>
            </a:endParaRPr>
          </a:p>
        </p:txBody>
      </p:sp>
      <p:sp>
        <p:nvSpPr>
          <p:cNvPr id="2" name="Date Placeholder 1">
            <a:extLst>
              <a:ext uri="{FF2B5EF4-FFF2-40B4-BE49-F238E27FC236}">
                <a16:creationId xmlns:a16="http://schemas.microsoft.com/office/drawing/2014/main" id="{45A2B037-D77F-1382-3995-05D7300F7247}"/>
              </a:ext>
            </a:extLst>
          </p:cNvPr>
          <p:cNvSpPr>
            <a:spLocks noGrp="1"/>
          </p:cNvSpPr>
          <p:nvPr>
            <p:ph type="dt" sz="quarter" idx="10"/>
          </p:nvPr>
        </p:nvSpPr>
        <p:spPr/>
        <p:txBody>
          <a:bodyPr/>
          <a:lstStyle/>
          <a:p>
            <a:pPr>
              <a:defRPr/>
            </a:pPr>
            <a:fld id="{E12B7573-B622-42C9-80EB-C2B80280FA11}" type="datetime1">
              <a:rPr lang="en-US" smtClean="0"/>
              <a:t>9/30/2025</a:t>
            </a:fld>
            <a:endParaRPr lang="en-US"/>
          </a:p>
        </p:txBody>
      </p:sp>
      <p:sp>
        <p:nvSpPr>
          <p:cNvPr id="3" name="Footer Placeholder 2">
            <a:extLst>
              <a:ext uri="{FF2B5EF4-FFF2-40B4-BE49-F238E27FC236}">
                <a16:creationId xmlns:a16="http://schemas.microsoft.com/office/drawing/2014/main" id="{02EC3047-C67B-ACEF-393E-9443FFBC174E}"/>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3C988315-02CB-5A3A-B702-7FA07F01BBBD}"/>
              </a:ext>
            </a:extLst>
          </p:cNvPr>
          <p:cNvSpPr>
            <a:spLocks noGrp="1"/>
          </p:cNvSpPr>
          <p:nvPr>
            <p:ph type="sldNum" sz="quarter" idx="12"/>
          </p:nvPr>
        </p:nvSpPr>
        <p:spPr/>
        <p:txBody>
          <a:bodyPr/>
          <a:lstStyle/>
          <a:p>
            <a:pPr>
              <a:defRPr/>
            </a:pPr>
            <a:fld id="{741BF2D5-C241-4064-B2F7-B5800AA70FA7}" type="slidenum">
              <a:rPr lang="en-US" altLang="en-US" smtClean="0"/>
              <a:pPr>
                <a:defRPr/>
              </a:pPr>
              <a:t>49</a:t>
            </a:fld>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DD55BFA6-B627-0634-9419-54BBA2C4F723}"/>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05475" name="Text Box 3">
            <a:extLst>
              <a:ext uri="{FF2B5EF4-FFF2-40B4-BE49-F238E27FC236}">
                <a16:creationId xmlns:a16="http://schemas.microsoft.com/office/drawing/2014/main" id="{6553C044-EEA9-85A4-DC3B-E54D92997874}"/>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05476" name="Text Box 4">
            <a:extLst>
              <a:ext uri="{FF2B5EF4-FFF2-40B4-BE49-F238E27FC236}">
                <a16:creationId xmlns:a16="http://schemas.microsoft.com/office/drawing/2014/main" id="{FE6108CB-A62D-E854-653F-BA20266ED51D}"/>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05477" name="Text Box 5">
            <a:extLst>
              <a:ext uri="{FF2B5EF4-FFF2-40B4-BE49-F238E27FC236}">
                <a16:creationId xmlns:a16="http://schemas.microsoft.com/office/drawing/2014/main" id="{D941F1B3-9286-7D78-21CB-CC2220E4FFAF}"/>
              </a:ext>
            </a:extLst>
          </p:cNvPr>
          <p:cNvSpPr txBox="1">
            <a:spLocks noChangeArrowheads="1"/>
          </p:cNvSpPr>
          <p:nvPr/>
        </p:nvSpPr>
        <p:spPr bwMode="auto">
          <a:xfrm>
            <a:off x="2819400" y="1981201"/>
            <a:ext cx="7010400"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400" b="1">
                <a:solidFill>
                  <a:schemeClr val="hlink"/>
                </a:solidFill>
                <a:latin typeface="Times New Roman" panose="02020603050405020304" pitchFamily="18" charset="0"/>
              </a:rPr>
              <a:t>Large Dimensions</a:t>
            </a:r>
            <a:r>
              <a:rPr lang="en-US" altLang="en-US" sz="2400">
                <a:latin typeface="Times New Roman" panose="02020603050405020304" pitchFamily="18" charset="0"/>
              </a:rPr>
              <a:t> </a:t>
            </a:r>
          </a:p>
          <a:p>
            <a:pPr lvl="2" eaLnBrk="1" hangingPunct="1">
              <a:buFont typeface="Symbol" panose="05050102010706020507" pitchFamily="18" charset="2"/>
              <a:buChar char="·"/>
            </a:pPr>
            <a:r>
              <a:rPr lang="en-US" altLang="en-US" sz="2000">
                <a:latin typeface="Times New Roman" panose="02020603050405020304" pitchFamily="18" charset="0"/>
              </a:rPr>
              <a:t>With large granularity in data, we may end up with dimensions that are very large.</a:t>
            </a:r>
          </a:p>
          <a:p>
            <a:pPr lvl="2" eaLnBrk="1" hangingPunct="1">
              <a:buFont typeface="Symbol" panose="05050102010706020507" pitchFamily="18" charset="2"/>
              <a:buChar char="·"/>
            </a:pPr>
            <a:r>
              <a:rPr lang="en-US" altLang="en-US" sz="2000">
                <a:latin typeface="Times New Roman" panose="02020603050405020304" pitchFamily="18" charset="0"/>
              </a:rPr>
              <a:t>Examples:  product dimension can contain "million" records; insurance companies can have "human" dimension that is very large along with "house" and "automobile" dimensions.</a:t>
            </a:r>
          </a:p>
          <a:p>
            <a:pPr lvl="2" eaLnBrk="1" hangingPunct="1">
              <a:buFont typeface="Symbol" panose="05050102010706020507" pitchFamily="18" charset="2"/>
              <a:buChar char="·"/>
            </a:pPr>
            <a:r>
              <a:rPr lang="en-US" altLang="en-US" sz="2000">
                <a:latin typeface="Times New Roman" panose="02020603050405020304" pitchFamily="18" charset="0"/>
              </a:rPr>
              <a:t>Although current RDBMS can handle such large tables, some conservative design approaches must be chosen.</a:t>
            </a:r>
          </a:p>
          <a:p>
            <a:pPr eaLnBrk="1" hangingPunct="1"/>
            <a:endParaRPr lang="en-US" altLang="en-US" sz="2400" b="1">
              <a:latin typeface="Times New Roman" panose="02020603050405020304" pitchFamily="18" charset="0"/>
            </a:endParaRPr>
          </a:p>
        </p:txBody>
      </p:sp>
      <p:sp>
        <p:nvSpPr>
          <p:cNvPr id="2" name="Date Placeholder 1">
            <a:extLst>
              <a:ext uri="{FF2B5EF4-FFF2-40B4-BE49-F238E27FC236}">
                <a16:creationId xmlns:a16="http://schemas.microsoft.com/office/drawing/2014/main" id="{D2C7EE5F-05D2-3E94-6464-5159571D5EC5}"/>
              </a:ext>
            </a:extLst>
          </p:cNvPr>
          <p:cNvSpPr>
            <a:spLocks noGrp="1"/>
          </p:cNvSpPr>
          <p:nvPr>
            <p:ph type="dt" sz="quarter" idx="10"/>
          </p:nvPr>
        </p:nvSpPr>
        <p:spPr/>
        <p:txBody>
          <a:bodyPr/>
          <a:lstStyle/>
          <a:p>
            <a:pPr>
              <a:defRPr/>
            </a:pPr>
            <a:fld id="{5A9AC603-59AF-467D-A713-3CACE0A96076}" type="datetime1">
              <a:rPr lang="en-US" smtClean="0"/>
              <a:t>9/30/2025</a:t>
            </a:fld>
            <a:endParaRPr lang="en-US"/>
          </a:p>
        </p:txBody>
      </p:sp>
      <p:sp>
        <p:nvSpPr>
          <p:cNvPr id="3" name="Footer Placeholder 2">
            <a:extLst>
              <a:ext uri="{FF2B5EF4-FFF2-40B4-BE49-F238E27FC236}">
                <a16:creationId xmlns:a16="http://schemas.microsoft.com/office/drawing/2014/main" id="{0B81EF96-DF48-502E-E05E-CD9A891C0D9B}"/>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4BBAAD71-A59F-7843-DFDA-FCEDBCD667A2}"/>
              </a:ext>
            </a:extLst>
          </p:cNvPr>
          <p:cNvSpPr>
            <a:spLocks noGrp="1"/>
          </p:cNvSpPr>
          <p:nvPr>
            <p:ph type="sldNum" sz="quarter" idx="12"/>
          </p:nvPr>
        </p:nvSpPr>
        <p:spPr/>
        <p:txBody>
          <a:bodyPr/>
          <a:lstStyle/>
          <a:p>
            <a:pPr>
              <a:defRPr/>
            </a:pPr>
            <a:fld id="{8F434573-FE03-444A-8275-0C0CB0CCDAC6}" type="slidenum">
              <a:rPr lang="en-US" altLang="en-US" smtClean="0"/>
              <a:pPr>
                <a:defRPr/>
              </a:pPr>
              <a:t>50</a:t>
            </a:fld>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FA85B23A-2C15-92CC-CFFA-120EA9F57431}"/>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07523" name="Text Box 3">
            <a:extLst>
              <a:ext uri="{FF2B5EF4-FFF2-40B4-BE49-F238E27FC236}">
                <a16:creationId xmlns:a16="http://schemas.microsoft.com/office/drawing/2014/main" id="{7F3B142D-9C35-4234-6FD7-DDC2706B79DC}"/>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07524" name="Text Box 4">
            <a:extLst>
              <a:ext uri="{FF2B5EF4-FFF2-40B4-BE49-F238E27FC236}">
                <a16:creationId xmlns:a16="http://schemas.microsoft.com/office/drawing/2014/main" id="{57370DDD-9C0F-5609-C83F-83F519F68622}"/>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07525" name="Text Box 5">
            <a:extLst>
              <a:ext uri="{FF2B5EF4-FFF2-40B4-BE49-F238E27FC236}">
                <a16:creationId xmlns:a16="http://schemas.microsoft.com/office/drawing/2014/main" id="{14A1AC53-CA25-CACA-4CEF-570CAE55775E}"/>
              </a:ext>
            </a:extLst>
          </p:cNvPr>
          <p:cNvSpPr txBox="1">
            <a:spLocks noChangeArrowheads="1"/>
          </p:cNvSpPr>
          <p:nvPr/>
        </p:nvSpPr>
        <p:spPr bwMode="auto">
          <a:xfrm>
            <a:off x="2819400" y="1981201"/>
            <a:ext cx="70104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400" b="1">
                <a:solidFill>
                  <a:schemeClr val="hlink"/>
                </a:solidFill>
                <a:latin typeface="Times New Roman" panose="02020603050405020304" pitchFamily="18" charset="0"/>
              </a:rPr>
              <a:t>Rapidly Changing Monster Dimension</a:t>
            </a:r>
          </a:p>
          <a:p>
            <a:pPr lvl="2" eaLnBrk="1" hangingPunct="1">
              <a:buFont typeface="Symbol" panose="05050102010706020507" pitchFamily="18" charset="2"/>
              <a:buChar char="·"/>
            </a:pPr>
            <a:r>
              <a:rPr lang="en-US" altLang="en-US" sz="2000">
                <a:latin typeface="Times New Roman" panose="02020603050405020304" pitchFamily="18" charset="0"/>
              </a:rPr>
              <a:t>  Large Dimension has a tendency to change more likely than medium-sized one.  For example, customer dimension can change more rapidly than the product dimension.  This is because retailers may want to update customer data, etc.  OR huge customer dimension with continuously revised demographics</a:t>
            </a:r>
          </a:p>
          <a:p>
            <a:pPr lvl="2" eaLnBrk="1" hangingPunct="1">
              <a:buFont typeface="Symbol" panose="05050102010706020507" pitchFamily="18" charset="2"/>
              <a:buChar char="·"/>
            </a:pPr>
            <a:endParaRPr lang="en-US" altLang="en-US" sz="2400">
              <a:latin typeface="Times New Roman" panose="02020603050405020304" pitchFamily="18" charset="0"/>
            </a:endParaRPr>
          </a:p>
          <a:p>
            <a:pPr lvl="2" eaLnBrk="1" hangingPunct="1">
              <a:buFont typeface="Symbol" panose="05050102010706020507" pitchFamily="18" charset="2"/>
              <a:buChar char="·"/>
            </a:pPr>
            <a:r>
              <a:rPr lang="en-US" altLang="en-US" sz="2400">
                <a:latin typeface="Times New Roman" panose="02020603050405020304" pitchFamily="18" charset="0"/>
              </a:rPr>
              <a:t>Solution is:</a:t>
            </a:r>
          </a:p>
          <a:p>
            <a:pPr lvl="3" eaLnBrk="1" hangingPunct="1">
              <a:buFontTx/>
              <a:buChar char="•"/>
            </a:pPr>
            <a:r>
              <a:rPr lang="en-US" altLang="en-US" sz="2000">
                <a:latin typeface="Times New Roman" panose="02020603050405020304" pitchFamily="18" charset="0"/>
              </a:rPr>
              <a:t>Break the dimension table (customer) into two tables (like customer and demographics)</a:t>
            </a:r>
            <a:endParaRPr lang="en-US" altLang="en-US" sz="2000" b="1">
              <a:latin typeface="Times New Roman" panose="02020603050405020304" pitchFamily="18" charset="0"/>
            </a:endParaRPr>
          </a:p>
        </p:txBody>
      </p:sp>
      <p:sp>
        <p:nvSpPr>
          <p:cNvPr id="2" name="Date Placeholder 1">
            <a:extLst>
              <a:ext uri="{FF2B5EF4-FFF2-40B4-BE49-F238E27FC236}">
                <a16:creationId xmlns:a16="http://schemas.microsoft.com/office/drawing/2014/main" id="{8BD9F2EE-5123-1054-9652-0F50EEF73F99}"/>
              </a:ext>
            </a:extLst>
          </p:cNvPr>
          <p:cNvSpPr>
            <a:spLocks noGrp="1"/>
          </p:cNvSpPr>
          <p:nvPr>
            <p:ph type="dt" sz="quarter" idx="10"/>
          </p:nvPr>
        </p:nvSpPr>
        <p:spPr/>
        <p:txBody>
          <a:bodyPr/>
          <a:lstStyle/>
          <a:p>
            <a:pPr>
              <a:defRPr/>
            </a:pPr>
            <a:fld id="{DD973DB1-84C1-4BF1-8238-0855DAF0C99A}" type="datetime1">
              <a:rPr lang="en-US" smtClean="0"/>
              <a:t>9/30/2025</a:t>
            </a:fld>
            <a:endParaRPr lang="en-US"/>
          </a:p>
        </p:txBody>
      </p:sp>
      <p:sp>
        <p:nvSpPr>
          <p:cNvPr id="3" name="Footer Placeholder 2">
            <a:extLst>
              <a:ext uri="{FF2B5EF4-FFF2-40B4-BE49-F238E27FC236}">
                <a16:creationId xmlns:a16="http://schemas.microsoft.com/office/drawing/2014/main" id="{315CEDC2-CAEE-57DC-FA3E-81E725C9A144}"/>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BF5B3D4A-655E-A756-1763-BBF9974B81C4}"/>
              </a:ext>
            </a:extLst>
          </p:cNvPr>
          <p:cNvSpPr>
            <a:spLocks noGrp="1"/>
          </p:cNvSpPr>
          <p:nvPr>
            <p:ph type="sldNum" sz="quarter" idx="12"/>
          </p:nvPr>
        </p:nvSpPr>
        <p:spPr/>
        <p:txBody>
          <a:bodyPr/>
          <a:lstStyle/>
          <a:p>
            <a:pPr>
              <a:defRPr/>
            </a:pPr>
            <a:fld id="{98DD3D0B-19C5-4A39-96E8-33DB3B4E473D}" type="slidenum">
              <a:rPr lang="en-US" altLang="en-US" smtClean="0"/>
              <a:pPr>
                <a:defRPr/>
              </a:pPr>
              <a:t>51</a:t>
            </a:fld>
            <a:endParaRPr lang="en-US"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FB5F236E-2443-8AB7-5589-108630548C00}"/>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09571" name="Text Box 3">
            <a:extLst>
              <a:ext uri="{FF2B5EF4-FFF2-40B4-BE49-F238E27FC236}">
                <a16:creationId xmlns:a16="http://schemas.microsoft.com/office/drawing/2014/main" id="{26B91A10-BA88-F72C-B043-56D7630311BB}"/>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09572" name="Text Box 4">
            <a:extLst>
              <a:ext uri="{FF2B5EF4-FFF2-40B4-BE49-F238E27FC236}">
                <a16:creationId xmlns:a16="http://schemas.microsoft.com/office/drawing/2014/main" id="{96B9D107-159C-72C4-DEAD-DEA69FBE0A56}"/>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09573" name="Text Box 5">
            <a:extLst>
              <a:ext uri="{FF2B5EF4-FFF2-40B4-BE49-F238E27FC236}">
                <a16:creationId xmlns:a16="http://schemas.microsoft.com/office/drawing/2014/main" id="{A2646E5C-06B4-3215-34A3-46A59BEE2B39}"/>
              </a:ext>
            </a:extLst>
          </p:cNvPr>
          <p:cNvSpPr txBox="1">
            <a:spLocks noChangeArrowheads="1"/>
          </p:cNvSpPr>
          <p:nvPr/>
        </p:nvSpPr>
        <p:spPr bwMode="auto">
          <a:xfrm>
            <a:off x="2819400" y="1981201"/>
            <a:ext cx="70104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400" b="1">
                <a:solidFill>
                  <a:schemeClr val="hlink"/>
                </a:solidFill>
                <a:latin typeface="Times New Roman" panose="02020603050405020304" pitchFamily="18" charset="0"/>
              </a:rPr>
              <a:t>Rapidly Changing Monster Dimension</a:t>
            </a:r>
            <a:endParaRPr lang="en-US" altLang="en-US" sz="2000" b="1">
              <a:solidFill>
                <a:schemeClr val="hlink"/>
              </a:solidFill>
              <a:latin typeface="Times New Roman" panose="02020603050405020304" pitchFamily="18" charset="0"/>
            </a:endParaRPr>
          </a:p>
        </p:txBody>
      </p:sp>
      <p:sp>
        <p:nvSpPr>
          <p:cNvPr id="109574" name="Text Box 6">
            <a:extLst>
              <a:ext uri="{FF2B5EF4-FFF2-40B4-BE49-F238E27FC236}">
                <a16:creationId xmlns:a16="http://schemas.microsoft.com/office/drawing/2014/main" id="{32335EE8-41A1-A8BF-AC83-D23AFE864012}"/>
              </a:ext>
            </a:extLst>
          </p:cNvPr>
          <p:cNvSpPr txBox="1">
            <a:spLocks noChangeArrowheads="1"/>
          </p:cNvSpPr>
          <p:nvPr/>
        </p:nvSpPr>
        <p:spPr bwMode="auto">
          <a:xfrm>
            <a:off x="6629400" y="2971800"/>
            <a:ext cx="2286000" cy="15065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2000" b="1">
                <a:latin typeface="Tahoma" panose="020B0604030504040204" pitchFamily="34" charset="0"/>
              </a:rPr>
              <a:t>Customer Dim</a:t>
            </a:r>
            <a:endParaRPr lang="en-US" altLang="en-US" sz="2000">
              <a:latin typeface="Tahoma" panose="020B0604030504040204" pitchFamily="34" charset="0"/>
            </a:endParaRPr>
          </a:p>
          <a:p>
            <a:pPr eaLnBrk="1" hangingPunct="1">
              <a:spcBef>
                <a:spcPct val="50000"/>
              </a:spcBef>
            </a:pPr>
            <a:r>
              <a:rPr lang="en-US" altLang="en-US" sz="1600">
                <a:latin typeface="Tahoma" panose="020B0604030504040204" pitchFamily="34" charset="0"/>
              </a:rPr>
              <a:t>customer-key (PK)</a:t>
            </a:r>
          </a:p>
          <a:p>
            <a:pPr eaLnBrk="1" hangingPunct="1">
              <a:lnSpc>
                <a:spcPct val="50000"/>
              </a:lnSpc>
              <a:spcBef>
                <a:spcPct val="50000"/>
              </a:spcBef>
            </a:pPr>
            <a:r>
              <a:rPr lang="en-US" altLang="en-US" sz="1600">
                <a:latin typeface="Tahoma" panose="020B0604030504040204" pitchFamily="34" charset="0"/>
              </a:rPr>
              <a:t>name</a:t>
            </a:r>
          </a:p>
          <a:p>
            <a:pPr eaLnBrk="1" hangingPunct="1">
              <a:lnSpc>
                <a:spcPct val="50000"/>
              </a:lnSpc>
              <a:spcBef>
                <a:spcPct val="50000"/>
              </a:spcBef>
            </a:pPr>
            <a:r>
              <a:rPr lang="en-US" altLang="en-US" sz="1600">
                <a:latin typeface="Tahoma" panose="020B0604030504040204" pitchFamily="34" charset="0"/>
              </a:rPr>
              <a:t>original-address</a:t>
            </a:r>
          </a:p>
          <a:p>
            <a:pPr eaLnBrk="1" hangingPunct="1">
              <a:lnSpc>
                <a:spcPct val="50000"/>
              </a:lnSpc>
              <a:spcBef>
                <a:spcPct val="50000"/>
              </a:spcBef>
            </a:pPr>
            <a:r>
              <a:rPr lang="en-US" altLang="en-US" sz="1600">
                <a:latin typeface="Tahoma" panose="020B0604030504040204" pitchFamily="34" charset="0"/>
              </a:rPr>
              <a:t>date-of-birth</a:t>
            </a:r>
            <a:endParaRPr lang="en-US" altLang="en-US" sz="2400" b="1">
              <a:latin typeface="Tahoma" panose="020B0604030504040204" pitchFamily="34" charset="0"/>
            </a:endParaRPr>
          </a:p>
        </p:txBody>
      </p:sp>
      <p:sp>
        <p:nvSpPr>
          <p:cNvPr id="109575" name="Text Box 7">
            <a:extLst>
              <a:ext uri="{FF2B5EF4-FFF2-40B4-BE49-F238E27FC236}">
                <a16:creationId xmlns:a16="http://schemas.microsoft.com/office/drawing/2014/main" id="{DC96CB13-A41B-1FD4-26DA-D594515E94B6}"/>
              </a:ext>
            </a:extLst>
          </p:cNvPr>
          <p:cNvSpPr txBox="1">
            <a:spLocks noChangeArrowheads="1"/>
          </p:cNvSpPr>
          <p:nvPr/>
        </p:nvSpPr>
        <p:spPr bwMode="auto">
          <a:xfrm>
            <a:off x="7696200" y="4572000"/>
            <a:ext cx="2286000" cy="1784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2000" b="1">
                <a:latin typeface="Tahoma" panose="020B0604030504040204" pitchFamily="34" charset="0"/>
              </a:rPr>
              <a:t>Demographics Dim</a:t>
            </a:r>
            <a:endParaRPr lang="en-US" altLang="en-US" sz="2000">
              <a:latin typeface="Tahoma" panose="020B0604030504040204" pitchFamily="34" charset="0"/>
            </a:endParaRPr>
          </a:p>
          <a:p>
            <a:pPr eaLnBrk="1" hangingPunct="1">
              <a:lnSpc>
                <a:spcPct val="60000"/>
              </a:lnSpc>
              <a:spcBef>
                <a:spcPct val="50000"/>
              </a:spcBef>
            </a:pPr>
            <a:r>
              <a:rPr lang="en-US" altLang="en-US" sz="1600">
                <a:latin typeface="Tahoma" panose="020B0604030504040204" pitchFamily="34" charset="0"/>
              </a:rPr>
              <a:t>demog-key (PK)</a:t>
            </a:r>
          </a:p>
          <a:p>
            <a:pPr eaLnBrk="1" hangingPunct="1">
              <a:lnSpc>
                <a:spcPct val="60000"/>
              </a:lnSpc>
              <a:spcBef>
                <a:spcPct val="50000"/>
              </a:spcBef>
            </a:pPr>
            <a:r>
              <a:rPr lang="en-US" altLang="en-US" sz="1600">
                <a:latin typeface="Tahoma" panose="020B0604030504040204" pitchFamily="34" charset="0"/>
              </a:rPr>
              <a:t>income-band</a:t>
            </a:r>
          </a:p>
          <a:p>
            <a:pPr eaLnBrk="1" hangingPunct="1">
              <a:lnSpc>
                <a:spcPct val="60000"/>
              </a:lnSpc>
              <a:spcBef>
                <a:spcPct val="50000"/>
              </a:spcBef>
            </a:pPr>
            <a:r>
              <a:rPr lang="en-US" altLang="en-US" sz="1600">
                <a:latin typeface="Tahoma" panose="020B0604030504040204" pitchFamily="34" charset="0"/>
              </a:rPr>
              <a:t>education-level</a:t>
            </a:r>
          </a:p>
          <a:p>
            <a:pPr eaLnBrk="1" hangingPunct="1">
              <a:lnSpc>
                <a:spcPct val="60000"/>
              </a:lnSpc>
              <a:spcBef>
                <a:spcPct val="50000"/>
              </a:spcBef>
            </a:pPr>
            <a:r>
              <a:rPr lang="en-US" altLang="en-US" sz="1600">
                <a:latin typeface="Tahoma" panose="020B0604030504040204" pitchFamily="34" charset="0"/>
              </a:rPr>
              <a:t>number-children</a:t>
            </a:r>
            <a:endParaRPr lang="en-US" altLang="en-US" sz="2400" b="1">
              <a:latin typeface="Tahoma" panose="020B0604030504040204" pitchFamily="34" charset="0"/>
            </a:endParaRPr>
          </a:p>
        </p:txBody>
      </p:sp>
      <p:sp>
        <p:nvSpPr>
          <p:cNvPr id="109576" name="Text Box 8">
            <a:extLst>
              <a:ext uri="{FF2B5EF4-FFF2-40B4-BE49-F238E27FC236}">
                <a16:creationId xmlns:a16="http://schemas.microsoft.com/office/drawing/2014/main" id="{7B6A73AC-1871-EA30-D890-954BE7D48FAE}"/>
              </a:ext>
            </a:extLst>
          </p:cNvPr>
          <p:cNvSpPr txBox="1">
            <a:spLocks noChangeArrowheads="1"/>
          </p:cNvSpPr>
          <p:nvPr/>
        </p:nvSpPr>
        <p:spPr bwMode="auto">
          <a:xfrm>
            <a:off x="3276600" y="3429000"/>
            <a:ext cx="2286000" cy="24844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2000" b="1">
                <a:latin typeface="Tahoma" panose="020B0604030504040204" pitchFamily="34" charset="0"/>
              </a:rPr>
              <a:t>Customer Dim</a:t>
            </a:r>
            <a:endParaRPr lang="en-US" altLang="en-US" sz="2000">
              <a:latin typeface="Tahoma" panose="020B0604030504040204" pitchFamily="34" charset="0"/>
            </a:endParaRPr>
          </a:p>
          <a:p>
            <a:pPr eaLnBrk="1" hangingPunct="1">
              <a:spcBef>
                <a:spcPct val="50000"/>
              </a:spcBef>
            </a:pPr>
            <a:r>
              <a:rPr lang="en-US" altLang="en-US" sz="1600">
                <a:latin typeface="Tahoma" panose="020B0604030504040204" pitchFamily="34" charset="0"/>
              </a:rPr>
              <a:t>customer-key (PK)</a:t>
            </a:r>
          </a:p>
          <a:p>
            <a:pPr eaLnBrk="1" hangingPunct="1">
              <a:lnSpc>
                <a:spcPct val="50000"/>
              </a:lnSpc>
              <a:spcBef>
                <a:spcPct val="50000"/>
              </a:spcBef>
            </a:pPr>
            <a:r>
              <a:rPr lang="en-US" altLang="en-US" sz="1600">
                <a:latin typeface="Tahoma" panose="020B0604030504040204" pitchFamily="34" charset="0"/>
              </a:rPr>
              <a:t>name</a:t>
            </a:r>
          </a:p>
          <a:p>
            <a:pPr eaLnBrk="1" hangingPunct="1">
              <a:lnSpc>
                <a:spcPct val="50000"/>
              </a:lnSpc>
              <a:spcBef>
                <a:spcPct val="50000"/>
              </a:spcBef>
            </a:pPr>
            <a:r>
              <a:rPr lang="en-US" altLang="en-US" sz="1600">
                <a:latin typeface="Tahoma" panose="020B0604030504040204" pitchFamily="34" charset="0"/>
              </a:rPr>
              <a:t>original-address</a:t>
            </a:r>
          </a:p>
          <a:p>
            <a:pPr eaLnBrk="1" hangingPunct="1">
              <a:lnSpc>
                <a:spcPct val="50000"/>
              </a:lnSpc>
              <a:spcBef>
                <a:spcPct val="50000"/>
              </a:spcBef>
            </a:pPr>
            <a:r>
              <a:rPr lang="en-US" altLang="en-US" sz="1600">
                <a:latin typeface="Tahoma" panose="020B0604030504040204" pitchFamily="34" charset="0"/>
              </a:rPr>
              <a:t>date-of-birth</a:t>
            </a:r>
          </a:p>
          <a:p>
            <a:pPr eaLnBrk="1" hangingPunct="1">
              <a:lnSpc>
                <a:spcPct val="50000"/>
              </a:lnSpc>
              <a:spcBef>
                <a:spcPct val="50000"/>
              </a:spcBef>
            </a:pPr>
            <a:r>
              <a:rPr lang="en-US" altLang="en-US" sz="1600">
                <a:latin typeface="Tahoma" panose="020B0604030504040204" pitchFamily="34" charset="0"/>
              </a:rPr>
              <a:t>…</a:t>
            </a:r>
          </a:p>
          <a:p>
            <a:pPr eaLnBrk="1" hangingPunct="1">
              <a:lnSpc>
                <a:spcPct val="50000"/>
              </a:lnSpc>
              <a:spcBef>
                <a:spcPct val="50000"/>
              </a:spcBef>
            </a:pPr>
            <a:r>
              <a:rPr lang="en-US" altLang="en-US" sz="1600">
                <a:latin typeface="Tahoma" panose="020B0604030504040204" pitchFamily="34" charset="0"/>
              </a:rPr>
              <a:t>income</a:t>
            </a:r>
          </a:p>
          <a:p>
            <a:pPr eaLnBrk="1" hangingPunct="1">
              <a:lnSpc>
                <a:spcPct val="50000"/>
              </a:lnSpc>
              <a:spcBef>
                <a:spcPct val="50000"/>
              </a:spcBef>
            </a:pPr>
            <a:r>
              <a:rPr lang="en-US" altLang="en-US" sz="1600">
                <a:latin typeface="Tahoma" panose="020B0604030504040204" pitchFamily="34" charset="0"/>
              </a:rPr>
              <a:t>education</a:t>
            </a:r>
          </a:p>
          <a:p>
            <a:pPr eaLnBrk="1" hangingPunct="1">
              <a:lnSpc>
                <a:spcPct val="50000"/>
              </a:lnSpc>
              <a:spcBef>
                <a:spcPct val="50000"/>
              </a:spcBef>
            </a:pPr>
            <a:r>
              <a:rPr lang="en-US" altLang="en-US" sz="1600">
                <a:latin typeface="Tahoma" panose="020B0604030504040204" pitchFamily="34" charset="0"/>
              </a:rPr>
              <a:t>number-children</a:t>
            </a:r>
            <a:endParaRPr lang="en-US" altLang="en-US" sz="2400" b="1">
              <a:latin typeface="Tahoma" panose="020B0604030504040204" pitchFamily="34" charset="0"/>
            </a:endParaRPr>
          </a:p>
        </p:txBody>
      </p:sp>
      <p:sp>
        <p:nvSpPr>
          <p:cNvPr id="109577" name="Line 9">
            <a:extLst>
              <a:ext uri="{FF2B5EF4-FFF2-40B4-BE49-F238E27FC236}">
                <a16:creationId xmlns:a16="http://schemas.microsoft.com/office/drawing/2014/main" id="{CC4B8E0A-8FB9-405C-D344-7E3D66D6F9A1}"/>
              </a:ext>
            </a:extLst>
          </p:cNvPr>
          <p:cNvSpPr>
            <a:spLocks noChangeShapeType="1"/>
          </p:cNvSpPr>
          <p:nvPr/>
        </p:nvSpPr>
        <p:spPr bwMode="auto">
          <a:xfrm>
            <a:off x="5562600" y="5410201"/>
            <a:ext cx="2133600" cy="365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9578" name="Line 10">
            <a:extLst>
              <a:ext uri="{FF2B5EF4-FFF2-40B4-BE49-F238E27FC236}">
                <a16:creationId xmlns:a16="http://schemas.microsoft.com/office/drawing/2014/main" id="{9DF8D986-C192-50B4-E168-E8379E259ACE}"/>
              </a:ext>
            </a:extLst>
          </p:cNvPr>
          <p:cNvSpPr>
            <a:spLocks noChangeShapeType="1"/>
          </p:cNvSpPr>
          <p:nvPr/>
        </p:nvSpPr>
        <p:spPr bwMode="auto">
          <a:xfrm flipV="1">
            <a:off x="5562600" y="3581400"/>
            <a:ext cx="1066800" cy="8969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Date Placeholder 1">
            <a:extLst>
              <a:ext uri="{FF2B5EF4-FFF2-40B4-BE49-F238E27FC236}">
                <a16:creationId xmlns:a16="http://schemas.microsoft.com/office/drawing/2014/main" id="{134D47A5-FA6A-51AF-0708-D3BD9363EB41}"/>
              </a:ext>
            </a:extLst>
          </p:cNvPr>
          <p:cNvSpPr>
            <a:spLocks noGrp="1"/>
          </p:cNvSpPr>
          <p:nvPr>
            <p:ph type="dt" sz="quarter" idx="10"/>
          </p:nvPr>
        </p:nvSpPr>
        <p:spPr/>
        <p:txBody>
          <a:bodyPr/>
          <a:lstStyle/>
          <a:p>
            <a:pPr>
              <a:defRPr/>
            </a:pPr>
            <a:fld id="{C29D8244-6622-49F8-9E60-E621846BAE1B}" type="datetime1">
              <a:rPr lang="en-US" smtClean="0"/>
              <a:t>9/30/2025</a:t>
            </a:fld>
            <a:endParaRPr lang="en-US"/>
          </a:p>
        </p:txBody>
      </p:sp>
      <p:sp>
        <p:nvSpPr>
          <p:cNvPr id="3" name="Footer Placeholder 2">
            <a:extLst>
              <a:ext uri="{FF2B5EF4-FFF2-40B4-BE49-F238E27FC236}">
                <a16:creationId xmlns:a16="http://schemas.microsoft.com/office/drawing/2014/main" id="{17E4425F-BA16-A2C6-D9F5-0A1FC7A4B29E}"/>
              </a:ext>
            </a:extLst>
          </p:cNvPr>
          <p:cNvSpPr>
            <a:spLocks noGrp="1"/>
          </p:cNvSpPr>
          <p:nvPr>
            <p:ph type="ftr" sz="quarter" idx="11"/>
          </p:nvPr>
        </p:nvSpPr>
        <p:spPr>
          <a:xfrm>
            <a:off x="3694113" y="6481763"/>
            <a:ext cx="4710112" cy="404812"/>
          </a:xfrm>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E418E8C3-54D4-CA6E-108C-D216514AA30E}"/>
              </a:ext>
            </a:extLst>
          </p:cNvPr>
          <p:cNvSpPr>
            <a:spLocks noGrp="1"/>
          </p:cNvSpPr>
          <p:nvPr>
            <p:ph type="sldNum" sz="quarter" idx="12"/>
          </p:nvPr>
        </p:nvSpPr>
        <p:spPr/>
        <p:txBody>
          <a:bodyPr/>
          <a:lstStyle/>
          <a:p>
            <a:pPr>
              <a:defRPr/>
            </a:pPr>
            <a:fld id="{A589B716-54CD-4AB3-B4C9-F01AAE0CFF93}" type="slidenum">
              <a:rPr lang="en-US" altLang="en-US" smtClean="0"/>
              <a:pPr>
                <a:defRPr/>
              </a:pPr>
              <a:t>52</a:t>
            </a:fld>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85C2A811-8D26-C1E1-9776-2BB4AFF0C33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11619" name="Text Box 3">
            <a:extLst>
              <a:ext uri="{FF2B5EF4-FFF2-40B4-BE49-F238E27FC236}">
                <a16:creationId xmlns:a16="http://schemas.microsoft.com/office/drawing/2014/main" id="{4DA9C895-16B3-9B28-1944-5B9901A8B122}"/>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11620" name="Text Box 4">
            <a:extLst>
              <a:ext uri="{FF2B5EF4-FFF2-40B4-BE49-F238E27FC236}">
                <a16:creationId xmlns:a16="http://schemas.microsoft.com/office/drawing/2014/main" id="{7F574F50-97D5-9E7F-5201-127DEBDDBAED}"/>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11621" name="Text Box 5">
            <a:extLst>
              <a:ext uri="{FF2B5EF4-FFF2-40B4-BE49-F238E27FC236}">
                <a16:creationId xmlns:a16="http://schemas.microsoft.com/office/drawing/2014/main" id="{DB98D6E6-04D0-D6F2-0539-F150B1B03B2F}"/>
              </a:ext>
            </a:extLst>
          </p:cNvPr>
          <p:cNvSpPr txBox="1">
            <a:spLocks noChangeArrowheads="1"/>
          </p:cNvSpPr>
          <p:nvPr/>
        </p:nvSpPr>
        <p:spPr bwMode="auto">
          <a:xfrm>
            <a:off x="2819400" y="1981201"/>
            <a:ext cx="70104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000">
                <a:latin typeface="Times New Roman" panose="02020603050405020304" pitchFamily="18" charset="0"/>
              </a:rPr>
              <a:t>However, there are some compromises:</a:t>
            </a:r>
          </a:p>
          <a:p>
            <a:pPr lvl="2" eaLnBrk="1" hangingPunct="1">
              <a:buFont typeface="Symbol" panose="05050102010706020507" pitchFamily="18" charset="2"/>
              <a:buChar char="·"/>
            </a:pPr>
            <a:r>
              <a:rPr lang="en-US" altLang="en-US" sz="2000">
                <a:latin typeface="Times New Roman" panose="02020603050405020304" pitchFamily="18" charset="0"/>
              </a:rPr>
              <a:t> attributes such as income, etc. must be converted to income_band</a:t>
            </a:r>
          </a:p>
          <a:p>
            <a:pPr lvl="2" eaLnBrk="1" hangingPunct="1">
              <a:buFont typeface="Symbol" panose="05050102010706020507" pitchFamily="18" charset="2"/>
              <a:buChar char="·"/>
            </a:pPr>
            <a:r>
              <a:rPr lang="en-US" altLang="en-US" sz="2000">
                <a:latin typeface="Times New Roman" panose="02020603050405020304" pitchFamily="18" charset="0"/>
              </a:rPr>
              <a:t> build demographics dimension with all possible discrete attribute combinations</a:t>
            </a:r>
          </a:p>
        </p:txBody>
      </p:sp>
      <p:sp>
        <p:nvSpPr>
          <p:cNvPr id="2" name="Date Placeholder 1">
            <a:extLst>
              <a:ext uri="{FF2B5EF4-FFF2-40B4-BE49-F238E27FC236}">
                <a16:creationId xmlns:a16="http://schemas.microsoft.com/office/drawing/2014/main" id="{29347963-B698-A44F-3ED5-D0DFB051DC5E}"/>
              </a:ext>
            </a:extLst>
          </p:cNvPr>
          <p:cNvSpPr>
            <a:spLocks noGrp="1"/>
          </p:cNvSpPr>
          <p:nvPr>
            <p:ph type="dt" sz="quarter" idx="10"/>
          </p:nvPr>
        </p:nvSpPr>
        <p:spPr/>
        <p:txBody>
          <a:bodyPr/>
          <a:lstStyle/>
          <a:p>
            <a:pPr>
              <a:defRPr/>
            </a:pPr>
            <a:fld id="{F87708F8-E718-46DE-930A-0BC82EB389F0}" type="datetime1">
              <a:rPr lang="en-US" smtClean="0"/>
              <a:t>9/30/2025</a:t>
            </a:fld>
            <a:endParaRPr lang="en-US"/>
          </a:p>
        </p:txBody>
      </p:sp>
      <p:sp>
        <p:nvSpPr>
          <p:cNvPr id="3" name="Footer Placeholder 2">
            <a:extLst>
              <a:ext uri="{FF2B5EF4-FFF2-40B4-BE49-F238E27FC236}">
                <a16:creationId xmlns:a16="http://schemas.microsoft.com/office/drawing/2014/main" id="{02D305F8-AD65-EBE4-15C9-F31511E9D97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1663ADB5-ECD8-455A-7B39-969C4B9AC9C8}"/>
              </a:ext>
            </a:extLst>
          </p:cNvPr>
          <p:cNvSpPr>
            <a:spLocks noGrp="1"/>
          </p:cNvSpPr>
          <p:nvPr>
            <p:ph type="sldNum" sz="quarter" idx="12"/>
          </p:nvPr>
        </p:nvSpPr>
        <p:spPr/>
        <p:txBody>
          <a:bodyPr/>
          <a:lstStyle/>
          <a:p>
            <a:pPr>
              <a:defRPr/>
            </a:pPr>
            <a:fld id="{7B72DFFD-67EC-439E-A53C-D8278651EBE1}" type="slidenum">
              <a:rPr lang="en-US" altLang="en-US" smtClean="0"/>
              <a:pPr>
                <a:defRPr/>
              </a:pPr>
              <a:t>53</a:t>
            </a:fld>
            <a:endParaRPr lang="en-US"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E0397D4-685B-4158-640F-71F5C7FBD39B}"/>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13667" name="Text Box 3">
            <a:extLst>
              <a:ext uri="{FF2B5EF4-FFF2-40B4-BE49-F238E27FC236}">
                <a16:creationId xmlns:a16="http://schemas.microsoft.com/office/drawing/2014/main" id="{DF5FE0DA-D9EB-6325-A93E-6266F2F2522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13668" name="Text Box 4">
            <a:extLst>
              <a:ext uri="{FF2B5EF4-FFF2-40B4-BE49-F238E27FC236}">
                <a16:creationId xmlns:a16="http://schemas.microsoft.com/office/drawing/2014/main" id="{617CDA3A-5586-9507-40FD-F424C4363002}"/>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13669" name="Text Box 5">
            <a:extLst>
              <a:ext uri="{FF2B5EF4-FFF2-40B4-BE49-F238E27FC236}">
                <a16:creationId xmlns:a16="http://schemas.microsoft.com/office/drawing/2014/main" id="{71F19157-1819-EE45-6055-081AB3A446B7}"/>
              </a:ext>
            </a:extLst>
          </p:cNvPr>
          <p:cNvSpPr txBox="1">
            <a:spLocks noChangeArrowheads="1"/>
          </p:cNvSpPr>
          <p:nvPr/>
        </p:nvSpPr>
        <p:spPr bwMode="auto">
          <a:xfrm>
            <a:off x="2286000" y="1753190"/>
            <a:ext cx="78486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a:defRPr>
                <a:solidFill>
                  <a:schemeClr val="tx1"/>
                </a:solidFill>
                <a:latin typeface="Franklin Gothic Book" panose="020B0503020102020204" pitchFamily="34" charset="0"/>
              </a:defRPr>
            </a:lvl5pPr>
            <a:lvl6pPr defTabSz="457200" eaLnBrk="0" fontAlgn="base" hangingPunct="0">
              <a:spcBef>
                <a:spcPct val="0"/>
              </a:spcBef>
              <a:spcAft>
                <a:spcPct val="0"/>
              </a:spcAft>
              <a:defRPr>
                <a:solidFill>
                  <a:schemeClr val="tx1"/>
                </a:solidFill>
                <a:latin typeface="Franklin Gothic Book" panose="020B0503020102020204" pitchFamily="34" charset="0"/>
              </a:defRPr>
            </a:lvl6pPr>
            <a:lvl7pPr defTabSz="457200" eaLnBrk="0" fontAlgn="base" hangingPunct="0">
              <a:spcBef>
                <a:spcPct val="0"/>
              </a:spcBef>
              <a:spcAft>
                <a:spcPct val="0"/>
              </a:spcAft>
              <a:defRPr>
                <a:solidFill>
                  <a:schemeClr val="tx1"/>
                </a:solidFill>
                <a:latin typeface="Franklin Gothic Book" panose="020B0503020102020204" pitchFamily="34" charset="0"/>
              </a:defRPr>
            </a:lvl7pPr>
            <a:lvl8pPr defTabSz="457200" eaLnBrk="0" fontAlgn="base" hangingPunct="0">
              <a:spcBef>
                <a:spcPct val="0"/>
              </a:spcBef>
              <a:spcAft>
                <a:spcPct val="0"/>
              </a:spcAft>
              <a:defRPr>
                <a:solidFill>
                  <a:schemeClr val="tx1"/>
                </a:solidFill>
                <a:latin typeface="Franklin Gothic Book" panose="020B0503020102020204" pitchFamily="34" charset="0"/>
              </a:defRPr>
            </a:lvl8pPr>
            <a:lvl9pPr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imes New Roman" panose="02020603050405020304" pitchFamily="18" charset="0"/>
              </a:rPr>
              <a:t> </a:t>
            </a:r>
            <a:r>
              <a:rPr lang="en-US" altLang="en-US" sz="2400" b="1" dirty="0">
                <a:latin typeface="Tahoma" panose="020B0604030504040204" pitchFamily="34" charset="0"/>
              </a:rPr>
              <a:t>9.   Types of Dimension Table</a:t>
            </a:r>
          </a:p>
          <a:p>
            <a:pPr lvl="1" eaLnBrk="1" hangingPunct="1">
              <a:spcBef>
                <a:spcPct val="50000"/>
              </a:spcBef>
              <a:buFontTx/>
              <a:buChar char="•"/>
            </a:pPr>
            <a:r>
              <a:rPr lang="en-US" altLang="en-US" sz="2400" dirty="0">
                <a:latin typeface="Times New Roman" panose="02020603050405020304" pitchFamily="18" charset="0"/>
              </a:rPr>
              <a:t>  </a:t>
            </a:r>
            <a:r>
              <a:rPr lang="en-US" altLang="en-US" sz="2400" b="1" dirty="0">
                <a:solidFill>
                  <a:schemeClr val="hlink"/>
                </a:solidFill>
                <a:latin typeface="Times New Roman" panose="02020603050405020304" pitchFamily="18" charset="0"/>
              </a:rPr>
              <a:t>Junk dimension</a:t>
            </a:r>
            <a:r>
              <a:rPr lang="en-US" altLang="en-US" sz="2400" dirty="0">
                <a:latin typeface="Times New Roman" panose="02020603050405020304" pitchFamily="18" charset="0"/>
              </a:rPr>
              <a:t> </a:t>
            </a:r>
          </a:p>
          <a:p>
            <a:pPr lvl="3" eaLnBrk="1" hangingPunct="1">
              <a:buFont typeface="Symbol" panose="05050102010706020507" pitchFamily="18" charset="2"/>
              <a:buChar char="·"/>
            </a:pPr>
            <a:r>
              <a:rPr lang="en-US" altLang="en-US" sz="2000" dirty="0">
                <a:latin typeface="Times New Roman" panose="02020603050405020304" pitchFamily="18" charset="0"/>
              </a:rPr>
              <a:t>Sometimes you are left with flags and text attributes.  These flags and text attributes do not organize in any coherent way.  Often the meaning of these is quite obscure.</a:t>
            </a:r>
          </a:p>
          <a:p>
            <a:pPr lvl="3" eaLnBrk="1" hangingPunct="1">
              <a:buFontTx/>
              <a:buChar char="•"/>
            </a:pPr>
            <a:r>
              <a:rPr lang="en-US" altLang="en-US" sz="2000" dirty="0">
                <a:latin typeface="Times New Roman" panose="02020603050405020304" pitchFamily="18" charset="0"/>
              </a:rPr>
              <a:t>It is a bad idea</a:t>
            </a:r>
          </a:p>
          <a:p>
            <a:pPr lvl="3" eaLnBrk="1" hangingPunct="1">
              <a:buFontTx/>
              <a:buChar char="•"/>
            </a:pPr>
            <a:r>
              <a:rPr lang="en-US" altLang="en-US" sz="2000" dirty="0">
                <a:latin typeface="Times New Roman" panose="02020603050405020304" pitchFamily="18" charset="0"/>
              </a:rPr>
              <a:t>  Choices:</a:t>
            </a:r>
          </a:p>
          <a:p>
            <a:pPr lvl="4" eaLnBrk="1" hangingPunct="1">
              <a:buFontTx/>
              <a:buChar char="•"/>
            </a:pPr>
            <a:r>
              <a:rPr lang="en-US" altLang="en-US" sz="2000" dirty="0">
                <a:latin typeface="Times New Roman" panose="02020603050405020304" pitchFamily="18" charset="0"/>
              </a:rPr>
              <a:t> Discard them – Not a good option as removing them may create problems for the business.</a:t>
            </a:r>
          </a:p>
          <a:p>
            <a:pPr lvl="4" eaLnBrk="1" hangingPunct="1">
              <a:buFont typeface="Symbol" panose="05050102010706020507" pitchFamily="18" charset="2"/>
              <a:buChar char="·"/>
            </a:pPr>
            <a:r>
              <a:rPr lang="en-US" altLang="en-US" sz="2000" dirty="0">
                <a:latin typeface="Times New Roman" panose="02020603050405020304" pitchFamily="18" charset="0"/>
              </a:rPr>
              <a:t> Leaving them in the fact table and they will swell the definition of fact table</a:t>
            </a:r>
          </a:p>
          <a:p>
            <a:pPr lvl="4" eaLnBrk="1" hangingPunct="1">
              <a:buFont typeface="Symbol" panose="05050102010706020507" pitchFamily="18" charset="2"/>
              <a:buChar char="·"/>
            </a:pPr>
            <a:r>
              <a:rPr lang="en-US" altLang="en-US" sz="2000" dirty="0">
                <a:latin typeface="Times New Roman" panose="02020603050405020304" pitchFamily="18" charset="0"/>
              </a:rPr>
              <a:t> Making each separate flag and attribute into its own dimension will increase the number of dimension!!</a:t>
            </a:r>
          </a:p>
        </p:txBody>
      </p:sp>
      <p:sp>
        <p:nvSpPr>
          <p:cNvPr id="2" name="Date Placeholder 1">
            <a:extLst>
              <a:ext uri="{FF2B5EF4-FFF2-40B4-BE49-F238E27FC236}">
                <a16:creationId xmlns:a16="http://schemas.microsoft.com/office/drawing/2014/main" id="{4A1AAC95-AC4E-E08A-01F4-4B2BD28F2600}"/>
              </a:ext>
            </a:extLst>
          </p:cNvPr>
          <p:cNvSpPr>
            <a:spLocks noGrp="1"/>
          </p:cNvSpPr>
          <p:nvPr>
            <p:ph type="dt" sz="quarter" idx="10"/>
          </p:nvPr>
        </p:nvSpPr>
        <p:spPr/>
        <p:txBody>
          <a:bodyPr/>
          <a:lstStyle/>
          <a:p>
            <a:pPr>
              <a:defRPr/>
            </a:pPr>
            <a:fld id="{AE94A8E3-8DE4-4AD4-9382-870B3C8FE05A}" type="datetime1">
              <a:rPr lang="en-US" smtClean="0"/>
              <a:t>9/30/2025</a:t>
            </a:fld>
            <a:endParaRPr lang="en-US"/>
          </a:p>
        </p:txBody>
      </p:sp>
      <p:sp>
        <p:nvSpPr>
          <p:cNvPr id="3" name="Footer Placeholder 2">
            <a:extLst>
              <a:ext uri="{FF2B5EF4-FFF2-40B4-BE49-F238E27FC236}">
                <a16:creationId xmlns:a16="http://schemas.microsoft.com/office/drawing/2014/main" id="{A6E61B8C-CA1A-D8EB-DBCE-64D7A0DEE150}"/>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11F55F79-A121-04F8-F983-AF1724A49FE7}"/>
              </a:ext>
            </a:extLst>
          </p:cNvPr>
          <p:cNvSpPr>
            <a:spLocks noGrp="1"/>
          </p:cNvSpPr>
          <p:nvPr>
            <p:ph type="sldNum" sz="quarter" idx="12"/>
          </p:nvPr>
        </p:nvSpPr>
        <p:spPr/>
        <p:txBody>
          <a:bodyPr/>
          <a:lstStyle/>
          <a:p>
            <a:pPr>
              <a:defRPr/>
            </a:pPr>
            <a:fld id="{7B8A26D9-CC6B-47BA-A84C-74264B429CA1}" type="slidenum">
              <a:rPr lang="en-US" altLang="en-US" smtClean="0"/>
              <a:pPr>
                <a:defRPr/>
              </a:pPr>
              <a:t>54</a:t>
            </a:fld>
            <a:endParaRPr lang="en-US"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EC48A1AB-FB9A-FED6-7792-A7B8DEEED6D6}"/>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15715" name="Text Box 3">
            <a:extLst>
              <a:ext uri="{FF2B5EF4-FFF2-40B4-BE49-F238E27FC236}">
                <a16:creationId xmlns:a16="http://schemas.microsoft.com/office/drawing/2014/main" id="{BB9089DE-9BE4-14E9-5D9C-CE9A1D88B28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15716" name="Text Box 4">
            <a:extLst>
              <a:ext uri="{FF2B5EF4-FFF2-40B4-BE49-F238E27FC236}">
                <a16:creationId xmlns:a16="http://schemas.microsoft.com/office/drawing/2014/main" id="{DC3411A8-D6F5-CEEB-1EF7-4A1540E7C6A9}"/>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15717" name="Text Box 5">
            <a:extLst>
              <a:ext uri="{FF2B5EF4-FFF2-40B4-BE49-F238E27FC236}">
                <a16:creationId xmlns:a16="http://schemas.microsoft.com/office/drawing/2014/main" id="{716D7DF1-50D9-8A99-CF58-935F10A48262}"/>
              </a:ext>
            </a:extLst>
          </p:cNvPr>
          <p:cNvSpPr txBox="1">
            <a:spLocks noChangeArrowheads="1"/>
          </p:cNvSpPr>
          <p:nvPr/>
        </p:nvSpPr>
        <p:spPr bwMode="auto">
          <a:xfrm>
            <a:off x="2819400" y="1981200"/>
            <a:ext cx="70104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imes New Roman" panose="02020603050405020304" pitchFamily="18" charset="0"/>
              </a:rPr>
              <a:t> </a:t>
            </a:r>
            <a:r>
              <a:rPr lang="en-US" altLang="en-US" sz="2400" b="1">
                <a:latin typeface="Tahoma" panose="020B0604030504040204" pitchFamily="34" charset="0"/>
              </a:rPr>
              <a:t>9.   Types of Dimension Table</a:t>
            </a:r>
          </a:p>
          <a:p>
            <a:pPr lvl="1" eaLnBrk="1" hangingPunct="1">
              <a:spcBef>
                <a:spcPct val="50000"/>
              </a:spcBef>
              <a:buFontTx/>
              <a:buChar char="•"/>
            </a:pPr>
            <a:r>
              <a:rPr lang="en-US" altLang="en-US" sz="2400">
                <a:latin typeface="Times New Roman" panose="02020603050405020304" pitchFamily="18" charset="0"/>
              </a:rPr>
              <a:t>  </a:t>
            </a:r>
            <a:r>
              <a:rPr lang="en-US" altLang="en-US" sz="2400" b="1">
                <a:solidFill>
                  <a:schemeClr val="hlink"/>
                </a:solidFill>
                <a:latin typeface="Times New Roman" panose="02020603050405020304" pitchFamily="18" charset="0"/>
              </a:rPr>
              <a:t>Junk dimension</a:t>
            </a:r>
          </a:p>
          <a:p>
            <a:pPr lvl="2" eaLnBrk="1" hangingPunct="1">
              <a:buFont typeface="Symbol" panose="05050102010706020507" pitchFamily="18" charset="2"/>
              <a:buChar char="·"/>
            </a:pPr>
            <a:r>
              <a:rPr lang="en-US" altLang="en-US" sz="2000">
                <a:latin typeface="Times New Roman" panose="02020603050405020304" pitchFamily="18" charset="0"/>
              </a:rPr>
              <a:t>Best will be ---</a:t>
            </a:r>
          </a:p>
          <a:p>
            <a:pPr lvl="3" eaLnBrk="1" hangingPunct="1">
              <a:buFont typeface="Symbol" panose="05050102010706020507" pitchFamily="18" charset="2"/>
              <a:buChar char="·"/>
            </a:pPr>
            <a:r>
              <a:rPr lang="en-US" altLang="en-US" sz="2000">
                <a:latin typeface="Times New Roman" panose="02020603050405020304" pitchFamily="18" charset="0"/>
              </a:rPr>
              <a:t>Create a dimension called Junk Dimension that is a convenient grouping of random flags and attributes to get them out of a fact table and into a useful dimensional framework.</a:t>
            </a:r>
          </a:p>
          <a:p>
            <a:pPr lvl="2" eaLnBrk="1" hangingPunct="1">
              <a:buFont typeface="Symbol" panose="05050102010706020507" pitchFamily="18" charset="2"/>
              <a:buChar char="·"/>
            </a:pPr>
            <a:endParaRPr lang="en-US" altLang="en-US" sz="2000">
              <a:latin typeface="Times New Roman" panose="02020603050405020304" pitchFamily="18" charset="0"/>
            </a:endParaRPr>
          </a:p>
          <a:p>
            <a:pPr eaLnBrk="1" hangingPunct="1"/>
            <a:endParaRPr lang="en-US" altLang="en-US" sz="2400" b="1">
              <a:latin typeface="Times New Roman" panose="02020603050405020304" pitchFamily="18" charset="0"/>
            </a:endParaRPr>
          </a:p>
        </p:txBody>
      </p:sp>
      <p:sp>
        <p:nvSpPr>
          <p:cNvPr id="2" name="Date Placeholder 1">
            <a:extLst>
              <a:ext uri="{FF2B5EF4-FFF2-40B4-BE49-F238E27FC236}">
                <a16:creationId xmlns:a16="http://schemas.microsoft.com/office/drawing/2014/main" id="{23AC05DF-3E7A-7F80-9FB4-74F34DC4DDD6}"/>
              </a:ext>
            </a:extLst>
          </p:cNvPr>
          <p:cNvSpPr>
            <a:spLocks noGrp="1"/>
          </p:cNvSpPr>
          <p:nvPr>
            <p:ph type="dt" sz="quarter" idx="10"/>
          </p:nvPr>
        </p:nvSpPr>
        <p:spPr/>
        <p:txBody>
          <a:bodyPr/>
          <a:lstStyle/>
          <a:p>
            <a:pPr>
              <a:defRPr/>
            </a:pPr>
            <a:fld id="{11F91955-7F48-426B-9DBB-B7F01CA8A4DB}" type="datetime1">
              <a:rPr lang="en-US" smtClean="0"/>
              <a:t>9/30/2025</a:t>
            </a:fld>
            <a:endParaRPr lang="en-US"/>
          </a:p>
        </p:txBody>
      </p:sp>
      <p:sp>
        <p:nvSpPr>
          <p:cNvPr id="3" name="Footer Placeholder 2">
            <a:extLst>
              <a:ext uri="{FF2B5EF4-FFF2-40B4-BE49-F238E27FC236}">
                <a16:creationId xmlns:a16="http://schemas.microsoft.com/office/drawing/2014/main" id="{4AA21FAE-A1B6-364E-3D57-B49212EDBBE7}"/>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6B28B970-98BD-D790-DF06-F99E14B664E5}"/>
              </a:ext>
            </a:extLst>
          </p:cNvPr>
          <p:cNvSpPr>
            <a:spLocks noGrp="1"/>
          </p:cNvSpPr>
          <p:nvPr>
            <p:ph type="sldNum" sz="quarter" idx="12"/>
          </p:nvPr>
        </p:nvSpPr>
        <p:spPr/>
        <p:txBody>
          <a:bodyPr/>
          <a:lstStyle/>
          <a:p>
            <a:pPr>
              <a:defRPr/>
            </a:pPr>
            <a:fld id="{E852B4CE-DA10-42D5-B617-0130CAA40571}" type="slidenum">
              <a:rPr lang="en-US" altLang="en-US" smtClean="0"/>
              <a:pPr>
                <a:defRPr/>
              </a:pPr>
              <a:t>55</a:t>
            </a:fld>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5122F88C-4E30-57D7-9C80-0076DAC1CD6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17763" name="Text Box 3">
            <a:extLst>
              <a:ext uri="{FF2B5EF4-FFF2-40B4-BE49-F238E27FC236}">
                <a16:creationId xmlns:a16="http://schemas.microsoft.com/office/drawing/2014/main" id="{440BB0D9-B624-FB38-D295-C4A604B193B4}"/>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17764" name="Text Box 4">
            <a:extLst>
              <a:ext uri="{FF2B5EF4-FFF2-40B4-BE49-F238E27FC236}">
                <a16:creationId xmlns:a16="http://schemas.microsoft.com/office/drawing/2014/main" id="{B1F3A789-9E2E-B9C4-2CF3-05F804C23A5D}"/>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17765" name="Text Box 5">
            <a:extLst>
              <a:ext uri="{FF2B5EF4-FFF2-40B4-BE49-F238E27FC236}">
                <a16:creationId xmlns:a16="http://schemas.microsoft.com/office/drawing/2014/main" id="{72550FAF-1C9D-BFCD-7415-EC01A0737F20}"/>
              </a:ext>
            </a:extLst>
          </p:cNvPr>
          <p:cNvSpPr txBox="1">
            <a:spLocks noChangeArrowheads="1"/>
          </p:cNvSpPr>
          <p:nvPr/>
        </p:nvSpPr>
        <p:spPr bwMode="auto">
          <a:xfrm>
            <a:off x="2209800" y="1905000"/>
            <a:ext cx="77724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10.  Different Keys used in Dimensional Modeling</a:t>
            </a:r>
            <a:endParaRPr lang="en-US" altLang="en-US" sz="2400">
              <a:latin typeface="Tahoma" panose="020B0604030504040204" pitchFamily="34" charset="0"/>
            </a:endParaRPr>
          </a:p>
          <a:p>
            <a:pPr lvl="2" eaLnBrk="1" hangingPunct="1">
              <a:spcBef>
                <a:spcPct val="50000"/>
              </a:spcBef>
              <a:buFontTx/>
              <a:buChar char="•"/>
            </a:pPr>
            <a:r>
              <a:rPr lang="en-US" altLang="en-US" sz="2400" b="1">
                <a:latin typeface="Times New Roman" panose="02020603050405020304" pitchFamily="18" charset="0"/>
              </a:rPr>
              <a:t>  </a:t>
            </a:r>
            <a:r>
              <a:rPr lang="en-US" altLang="en-US" sz="2000" b="1">
                <a:latin typeface="Times New Roman" panose="02020603050405020304" pitchFamily="18" charset="0"/>
              </a:rPr>
              <a:t>Foreign Keys</a:t>
            </a:r>
            <a:r>
              <a:rPr lang="en-US" altLang="en-US" sz="2000">
                <a:latin typeface="Times New Roman" panose="02020603050405020304" pitchFamily="18" charset="0"/>
              </a:rPr>
              <a:t>   (mostly reside in fact tables; can appear in dimension table also in snowflake schema)</a:t>
            </a:r>
          </a:p>
          <a:p>
            <a:pPr lvl="2" eaLnBrk="1" hangingPunct="1">
              <a:buFont typeface="Symbol" panose="05050102010706020507" pitchFamily="18" charset="2"/>
              <a:buChar char="·"/>
            </a:pPr>
            <a:r>
              <a:rPr lang="en-US" altLang="en-US" sz="2000">
                <a:latin typeface="Times New Roman" panose="02020603050405020304" pitchFamily="18" charset="0"/>
              </a:rPr>
              <a:t>  </a:t>
            </a:r>
            <a:r>
              <a:rPr lang="en-US" altLang="en-US" sz="2000" b="1">
                <a:latin typeface="Times New Roman" panose="02020603050405020304" pitchFamily="18" charset="0"/>
              </a:rPr>
              <a:t>Primary Keys</a:t>
            </a:r>
            <a:r>
              <a:rPr lang="en-US" altLang="en-US" sz="2000">
                <a:latin typeface="Times New Roman" panose="02020603050405020304" pitchFamily="18" charset="0"/>
              </a:rPr>
              <a:t>   (same notion as we know; appears mostly in dimension tables)</a:t>
            </a:r>
          </a:p>
          <a:p>
            <a:pPr lvl="2" eaLnBrk="1" hangingPunct="1">
              <a:buFont typeface="Symbol" panose="05050102010706020507" pitchFamily="18" charset="2"/>
              <a:buChar char="·"/>
            </a:pPr>
            <a:r>
              <a:rPr lang="en-US" altLang="en-US" sz="2000">
                <a:latin typeface="Times New Roman" panose="02020603050405020304" pitchFamily="18" charset="0"/>
              </a:rPr>
              <a:t>  </a:t>
            </a:r>
            <a:r>
              <a:rPr lang="en-US" altLang="en-US" sz="2000" b="1">
                <a:latin typeface="Times New Roman" panose="02020603050405020304" pitchFamily="18" charset="0"/>
              </a:rPr>
              <a:t>Surrogate Keys</a:t>
            </a:r>
            <a:r>
              <a:rPr lang="en-US" altLang="en-US" sz="2000">
                <a:latin typeface="Times New Roman" panose="02020603050405020304" pitchFamily="18" charset="0"/>
              </a:rPr>
              <a:t>   (These are DW Keys and are meaningless.  They are used to connect dimension tables with the fact table.  Usually, it is a 4-byte integer.  Also applicable to Dates.)</a:t>
            </a:r>
          </a:p>
          <a:p>
            <a:pPr lvl="2" eaLnBrk="1" hangingPunct="1">
              <a:buFont typeface="Symbol" panose="05050102010706020507" pitchFamily="18" charset="2"/>
              <a:buNone/>
            </a:pPr>
            <a:r>
              <a:rPr lang="en-US" altLang="en-US" sz="2000">
                <a:latin typeface="Times New Roman" panose="02020603050405020304" pitchFamily="18" charset="0"/>
              </a:rPr>
              <a:t>  </a:t>
            </a:r>
            <a:endParaRPr lang="en-US" altLang="en-US" sz="2400">
              <a:latin typeface="Times New Roman" panose="02020603050405020304" pitchFamily="18" charset="0"/>
            </a:endParaRPr>
          </a:p>
        </p:txBody>
      </p:sp>
      <p:sp>
        <p:nvSpPr>
          <p:cNvPr id="2" name="Date Placeholder 1">
            <a:extLst>
              <a:ext uri="{FF2B5EF4-FFF2-40B4-BE49-F238E27FC236}">
                <a16:creationId xmlns:a16="http://schemas.microsoft.com/office/drawing/2014/main" id="{58B42E5E-DD42-8FEA-6213-9FD7B80433A2}"/>
              </a:ext>
            </a:extLst>
          </p:cNvPr>
          <p:cNvSpPr>
            <a:spLocks noGrp="1"/>
          </p:cNvSpPr>
          <p:nvPr>
            <p:ph type="dt" sz="quarter" idx="10"/>
          </p:nvPr>
        </p:nvSpPr>
        <p:spPr/>
        <p:txBody>
          <a:bodyPr/>
          <a:lstStyle/>
          <a:p>
            <a:pPr>
              <a:defRPr/>
            </a:pPr>
            <a:fld id="{310F6C76-6996-483B-ABDC-F6A4CF04B364}" type="datetime1">
              <a:rPr lang="en-US" smtClean="0"/>
              <a:t>9/30/2025</a:t>
            </a:fld>
            <a:endParaRPr lang="en-US"/>
          </a:p>
        </p:txBody>
      </p:sp>
      <p:sp>
        <p:nvSpPr>
          <p:cNvPr id="3" name="Footer Placeholder 2">
            <a:extLst>
              <a:ext uri="{FF2B5EF4-FFF2-40B4-BE49-F238E27FC236}">
                <a16:creationId xmlns:a16="http://schemas.microsoft.com/office/drawing/2014/main" id="{BA46C71B-C36B-0466-1692-3E575EA13B21}"/>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B0143EE1-DC4E-A9C6-5569-CEC9D09C244E}"/>
              </a:ext>
            </a:extLst>
          </p:cNvPr>
          <p:cNvSpPr>
            <a:spLocks noGrp="1"/>
          </p:cNvSpPr>
          <p:nvPr>
            <p:ph type="sldNum" sz="quarter" idx="12"/>
          </p:nvPr>
        </p:nvSpPr>
        <p:spPr/>
        <p:txBody>
          <a:bodyPr/>
          <a:lstStyle/>
          <a:p>
            <a:pPr>
              <a:defRPr/>
            </a:pPr>
            <a:fld id="{E42FE9D5-2484-44F1-A450-9D5DDFC1F447}" type="slidenum">
              <a:rPr lang="en-US" altLang="en-US" smtClean="0"/>
              <a:pPr>
                <a:defRPr/>
              </a:pPr>
              <a:t>56</a:t>
            </a:fld>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6DBB4F8C-1AED-90EE-C533-C852C215F52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19811" name="Text Box 3">
            <a:extLst>
              <a:ext uri="{FF2B5EF4-FFF2-40B4-BE49-F238E27FC236}">
                <a16:creationId xmlns:a16="http://schemas.microsoft.com/office/drawing/2014/main" id="{AD182DA8-40C2-E604-3B2B-7D2B9B75265F}"/>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19812" name="Text Box 4">
            <a:extLst>
              <a:ext uri="{FF2B5EF4-FFF2-40B4-BE49-F238E27FC236}">
                <a16:creationId xmlns:a16="http://schemas.microsoft.com/office/drawing/2014/main" id="{756DE117-9CB8-8604-53DA-EEE5BF2BDFD9}"/>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19813" name="Text Box 5">
            <a:extLst>
              <a:ext uri="{FF2B5EF4-FFF2-40B4-BE49-F238E27FC236}">
                <a16:creationId xmlns:a16="http://schemas.microsoft.com/office/drawing/2014/main" id="{87833268-2111-143A-FB8D-83F92FD05A53}"/>
              </a:ext>
            </a:extLst>
          </p:cNvPr>
          <p:cNvSpPr txBox="1">
            <a:spLocks noChangeArrowheads="1"/>
          </p:cNvSpPr>
          <p:nvPr/>
        </p:nvSpPr>
        <p:spPr bwMode="auto">
          <a:xfrm>
            <a:off x="2362200" y="1752600"/>
            <a:ext cx="82296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10.  Different Keys used in Dimensional Modeling</a:t>
            </a:r>
            <a:endParaRPr lang="en-US" altLang="en-US" sz="2400">
              <a:latin typeface="Tahoma" panose="020B0604030504040204" pitchFamily="34" charset="0"/>
            </a:endParaRPr>
          </a:p>
          <a:p>
            <a:pPr lvl="2" eaLnBrk="1" hangingPunct="1">
              <a:spcBef>
                <a:spcPct val="50000"/>
              </a:spcBef>
              <a:buFontTx/>
              <a:buChar char="•"/>
            </a:pPr>
            <a:r>
              <a:rPr lang="en-US" altLang="en-US" sz="2000">
                <a:latin typeface="Times New Roman" panose="02020603050405020304" pitchFamily="18" charset="0"/>
              </a:rPr>
              <a:t>   Avoid Smart Keys  (Avoid the temptation of making overloaded keys.)</a:t>
            </a:r>
          </a:p>
          <a:p>
            <a:pPr lvl="2" eaLnBrk="1" hangingPunct="1">
              <a:buFont typeface="Symbol" panose="05050102010706020507" pitchFamily="18" charset="2"/>
              <a:buChar char="·"/>
            </a:pPr>
            <a:r>
              <a:rPr lang="en-US" altLang="en-US" sz="2000">
                <a:latin typeface="Times New Roman" panose="02020603050405020304" pitchFamily="18" charset="0"/>
              </a:rPr>
              <a:t>  Do not use production keys (These are the PKs in the production process.)</a:t>
            </a:r>
          </a:p>
          <a:p>
            <a:pPr lvl="1" eaLnBrk="1" hangingPunct="1">
              <a:spcBef>
                <a:spcPct val="50000"/>
              </a:spcBef>
            </a:pPr>
            <a:r>
              <a:rPr lang="en-US" altLang="en-US" sz="2400">
                <a:latin typeface="Times New Roman" panose="02020603050405020304" pitchFamily="18" charset="0"/>
              </a:rPr>
              <a:t>  </a:t>
            </a:r>
          </a:p>
        </p:txBody>
      </p:sp>
      <p:sp>
        <p:nvSpPr>
          <p:cNvPr id="2" name="Date Placeholder 1">
            <a:extLst>
              <a:ext uri="{FF2B5EF4-FFF2-40B4-BE49-F238E27FC236}">
                <a16:creationId xmlns:a16="http://schemas.microsoft.com/office/drawing/2014/main" id="{C984624C-0C63-22E0-13A4-08663882F257}"/>
              </a:ext>
            </a:extLst>
          </p:cNvPr>
          <p:cNvSpPr>
            <a:spLocks noGrp="1"/>
          </p:cNvSpPr>
          <p:nvPr>
            <p:ph type="dt" sz="quarter" idx="10"/>
          </p:nvPr>
        </p:nvSpPr>
        <p:spPr/>
        <p:txBody>
          <a:bodyPr/>
          <a:lstStyle/>
          <a:p>
            <a:pPr>
              <a:defRPr/>
            </a:pPr>
            <a:fld id="{DBBAF45A-EC91-4E6C-958D-D75AD09F7441}" type="datetime1">
              <a:rPr lang="en-US" smtClean="0"/>
              <a:t>9/30/2025</a:t>
            </a:fld>
            <a:endParaRPr lang="en-US"/>
          </a:p>
        </p:txBody>
      </p:sp>
      <p:sp>
        <p:nvSpPr>
          <p:cNvPr id="3" name="Footer Placeholder 2">
            <a:extLst>
              <a:ext uri="{FF2B5EF4-FFF2-40B4-BE49-F238E27FC236}">
                <a16:creationId xmlns:a16="http://schemas.microsoft.com/office/drawing/2014/main" id="{77E425EE-640B-C66A-3368-26F6737D6B3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57F7DF6-831D-57B0-1415-EE9CB93F5C82}"/>
              </a:ext>
            </a:extLst>
          </p:cNvPr>
          <p:cNvSpPr>
            <a:spLocks noGrp="1"/>
          </p:cNvSpPr>
          <p:nvPr>
            <p:ph type="sldNum" sz="quarter" idx="12"/>
          </p:nvPr>
        </p:nvSpPr>
        <p:spPr/>
        <p:txBody>
          <a:bodyPr/>
          <a:lstStyle/>
          <a:p>
            <a:pPr>
              <a:defRPr/>
            </a:pPr>
            <a:fld id="{7597DEB3-A492-44DE-9566-2E683A6C1E85}" type="slidenum">
              <a:rPr lang="en-US" altLang="en-US" smtClean="0"/>
              <a:pPr>
                <a:defRPr/>
              </a:pPr>
              <a:t>57</a:t>
            </a:fld>
            <a:endParaRPr lang="en-US"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E86844A5-6DD1-DAF1-95DC-09DE63BDDC5D}"/>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chemeClr val="accent2"/>
                </a:solidFill>
                <a:latin typeface="Tahoma" panose="020B0604030504040204" pitchFamily="34" charset="0"/>
              </a:rPr>
              <a:t>II.  Dimensional Modeling and Star/Snowflake Schema</a:t>
            </a:r>
          </a:p>
        </p:txBody>
      </p:sp>
      <p:sp>
        <p:nvSpPr>
          <p:cNvPr id="121859" name="Text Box 3">
            <a:extLst>
              <a:ext uri="{FF2B5EF4-FFF2-40B4-BE49-F238E27FC236}">
                <a16:creationId xmlns:a16="http://schemas.microsoft.com/office/drawing/2014/main" id="{A5094798-7517-792D-9A4D-5E8EEBAA66E5}"/>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21860" name="Text Box 4">
            <a:extLst>
              <a:ext uri="{FF2B5EF4-FFF2-40B4-BE49-F238E27FC236}">
                <a16:creationId xmlns:a16="http://schemas.microsoft.com/office/drawing/2014/main" id="{1556E01B-FD83-9A4B-EA44-1E836D442F79}"/>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20837" name="Text Box 5">
            <a:extLst>
              <a:ext uri="{FF2B5EF4-FFF2-40B4-BE49-F238E27FC236}">
                <a16:creationId xmlns:a16="http://schemas.microsoft.com/office/drawing/2014/main" id="{8125E8D7-109B-E633-D255-2C944A3E9E6E}"/>
              </a:ext>
            </a:extLst>
          </p:cNvPr>
          <p:cNvSpPr txBox="1">
            <a:spLocks noChangeArrowheads="1"/>
          </p:cNvSpPr>
          <p:nvPr/>
        </p:nvSpPr>
        <p:spPr bwMode="auto">
          <a:xfrm>
            <a:off x="2362200" y="1953245"/>
            <a:ext cx="8153400" cy="4001095"/>
          </a:xfrm>
          <a:prstGeom prst="rect">
            <a:avLst/>
          </a:prstGeom>
          <a:noFill/>
          <a:ln>
            <a:noFill/>
          </a:ln>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marL="457200" indent="-457200">
              <a:spcBef>
                <a:spcPct val="50000"/>
              </a:spcBef>
              <a:buClrTx/>
              <a:buSzTx/>
              <a:buFontTx/>
              <a:buAutoNum type="arabicPeriod" startAt="11"/>
              <a:defRPr/>
            </a:pPr>
            <a:r>
              <a:rPr lang="en-US" altLang="en-US" b="1" dirty="0">
                <a:solidFill>
                  <a:srgbClr val="C00000"/>
                </a:solidFill>
                <a:latin typeface="Tahoma" panose="020B0604030504040204" pitchFamily="34" charset="0"/>
              </a:rPr>
              <a:t> Kimball Methodology to Build Star/Snowflake Schema using</a:t>
            </a:r>
          </a:p>
          <a:p>
            <a:pPr marL="457200" indent="-457200">
              <a:spcBef>
                <a:spcPct val="50000"/>
              </a:spcBef>
              <a:buClrTx/>
              <a:buSzTx/>
              <a:buFontTx/>
              <a:buAutoNum type="arabicPeriod" startAt="11"/>
              <a:defRPr/>
            </a:pPr>
            <a:endParaRPr lang="en-US" altLang="en-US" sz="2000" b="1" i="1" dirty="0">
              <a:solidFill>
                <a:schemeClr val="hlink"/>
              </a:solidFill>
              <a:latin typeface="Times New Roman" panose="02020603050405020304" pitchFamily="18" charset="0"/>
            </a:endParaRPr>
          </a:p>
          <a:p>
            <a:pPr>
              <a:spcBef>
                <a:spcPct val="0"/>
              </a:spcBef>
              <a:buClrTx/>
              <a:buSzTx/>
              <a:buNone/>
              <a:defRPr/>
            </a:pPr>
            <a:r>
              <a:rPr lang="en-US" altLang="en-US" sz="2000" b="1" dirty="0">
                <a:latin typeface="Times New Roman" panose="02020603050405020304" pitchFamily="18" charset="0"/>
              </a:rPr>
              <a:t>Step-1:	  Requirements Analysis as discussed earlier</a:t>
            </a:r>
          </a:p>
          <a:p>
            <a:pPr lvl="3">
              <a:spcBef>
                <a:spcPct val="0"/>
              </a:spcBef>
              <a:buClrTx/>
              <a:buSzTx/>
              <a:buFontTx/>
              <a:buChar char="•"/>
              <a:defRPr/>
            </a:pPr>
            <a:r>
              <a:rPr lang="en-US" altLang="en-US" sz="2000" b="1" i="1" dirty="0">
                <a:latin typeface="Times New Roman" panose="02020603050405020304" pitchFamily="18" charset="0"/>
              </a:rPr>
              <a:t> </a:t>
            </a:r>
            <a:r>
              <a:rPr lang="en-US" altLang="en-US" sz="1600" b="1" dirty="0">
                <a:latin typeface="Times New Roman" panose="02020603050405020304" pitchFamily="18" charset="0"/>
              </a:rPr>
              <a:t>get business questions</a:t>
            </a:r>
          </a:p>
          <a:p>
            <a:pPr lvl="3">
              <a:spcBef>
                <a:spcPct val="0"/>
              </a:spcBef>
              <a:buClrTx/>
              <a:buSzTx/>
              <a:buFontTx/>
              <a:buChar char="•"/>
              <a:defRPr/>
            </a:pPr>
            <a:r>
              <a:rPr lang="en-US" altLang="en-US" sz="1600" b="1" dirty="0">
                <a:latin typeface="Times New Roman" panose="02020603050405020304" pitchFamily="18" charset="0"/>
              </a:rPr>
              <a:t> look for business objectives and issues</a:t>
            </a:r>
          </a:p>
          <a:p>
            <a:pPr lvl="3">
              <a:spcBef>
                <a:spcPct val="0"/>
              </a:spcBef>
              <a:buClrTx/>
              <a:buSzTx/>
              <a:buFontTx/>
              <a:buChar char="•"/>
              <a:defRPr/>
            </a:pPr>
            <a:r>
              <a:rPr lang="en-US" altLang="en-US" sz="1600" b="1" dirty="0">
                <a:latin typeface="Times New Roman" panose="02020603050405020304" pitchFamily="18" charset="0"/>
              </a:rPr>
              <a:t> collect analysis requirements</a:t>
            </a:r>
            <a:endParaRPr lang="en-US" altLang="en-US" sz="1600" dirty="0">
              <a:latin typeface="Times New Roman" panose="02020603050405020304" pitchFamily="18" charset="0"/>
            </a:endParaRPr>
          </a:p>
          <a:p>
            <a:pPr>
              <a:spcBef>
                <a:spcPct val="0"/>
              </a:spcBef>
              <a:buClrTx/>
              <a:buSzTx/>
              <a:buNone/>
              <a:defRPr/>
            </a:pPr>
            <a:endParaRPr lang="en-US" altLang="en-US" sz="2000" b="1" i="1" dirty="0">
              <a:solidFill>
                <a:schemeClr val="hlink"/>
              </a:solidFill>
              <a:latin typeface="Times New Roman" panose="02020603050405020304" pitchFamily="18" charset="0"/>
            </a:endParaRPr>
          </a:p>
          <a:p>
            <a:pPr>
              <a:spcBef>
                <a:spcPct val="0"/>
              </a:spcBef>
              <a:buClrTx/>
              <a:buSzTx/>
              <a:buNone/>
              <a:defRPr/>
            </a:pPr>
            <a:r>
              <a:rPr lang="en-US" altLang="en-US" sz="2000" b="1" dirty="0">
                <a:latin typeface="Times New Roman" panose="02020603050405020304" pitchFamily="18" charset="0"/>
              </a:rPr>
              <a:t>Step-2: 	Build the Matrix</a:t>
            </a:r>
          </a:p>
          <a:p>
            <a:pPr lvl="2">
              <a:spcBef>
                <a:spcPct val="0"/>
              </a:spcBef>
              <a:buClrTx/>
              <a:buSzTx/>
              <a:buFont typeface="Symbol" panose="05050102010706020507" pitchFamily="18" charset="2"/>
              <a:buChar char="·"/>
              <a:defRPr/>
            </a:pPr>
            <a:r>
              <a:rPr lang="en-US" altLang="en-US" sz="1600" dirty="0">
                <a:latin typeface="Times New Roman" panose="02020603050405020304" pitchFamily="18" charset="0"/>
              </a:rPr>
              <a:t>  The best way to build the schema is to create a matrix with </a:t>
            </a:r>
            <a:r>
              <a:rPr lang="en-US" altLang="en-US" sz="1600" b="1" dirty="0">
                <a:latin typeface="Times New Roman" panose="02020603050405020304" pitchFamily="18" charset="0"/>
              </a:rPr>
              <a:t>data marts</a:t>
            </a:r>
            <a:r>
              <a:rPr lang="en-US" altLang="en-US" sz="1600" dirty="0">
                <a:latin typeface="Times New Roman" panose="02020603050405020304" pitchFamily="18" charset="0"/>
              </a:rPr>
              <a:t> in one axis  (x-axis) and </a:t>
            </a:r>
            <a:r>
              <a:rPr lang="en-US" altLang="en-US" sz="1600" b="1" dirty="0">
                <a:latin typeface="Times New Roman" panose="02020603050405020304" pitchFamily="18" charset="0"/>
              </a:rPr>
              <a:t>dimensions</a:t>
            </a:r>
            <a:r>
              <a:rPr lang="en-US" altLang="en-US" sz="1600" dirty="0">
                <a:latin typeface="Times New Roman" panose="02020603050405020304" pitchFamily="18" charset="0"/>
              </a:rPr>
              <a:t> in the other axis (y-axis).  </a:t>
            </a:r>
          </a:p>
          <a:p>
            <a:pPr lvl="2">
              <a:spcBef>
                <a:spcPct val="0"/>
              </a:spcBef>
              <a:buClrTx/>
              <a:buSzTx/>
              <a:buFont typeface="Symbol" panose="05050102010706020507" pitchFamily="18" charset="2"/>
              <a:buChar char="·"/>
              <a:defRPr/>
            </a:pPr>
            <a:r>
              <a:rPr lang="en-US" altLang="en-US" sz="1600" dirty="0">
                <a:latin typeface="Times New Roman" panose="02020603050405020304" pitchFamily="18" charset="0"/>
              </a:rPr>
              <a:t>  We define a data mart as a </a:t>
            </a:r>
            <a:r>
              <a:rPr lang="en-US" altLang="en-US" sz="1600" dirty="0">
                <a:solidFill>
                  <a:srgbClr val="FF0000"/>
                </a:solidFill>
                <a:latin typeface="Times New Roman" panose="02020603050405020304" pitchFamily="18" charset="0"/>
              </a:rPr>
              <a:t>pragmatic collection </a:t>
            </a:r>
            <a:r>
              <a:rPr lang="en-US" altLang="en-US" sz="1600" dirty="0">
                <a:latin typeface="Times New Roman" panose="02020603050405020304" pitchFamily="18" charset="0"/>
              </a:rPr>
              <a:t>of related facts.  </a:t>
            </a:r>
          </a:p>
          <a:p>
            <a:pPr>
              <a:spcBef>
                <a:spcPct val="0"/>
              </a:spcBef>
              <a:buClrTx/>
              <a:buSzTx/>
              <a:buNone/>
              <a:defRPr/>
            </a:pPr>
            <a:endParaRPr lang="en-US" altLang="en-US" sz="1600"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1DC987A5-32E5-57B9-ABA6-4F65F7C70B0C}"/>
              </a:ext>
            </a:extLst>
          </p:cNvPr>
          <p:cNvSpPr>
            <a:spLocks noGrp="1"/>
          </p:cNvSpPr>
          <p:nvPr>
            <p:ph type="dt" sz="quarter" idx="10"/>
          </p:nvPr>
        </p:nvSpPr>
        <p:spPr/>
        <p:txBody>
          <a:bodyPr/>
          <a:lstStyle/>
          <a:p>
            <a:pPr>
              <a:defRPr/>
            </a:pPr>
            <a:fld id="{B58A7BBE-1060-48BD-8DE3-E7B3E6043271}" type="datetime1">
              <a:rPr lang="en-US" smtClean="0"/>
              <a:t>9/30/2025</a:t>
            </a:fld>
            <a:endParaRPr lang="en-US"/>
          </a:p>
        </p:txBody>
      </p:sp>
      <p:sp>
        <p:nvSpPr>
          <p:cNvPr id="3" name="Footer Placeholder 2">
            <a:extLst>
              <a:ext uri="{FF2B5EF4-FFF2-40B4-BE49-F238E27FC236}">
                <a16:creationId xmlns:a16="http://schemas.microsoft.com/office/drawing/2014/main" id="{9B4B90B0-1639-5D81-B697-FE550CBC58E9}"/>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B82D38B1-9D71-9082-3F1C-C9082463BE65}"/>
              </a:ext>
            </a:extLst>
          </p:cNvPr>
          <p:cNvSpPr>
            <a:spLocks noGrp="1"/>
          </p:cNvSpPr>
          <p:nvPr>
            <p:ph type="sldNum" sz="quarter" idx="12"/>
          </p:nvPr>
        </p:nvSpPr>
        <p:spPr/>
        <p:txBody>
          <a:bodyPr/>
          <a:lstStyle/>
          <a:p>
            <a:pPr>
              <a:defRPr/>
            </a:pPr>
            <a:fld id="{6BA108CC-8071-429C-BB1C-3B3F03363BDC}" type="slidenum">
              <a:rPr lang="en-US" altLang="en-US" smtClean="0"/>
              <a:pPr>
                <a:defRPr/>
              </a:pPr>
              <a:t>58</a:t>
            </a:fld>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D3531BC2-DBCE-8E8A-3F36-2B2C295AC62F}"/>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23907" name="Text Box 3">
            <a:extLst>
              <a:ext uri="{FF2B5EF4-FFF2-40B4-BE49-F238E27FC236}">
                <a16:creationId xmlns:a16="http://schemas.microsoft.com/office/drawing/2014/main" id="{8D3A58B8-5EDB-0B8A-9596-C7FDFE8697D7}"/>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23908" name="Text Box 4">
            <a:extLst>
              <a:ext uri="{FF2B5EF4-FFF2-40B4-BE49-F238E27FC236}">
                <a16:creationId xmlns:a16="http://schemas.microsoft.com/office/drawing/2014/main" id="{A54B0D43-5500-C72F-AC67-A69FA824C81B}"/>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23909" name="Text Box 5">
            <a:extLst>
              <a:ext uri="{FF2B5EF4-FFF2-40B4-BE49-F238E27FC236}">
                <a16:creationId xmlns:a16="http://schemas.microsoft.com/office/drawing/2014/main" id="{71277F85-B984-08A5-FC9B-4DF3FB2E51D2}"/>
              </a:ext>
            </a:extLst>
          </p:cNvPr>
          <p:cNvSpPr txBox="1">
            <a:spLocks noChangeArrowheads="1"/>
          </p:cNvSpPr>
          <p:nvPr/>
        </p:nvSpPr>
        <p:spPr bwMode="auto">
          <a:xfrm>
            <a:off x="2667000" y="1905001"/>
            <a:ext cx="6934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11.  Steps to Build Star/Snowflake Schema 	(Kimball)</a:t>
            </a:r>
            <a:endParaRPr lang="en-US" altLang="en-US">
              <a:latin typeface="Times New Roman" panose="02020603050405020304" pitchFamily="18" charset="0"/>
            </a:endParaRPr>
          </a:p>
        </p:txBody>
      </p:sp>
      <p:sp>
        <p:nvSpPr>
          <p:cNvPr id="2" name="Date Placeholder 1">
            <a:extLst>
              <a:ext uri="{FF2B5EF4-FFF2-40B4-BE49-F238E27FC236}">
                <a16:creationId xmlns:a16="http://schemas.microsoft.com/office/drawing/2014/main" id="{F3827C03-F32D-514F-F634-F59B9EB1E423}"/>
              </a:ext>
            </a:extLst>
          </p:cNvPr>
          <p:cNvSpPr>
            <a:spLocks noGrp="1"/>
          </p:cNvSpPr>
          <p:nvPr>
            <p:ph type="dt" sz="quarter" idx="10"/>
          </p:nvPr>
        </p:nvSpPr>
        <p:spPr/>
        <p:txBody>
          <a:bodyPr/>
          <a:lstStyle/>
          <a:p>
            <a:pPr>
              <a:defRPr/>
            </a:pPr>
            <a:fld id="{015625C0-1617-4AE6-A93B-47ADCF48215D}" type="datetime1">
              <a:rPr lang="en-US" smtClean="0"/>
              <a:t>9/30/2025</a:t>
            </a:fld>
            <a:endParaRPr lang="en-US"/>
          </a:p>
        </p:txBody>
      </p:sp>
      <p:sp>
        <p:nvSpPr>
          <p:cNvPr id="3" name="Footer Placeholder 2">
            <a:extLst>
              <a:ext uri="{FF2B5EF4-FFF2-40B4-BE49-F238E27FC236}">
                <a16:creationId xmlns:a16="http://schemas.microsoft.com/office/drawing/2014/main" id="{BF3140D2-3354-E576-ECA8-329CA71FC31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B18C3DE-F1E8-FCD4-1DCE-8667F91F4368}"/>
              </a:ext>
            </a:extLst>
          </p:cNvPr>
          <p:cNvSpPr>
            <a:spLocks noGrp="1"/>
          </p:cNvSpPr>
          <p:nvPr>
            <p:ph type="sldNum" sz="quarter" idx="12"/>
          </p:nvPr>
        </p:nvSpPr>
        <p:spPr/>
        <p:txBody>
          <a:bodyPr/>
          <a:lstStyle/>
          <a:p>
            <a:pPr>
              <a:defRPr/>
            </a:pPr>
            <a:fld id="{42686470-4FA8-484F-ADBE-BE07E814C91E}" type="slidenum">
              <a:rPr lang="en-US" altLang="en-US" smtClean="0"/>
              <a:pPr>
                <a:defRPr/>
              </a:pPr>
              <a:t>59</a:t>
            </a:fld>
            <a:endParaRPr lang="en-US" altLang="en-US"/>
          </a:p>
        </p:txBody>
      </p:sp>
      <p:sp>
        <p:nvSpPr>
          <p:cNvPr id="123913" name="TextBox 14">
            <a:extLst>
              <a:ext uri="{FF2B5EF4-FFF2-40B4-BE49-F238E27FC236}">
                <a16:creationId xmlns:a16="http://schemas.microsoft.com/office/drawing/2014/main" id="{F8B65E54-7CD1-4C48-0E07-97525CF7ACF9}"/>
              </a:ext>
            </a:extLst>
          </p:cNvPr>
          <p:cNvSpPr txBox="1">
            <a:spLocks noChangeArrowheads="1"/>
          </p:cNvSpPr>
          <p:nvPr/>
        </p:nvSpPr>
        <p:spPr bwMode="auto">
          <a:xfrm>
            <a:off x="2933700" y="2790825"/>
            <a:ext cx="76581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a:solidFill>
                  <a:srgbClr val="000000"/>
                </a:solidFill>
                <a:latin typeface="Times New Roman" panose="02020603050405020304" pitchFamily="18" charset="0"/>
              </a:rPr>
              <a:t>Step 2.1.   List the Data Marts in the Matrix</a:t>
            </a:r>
          </a:p>
          <a:p>
            <a:pPr lvl="3" eaLnBrk="1" hangingPunct="1">
              <a:buFont typeface="Symbol" panose="05050102010706020507" pitchFamily="18" charset="2"/>
              <a:buChar char="·"/>
            </a:pPr>
            <a:r>
              <a:rPr lang="en-US" altLang="en-US" sz="1600">
                <a:solidFill>
                  <a:srgbClr val="000000"/>
                </a:solidFill>
                <a:latin typeface="Times New Roman" panose="02020603050405020304" pitchFamily="18" charset="0"/>
              </a:rPr>
              <a:t>  Choose single-source data marts first.  Single-source data marts involve single kind of data source.</a:t>
            </a:r>
          </a:p>
          <a:p>
            <a:pPr lvl="3" eaLnBrk="1" hangingPunct="1">
              <a:buFont typeface="Symbol" panose="05050102010706020507" pitchFamily="18" charset="2"/>
              <a:buChar char="·"/>
            </a:pPr>
            <a:r>
              <a:rPr lang="en-US" altLang="en-US" sz="1600">
                <a:solidFill>
                  <a:srgbClr val="000000"/>
                </a:solidFill>
                <a:latin typeface="Times New Roman" panose="02020603050405020304" pitchFamily="18" charset="0"/>
              </a:rPr>
              <a:t>  This is easier to handle.  Also, you will be able to deliver something worthwhile to the end users quickly.</a:t>
            </a:r>
          </a:p>
          <a:p>
            <a:pPr lvl="3" eaLnBrk="1" hangingPunct="1">
              <a:buFont typeface="Symbol" panose="05050102010706020507" pitchFamily="18" charset="2"/>
              <a:buChar char="·"/>
            </a:pPr>
            <a:r>
              <a:rPr lang="en-US" altLang="en-US" sz="1600">
                <a:solidFill>
                  <a:srgbClr val="000000"/>
                </a:solidFill>
                <a:latin typeface="Times New Roman" panose="02020603050405020304" pitchFamily="18" charset="0"/>
              </a:rPr>
              <a:t> Single-source data marts are </a:t>
            </a:r>
            <a:r>
              <a:rPr lang="en-US" altLang="en-US" sz="1600" i="1">
                <a:solidFill>
                  <a:srgbClr val="000000"/>
                </a:solidFill>
                <a:latin typeface="Times New Roman" panose="02020603050405020304" pitchFamily="18" charset="0"/>
              </a:rPr>
              <a:t>customer billing, customer inquiries, promotion tracking </a:t>
            </a:r>
            <a:r>
              <a:rPr lang="en-US" altLang="en-US" sz="1600">
                <a:solidFill>
                  <a:srgbClr val="000000"/>
                </a:solidFill>
                <a:latin typeface="Times New Roman" panose="02020603050405020304" pitchFamily="18" charset="0"/>
              </a:rPr>
              <a:t>[Each uses several dimensions </a:t>
            </a:r>
            <a:r>
              <a:rPr lang="en-US" altLang="en-US" sz="1600" u="sng">
                <a:solidFill>
                  <a:srgbClr val="000000"/>
                </a:solidFill>
                <a:latin typeface="Times New Roman" panose="02020603050405020304" pitchFamily="18" charset="0"/>
              </a:rPr>
              <a:t>but</a:t>
            </a:r>
            <a:r>
              <a:rPr lang="en-US" altLang="en-US" sz="1600">
                <a:solidFill>
                  <a:srgbClr val="000000"/>
                </a:solidFill>
                <a:latin typeface="Times New Roman" panose="02020603050405020304" pitchFamily="18" charset="0"/>
              </a:rPr>
              <a:t> come from same source data]</a:t>
            </a:r>
          </a:p>
          <a:p>
            <a:pPr lvl="3" eaLnBrk="1" hangingPunct="1">
              <a:buFont typeface="Symbol" panose="05050102010706020507" pitchFamily="18" charset="2"/>
              <a:buChar char="·"/>
            </a:pPr>
            <a:r>
              <a:rPr lang="en-US" altLang="en-US" sz="2000">
                <a:solidFill>
                  <a:srgbClr val="000000"/>
                </a:solidFill>
                <a:latin typeface="Times New Roman" panose="02020603050405020304" pitchFamily="18" charset="0"/>
              </a:rPr>
              <a:t> </a:t>
            </a:r>
            <a:r>
              <a:rPr lang="en-US" altLang="en-US" sz="1600">
                <a:solidFill>
                  <a:srgbClr val="000000"/>
                </a:solidFill>
                <a:latin typeface="Times New Roman" panose="02020603050405020304" pitchFamily="18" charset="0"/>
              </a:rPr>
              <a:t>Create multiple-source data marts from the single-source data marts, if possible.</a:t>
            </a:r>
          </a:p>
          <a:p>
            <a:pPr lvl="3" eaLnBrk="1" hangingPunct="1">
              <a:buFont typeface="Symbol" panose="05050102010706020507" pitchFamily="18" charset="2"/>
              <a:buChar char="·"/>
            </a:pPr>
            <a:r>
              <a:rPr lang="en-US" altLang="en-US" sz="1600">
                <a:solidFill>
                  <a:srgbClr val="000000"/>
                </a:solidFill>
                <a:latin typeface="Times New Roman" panose="02020603050405020304" pitchFamily="18" charset="0"/>
              </a:rPr>
              <a:t> Multiple-source data marts are </a:t>
            </a:r>
            <a:r>
              <a:rPr lang="en-US" altLang="en-US" sz="1600" i="1">
                <a:solidFill>
                  <a:srgbClr val="000000"/>
                </a:solidFill>
                <a:latin typeface="Times New Roman" panose="02020603050405020304" pitchFamily="18" charset="0"/>
              </a:rPr>
              <a:t>customer relationship management using customer billing, customer inquiries </a:t>
            </a:r>
            <a:r>
              <a:rPr lang="en-US" altLang="en-US" sz="1600">
                <a:solidFill>
                  <a:srgbClr val="000000"/>
                </a:solidFill>
                <a:latin typeface="Times New Roman" panose="02020603050405020304" pitchFamily="18" charset="0"/>
              </a:rPr>
              <a:t>and</a:t>
            </a:r>
            <a:r>
              <a:rPr lang="en-US" altLang="en-US" sz="1600" i="1">
                <a:solidFill>
                  <a:srgbClr val="000000"/>
                </a:solidFill>
                <a:latin typeface="Times New Roman" panose="02020603050405020304" pitchFamily="18" charset="0"/>
              </a:rPr>
              <a:t> promotion tracking single-source data marts</a:t>
            </a:r>
            <a:r>
              <a:rPr lang="en-US" altLang="en-US" sz="1600">
                <a:solidFill>
                  <a:srgbClr val="000000"/>
                </a:solidFill>
                <a:latin typeface="Times New Roman" panose="02020603050405020304" pitchFamily="18" charset="0"/>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F5D289D3-D6DB-67D9-A98E-B44B507D641D}"/>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chemeClr val="accent2"/>
                </a:solidFill>
                <a:latin typeface="Tahoma" panose="020B0604030504040204" pitchFamily="34" charset="0"/>
              </a:rPr>
              <a:t>II.  Dimensional Modeling and Star/Snowflake Schema</a:t>
            </a:r>
          </a:p>
        </p:txBody>
      </p:sp>
      <p:sp>
        <p:nvSpPr>
          <p:cNvPr id="125955" name="Text Box 3">
            <a:extLst>
              <a:ext uri="{FF2B5EF4-FFF2-40B4-BE49-F238E27FC236}">
                <a16:creationId xmlns:a16="http://schemas.microsoft.com/office/drawing/2014/main" id="{97E0748A-5D6F-E85E-5687-021CB28B4DE2}"/>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25956" name="Text Box 4">
            <a:extLst>
              <a:ext uri="{FF2B5EF4-FFF2-40B4-BE49-F238E27FC236}">
                <a16:creationId xmlns:a16="http://schemas.microsoft.com/office/drawing/2014/main" id="{F3AD1DC1-1595-A4C8-7EE5-8FFE659AD037}"/>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25957" name="Text Box 5">
            <a:extLst>
              <a:ext uri="{FF2B5EF4-FFF2-40B4-BE49-F238E27FC236}">
                <a16:creationId xmlns:a16="http://schemas.microsoft.com/office/drawing/2014/main" id="{95893879-DCB6-194C-66C6-CB4697C34C23}"/>
              </a:ext>
            </a:extLst>
          </p:cNvPr>
          <p:cNvSpPr txBox="1">
            <a:spLocks noChangeArrowheads="1"/>
          </p:cNvSpPr>
          <p:nvPr/>
        </p:nvSpPr>
        <p:spPr bwMode="auto">
          <a:xfrm>
            <a:off x="2667000" y="1905001"/>
            <a:ext cx="69342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a:latin typeface="Tahoma" panose="020B0604030504040204" pitchFamily="34" charset="0"/>
              </a:rPr>
              <a:t>11.  Steps to Build Star/Snowflake Schema 	(Kimball)</a:t>
            </a:r>
            <a:endParaRPr lang="en-US" altLang="en-US" sz="2400">
              <a:latin typeface="Tahoma" panose="020B0604030504040204" pitchFamily="34" charset="0"/>
            </a:endParaRPr>
          </a:p>
          <a:p>
            <a:pPr eaLnBrk="1" hangingPunct="1"/>
            <a:endParaRPr lang="en-US" altLang="en-US" sz="2400" b="1">
              <a:latin typeface="Times New Roman" panose="02020603050405020304" pitchFamily="18" charset="0"/>
            </a:endParaRPr>
          </a:p>
          <a:p>
            <a:pPr eaLnBrk="1" hangingPunct="1"/>
            <a:r>
              <a:rPr lang="en-US" altLang="en-US" sz="2000" b="1">
                <a:latin typeface="Times New Roman" panose="02020603050405020304" pitchFamily="18" charset="0"/>
              </a:rPr>
              <a:t>	Step 2.2.   List the Dimensions in the Matrix</a:t>
            </a:r>
          </a:p>
          <a:p>
            <a:pPr eaLnBrk="1" hangingPunct="1"/>
            <a:r>
              <a:rPr lang="en-US" altLang="en-US" sz="2000" b="1">
                <a:latin typeface="Times New Roman" panose="02020603050405020304" pitchFamily="18" charset="0"/>
              </a:rPr>
              <a:t>	</a:t>
            </a:r>
          </a:p>
          <a:p>
            <a:pPr eaLnBrk="1" hangingPunct="1"/>
            <a:r>
              <a:rPr lang="en-US" altLang="en-US" sz="2000" b="1">
                <a:latin typeface="Times New Roman" panose="02020603050405020304" pitchFamily="18" charset="0"/>
              </a:rPr>
              <a:t>	Step 2.3.  Mark the intersection in the Matrix</a:t>
            </a:r>
          </a:p>
          <a:p>
            <a:pPr lvl="3" eaLnBrk="1" hangingPunct="1">
              <a:buFont typeface="Symbol" panose="05050102010706020507" pitchFamily="18" charset="2"/>
              <a:buChar char="·"/>
            </a:pPr>
            <a:r>
              <a:rPr lang="en-US" altLang="en-US" sz="1600">
                <a:latin typeface="Times New Roman" panose="02020603050405020304" pitchFamily="18" charset="0"/>
              </a:rPr>
              <a:t>  Matrix is usually </a:t>
            </a:r>
            <a:r>
              <a:rPr lang="en-US" altLang="en-US" sz="1600" u="sng">
                <a:latin typeface="Times New Roman" panose="02020603050405020304" pitchFamily="18" charset="0"/>
              </a:rPr>
              <a:t>very dense</a:t>
            </a:r>
          </a:p>
          <a:p>
            <a:pPr lvl="3" eaLnBrk="1" hangingPunct="1">
              <a:buFont typeface="Symbol" panose="05050102010706020507" pitchFamily="18" charset="2"/>
              <a:buChar char="·"/>
            </a:pPr>
            <a:r>
              <a:rPr lang="en-US" altLang="en-US" sz="1600">
                <a:latin typeface="Times New Roman" panose="02020603050405020304" pitchFamily="18" charset="0"/>
              </a:rPr>
              <a:t>  Each data mart has on the average 10 dimensions.</a:t>
            </a:r>
          </a:p>
          <a:p>
            <a:pPr eaLnBrk="1" hangingPunct="1"/>
            <a:endParaRPr lang="en-US" altLang="en-US" sz="1600">
              <a:latin typeface="Times New Roman" panose="02020603050405020304" pitchFamily="18" charset="0"/>
            </a:endParaRPr>
          </a:p>
        </p:txBody>
      </p:sp>
      <p:sp>
        <p:nvSpPr>
          <p:cNvPr id="2" name="Date Placeholder 1">
            <a:extLst>
              <a:ext uri="{FF2B5EF4-FFF2-40B4-BE49-F238E27FC236}">
                <a16:creationId xmlns:a16="http://schemas.microsoft.com/office/drawing/2014/main" id="{A3331031-038C-E3B4-A5CF-4734DB54133E}"/>
              </a:ext>
            </a:extLst>
          </p:cNvPr>
          <p:cNvSpPr>
            <a:spLocks noGrp="1"/>
          </p:cNvSpPr>
          <p:nvPr>
            <p:ph type="dt" sz="quarter" idx="10"/>
          </p:nvPr>
        </p:nvSpPr>
        <p:spPr/>
        <p:txBody>
          <a:bodyPr/>
          <a:lstStyle/>
          <a:p>
            <a:pPr>
              <a:defRPr/>
            </a:pPr>
            <a:fld id="{5811A1E9-CB71-447B-8238-42031DC89DDD}" type="datetime1">
              <a:rPr lang="en-US" smtClean="0"/>
              <a:t>9/30/2025</a:t>
            </a:fld>
            <a:endParaRPr lang="en-US"/>
          </a:p>
        </p:txBody>
      </p:sp>
      <p:sp>
        <p:nvSpPr>
          <p:cNvPr id="3" name="Footer Placeholder 2">
            <a:extLst>
              <a:ext uri="{FF2B5EF4-FFF2-40B4-BE49-F238E27FC236}">
                <a16:creationId xmlns:a16="http://schemas.microsoft.com/office/drawing/2014/main" id="{82A582D1-DD23-BCB3-2997-E5381F118ADB}"/>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89CAE21C-C991-E144-593B-2E640569299C}"/>
              </a:ext>
            </a:extLst>
          </p:cNvPr>
          <p:cNvSpPr>
            <a:spLocks noGrp="1"/>
          </p:cNvSpPr>
          <p:nvPr>
            <p:ph type="sldNum" sz="quarter" idx="12"/>
          </p:nvPr>
        </p:nvSpPr>
        <p:spPr/>
        <p:txBody>
          <a:bodyPr/>
          <a:lstStyle/>
          <a:p>
            <a:pPr>
              <a:defRPr/>
            </a:pPr>
            <a:fld id="{8475B6AD-81C1-4B3B-A364-59037267248C}" type="slidenum">
              <a:rPr lang="en-US" altLang="en-US" smtClean="0"/>
              <a:pPr>
                <a:defRPr/>
              </a:pPr>
              <a:t>60</a:t>
            </a:fld>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259DED3C-0D3C-204E-92F0-4EB25094C507}"/>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28003" name="Text Box 3">
            <a:extLst>
              <a:ext uri="{FF2B5EF4-FFF2-40B4-BE49-F238E27FC236}">
                <a16:creationId xmlns:a16="http://schemas.microsoft.com/office/drawing/2014/main" id="{FAC22EF4-D685-1970-C827-23C61FDB7F52}"/>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28004" name="Text Box 4">
            <a:extLst>
              <a:ext uri="{FF2B5EF4-FFF2-40B4-BE49-F238E27FC236}">
                <a16:creationId xmlns:a16="http://schemas.microsoft.com/office/drawing/2014/main" id="{C88270FE-556F-8DA7-60F4-EC15CB696F59}"/>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28005" name="Text Box 5">
            <a:extLst>
              <a:ext uri="{FF2B5EF4-FFF2-40B4-BE49-F238E27FC236}">
                <a16:creationId xmlns:a16="http://schemas.microsoft.com/office/drawing/2014/main" id="{C47C6C22-04AE-32B6-AB6D-4A0E107DB185}"/>
              </a:ext>
            </a:extLst>
          </p:cNvPr>
          <p:cNvSpPr txBox="1">
            <a:spLocks noChangeArrowheads="1"/>
          </p:cNvSpPr>
          <p:nvPr/>
        </p:nvSpPr>
        <p:spPr bwMode="auto">
          <a:xfrm>
            <a:off x="2666999" y="1905001"/>
            <a:ext cx="87988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dirty="0">
              <a:latin typeface="Times New Roman" panose="02020603050405020304" pitchFamily="18" charset="0"/>
            </a:endParaRPr>
          </a:p>
        </p:txBody>
      </p:sp>
      <p:graphicFrame>
        <p:nvGraphicFramePr>
          <p:cNvPr id="128006" name="Object 647">
            <a:extLst>
              <a:ext uri="{FF2B5EF4-FFF2-40B4-BE49-F238E27FC236}">
                <a16:creationId xmlns:a16="http://schemas.microsoft.com/office/drawing/2014/main" id="{DB7B3BDB-A0B6-D6F8-1562-934648A834CE}"/>
              </a:ext>
            </a:extLst>
          </p:cNvPr>
          <p:cNvGraphicFramePr>
            <a:graphicFrameLocks noGrp="1" noChangeAspect="1"/>
          </p:cNvGraphicFramePr>
          <p:nvPr>
            <p:ph/>
            <p:extLst>
              <p:ext uri="{D42A27DB-BD31-4B8C-83A1-F6EECF244321}">
                <p14:modId xmlns:p14="http://schemas.microsoft.com/office/powerpoint/2010/main" val="3763982352"/>
              </p:ext>
            </p:extLst>
          </p:nvPr>
        </p:nvGraphicFramePr>
        <p:xfrm>
          <a:off x="3324225" y="2667001"/>
          <a:ext cx="6457950" cy="3522662"/>
        </p:xfrm>
        <a:graphic>
          <a:graphicData uri="http://schemas.openxmlformats.org/presentationml/2006/ole">
            <mc:AlternateContent xmlns:mc="http://schemas.openxmlformats.org/markup-compatibility/2006">
              <mc:Choice xmlns:v="urn:schemas-microsoft-com:vml" Requires="v">
                <p:oleObj name="Worksheet" r:id="rId3" imgW="4881428" imgH="2662267" progId="Excel.Sheet.8">
                  <p:embed/>
                </p:oleObj>
              </mc:Choice>
              <mc:Fallback>
                <p:oleObj name="Worksheet" r:id="rId3" imgW="4881428" imgH="2662267" progId="Excel.Sheet.8">
                  <p:embed/>
                  <p:pic>
                    <p:nvPicPr>
                      <p:cNvPr id="128006" name="Object 647">
                        <a:extLst>
                          <a:ext uri="{FF2B5EF4-FFF2-40B4-BE49-F238E27FC236}">
                            <a16:creationId xmlns:a16="http://schemas.microsoft.com/office/drawing/2014/main" id="{DB7B3BDB-A0B6-D6F8-1562-934648A834CE}"/>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4225" y="2667001"/>
                        <a:ext cx="6457950" cy="352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8007" name="TextBox 2">
            <a:extLst>
              <a:ext uri="{FF2B5EF4-FFF2-40B4-BE49-F238E27FC236}">
                <a16:creationId xmlns:a16="http://schemas.microsoft.com/office/drawing/2014/main" id="{F63A3404-3D56-2E9C-EDBF-894BC3916ECA}"/>
              </a:ext>
            </a:extLst>
          </p:cNvPr>
          <p:cNvSpPr txBox="1">
            <a:spLocks noChangeArrowheads="1"/>
          </p:cNvSpPr>
          <p:nvPr/>
        </p:nvSpPr>
        <p:spPr bwMode="auto">
          <a:xfrm>
            <a:off x="3324225" y="2904828"/>
            <a:ext cx="3048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dirty="0">
                <a:solidFill>
                  <a:srgbClr val="C00000"/>
                </a:solidFill>
              </a:rPr>
              <a:t>Dimensions (will be used as dimension tables later)   </a:t>
            </a:r>
            <a:r>
              <a:rPr lang="en-US" altLang="en-US" dirty="0">
                <a:solidFill>
                  <a:srgbClr val="C00000"/>
                </a:solidFill>
                <a:sym typeface="Wingdings" panose="05000000000000000000" pitchFamily="2" charset="2"/>
              </a:rPr>
              <a:t></a:t>
            </a:r>
            <a:endParaRPr lang="en-US" altLang="en-US" dirty="0">
              <a:solidFill>
                <a:srgbClr val="C00000"/>
              </a:solidFill>
            </a:endParaRPr>
          </a:p>
        </p:txBody>
      </p:sp>
      <p:sp>
        <p:nvSpPr>
          <p:cNvPr id="128008" name="TextBox 3">
            <a:extLst>
              <a:ext uri="{FF2B5EF4-FFF2-40B4-BE49-F238E27FC236}">
                <a16:creationId xmlns:a16="http://schemas.microsoft.com/office/drawing/2014/main" id="{5613EDCF-81A3-D712-2833-0AF78D7EF2AE}"/>
              </a:ext>
            </a:extLst>
          </p:cNvPr>
          <p:cNvSpPr txBox="1">
            <a:spLocks noChangeArrowheads="1"/>
          </p:cNvSpPr>
          <p:nvPr/>
        </p:nvSpPr>
        <p:spPr bwMode="auto">
          <a:xfrm>
            <a:off x="3324225" y="3604618"/>
            <a:ext cx="2362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dirty="0">
                <a:solidFill>
                  <a:srgbClr val="C00000"/>
                </a:solidFill>
              </a:rPr>
              <a:t>Data Marts  ↓</a:t>
            </a:r>
          </a:p>
        </p:txBody>
      </p:sp>
      <p:sp>
        <p:nvSpPr>
          <p:cNvPr id="2" name="Date Placeholder 1">
            <a:extLst>
              <a:ext uri="{FF2B5EF4-FFF2-40B4-BE49-F238E27FC236}">
                <a16:creationId xmlns:a16="http://schemas.microsoft.com/office/drawing/2014/main" id="{54553375-F2F7-D214-3E45-8C22C82EAE98}"/>
              </a:ext>
            </a:extLst>
          </p:cNvPr>
          <p:cNvSpPr>
            <a:spLocks noGrp="1"/>
          </p:cNvSpPr>
          <p:nvPr>
            <p:ph type="dt" sz="quarter" idx="10"/>
          </p:nvPr>
        </p:nvSpPr>
        <p:spPr/>
        <p:txBody>
          <a:bodyPr/>
          <a:lstStyle/>
          <a:p>
            <a:pPr>
              <a:defRPr/>
            </a:pPr>
            <a:fld id="{8CDD127A-973E-4748-8CC9-EA00EB98A556}" type="datetime1">
              <a:rPr lang="en-US" smtClean="0"/>
              <a:t>9/30/2025</a:t>
            </a:fld>
            <a:endParaRPr lang="en-US"/>
          </a:p>
        </p:txBody>
      </p:sp>
      <p:sp>
        <p:nvSpPr>
          <p:cNvPr id="3" name="Footer Placeholder 2">
            <a:extLst>
              <a:ext uri="{FF2B5EF4-FFF2-40B4-BE49-F238E27FC236}">
                <a16:creationId xmlns:a16="http://schemas.microsoft.com/office/drawing/2014/main" id="{1BE07F80-27AB-1D57-A7B8-C71C8293DFCB}"/>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4EFECDF0-7FD0-82BC-97C0-CA8E7B434356}"/>
              </a:ext>
            </a:extLst>
          </p:cNvPr>
          <p:cNvSpPr>
            <a:spLocks noGrp="1"/>
          </p:cNvSpPr>
          <p:nvPr>
            <p:ph type="sldNum" sz="quarter" idx="12"/>
          </p:nvPr>
        </p:nvSpPr>
        <p:spPr/>
        <p:txBody>
          <a:bodyPr/>
          <a:lstStyle/>
          <a:p>
            <a:pPr>
              <a:defRPr/>
            </a:pPr>
            <a:fld id="{B142628B-3553-4350-B1DC-74534CA44B92}" type="slidenum">
              <a:rPr lang="en-US" altLang="en-US" smtClean="0"/>
              <a:pPr>
                <a:defRPr/>
              </a:pPr>
              <a:t>61</a:t>
            </a:fld>
            <a:endParaRPr lang="en-US"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5446C661-A4A8-5D53-637F-198CAF161837}"/>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30051" name="Text Box 3">
            <a:extLst>
              <a:ext uri="{FF2B5EF4-FFF2-40B4-BE49-F238E27FC236}">
                <a16:creationId xmlns:a16="http://schemas.microsoft.com/office/drawing/2014/main" id="{6BB9F76A-5595-23A9-38B0-866FEEE0578B}"/>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30052" name="Text Box 4">
            <a:extLst>
              <a:ext uri="{FF2B5EF4-FFF2-40B4-BE49-F238E27FC236}">
                <a16:creationId xmlns:a16="http://schemas.microsoft.com/office/drawing/2014/main" id="{54D65BF7-4628-0FA0-8E64-499992C851E0}"/>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30053" name="Text Box 5">
            <a:extLst>
              <a:ext uri="{FF2B5EF4-FFF2-40B4-BE49-F238E27FC236}">
                <a16:creationId xmlns:a16="http://schemas.microsoft.com/office/drawing/2014/main" id="{4A53AFAA-9D26-DFDD-506E-B41CA50F1E23}"/>
              </a:ext>
            </a:extLst>
          </p:cNvPr>
          <p:cNvSpPr txBox="1">
            <a:spLocks noChangeArrowheads="1"/>
          </p:cNvSpPr>
          <p:nvPr/>
        </p:nvSpPr>
        <p:spPr bwMode="auto">
          <a:xfrm>
            <a:off x="2667000" y="1905001"/>
            <a:ext cx="8655424"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lvl="2" eaLnBrk="1" hangingPunct="1">
              <a:buFont typeface="Symbol" panose="05050102010706020507" pitchFamily="18" charset="2"/>
              <a:buChar char="·"/>
            </a:pPr>
            <a:endParaRPr lang="en-US" altLang="en-US" sz="2000" dirty="0">
              <a:latin typeface="Times New Roman" panose="02020603050405020304" pitchFamily="18" charset="0"/>
            </a:endParaRPr>
          </a:p>
          <a:p>
            <a:pPr lvl="2" eaLnBrk="1" hangingPunct="1">
              <a:buFont typeface="Symbol" panose="05050102010706020507" pitchFamily="18" charset="2"/>
              <a:buChar char="·"/>
            </a:pPr>
            <a:r>
              <a:rPr lang="en-US" altLang="en-US" sz="2000" dirty="0">
                <a:latin typeface="Times New Roman" panose="02020603050405020304" pitchFamily="18" charset="0"/>
              </a:rPr>
              <a:t>  </a:t>
            </a:r>
            <a:r>
              <a:rPr lang="en-US" altLang="en-US" sz="1600" dirty="0">
                <a:latin typeface="Times New Roman" panose="02020603050405020304" pitchFamily="18" charset="0"/>
              </a:rPr>
              <a:t>One data mart can overlap with another data mart. </a:t>
            </a:r>
          </a:p>
          <a:p>
            <a:pPr lvl="2" eaLnBrk="1" hangingPunct="1">
              <a:buFont typeface="Symbol" panose="05050102010706020507" pitchFamily="18" charset="2"/>
              <a:buChar char="·"/>
            </a:pPr>
            <a:endParaRPr lang="en-US" altLang="en-US" sz="1600" dirty="0">
              <a:latin typeface="Times New Roman" panose="02020603050405020304" pitchFamily="18" charset="0"/>
            </a:endParaRPr>
          </a:p>
          <a:p>
            <a:pPr lvl="2" eaLnBrk="1" hangingPunct="1">
              <a:buFont typeface="Symbol" panose="05050102010706020507" pitchFamily="18" charset="2"/>
              <a:buChar char="·"/>
            </a:pPr>
            <a:r>
              <a:rPr lang="en-US" altLang="en-US" sz="1600" dirty="0">
                <a:latin typeface="Times New Roman" panose="02020603050405020304" pitchFamily="18" charset="0"/>
              </a:rPr>
              <a:t>  Go for 10-30 data marts for a large organization.</a:t>
            </a:r>
          </a:p>
          <a:p>
            <a:pPr lvl="2" eaLnBrk="1" hangingPunct="1">
              <a:buFont typeface="Symbol" panose="05050102010706020507" pitchFamily="18" charset="2"/>
              <a:buChar char="·"/>
            </a:pPr>
            <a:endParaRPr lang="en-US" altLang="en-US" sz="1600" dirty="0">
              <a:latin typeface="Times New Roman" panose="02020603050405020304" pitchFamily="18" charset="0"/>
            </a:endParaRPr>
          </a:p>
          <a:p>
            <a:pPr lvl="2" eaLnBrk="1" hangingPunct="1">
              <a:buFont typeface="Symbol" panose="05050102010706020507" pitchFamily="18" charset="2"/>
              <a:buChar char="·"/>
            </a:pPr>
            <a:r>
              <a:rPr lang="en-US" altLang="en-US" sz="1600" dirty="0">
                <a:latin typeface="Times New Roman" panose="02020603050405020304" pitchFamily="18" charset="0"/>
              </a:rPr>
              <a:t>  In case you go with 30-40 data marts, you have probably divided the problem down to too fine a grain.</a:t>
            </a:r>
          </a:p>
          <a:p>
            <a:pPr eaLnBrk="1" hangingPunct="1"/>
            <a:endParaRPr lang="en-US" altLang="en-US" sz="1600"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241603AA-E6B4-2724-8089-DE2601A21C88}"/>
              </a:ext>
            </a:extLst>
          </p:cNvPr>
          <p:cNvSpPr>
            <a:spLocks noGrp="1"/>
          </p:cNvSpPr>
          <p:nvPr>
            <p:ph type="dt" sz="quarter" idx="10"/>
          </p:nvPr>
        </p:nvSpPr>
        <p:spPr/>
        <p:txBody>
          <a:bodyPr/>
          <a:lstStyle/>
          <a:p>
            <a:pPr>
              <a:defRPr/>
            </a:pPr>
            <a:fld id="{C0D14F23-C63A-4B2C-807F-20146DFAFD13}" type="datetime1">
              <a:rPr lang="en-US" smtClean="0"/>
              <a:t>9/30/2025</a:t>
            </a:fld>
            <a:endParaRPr lang="en-US"/>
          </a:p>
        </p:txBody>
      </p:sp>
      <p:sp>
        <p:nvSpPr>
          <p:cNvPr id="3" name="Footer Placeholder 2">
            <a:extLst>
              <a:ext uri="{FF2B5EF4-FFF2-40B4-BE49-F238E27FC236}">
                <a16:creationId xmlns:a16="http://schemas.microsoft.com/office/drawing/2014/main" id="{E5972694-D809-1FC3-C37C-57A167212C7E}"/>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F1630C10-DFD2-4529-405A-112FBA122B10}"/>
              </a:ext>
            </a:extLst>
          </p:cNvPr>
          <p:cNvSpPr>
            <a:spLocks noGrp="1"/>
          </p:cNvSpPr>
          <p:nvPr>
            <p:ph type="sldNum" sz="quarter" idx="12"/>
          </p:nvPr>
        </p:nvSpPr>
        <p:spPr/>
        <p:txBody>
          <a:bodyPr/>
          <a:lstStyle/>
          <a:p>
            <a:pPr>
              <a:defRPr/>
            </a:pPr>
            <a:fld id="{AA94D24A-EF1D-449E-9661-A1C72F3CE155}" type="slidenum">
              <a:rPr lang="en-US" altLang="en-US" smtClean="0"/>
              <a:pPr>
                <a:defRPr/>
              </a:pPr>
              <a:t>62</a:t>
            </a:fld>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4368FCBB-059C-AE4F-1FAB-B84E9F4DA4AF}"/>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32099" name="Text Box 3">
            <a:extLst>
              <a:ext uri="{FF2B5EF4-FFF2-40B4-BE49-F238E27FC236}">
                <a16:creationId xmlns:a16="http://schemas.microsoft.com/office/drawing/2014/main" id="{8C1B0352-A12E-84A8-6A25-6EF1B3A354C8}"/>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32100" name="Text Box 4">
            <a:extLst>
              <a:ext uri="{FF2B5EF4-FFF2-40B4-BE49-F238E27FC236}">
                <a16:creationId xmlns:a16="http://schemas.microsoft.com/office/drawing/2014/main" id="{F0E8614F-64DA-ACB0-BA0D-873D3704B618}"/>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32101" name="Text Box 5">
            <a:extLst>
              <a:ext uri="{FF2B5EF4-FFF2-40B4-BE49-F238E27FC236}">
                <a16:creationId xmlns:a16="http://schemas.microsoft.com/office/drawing/2014/main" id="{D192F800-8572-8F69-2016-1B6920AA6F75}"/>
              </a:ext>
            </a:extLst>
          </p:cNvPr>
          <p:cNvSpPr txBox="1">
            <a:spLocks noChangeArrowheads="1"/>
          </p:cNvSpPr>
          <p:nvPr/>
        </p:nvSpPr>
        <p:spPr bwMode="auto">
          <a:xfrm>
            <a:off x="2667000" y="1905000"/>
            <a:ext cx="8870576"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r>
              <a:rPr lang="en-US" altLang="en-US" sz="2000" b="1" dirty="0">
                <a:latin typeface="Times New Roman" panose="02020603050405020304" pitchFamily="18" charset="0"/>
              </a:rPr>
              <a:t>	</a:t>
            </a:r>
            <a:endParaRPr lang="en-US" altLang="en-US" sz="2400" dirty="0">
              <a:latin typeface="Times New Roman" panose="02020603050405020304" pitchFamily="18" charset="0"/>
            </a:endParaRPr>
          </a:p>
          <a:p>
            <a:pPr eaLnBrk="1" hangingPunct="1"/>
            <a:r>
              <a:rPr lang="en-US" altLang="en-US" sz="2000" b="1" dirty="0">
                <a:latin typeface="Times New Roman" panose="02020603050405020304" pitchFamily="18" charset="0"/>
              </a:rPr>
              <a:t>Step 3:	Design Fact Tables</a:t>
            </a:r>
          </a:p>
          <a:p>
            <a:pPr eaLnBrk="1" hangingPunct="1"/>
            <a:r>
              <a:rPr lang="en-US" altLang="en-US" sz="2000" dirty="0">
                <a:latin typeface="Times New Roman" panose="02020603050405020304" pitchFamily="18" charset="0"/>
              </a:rPr>
              <a:t>	</a:t>
            </a:r>
            <a:r>
              <a:rPr lang="en-US" altLang="en-US" sz="2000" b="1" dirty="0">
                <a:latin typeface="Times New Roman" panose="02020603050405020304" pitchFamily="18" charset="0"/>
              </a:rPr>
              <a:t>Step 3A. Choose the Data Mart</a:t>
            </a:r>
            <a:endParaRPr lang="en-US" altLang="en-US" sz="2000" dirty="0">
              <a:latin typeface="Times New Roman" panose="02020603050405020304" pitchFamily="18" charset="0"/>
            </a:endParaRPr>
          </a:p>
          <a:p>
            <a:pPr lvl="3" eaLnBrk="1" hangingPunct="1">
              <a:buFont typeface="Symbol" panose="05050102010706020507" pitchFamily="18" charset="2"/>
              <a:buChar char="·"/>
            </a:pPr>
            <a:r>
              <a:rPr lang="en-US" altLang="en-US" sz="1600" dirty="0">
                <a:latin typeface="Times New Roman" panose="02020603050405020304" pitchFamily="18" charset="0"/>
              </a:rPr>
              <a:t> Look down the row headings of our matrix and choose one of the data marts.  Go for single-source data mart first.</a:t>
            </a:r>
          </a:p>
          <a:p>
            <a:pPr eaLnBrk="1" hangingPunct="1"/>
            <a:r>
              <a:rPr lang="en-US" altLang="en-US" sz="2000" b="1" dirty="0">
                <a:latin typeface="Times New Roman" panose="02020603050405020304" pitchFamily="18" charset="0"/>
              </a:rPr>
              <a:t>	Step 3B.  Declare the Grain</a:t>
            </a:r>
          </a:p>
          <a:p>
            <a:pPr lvl="3" eaLnBrk="1" hangingPunct="1">
              <a:buFont typeface="Symbol" panose="05050102010706020507" pitchFamily="18" charset="2"/>
              <a:buChar char="·"/>
            </a:pPr>
            <a:r>
              <a:rPr lang="en-US" altLang="en-US" sz="1600" dirty="0">
                <a:latin typeface="Times New Roman" panose="02020603050405020304" pitchFamily="18" charset="0"/>
              </a:rPr>
              <a:t>Declaring the grain means declaring what is an individual fact record.</a:t>
            </a:r>
          </a:p>
          <a:p>
            <a:pPr eaLnBrk="1" hangingPunct="1"/>
            <a:r>
              <a:rPr lang="en-US" altLang="en-US" sz="1900" dirty="0">
                <a:latin typeface="Times New Roman" panose="02020603050405020304" pitchFamily="18" charset="0"/>
              </a:rPr>
              <a:t>	</a:t>
            </a:r>
            <a:r>
              <a:rPr lang="en-US" altLang="en-US" sz="1900" b="1" dirty="0">
                <a:latin typeface="Times New Roman" panose="02020603050405020304" pitchFamily="18" charset="0"/>
              </a:rPr>
              <a:t>Step 3C. </a:t>
            </a:r>
            <a:r>
              <a:rPr lang="en-US" altLang="en-US" sz="2000" b="1" dirty="0">
                <a:latin typeface="Times New Roman" panose="02020603050405020304" pitchFamily="18" charset="0"/>
              </a:rPr>
              <a:t>Choose the Facts Based Upon the Grain</a:t>
            </a:r>
          </a:p>
          <a:p>
            <a:pPr lvl="2" eaLnBrk="1" hangingPunct="1">
              <a:buFont typeface="Symbol" panose="05050102010706020507" pitchFamily="18" charset="2"/>
              <a:buChar char="·"/>
            </a:pPr>
            <a:r>
              <a:rPr lang="en-US" altLang="en-US" sz="1600" dirty="0">
                <a:latin typeface="Times New Roman" panose="02020603050405020304" pitchFamily="18" charset="0"/>
              </a:rPr>
              <a:t>Remember the things that we discussed about facts, their additive, semi-additive and non-additive properties</a:t>
            </a:r>
          </a:p>
          <a:p>
            <a:pPr lvl="1" eaLnBrk="1" hangingPunct="1">
              <a:buFont typeface="Wingdings 2" panose="05020102010507070707" pitchFamily="18" charset="2"/>
              <a:buNone/>
            </a:pPr>
            <a:endParaRPr lang="en-US" altLang="en-US" sz="1900" dirty="0">
              <a:latin typeface="Times New Roman" panose="02020603050405020304" pitchFamily="18" charset="0"/>
            </a:endParaRPr>
          </a:p>
          <a:p>
            <a:pPr eaLnBrk="1" hangingPunct="1"/>
            <a:endParaRPr lang="en-US" altLang="en-US" sz="1600" dirty="0">
              <a:latin typeface="Times New Roman" panose="02020603050405020304" pitchFamily="18" charset="0"/>
            </a:endParaRPr>
          </a:p>
          <a:p>
            <a:pPr eaLnBrk="1" hangingPunct="1"/>
            <a:endParaRPr lang="en-US" altLang="en-US" sz="2000"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5FF0310E-B9E3-36D9-7968-4CBD26FD88DB}"/>
              </a:ext>
            </a:extLst>
          </p:cNvPr>
          <p:cNvSpPr>
            <a:spLocks noGrp="1"/>
          </p:cNvSpPr>
          <p:nvPr>
            <p:ph type="dt" sz="quarter" idx="10"/>
          </p:nvPr>
        </p:nvSpPr>
        <p:spPr/>
        <p:txBody>
          <a:bodyPr/>
          <a:lstStyle/>
          <a:p>
            <a:pPr>
              <a:defRPr/>
            </a:pPr>
            <a:fld id="{37518E7F-B483-49AB-9314-E2EBCC75FEB7}" type="datetime1">
              <a:rPr lang="en-US" smtClean="0"/>
              <a:t>9/30/2025</a:t>
            </a:fld>
            <a:endParaRPr lang="en-US"/>
          </a:p>
        </p:txBody>
      </p:sp>
      <p:sp>
        <p:nvSpPr>
          <p:cNvPr id="3" name="Footer Placeholder 2">
            <a:extLst>
              <a:ext uri="{FF2B5EF4-FFF2-40B4-BE49-F238E27FC236}">
                <a16:creationId xmlns:a16="http://schemas.microsoft.com/office/drawing/2014/main" id="{3F12BD00-7C44-8C9C-AE74-B0CE459EA8D1}"/>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57C6EF1-261E-CAED-9769-DC6C7FF8C201}"/>
              </a:ext>
            </a:extLst>
          </p:cNvPr>
          <p:cNvSpPr>
            <a:spLocks noGrp="1"/>
          </p:cNvSpPr>
          <p:nvPr>
            <p:ph type="sldNum" sz="quarter" idx="12"/>
          </p:nvPr>
        </p:nvSpPr>
        <p:spPr/>
        <p:txBody>
          <a:bodyPr/>
          <a:lstStyle/>
          <a:p>
            <a:pPr>
              <a:defRPr/>
            </a:pPr>
            <a:fld id="{363AECCF-1726-4389-8355-B7B5EFF0EDDD}" type="slidenum">
              <a:rPr lang="en-US" altLang="en-US" smtClean="0"/>
              <a:pPr>
                <a:defRPr/>
              </a:pPr>
              <a:t>63</a:t>
            </a:fld>
            <a:endParaRPr lang="en-US"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1722C337-42A0-FB7D-B8CA-F16961E7F8C7}"/>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34147" name="Text Box 3">
            <a:extLst>
              <a:ext uri="{FF2B5EF4-FFF2-40B4-BE49-F238E27FC236}">
                <a16:creationId xmlns:a16="http://schemas.microsoft.com/office/drawing/2014/main" id="{E04D944A-D37A-1DA5-2364-4C96780949E2}"/>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34148" name="Text Box 4">
            <a:extLst>
              <a:ext uri="{FF2B5EF4-FFF2-40B4-BE49-F238E27FC236}">
                <a16:creationId xmlns:a16="http://schemas.microsoft.com/office/drawing/2014/main" id="{F6C58E13-7FE5-39B2-0E4C-EDF1CF89938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34149" name="Text Box 5">
            <a:extLst>
              <a:ext uri="{FF2B5EF4-FFF2-40B4-BE49-F238E27FC236}">
                <a16:creationId xmlns:a16="http://schemas.microsoft.com/office/drawing/2014/main" id="{64C85094-3919-98E0-E7E0-003A19E0687D}"/>
              </a:ext>
            </a:extLst>
          </p:cNvPr>
          <p:cNvSpPr txBox="1">
            <a:spLocks noChangeArrowheads="1"/>
          </p:cNvSpPr>
          <p:nvPr/>
        </p:nvSpPr>
        <p:spPr bwMode="auto">
          <a:xfrm>
            <a:off x="2365374" y="1643064"/>
            <a:ext cx="8983943"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lvl="2" eaLnBrk="1" hangingPunct="1"/>
            <a:endParaRPr lang="en-US" altLang="en-US" b="1" dirty="0">
              <a:latin typeface="Times New Roman" panose="02020603050405020304" pitchFamily="18" charset="0"/>
            </a:endParaRPr>
          </a:p>
          <a:p>
            <a:pPr lvl="2" eaLnBrk="1" hangingPunct="1"/>
            <a:r>
              <a:rPr lang="en-US" altLang="en-US" sz="2000" b="1" dirty="0">
                <a:latin typeface="Times New Roman" panose="02020603050405020304" pitchFamily="18" charset="0"/>
              </a:rPr>
              <a:t>Step 3D.   Include Derived Facts</a:t>
            </a:r>
          </a:p>
          <a:p>
            <a:pPr lvl="3" eaLnBrk="1" hangingPunct="1">
              <a:buFont typeface="Symbol" panose="05050102010706020507" pitchFamily="18" charset="2"/>
              <a:buChar char="·"/>
            </a:pPr>
            <a:r>
              <a:rPr lang="en-US" altLang="en-US" sz="1600" dirty="0">
                <a:latin typeface="Times New Roman" panose="02020603050405020304" pitchFamily="18" charset="0"/>
              </a:rPr>
              <a:t>  Some facts in the fact table are derived such as YTD sales, Gross Profit, etc.  Keep track of them.</a:t>
            </a:r>
          </a:p>
          <a:p>
            <a:pPr lvl="3" eaLnBrk="1" hangingPunct="1">
              <a:buFont typeface="Symbol" panose="05050102010706020507" pitchFamily="18" charset="2"/>
              <a:buChar char="·"/>
            </a:pPr>
            <a:r>
              <a:rPr lang="en-US" altLang="en-US" sz="1600" dirty="0">
                <a:latin typeface="Times New Roman" panose="02020603050405020304" pitchFamily="18" charset="0"/>
              </a:rPr>
              <a:t>  There are two kinds of </a:t>
            </a:r>
            <a:r>
              <a:rPr lang="en-US" altLang="en-US" sz="1600" b="1" dirty="0">
                <a:latin typeface="Times New Roman" panose="02020603050405020304" pitchFamily="18" charset="0"/>
              </a:rPr>
              <a:t>derived facts</a:t>
            </a:r>
            <a:r>
              <a:rPr lang="en-US" altLang="en-US" sz="1600" dirty="0">
                <a:latin typeface="Times New Roman" panose="02020603050405020304" pitchFamily="18" charset="0"/>
              </a:rPr>
              <a:t>.  First, derived facts can be additive.  Easy stuff.  Two, derived facts can be a nonadditive calculation such as Ratio.</a:t>
            </a:r>
          </a:p>
          <a:p>
            <a:pPr lvl="3" eaLnBrk="1" hangingPunct="1">
              <a:buFont typeface="Symbol" panose="05050102010706020507" pitchFamily="18" charset="2"/>
              <a:buChar char="·"/>
            </a:pPr>
            <a:r>
              <a:rPr lang="en-US" altLang="en-US" sz="1600" b="1" dirty="0">
                <a:latin typeface="Times New Roman" panose="02020603050405020304" pitchFamily="18" charset="0"/>
              </a:rPr>
              <a:t>  Remember:  Include your derived facts at the time you are creating other facts.  Do not wait till you reach end user applications.</a:t>
            </a:r>
            <a:endParaRPr lang="en-US" altLang="en-US" sz="1600" dirty="0">
              <a:latin typeface="Times New Roman" panose="02020603050405020304" pitchFamily="18" charset="0"/>
            </a:endParaRPr>
          </a:p>
          <a:p>
            <a:pPr eaLnBrk="1" hangingPunct="1"/>
            <a:endParaRPr lang="en-US" altLang="en-US" sz="1600" dirty="0">
              <a:latin typeface="Times New Roman" panose="02020603050405020304" pitchFamily="18" charset="0"/>
            </a:endParaRPr>
          </a:p>
        </p:txBody>
      </p:sp>
      <p:grpSp>
        <p:nvGrpSpPr>
          <p:cNvPr id="134150" name="Group 9">
            <a:extLst>
              <a:ext uri="{FF2B5EF4-FFF2-40B4-BE49-F238E27FC236}">
                <a16:creationId xmlns:a16="http://schemas.microsoft.com/office/drawing/2014/main" id="{03D88628-D447-FFF0-C8D2-FA7A5CA6A903}"/>
              </a:ext>
            </a:extLst>
          </p:cNvPr>
          <p:cNvGrpSpPr>
            <a:grpSpLocks/>
          </p:cNvGrpSpPr>
          <p:nvPr/>
        </p:nvGrpSpPr>
        <p:grpSpPr bwMode="auto">
          <a:xfrm>
            <a:off x="533400" y="3090864"/>
            <a:ext cx="2438400" cy="2184400"/>
            <a:chOff x="1056" y="1467"/>
            <a:chExt cx="1536" cy="1376"/>
          </a:xfrm>
        </p:grpSpPr>
        <p:sp>
          <p:nvSpPr>
            <p:cNvPr id="134154" name="Text Box 6">
              <a:extLst>
                <a:ext uri="{FF2B5EF4-FFF2-40B4-BE49-F238E27FC236}">
                  <a16:creationId xmlns:a16="http://schemas.microsoft.com/office/drawing/2014/main" id="{CC5D0FDF-CA08-F71C-94ED-1104CA11C1FD}"/>
                </a:ext>
              </a:extLst>
            </p:cNvPr>
            <p:cNvSpPr txBox="1">
              <a:spLocks noChangeArrowheads="1"/>
            </p:cNvSpPr>
            <p:nvPr/>
          </p:nvSpPr>
          <p:spPr bwMode="auto">
            <a:xfrm>
              <a:off x="1104" y="1688"/>
              <a:ext cx="1440" cy="11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600">
                  <a:latin typeface="Times New Roman" panose="02020603050405020304" pitchFamily="18" charset="0"/>
                </a:rPr>
                <a:t>Time-key (FK)</a:t>
              </a:r>
            </a:p>
            <a:p>
              <a:pPr eaLnBrk="1" hangingPunct="1">
                <a:lnSpc>
                  <a:spcPct val="50000"/>
                </a:lnSpc>
                <a:spcBef>
                  <a:spcPct val="50000"/>
                </a:spcBef>
              </a:pPr>
              <a:r>
                <a:rPr lang="en-US" altLang="en-US" sz="1600">
                  <a:latin typeface="Times New Roman" panose="02020603050405020304" pitchFamily="18" charset="0"/>
                </a:rPr>
                <a:t>Product-key (FK)</a:t>
              </a:r>
            </a:p>
            <a:p>
              <a:pPr eaLnBrk="1" hangingPunct="1">
                <a:lnSpc>
                  <a:spcPct val="50000"/>
                </a:lnSpc>
                <a:spcBef>
                  <a:spcPct val="50000"/>
                </a:spcBef>
              </a:pPr>
              <a:r>
                <a:rPr lang="en-US" altLang="en-US" sz="1600">
                  <a:latin typeface="Times New Roman" panose="02020603050405020304" pitchFamily="18" charset="0"/>
                </a:rPr>
                <a:t>Store-key (FK)</a:t>
              </a:r>
            </a:p>
            <a:p>
              <a:pPr eaLnBrk="1" hangingPunct="1">
                <a:lnSpc>
                  <a:spcPct val="50000"/>
                </a:lnSpc>
                <a:spcBef>
                  <a:spcPct val="50000"/>
                </a:spcBef>
              </a:pPr>
              <a:r>
                <a:rPr lang="en-US" altLang="en-US" sz="1600">
                  <a:latin typeface="Times New Roman" panose="02020603050405020304" pitchFamily="18" charset="0"/>
                </a:rPr>
                <a:t>dollars-sold</a:t>
              </a:r>
            </a:p>
            <a:p>
              <a:pPr eaLnBrk="1" hangingPunct="1">
                <a:lnSpc>
                  <a:spcPct val="50000"/>
                </a:lnSpc>
                <a:spcBef>
                  <a:spcPct val="50000"/>
                </a:spcBef>
              </a:pPr>
              <a:r>
                <a:rPr lang="en-US" altLang="en-US" sz="1600">
                  <a:latin typeface="Times New Roman" panose="02020603050405020304" pitchFamily="18" charset="0"/>
                </a:rPr>
                <a:t>units-sold</a:t>
              </a:r>
            </a:p>
            <a:p>
              <a:pPr eaLnBrk="1" hangingPunct="1">
                <a:lnSpc>
                  <a:spcPct val="50000"/>
                </a:lnSpc>
                <a:spcBef>
                  <a:spcPct val="50000"/>
                </a:spcBef>
              </a:pPr>
              <a:r>
                <a:rPr lang="en-US" altLang="en-US" sz="1600">
                  <a:latin typeface="Times New Roman" panose="02020603050405020304" pitchFamily="18" charset="0"/>
                </a:rPr>
                <a:t>dollars-cost</a:t>
              </a:r>
            </a:p>
            <a:p>
              <a:pPr eaLnBrk="1" hangingPunct="1">
                <a:lnSpc>
                  <a:spcPct val="50000"/>
                </a:lnSpc>
                <a:spcBef>
                  <a:spcPct val="50000"/>
                </a:spcBef>
              </a:pPr>
              <a:r>
                <a:rPr lang="en-US" altLang="en-US" sz="1600">
                  <a:latin typeface="Times New Roman" panose="02020603050405020304" pitchFamily="18" charset="0"/>
                </a:rPr>
                <a:t>YTD dollars-cost</a:t>
              </a:r>
            </a:p>
          </p:txBody>
        </p:sp>
        <p:sp>
          <p:nvSpPr>
            <p:cNvPr id="134155" name="Text Box 8">
              <a:extLst>
                <a:ext uri="{FF2B5EF4-FFF2-40B4-BE49-F238E27FC236}">
                  <a16:creationId xmlns:a16="http://schemas.microsoft.com/office/drawing/2014/main" id="{55297336-9C34-9517-EFE3-24360F27751B}"/>
                </a:ext>
              </a:extLst>
            </p:cNvPr>
            <p:cNvSpPr txBox="1">
              <a:spLocks noChangeArrowheads="1"/>
            </p:cNvSpPr>
            <p:nvPr/>
          </p:nvSpPr>
          <p:spPr bwMode="auto">
            <a:xfrm>
              <a:off x="1056" y="1467"/>
              <a:ext cx="15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600" b="1" dirty="0">
                  <a:latin typeface="Tahoma" panose="020B0604030504040204" pitchFamily="34" charset="0"/>
                </a:rPr>
                <a:t>Sales Fact Table</a:t>
              </a:r>
            </a:p>
          </p:txBody>
        </p:sp>
      </p:grpSp>
      <p:sp>
        <p:nvSpPr>
          <p:cNvPr id="2" name="Date Placeholder 1">
            <a:extLst>
              <a:ext uri="{FF2B5EF4-FFF2-40B4-BE49-F238E27FC236}">
                <a16:creationId xmlns:a16="http://schemas.microsoft.com/office/drawing/2014/main" id="{24435334-D029-EEA4-53E1-DD69C075CC6C}"/>
              </a:ext>
            </a:extLst>
          </p:cNvPr>
          <p:cNvSpPr>
            <a:spLocks noGrp="1"/>
          </p:cNvSpPr>
          <p:nvPr>
            <p:ph type="dt" sz="quarter" idx="10"/>
          </p:nvPr>
        </p:nvSpPr>
        <p:spPr/>
        <p:txBody>
          <a:bodyPr/>
          <a:lstStyle/>
          <a:p>
            <a:pPr>
              <a:defRPr/>
            </a:pPr>
            <a:fld id="{CF30A87D-3AF7-4ABD-8F18-EFD91D3CED06}" type="datetime1">
              <a:rPr lang="en-US" smtClean="0"/>
              <a:t>9/30/2025</a:t>
            </a:fld>
            <a:endParaRPr lang="en-US"/>
          </a:p>
        </p:txBody>
      </p:sp>
      <p:sp>
        <p:nvSpPr>
          <p:cNvPr id="3" name="Footer Placeholder 2">
            <a:extLst>
              <a:ext uri="{FF2B5EF4-FFF2-40B4-BE49-F238E27FC236}">
                <a16:creationId xmlns:a16="http://schemas.microsoft.com/office/drawing/2014/main" id="{772BCB54-A605-C2BD-1351-FBF9328050D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9AAB0F50-700A-72FD-B5CF-C7494E4F5C57}"/>
              </a:ext>
            </a:extLst>
          </p:cNvPr>
          <p:cNvSpPr>
            <a:spLocks noGrp="1"/>
          </p:cNvSpPr>
          <p:nvPr>
            <p:ph type="sldNum" sz="quarter" idx="12"/>
          </p:nvPr>
        </p:nvSpPr>
        <p:spPr/>
        <p:txBody>
          <a:bodyPr/>
          <a:lstStyle/>
          <a:p>
            <a:pPr>
              <a:defRPr/>
            </a:pPr>
            <a:fld id="{76408A8D-9D42-4DC3-BF51-8551B43D63FF}" type="slidenum">
              <a:rPr lang="en-US" altLang="en-US" smtClean="0"/>
              <a:pPr>
                <a:defRPr/>
              </a:pPr>
              <a:t>64</a:t>
            </a:fld>
            <a:endParaRPr lang="en-US"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2D9D7AF4-2C08-14C7-4E15-04CA5FB0DF65}"/>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36195" name="Text Box 3">
            <a:extLst>
              <a:ext uri="{FF2B5EF4-FFF2-40B4-BE49-F238E27FC236}">
                <a16:creationId xmlns:a16="http://schemas.microsoft.com/office/drawing/2014/main" id="{A1D59E0D-2084-FC7F-B2AC-617FFBA592E7}"/>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36196" name="Text Box 4">
            <a:extLst>
              <a:ext uri="{FF2B5EF4-FFF2-40B4-BE49-F238E27FC236}">
                <a16:creationId xmlns:a16="http://schemas.microsoft.com/office/drawing/2014/main" id="{CC938739-1D4C-D5DA-F9EC-37A6E3AA2AD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36197" name="Text Box 5">
            <a:extLst>
              <a:ext uri="{FF2B5EF4-FFF2-40B4-BE49-F238E27FC236}">
                <a16:creationId xmlns:a16="http://schemas.microsoft.com/office/drawing/2014/main" id="{1F947CFE-2EC0-16E7-8A09-A1D2AD5708E5}"/>
              </a:ext>
            </a:extLst>
          </p:cNvPr>
          <p:cNvSpPr txBox="1">
            <a:spLocks noChangeArrowheads="1"/>
          </p:cNvSpPr>
          <p:nvPr/>
        </p:nvSpPr>
        <p:spPr bwMode="auto">
          <a:xfrm>
            <a:off x="2133599" y="1752600"/>
            <a:ext cx="93053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b="1" dirty="0">
              <a:latin typeface="Times New Roman" panose="02020603050405020304" pitchFamily="18" charset="0"/>
            </a:endParaRPr>
          </a:p>
          <a:p>
            <a:pPr eaLnBrk="1" hangingPunct="1"/>
            <a:r>
              <a:rPr lang="en-US" altLang="en-US" sz="2000" b="1" dirty="0">
                <a:latin typeface="Times New Roman" panose="02020603050405020304" pitchFamily="18" charset="0"/>
              </a:rPr>
              <a:t>	Step 3E.	  Follow the following Steps for Base Facts and Derived Facts</a:t>
            </a:r>
          </a:p>
          <a:p>
            <a:pPr lvl="3" eaLnBrk="1" hangingPunct="1">
              <a:buFont typeface="Symbol" panose="05050102010706020507" pitchFamily="18" charset="2"/>
              <a:buChar char="·"/>
            </a:pPr>
            <a:r>
              <a:rPr lang="en-US" altLang="en-US" sz="1600" dirty="0">
                <a:latin typeface="Times New Roman" panose="02020603050405020304" pitchFamily="18" charset="0"/>
              </a:rPr>
              <a:t>Identify all possible base and derived facts.  Collect all reports submitted during the requirements analysis phase.</a:t>
            </a:r>
          </a:p>
          <a:p>
            <a:pPr lvl="3" eaLnBrk="1" hangingPunct="1">
              <a:buFont typeface="Symbol" panose="05050102010706020507" pitchFamily="18" charset="2"/>
              <a:buChar char="·"/>
            </a:pPr>
            <a:r>
              <a:rPr lang="en-US" altLang="en-US" sz="1600" dirty="0">
                <a:latin typeface="Times New Roman" panose="02020603050405020304" pitchFamily="18" charset="0"/>
              </a:rPr>
              <a:t>Create a spreadsheet of facts and derived facts along with the name of person who provided it, etc.</a:t>
            </a:r>
          </a:p>
          <a:p>
            <a:pPr lvl="3" eaLnBrk="1" hangingPunct="1">
              <a:buFont typeface="Symbol" panose="05050102010706020507" pitchFamily="18" charset="2"/>
              <a:buChar char="·"/>
            </a:pPr>
            <a:r>
              <a:rPr lang="en-US" altLang="en-US" sz="1600" dirty="0">
                <a:latin typeface="Times New Roman" panose="02020603050405020304" pitchFamily="18" charset="0"/>
              </a:rPr>
              <a:t>Remove duplicate facts</a:t>
            </a:r>
          </a:p>
          <a:p>
            <a:pPr lvl="3" eaLnBrk="1" hangingPunct="1">
              <a:buFont typeface="Symbol" panose="05050102010706020507" pitchFamily="18" charset="2"/>
              <a:buChar char="·"/>
            </a:pPr>
            <a:r>
              <a:rPr lang="en-US" altLang="en-US" sz="1600" dirty="0">
                <a:latin typeface="Times New Roman" panose="02020603050405020304" pitchFamily="18" charset="0"/>
              </a:rPr>
              <a:t>Discover and document the underlying calculations</a:t>
            </a:r>
          </a:p>
          <a:p>
            <a:pPr lvl="3" eaLnBrk="1" hangingPunct="1">
              <a:buFont typeface="Symbol" panose="05050102010706020507" pitchFamily="18" charset="2"/>
              <a:buChar char="·"/>
            </a:pPr>
            <a:r>
              <a:rPr lang="en-US" altLang="en-US" sz="1600" dirty="0">
                <a:latin typeface="Times New Roman" panose="02020603050405020304" pitchFamily="18" charset="0"/>
              </a:rPr>
              <a:t>Cross reference base facts</a:t>
            </a:r>
          </a:p>
          <a:p>
            <a:pPr lvl="3" eaLnBrk="1" hangingPunct="1">
              <a:buFont typeface="Symbol" panose="05050102010706020507" pitchFamily="18" charset="2"/>
              <a:buChar char="·"/>
            </a:pPr>
            <a:r>
              <a:rPr lang="en-US" altLang="en-US" sz="1600" dirty="0">
                <a:latin typeface="Times New Roman" panose="02020603050405020304" pitchFamily="18" charset="0"/>
              </a:rPr>
              <a:t>Get approval for the derived facts</a:t>
            </a:r>
          </a:p>
        </p:txBody>
      </p:sp>
      <p:sp>
        <p:nvSpPr>
          <p:cNvPr id="2" name="Date Placeholder 1">
            <a:extLst>
              <a:ext uri="{FF2B5EF4-FFF2-40B4-BE49-F238E27FC236}">
                <a16:creationId xmlns:a16="http://schemas.microsoft.com/office/drawing/2014/main" id="{1F8D836F-BE35-64DB-3135-13AB3062CB88}"/>
              </a:ext>
            </a:extLst>
          </p:cNvPr>
          <p:cNvSpPr>
            <a:spLocks noGrp="1"/>
          </p:cNvSpPr>
          <p:nvPr>
            <p:ph type="dt" sz="quarter" idx="10"/>
          </p:nvPr>
        </p:nvSpPr>
        <p:spPr/>
        <p:txBody>
          <a:bodyPr/>
          <a:lstStyle/>
          <a:p>
            <a:pPr>
              <a:defRPr/>
            </a:pPr>
            <a:fld id="{96F8A2D6-6A2E-456D-B5BB-D833405D9255}" type="datetime1">
              <a:rPr lang="en-US" smtClean="0"/>
              <a:t>9/30/2025</a:t>
            </a:fld>
            <a:endParaRPr lang="en-US"/>
          </a:p>
        </p:txBody>
      </p:sp>
      <p:sp>
        <p:nvSpPr>
          <p:cNvPr id="3" name="Footer Placeholder 2">
            <a:extLst>
              <a:ext uri="{FF2B5EF4-FFF2-40B4-BE49-F238E27FC236}">
                <a16:creationId xmlns:a16="http://schemas.microsoft.com/office/drawing/2014/main" id="{5FB14392-A3FF-4015-63EA-E54A666A5E47}"/>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5253C406-69C7-0D22-53C9-A9163361A3F0}"/>
              </a:ext>
            </a:extLst>
          </p:cNvPr>
          <p:cNvSpPr>
            <a:spLocks noGrp="1"/>
          </p:cNvSpPr>
          <p:nvPr>
            <p:ph type="sldNum" sz="quarter" idx="12"/>
          </p:nvPr>
        </p:nvSpPr>
        <p:spPr/>
        <p:txBody>
          <a:bodyPr/>
          <a:lstStyle/>
          <a:p>
            <a:pPr>
              <a:defRPr/>
            </a:pPr>
            <a:fld id="{D318A19C-8715-4BAF-A0F3-4E41E6A2A01B}" type="slidenum">
              <a:rPr lang="en-US" altLang="en-US" smtClean="0"/>
              <a:pPr>
                <a:defRPr/>
              </a:pPr>
              <a:t>65</a:t>
            </a:fld>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97FD86B8-563A-A768-3B9D-6034C18B3346}"/>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38243" name="Text Box 3">
            <a:extLst>
              <a:ext uri="{FF2B5EF4-FFF2-40B4-BE49-F238E27FC236}">
                <a16:creationId xmlns:a16="http://schemas.microsoft.com/office/drawing/2014/main" id="{AF20BE21-0D25-6CCF-A6EC-D71A911BA382}"/>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38244" name="Text Box 4">
            <a:extLst>
              <a:ext uri="{FF2B5EF4-FFF2-40B4-BE49-F238E27FC236}">
                <a16:creationId xmlns:a16="http://schemas.microsoft.com/office/drawing/2014/main" id="{BF48AC12-9B80-CAE0-BACB-55B3F1013D84}"/>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38245" name="Text Box 5">
            <a:extLst>
              <a:ext uri="{FF2B5EF4-FFF2-40B4-BE49-F238E27FC236}">
                <a16:creationId xmlns:a16="http://schemas.microsoft.com/office/drawing/2014/main" id="{DF46D379-A417-5C48-D551-82B42A78FC5D}"/>
              </a:ext>
            </a:extLst>
          </p:cNvPr>
          <p:cNvSpPr txBox="1">
            <a:spLocks noChangeArrowheads="1"/>
          </p:cNvSpPr>
          <p:nvPr/>
        </p:nvSpPr>
        <p:spPr bwMode="auto">
          <a:xfrm>
            <a:off x="2286000" y="1909714"/>
            <a:ext cx="855232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b="1" dirty="0">
              <a:latin typeface="Times New Roman" panose="02020603050405020304" pitchFamily="18" charset="0"/>
            </a:endParaRPr>
          </a:p>
          <a:p>
            <a:pPr lvl="2" eaLnBrk="1" hangingPunct="1"/>
            <a:r>
              <a:rPr lang="en-US" altLang="en-US" sz="2000" b="1" dirty="0">
                <a:latin typeface="Times New Roman" panose="02020603050405020304" pitchFamily="18" charset="0"/>
              </a:rPr>
              <a:t>Step 3F.  Create Fact Table Diagram</a:t>
            </a:r>
          </a:p>
          <a:p>
            <a:pPr lvl="3" eaLnBrk="1" hangingPunct="1">
              <a:buFont typeface="Symbol" panose="05050102010706020507" pitchFamily="18" charset="2"/>
              <a:buChar char="·"/>
            </a:pPr>
            <a:r>
              <a:rPr lang="en-US" altLang="en-US" sz="1600" dirty="0">
                <a:latin typeface="Times New Roman" panose="02020603050405020304" pitchFamily="18" charset="0"/>
              </a:rPr>
              <a:t>It is very worthwhile to create a logical diagram for each fact table constructed along with its dimensions.  This will not only show the context of the fact table but also the context of the fact table with respect to the data mart.</a:t>
            </a:r>
          </a:p>
          <a:p>
            <a:pPr lvl="3" eaLnBrk="1" hangingPunct="1">
              <a:buFont typeface="Symbol" panose="05050102010706020507" pitchFamily="18" charset="2"/>
              <a:buChar char="·"/>
            </a:pPr>
            <a:r>
              <a:rPr lang="en-US" altLang="en-US" sz="1600" dirty="0">
                <a:latin typeface="Times New Roman" panose="02020603050405020304" pitchFamily="18" charset="0"/>
              </a:rPr>
              <a:t>The diagram can be used to: (A) communicate with the end users; (B) help select data access tool selection; and (C) end user training.</a:t>
            </a:r>
          </a:p>
        </p:txBody>
      </p:sp>
      <p:sp>
        <p:nvSpPr>
          <p:cNvPr id="2" name="Date Placeholder 1">
            <a:extLst>
              <a:ext uri="{FF2B5EF4-FFF2-40B4-BE49-F238E27FC236}">
                <a16:creationId xmlns:a16="http://schemas.microsoft.com/office/drawing/2014/main" id="{85BF7EF1-393E-380B-ABAD-6D1AA1E53923}"/>
              </a:ext>
            </a:extLst>
          </p:cNvPr>
          <p:cNvSpPr>
            <a:spLocks noGrp="1"/>
          </p:cNvSpPr>
          <p:nvPr>
            <p:ph type="dt" sz="quarter" idx="10"/>
          </p:nvPr>
        </p:nvSpPr>
        <p:spPr/>
        <p:txBody>
          <a:bodyPr/>
          <a:lstStyle/>
          <a:p>
            <a:pPr>
              <a:defRPr/>
            </a:pPr>
            <a:fld id="{2D1B074A-80FC-4B38-B6C5-9A15A988CDC8}" type="datetime1">
              <a:rPr lang="en-US" smtClean="0"/>
              <a:t>9/30/2025</a:t>
            </a:fld>
            <a:endParaRPr lang="en-US"/>
          </a:p>
        </p:txBody>
      </p:sp>
      <p:sp>
        <p:nvSpPr>
          <p:cNvPr id="3" name="Footer Placeholder 2">
            <a:extLst>
              <a:ext uri="{FF2B5EF4-FFF2-40B4-BE49-F238E27FC236}">
                <a16:creationId xmlns:a16="http://schemas.microsoft.com/office/drawing/2014/main" id="{D71B58C6-C851-8FD3-3835-42BD0A138B1C}"/>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4474064C-32DB-36FD-FFD1-51E4397E6D3C}"/>
              </a:ext>
            </a:extLst>
          </p:cNvPr>
          <p:cNvSpPr>
            <a:spLocks noGrp="1"/>
          </p:cNvSpPr>
          <p:nvPr>
            <p:ph type="sldNum" sz="quarter" idx="12"/>
          </p:nvPr>
        </p:nvSpPr>
        <p:spPr/>
        <p:txBody>
          <a:bodyPr/>
          <a:lstStyle/>
          <a:p>
            <a:pPr>
              <a:defRPr/>
            </a:pPr>
            <a:fld id="{1482C7DE-28AC-4DF0-BB5B-3987D35FECD0}" type="slidenum">
              <a:rPr lang="en-US" altLang="en-US" smtClean="0"/>
              <a:pPr>
                <a:defRPr/>
              </a:pPr>
              <a:t>66</a:t>
            </a:fld>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F637FD28-E1E5-7C9B-10F9-9418BF5E1A59}"/>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40291" name="Text Box 3">
            <a:extLst>
              <a:ext uri="{FF2B5EF4-FFF2-40B4-BE49-F238E27FC236}">
                <a16:creationId xmlns:a16="http://schemas.microsoft.com/office/drawing/2014/main" id="{B592B768-2A2C-AFEF-F90E-343D9721E895}"/>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40292" name="Text Box 4">
            <a:extLst>
              <a:ext uri="{FF2B5EF4-FFF2-40B4-BE49-F238E27FC236}">
                <a16:creationId xmlns:a16="http://schemas.microsoft.com/office/drawing/2014/main" id="{6E404504-5217-3DBC-40D7-921B54A5FB06}"/>
              </a:ext>
            </a:extLst>
          </p:cNvPr>
          <p:cNvSpPr txBox="1">
            <a:spLocks noChangeArrowheads="1"/>
          </p:cNvSpPr>
          <p:nvPr/>
        </p:nvSpPr>
        <p:spPr bwMode="auto">
          <a:xfrm>
            <a:off x="2895600" y="25527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40293" name="Text Box 5">
            <a:extLst>
              <a:ext uri="{FF2B5EF4-FFF2-40B4-BE49-F238E27FC236}">
                <a16:creationId xmlns:a16="http://schemas.microsoft.com/office/drawing/2014/main" id="{A2679E9F-CBA5-66B9-EF26-2E280D125BC0}"/>
              </a:ext>
            </a:extLst>
          </p:cNvPr>
          <p:cNvSpPr txBox="1">
            <a:spLocks noChangeArrowheads="1"/>
          </p:cNvSpPr>
          <p:nvPr/>
        </p:nvSpPr>
        <p:spPr bwMode="auto">
          <a:xfrm>
            <a:off x="2115669" y="1712020"/>
            <a:ext cx="898263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b="1" dirty="0">
              <a:latin typeface="Times New Roman" panose="02020603050405020304" pitchFamily="18" charset="0"/>
            </a:endParaRPr>
          </a:p>
          <a:p>
            <a:pPr lvl="2" eaLnBrk="1" hangingPunct="1"/>
            <a:r>
              <a:rPr lang="en-US" altLang="en-US" sz="2000" b="1" dirty="0">
                <a:latin typeface="Times New Roman" panose="02020603050405020304" pitchFamily="18" charset="0"/>
              </a:rPr>
              <a:t>Step 3F.  Create Fact Table Diagram</a:t>
            </a:r>
          </a:p>
        </p:txBody>
      </p:sp>
      <p:grpSp>
        <p:nvGrpSpPr>
          <p:cNvPr id="5" name="Group 4">
            <a:extLst>
              <a:ext uri="{FF2B5EF4-FFF2-40B4-BE49-F238E27FC236}">
                <a16:creationId xmlns:a16="http://schemas.microsoft.com/office/drawing/2014/main" id="{59365F1A-3C9A-53ED-CC16-B4D088805998}"/>
              </a:ext>
            </a:extLst>
          </p:cNvPr>
          <p:cNvGrpSpPr/>
          <p:nvPr/>
        </p:nvGrpSpPr>
        <p:grpSpPr>
          <a:xfrm>
            <a:off x="2476500" y="2865438"/>
            <a:ext cx="7772400" cy="3114676"/>
            <a:chOff x="2209800" y="3429000"/>
            <a:chExt cx="7772400" cy="3114676"/>
          </a:xfrm>
        </p:grpSpPr>
        <p:sp>
          <p:nvSpPr>
            <p:cNvPr id="140294" name="Text Box 6">
              <a:extLst>
                <a:ext uri="{FF2B5EF4-FFF2-40B4-BE49-F238E27FC236}">
                  <a16:creationId xmlns:a16="http://schemas.microsoft.com/office/drawing/2014/main" id="{95ED526E-06EB-7F4F-5ABC-EFCAE4E4C5B2}"/>
                </a:ext>
              </a:extLst>
            </p:cNvPr>
            <p:cNvSpPr txBox="1">
              <a:spLocks noChangeArrowheads="1"/>
            </p:cNvSpPr>
            <p:nvPr/>
          </p:nvSpPr>
          <p:spPr bwMode="auto">
            <a:xfrm>
              <a:off x="4953000" y="3962400"/>
              <a:ext cx="1828800" cy="17478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1200">
                  <a:latin typeface="Arial" panose="020B0604020202020204" pitchFamily="34" charset="0"/>
                </a:rPr>
                <a:t>  Customer Billing Line Item</a:t>
              </a:r>
            </a:p>
            <a:p>
              <a:pPr algn="ctr" eaLnBrk="1" hangingPunct="1">
                <a:spcBef>
                  <a:spcPct val="50000"/>
                </a:spcBef>
              </a:pPr>
              <a:r>
                <a:rPr lang="en-US" altLang="en-US" sz="1200">
                  <a:latin typeface="Arial" panose="020B0604020202020204" pitchFamily="34" charset="0"/>
                </a:rPr>
                <a:t>Fact table</a:t>
              </a:r>
            </a:p>
            <a:p>
              <a:pPr algn="ctr" eaLnBrk="1" hangingPunct="1">
                <a:spcBef>
                  <a:spcPct val="50000"/>
                </a:spcBef>
              </a:pPr>
              <a:endParaRPr lang="en-US" altLang="en-US" sz="1200">
                <a:latin typeface="Arial" panose="020B0604020202020204" pitchFamily="34" charset="0"/>
              </a:endParaRPr>
            </a:p>
            <a:p>
              <a:pPr algn="ctr" eaLnBrk="1" hangingPunct="1">
                <a:spcBef>
                  <a:spcPct val="50000"/>
                </a:spcBef>
              </a:pPr>
              <a:r>
                <a:rPr lang="en-US" altLang="en-US" sz="1200">
                  <a:latin typeface="Arial" panose="020B0604020202020204" pitchFamily="34" charset="0"/>
                </a:rPr>
                <a:t>Grain:  line item on customer bill</a:t>
              </a:r>
            </a:p>
            <a:p>
              <a:pPr algn="ctr" eaLnBrk="1" hangingPunct="1">
                <a:spcBef>
                  <a:spcPct val="50000"/>
                </a:spcBef>
              </a:pPr>
              <a:r>
                <a:rPr lang="en-US" altLang="en-US" sz="1200">
                  <a:latin typeface="Arial" panose="020B0604020202020204" pitchFamily="34" charset="0"/>
                </a:rPr>
                <a:t> </a:t>
              </a:r>
            </a:p>
          </p:txBody>
        </p:sp>
        <p:sp>
          <p:nvSpPr>
            <p:cNvPr id="140295" name="Oval 7">
              <a:extLst>
                <a:ext uri="{FF2B5EF4-FFF2-40B4-BE49-F238E27FC236}">
                  <a16:creationId xmlns:a16="http://schemas.microsoft.com/office/drawing/2014/main" id="{B2E46778-7927-12F8-D656-47C8F8301DDC}"/>
                </a:ext>
              </a:extLst>
            </p:cNvPr>
            <p:cNvSpPr>
              <a:spLocks noChangeArrowheads="1"/>
            </p:cNvSpPr>
            <p:nvPr/>
          </p:nvSpPr>
          <p:spPr bwMode="auto">
            <a:xfrm>
              <a:off x="3352800" y="36576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Billing month</a:t>
              </a:r>
            </a:p>
          </p:txBody>
        </p:sp>
        <p:sp>
          <p:nvSpPr>
            <p:cNvPr id="140296" name="Oval 8">
              <a:extLst>
                <a:ext uri="{FF2B5EF4-FFF2-40B4-BE49-F238E27FC236}">
                  <a16:creationId xmlns:a16="http://schemas.microsoft.com/office/drawing/2014/main" id="{A38BFC19-1F49-51F1-D0B0-67F48E41FFC2}"/>
                </a:ext>
              </a:extLst>
            </p:cNvPr>
            <p:cNvSpPr>
              <a:spLocks noChangeArrowheads="1"/>
            </p:cNvSpPr>
            <p:nvPr/>
          </p:nvSpPr>
          <p:spPr bwMode="auto">
            <a:xfrm>
              <a:off x="3429000" y="44196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Customer</a:t>
              </a:r>
            </a:p>
          </p:txBody>
        </p:sp>
        <p:sp>
          <p:nvSpPr>
            <p:cNvPr id="140297" name="Oval 9">
              <a:extLst>
                <a:ext uri="{FF2B5EF4-FFF2-40B4-BE49-F238E27FC236}">
                  <a16:creationId xmlns:a16="http://schemas.microsoft.com/office/drawing/2014/main" id="{ABF8065F-A982-0701-3616-B619BAA3EC85}"/>
                </a:ext>
              </a:extLst>
            </p:cNvPr>
            <p:cNvSpPr>
              <a:spLocks noChangeArrowheads="1"/>
            </p:cNvSpPr>
            <p:nvPr/>
          </p:nvSpPr>
          <p:spPr bwMode="auto">
            <a:xfrm>
              <a:off x="7315200" y="44196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Local service provider</a:t>
              </a:r>
            </a:p>
          </p:txBody>
        </p:sp>
        <p:sp>
          <p:nvSpPr>
            <p:cNvPr id="140298" name="Oval 10">
              <a:extLst>
                <a:ext uri="{FF2B5EF4-FFF2-40B4-BE49-F238E27FC236}">
                  <a16:creationId xmlns:a16="http://schemas.microsoft.com/office/drawing/2014/main" id="{BD9008AF-5AB5-42B5-8630-1127D4E92B8B}"/>
                </a:ext>
              </a:extLst>
            </p:cNvPr>
            <p:cNvSpPr>
              <a:spLocks noChangeArrowheads="1"/>
            </p:cNvSpPr>
            <p:nvPr/>
          </p:nvSpPr>
          <p:spPr bwMode="auto">
            <a:xfrm>
              <a:off x="7315200" y="35814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Location</a:t>
              </a:r>
            </a:p>
          </p:txBody>
        </p:sp>
        <p:sp>
          <p:nvSpPr>
            <p:cNvPr id="140299" name="Oval 11">
              <a:extLst>
                <a:ext uri="{FF2B5EF4-FFF2-40B4-BE49-F238E27FC236}">
                  <a16:creationId xmlns:a16="http://schemas.microsoft.com/office/drawing/2014/main" id="{D36A97DB-283B-AF03-4A4B-1B4B5079AD4E}"/>
                </a:ext>
              </a:extLst>
            </p:cNvPr>
            <p:cNvSpPr>
              <a:spLocks noChangeArrowheads="1"/>
            </p:cNvSpPr>
            <p:nvPr/>
          </p:nvSpPr>
          <p:spPr bwMode="auto">
            <a:xfrm>
              <a:off x="3429000" y="51816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Rate Category</a:t>
              </a:r>
            </a:p>
          </p:txBody>
        </p:sp>
        <p:sp>
          <p:nvSpPr>
            <p:cNvPr id="140300" name="Oval 12">
              <a:extLst>
                <a:ext uri="{FF2B5EF4-FFF2-40B4-BE49-F238E27FC236}">
                  <a16:creationId xmlns:a16="http://schemas.microsoft.com/office/drawing/2014/main" id="{2EC6E564-BC99-EDDC-144D-906E4CCAF9AE}"/>
                </a:ext>
              </a:extLst>
            </p:cNvPr>
            <p:cNvSpPr>
              <a:spLocks noChangeArrowheads="1"/>
            </p:cNvSpPr>
            <p:nvPr/>
          </p:nvSpPr>
          <p:spPr bwMode="auto">
            <a:xfrm>
              <a:off x="7315200" y="51816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Account status</a:t>
              </a:r>
            </a:p>
          </p:txBody>
        </p:sp>
        <p:sp>
          <p:nvSpPr>
            <p:cNvPr id="140301" name="Line 13">
              <a:extLst>
                <a:ext uri="{FF2B5EF4-FFF2-40B4-BE49-F238E27FC236}">
                  <a16:creationId xmlns:a16="http://schemas.microsoft.com/office/drawing/2014/main" id="{A3650852-0F83-7ED5-ED9C-F87318056456}"/>
                </a:ext>
              </a:extLst>
            </p:cNvPr>
            <p:cNvSpPr>
              <a:spLocks noChangeShapeType="1"/>
            </p:cNvSpPr>
            <p:nvPr/>
          </p:nvSpPr>
          <p:spPr bwMode="auto">
            <a:xfrm>
              <a:off x="4267200" y="3962400"/>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2" name="Line 14">
              <a:extLst>
                <a:ext uri="{FF2B5EF4-FFF2-40B4-BE49-F238E27FC236}">
                  <a16:creationId xmlns:a16="http://schemas.microsoft.com/office/drawing/2014/main" id="{E13BB656-6CC7-FE33-B5D7-52F2B975A14F}"/>
                </a:ext>
              </a:extLst>
            </p:cNvPr>
            <p:cNvSpPr>
              <a:spLocks noChangeShapeType="1"/>
            </p:cNvSpPr>
            <p:nvPr/>
          </p:nvSpPr>
          <p:spPr bwMode="auto">
            <a:xfrm>
              <a:off x="4343400" y="47244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3" name="Line 15">
              <a:extLst>
                <a:ext uri="{FF2B5EF4-FFF2-40B4-BE49-F238E27FC236}">
                  <a16:creationId xmlns:a16="http://schemas.microsoft.com/office/drawing/2014/main" id="{E1C08E0D-B5BB-54E1-2AC7-EE7170783C5D}"/>
                </a:ext>
              </a:extLst>
            </p:cNvPr>
            <p:cNvSpPr>
              <a:spLocks noChangeShapeType="1"/>
            </p:cNvSpPr>
            <p:nvPr/>
          </p:nvSpPr>
          <p:spPr bwMode="auto">
            <a:xfrm flipV="1">
              <a:off x="4343400" y="50292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4" name="Line 16">
              <a:extLst>
                <a:ext uri="{FF2B5EF4-FFF2-40B4-BE49-F238E27FC236}">
                  <a16:creationId xmlns:a16="http://schemas.microsoft.com/office/drawing/2014/main" id="{1C12FE49-0215-832E-27F0-22E86B4EC97B}"/>
                </a:ext>
              </a:extLst>
            </p:cNvPr>
            <p:cNvSpPr>
              <a:spLocks noChangeShapeType="1"/>
            </p:cNvSpPr>
            <p:nvPr/>
          </p:nvSpPr>
          <p:spPr bwMode="auto">
            <a:xfrm flipH="1">
              <a:off x="6781800" y="3962400"/>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5" name="Line 17">
              <a:extLst>
                <a:ext uri="{FF2B5EF4-FFF2-40B4-BE49-F238E27FC236}">
                  <a16:creationId xmlns:a16="http://schemas.microsoft.com/office/drawing/2014/main" id="{9AB4F481-43C7-E2E4-D84E-4BF482B41962}"/>
                </a:ext>
              </a:extLst>
            </p:cNvPr>
            <p:cNvSpPr>
              <a:spLocks noChangeShapeType="1"/>
            </p:cNvSpPr>
            <p:nvPr/>
          </p:nvSpPr>
          <p:spPr bwMode="auto">
            <a:xfrm flipH="1">
              <a:off x="6781800" y="4876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6" name="Line 18">
              <a:extLst>
                <a:ext uri="{FF2B5EF4-FFF2-40B4-BE49-F238E27FC236}">
                  <a16:creationId xmlns:a16="http://schemas.microsoft.com/office/drawing/2014/main" id="{FFE88B1B-796F-F343-C5F1-4388C94B11C4}"/>
                </a:ext>
              </a:extLst>
            </p:cNvPr>
            <p:cNvSpPr>
              <a:spLocks noChangeShapeType="1"/>
            </p:cNvSpPr>
            <p:nvPr/>
          </p:nvSpPr>
          <p:spPr bwMode="auto">
            <a:xfrm flipH="1" flipV="1">
              <a:off x="6781800" y="5105400"/>
              <a:ext cx="533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7" name="Oval 19">
              <a:extLst>
                <a:ext uri="{FF2B5EF4-FFF2-40B4-BE49-F238E27FC236}">
                  <a16:creationId xmlns:a16="http://schemas.microsoft.com/office/drawing/2014/main" id="{B1E54FE1-867D-E115-CF15-D3F26ED55AD4}"/>
                </a:ext>
              </a:extLst>
            </p:cNvPr>
            <p:cNvSpPr>
              <a:spLocks noChangeArrowheads="1"/>
            </p:cNvSpPr>
            <p:nvPr/>
          </p:nvSpPr>
          <p:spPr bwMode="auto">
            <a:xfrm>
              <a:off x="2209800" y="50292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Employee</a:t>
              </a:r>
            </a:p>
          </p:txBody>
        </p:sp>
        <p:sp>
          <p:nvSpPr>
            <p:cNvPr id="140308" name="Oval 20">
              <a:extLst>
                <a:ext uri="{FF2B5EF4-FFF2-40B4-BE49-F238E27FC236}">
                  <a16:creationId xmlns:a16="http://schemas.microsoft.com/office/drawing/2014/main" id="{A35A9207-B0EB-9B08-63B1-9B591768FD9B}"/>
                </a:ext>
              </a:extLst>
            </p:cNvPr>
            <p:cNvSpPr>
              <a:spLocks noChangeArrowheads="1"/>
            </p:cNvSpPr>
            <p:nvPr/>
          </p:nvSpPr>
          <p:spPr bwMode="auto">
            <a:xfrm>
              <a:off x="2209800" y="41910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Equip Type</a:t>
              </a:r>
            </a:p>
          </p:txBody>
        </p:sp>
        <p:sp>
          <p:nvSpPr>
            <p:cNvPr id="140309" name="Oval 21">
              <a:extLst>
                <a:ext uri="{FF2B5EF4-FFF2-40B4-BE49-F238E27FC236}">
                  <a16:creationId xmlns:a16="http://schemas.microsoft.com/office/drawing/2014/main" id="{781AE9B3-DB88-7445-2E57-F4A9CD361649}"/>
                </a:ext>
              </a:extLst>
            </p:cNvPr>
            <p:cNvSpPr>
              <a:spLocks noChangeArrowheads="1"/>
            </p:cNvSpPr>
            <p:nvPr/>
          </p:nvSpPr>
          <p:spPr bwMode="auto">
            <a:xfrm>
              <a:off x="2209800" y="34290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Weather</a:t>
              </a:r>
            </a:p>
          </p:txBody>
        </p:sp>
        <p:sp>
          <p:nvSpPr>
            <p:cNvPr id="140310" name="Oval 22">
              <a:extLst>
                <a:ext uri="{FF2B5EF4-FFF2-40B4-BE49-F238E27FC236}">
                  <a16:creationId xmlns:a16="http://schemas.microsoft.com/office/drawing/2014/main" id="{9E42A8B4-10D8-0DC3-4578-6256375DC146}"/>
                </a:ext>
              </a:extLst>
            </p:cNvPr>
            <p:cNvSpPr>
              <a:spLocks noChangeArrowheads="1"/>
            </p:cNvSpPr>
            <p:nvPr/>
          </p:nvSpPr>
          <p:spPr bwMode="auto">
            <a:xfrm>
              <a:off x="2286000" y="58674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Internal Org</a:t>
              </a:r>
            </a:p>
          </p:txBody>
        </p:sp>
        <p:sp>
          <p:nvSpPr>
            <p:cNvPr id="140311" name="Oval 23">
              <a:extLst>
                <a:ext uri="{FF2B5EF4-FFF2-40B4-BE49-F238E27FC236}">
                  <a16:creationId xmlns:a16="http://schemas.microsoft.com/office/drawing/2014/main" id="{49EA4243-AE27-5847-B1A9-C06EB8011D1F}"/>
                </a:ext>
              </a:extLst>
            </p:cNvPr>
            <p:cNvSpPr>
              <a:spLocks noChangeArrowheads="1"/>
            </p:cNvSpPr>
            <p:nvPr/>
          </p:nvSpPr>
          <p:spPr bwMode="auto">
            <a:xfrm>
              <a:off x="8839200" y="52578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Called party</a:t>
              </a:r>
            </a:p>
          </p:txBody>
        </p:sp>
        <p:sp>
          <p:nvSpPr>
            <p:cNvPr id="140312" name="Oval 24">
              <a:extLst>
                <a:ext uri="{FF2B5EF4-FFF2-40B4-BE49-F238E27FC236}">
                  <a16:creationId xmlns:a16="http://schemas.microsoft.com/office/drawing/2014/main" id="{10425DAA-7E93-EE77-EE12-A301AAA6BE2B}"/>
                </a:ext>
              </a:extLst>
            </p:cNvPr>
            <p:cNvSpPr>
              <a:spLocks noChangeArrowheads="1"/>
            </p:cNvSpPr>
            <p:nvPr/>
          </p:nvSpPr>
          <p:spPr bwMode="auto">
            <a:xfrm>
              <a:off x="8763000" y="44196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Calling party</a:t>
              </a:r>
            </a:p>
          </p:txBody>
        </p:sp>
        <p:sp>
          <p:nvSpPr>
            <p:cNvPr id="140313" name="Oval 25">
              <a:extLst>
                <a:ext uri="{FF2B5EF4-FFF2-40B4-BE49-F238E27FC236}">
                  <a16:creationId xmlns:a16="http://schemas.microsoft.com/office/drawing/2014/main" id="{26CDC557-16BD-8A96-3C00-23EC016A5534}"/>
                </a:ext>
              </a:extLst>
            </p:cNvPr>
            <p:cNvSpPr>
              <a:spLocks noChangeArrowheads="1"/>
            </p:cNvSpPr>
            <p:nvPr/>
          </p:nvSpPr>
          <p:spPr bwMode="auto">
            <a:xfrm>
              <a:off x="8686800" y="3581400"/>
              <a:ext cx="9144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1000" b="1">
                  <a:latin typeface="Century Gothic" panose="020B0502020202020204" pitchFamily="34" charset="0"/>
                </a:rPr>
                <a:t>Supplier</a:t>
              </a:r>
            </a:p>
          </p:txBody>
        </p:sp>
        <p:sp>
          <p:nvSpPr>
            <p:cNvPr id="140314" name="Text Box 26">
              <a:extLst>
                <a:ext uri="{FF2B5EF4-FFF2-40B4-BE49-F238E27FC236}">
                  <a16:creationId xmlns:a16="http://schemas.microsoft.com/office/drawing/2014/main" id="{28760FC5-92DA-A6E0-B13E-BFF9EC978491}"/>
                </a:ext>
              </a:extLst>
            </p:cNvPr>
            <p:cNvSpPr txBox="1">
              <a:spLocks noChangeArrowheads="1"/>
            </p:cNvSpPr>
            <p:nvPr/>
          </p:nvSpPr>
          <p:spPr bwMode="auto">
            <a:xfrm>
              <a:off x="5105400" y="6019801"/>
              <a:ext cx="487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1400" b="1">
                  <a:solidFill>
                    <a:srgbClr val="C00000"/>
                  </a:solidFill>
                  <a:latin typeface="Century Gothic" panose="020B0502020202020204" pitchFamily="34" charset="0"/>
                </a:rPr>
                <a:t>Fact table diagram shows all of the “dimensions” that have been identified for the business</a:t>
              </a:r>
            </a:p>
          </p:txBody>
        </p:sp>
      </p:grpSp>
      <p:sp>
        <p:nvSpPr>
          <p:cNvPr id="2" name="Date Placeholder 1">
            <a:extLst>
              <a:ext uri="{FF2B5EF4-FFF2-40B4-BE49-F238E27FC236}">
                <a16:creationId xmlns:a16="http://schemas.microsoft.com/office/drawing/2014/main" id="{7AEEC959-9131-CB40-99F3-942D3B49D8EC}"/>
              </a:ext>
            </a:extLst>
          </p:cNvPr>
          <p:cNvSpPr>
            <a:spLocks noGrp="1"/>
          </p:cNvSpPr>
          <p:nvPr>
            <p:ph type="dt" sz="quarter" idx="10"/>
          </p:nvPr>
        </p:nvSpPr>
        <p:spPr/>
        <p:txBody>
          <a:bodyPr/>
          <a:lstStyle/>
          <a:p>
            <a:pPr>
              <a:defRPr/>
            </a:pPr>
            <a:fld id="{BE52A3C9-7E35-4EBB-B1BA-17CC681C331B}" type="datetime1">
              <a:rPr lang="en-US" smtClean="0"/>
              <a:t>9/30/2025</a:t>
            </a:fld>
            <a:endParaRPr lang="en-US"/>
          </a:p>
        </p:txBody>
      </p:sp>
      <p:sp>
        <p:nvSpPr>
          <p:cNvPr id="3" name="Footer Placeholder 2">
            <a:extLst>
              <a:ext uri="{FF2B5EF4-FFF2-40B4-BE49-F238E27FC236}">
                <a16:creationId xmlns:a16="http://schemas.microsoft.com/office/drawing/2014/main" id="{70C65309-25CD-B0E6-0473-76FE391CB835}"/>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AEA4184A-99CB-99E3-EC19-B633C97DAB19}"/>
              </a:ext>
            </a:extLst>
          </p:cNvPr>
          <p:cNvSpPr>
            <a:spLocks noGrp="1"/>
          </p:cNvSpPr>
          <p:nvPr>
            <p:ph type="sldNum" sz="quarter" idx="12"/>
          </p:nvPr>
        </p:nvSpPr>
        <p:spPr/>
        <p:txBody>
          <a:bodyPr/>
          <a:lstStyle/>
          <a:p>
            <a:pPr>
              <a:defRPr/>
            </a:pPr>
            <a:fld id="{B00F60DA-3B32-410D-9BD8-7407FFCCB9F9}" type="slidenum">
              <a:rPr lang="en-US" altLang="en-US" smtClean="0"/>
              <a:pPr>
                <a:defRPr/>
              </a:pPr>
              <a:t>67</a:t>
            </a:fld>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E389518D-79DB-2D72-14FE-EF0AA8A75F8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42339" name="Text Box 3">
            <a:extLst>
              <a:ext uri="{FF2B5EF4-FFF2-40B4-BE49-F238E27FC236}">
                <a16:creationId xmlns:a16="http://schemas.microsoft.com/office/drawing/2014/main" id="{EB806662-95BC-F60E-1F0A-507A2E1F3436}"/>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42340" name="Text Box 4">
            <a:extLst>
              <a:ext uri="{FF2B5EF4-FFF2-40B4-BE49-F238E27FC236}">
                <a16:creationId xmlns:a16="http://schemas.microsoft.com/office/drawing/2014/main" id="{C71BFF65-4311-9ABC-8B89-56B8694229A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42341" name="Text Box 5">
            <a:extLst>
              <a:ext uri="{FF2B5EF4-FFF2-40B4-BE49-F238E27FC236}">
                <a16:creationId xmlns:a16="http://schemas.microsoft.com/office/drawing/2014/main" id="{35EDCF68-00F3-384B-2C3F-D6BE2DB4968D}"/>
              </a:ext>
            </a:extLst>
          </p:cNvPr>
          <p:cNvSpPr txBox="1">
            <a:spLocks noChangeArrowheads="1"/>
          </p:cNvSpPr>
          <p:nvPr/>
        </p:nvSpPr>
        <p:spPr bwMode="auto">
          <a:xfrm>
            <a:off x="2667000" y="1905000"/>
            <a:ext cx="8969188"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b="1" dirty="0">
              <a:latin typeface="Times New Roman" panose="02020603050405020304" pitchFamily="18" charset="0"/>
            </a:endParaRPr>
          </a:p>
          <a:p>
            <a:pPr eaLnBrk="1" hangingPunct="1"/>
            <a:r>
              <a:rPr lang="en-US" altLang="en-US" sz="2000" b="1" dirty="0">
                <a:latin typeface="Times New Roman" panose="02020603050405020304" pitchFamily="18" charset="0"/>
              </a:rPr>
              <a:t>Step 4:	  Design the Dimension Tables</a:t>
            </a:r>
          </a:p>
          <a:p>
            <a:pPr lvl="2" eaLnBrk="1" hangingPunct="1">
              <a:buFontTx/>
              <a:buChar char="•"/>
            </a:pPr>
            <a:r>
              <a:rPr lang="en-US" altLang="en-US" sz="1600" dirty="0">
                <a:latin typeface="Times New Roman" panose="02020603050405020304" pitchFamily="18" charset="0"/>
              </a:rPr>
              <a:t>  We draw a </a:t>
            </a:r>
            <a:r>
              <a:rPr lang="en-US" altLang="en-US" sz="1600" b="1" dirty="0">
                <a:latin typeface="Times New Roman" panose="02020603050405020304" pitchFamily="18" charset="0"/>
              </a:rPr>
              <a:t>dimension table diagram</a:t>
            </a:r>
            <a:r>
              <a:rPr lang="en-US" altLang="en-US" sz="1600" dirty="0">
                <a:latin typeface="Times New Roman" panose="02020603050405020304" pitchFamily="18" charset="0"/>
              </a:rPr>
              <a:t> for each dimension</a:t>
            </a:r>
          </a:p>
          <a:p>
            <a:pPr lvl="2" eaLnBrk="1" hangingPunct="1">
              <a:buFont typeface="Symbol" panose="05050102010706020507" pitchFamily="18" charset="2"/>
              <a:buChar char="·"/>
            </a:pPr>
            <a:r>
              <a:rPr lang="en-US" altLang="en-US" sz="1600" dirty="0">
                <a:latin typeface="Times New Roman" panose="02020603050405020304" pitchFamily="18" charset="0"/>
              </a:rPr>
              <a:t>  The diagram shows explicit grain of each dimension.</a:t>
            </a:r>
          </a:p>
          <a:p>
            <a:pPr lvl="2" eaLnBrk="1" hangingPunct="1">
              <a:buFont typeface="Symbol" panose="05050102010706020507" pitchFamily="18" charset="2"/>
              <a:buChar char="·"/>
            </a:pPr>
            <a:r>
              <a:rPr lang="en-US" altLang="en-US" sz="1600" dirty="0">
                <a:latin typeface="Times New Roman" panose="02020603050405020304" pitchFamily="18" charset="0"/>
              </a:rPr>
              <a:t>  It also shows the approximate cardinality of each dimension attribute.</a:t>
            </a:r>
          </a:p>
          <a:p>
            <a:pPr lvl="2" eaLnBrk="1" hangingPunct="1">
              <a:buFont typeface="Symbol" panose="05050102010706020507" pitchFamily="18" charset="2"/>
              <a:buChar char="·"/>
            </a:pPr>
            <a:r>
              <a:rPr lang="en-US" altLang="en-US" sz="1600" dirty="0">
                <a:latin typeface="Times New Roman" panose="02020603050405020304" pitchFamily="18" charset="0"/>
              </a:rPr>
              <a:t>  It allows the user to quickly see the multiple hierarchies and relationships between the attributes.  This shows the default drill path.</a:t>
            </a:r>
          </a:p>
          <a:p>
            <a:pPr lvl="2" eaLnBrk="1" hangingPunct="1">
              <a:buFont typeface="Symbol" panose="05050102010706020507" pitchFamily="18" charset="2"/>
              <a:buChar char="·"/>
            </a:pPr>
            <a:r>
              <a:rPr lang="en-US" altLang="en-US" sz="1600" dirty="0">
                <a:latin typeface="Times New Roman" panose="02020603050405020304" pitchFamily="18" charset="0"/>
              </a:rPr>
              <a:t>  Full descriptive data must be provided to support the above diagram</a:t>
            </a:r>
          </a:p>
        </p:txBody>
      </p:sp>
      <p:sp>
        <p:nvSpPr>
          <p:cNvPr id="2" name="Date Placeholder 1">
            <a:extLst>
              <a:ext uri="{FF2B5EF4-FFF2-40B4-BE49-F238E27FC236}">
                <a16:creationId xmlns:a16="http://schemas.microsoft.com/office/drawing/2014/main" id="{747D7BBA-6167-E7C4-AE69-2179A1B19D93}"/>
              </a:ext>
            </a:extLst>
          </p:cNvPr>
          <p:cNvSpPr>
            <a:spLocks noGrp="1"/>
          </p:cNvSpPr>
          <p:nvPr>
            <p:ph type="dt" sz="quarter" idx="10"/>
          </p:nvPr>
        </p:nvSpPr>
        <p:spPr/>
        <p:txBody>
          <a:bodyPr/>
          <a:lstStyle/>
          <a:p>
            <a:pPr>
              <a:defRPr/>
            </a:pPr>
            <a:fld id="{88FCCFDC-3EE1-442A-A1DF-4D6AEFC41B85}" type="datetime1">
              <a:rPr lang="en-US" smtClean="0"/>
              <a:t>9/30/2025</a:t>
            </a:fld>
            <a:endParaRPr lang="en-US"/>
          </a:p>
        </p:txBody>
      </p:sp>
      <p:sp>
        <p:nvSpPr>
          <p:cNvPr id="3" name="Footer Placeholder 2">
            <a:extLst>
              <a:ext uri="{FF2B5EF4-FFF2-40B4-BE49-F238E27FC236}">
                <a16:creationId xmlns:a16="http://schemas.microsoft.com/office/drawing/2014/main" id="{6C517F48-284A-A194-B0BE-9D386552AACC}"/>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9A480E8A-05F7-148D-FDA8-C4A458E8979D}"/>
              </a:ext>
            </a:extLst>
          </p:cNvPr>
          <p:cNvSpPr>
            <a:spLocks noGrp="1"/>
          </p:cNvSpPr>
          <p:nvPr>
            <p:ph type="sldNum" sz="quarter" idx="12"/>
          </p:nvPr>
        </p:nvSpPr>
        <p:spPr/>
        <p:txBody>
          <a:bodyPr/>
          <a:lstStyle/>
          <a:p>
            <a:pPr>
              <a:defRPr/>
            </a:pPr>
            <a:fld id="{43612CE1-BEC6-4BA4-A652-8A175CA73EB5}" type="slidenum">
              <a:rPr lang="en-US" altLang="en-US" smtClean="0"/>
              <a:pPr>
                <a:defRPr/>
              </a:pPr>
              <a:t>68</a:t>
            </a:fld>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FE13D363-00D1-BCA2-677A-511CCE792CB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44387" name="Text Box 3">
            <a:extLst>
              <a:ext uri="{FF2B5EF4-FFF2-40B4-BE49-F238E27FC236}">
                <a16:creationId xmlns:a16="http://schemas.microsoft.com/office/drawing/2014/main" id="{5839E5C2-2C0C-FF3F-6CF8-42064AC9C2C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44388" name="Text Box 5">
            <a:extLst>
              <a:ext uri="{FF2B5EF4-FFF2-40B4-BE49-F238E27FC236}">
                <a16:creationId xmlns:a16="http://schemas.microsoft.com/office/drawing/2014/main" id="{86C7084D-F279-1526-139B-00D06E82AEC2}"/>
              </a:ext>
            </a:extLst>
          </p:cNvPr>
          <p:cNvSpPr txBox="1">
            <a:spLocks noChangeArrowheads="1"/>
          </p:cNvSpPr>
          <p:nvPr/>
        </p:nvSpPr>
        <p:spPr bwMode="auto">
          <a:xfrm>
            <a:off x="2010987" y="1869023"/>
            <a:ext cx="854548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b="1" dirty="0">
              <a:latin typeface="Times New Roman" panose="02020603050405020304" pitchFamily="18" charset="0"/>
            </a:endParaRPr>
          </a:p>
          <a:p>
            <a:pPr eaLnBrk="1" hangingPunct="1"/>
            <a:r>
              <a:rPr lang="en-US" altLang="en-US" sz="2000" b="1" dirty="0">
                <a:latin typeface="Times New Roman" panose="02020603050405020304" pitchFamily="18" charset="0"/>
              </a:rPr>
              <a:t>Step 4:	  Design the Dimension Tables</a:t>
            </a:r>
          </a:p>
        </p:txBody>
      </p:sp>
      <p:grpSp>
        <p:nvGrpSpPr>
          <p:cNvPr id="5" name="Group 4">
            <a:extLst>
              <a:ext uri="{FF2B5EF4-FFF2-40B4-BE49-F238E27FC236}">
                <a16:creationId xmlns:a16="http://schemas.microsoft.com/office/drawing/2014/main" id="{738E6F6B-F41D-40ED-CE39-74D5A95CB63B}"/>
              </a:ext>
            </a:extLst>
          </p:cNvPr>
          <p:cNvGrpSpPr/>
          <p:nvPr/>
        </p:nvGrpSpPr>
        <p:grpSpPr>
          <a:xfrm>
            <a:off x="3311928" y="2946241"/>
            <a:ext cx="5943600" cy="3048000"/>
            <a:chOff x="3352800" y="3505200"/>
            <a:chExt cx="5943600" cy="3048000"/>
          </a:xfrm>
        </p:grpSpPr>
        <p:grpSp>
          <p:nvGrpSpPr>
            <p:cNvPr id="76806" name="Group 17">
              <a:extLst>
                <a:ext uri="{FF2B5EF4-FFF2-40B4-BE49-F238E27FC236}">
                  <a16:creationId xmlns:a16="http://schemas.microsoft.com/office/drawing/2014/main" id="{F4500641-3E8B-D438-01B5-5B7BD085CCA0}"/>
                </a:ext>
              </a:extLst>
            </p:cNvPr>
            <p:cNvGrpSpPr>
              <a:grpSpLocks/>
            </p:cNvGrpSpPr>
            <p:nvPr/>
          </p:nvGrpSpPr>
          <p:grpSpPr bwMode="auto">
            <a:xfrm>
              <a:off x="3352800" y="3505200"/>
              <a:ext cx="1981200" cy="457200"/>
              <a:chOff x="1200" y="2400"/>
              <a:chExt cx="1248" cy="288"/>
            </a:xfrm>
            <a:noFill/>
          </p:grpSpPr>
          <p:sp>
            <p:nvSpPr>
              <p:cNvPr id="76835" name="Rectangle 6">
                <a:extLst>
                  <a:ext uri="{FF2B5EF4-FFF2-40B4-BE49-F238E27FC236}">
                    <a16:creationId xmlns:a16="http://schemas.microsoft.com/office/drawing/2014/main" id="{F981AACB-B60F-564C-FD6E-7566205400D9}"/>
                  </a:ext>
                </a:extLst>
              </p:cNvPr>
              <p:cNvSpPr>
                <a:spLocks noChangeArrowheads="1"/>
              </p:cNvSpPr>
              <p:nvPr/>
            </p:nvSpPr>
            <p:spPr bwMode="auto">
              <a:xfrm>
                <a:off x="1200" y="2400"/>
                <a:ext cx="1248" cy="288"/>
              </a:xfrm>
              <a:prstGeom prst="rect">
                <a:avLst/>
              </a:prstGeom>
              <a:grpFill/>
              <a:ln w="9525">
                <a:solidFill>
                  <a:schemeClr val="tx1"/>
                </a:solidFill>
                <a:miter lim="800000"/>
                <a:headEnd/>
                <a:tailEnd/>
              </a:ln>
            </p:spPr>
            <p:txBody>
              <a:bodyPr wrap="none" anchor="ctr"/>
              <a:lstStyle/>
              <a:p>
                <a:pPr>
                  <a:defRPr/>
                </a:pPr>
                <a:endParaRPr lang="en-US"/>
              </a:p>
            </p:txBody>
          </p:sp>
          <p:sp>
            <p:nvSpPr>
              <p:cNvPr id="76836" name="Text Box 13">
                <a:extLst>
                  <a:ext uri="{FF2B5EF4-FFF2-40B4-BE49-F238E27FC236}">
                    <a16:creationId xmlns:a16="http://schemas.microsoft.com/office/drawing/2014/main" id="{BC0D91AA-2001-39DB-1DBF-A1D09BC573DC}"/>
                  </a:ext>
                </a:extLst>
              </p:cNvPr>
              <p:cNvSpPr txBox="1">
                <a:spLocks noChangeArrowheads="1"/>
              </p:cNvSpPr>
              <p:nvPr/>
            </p:nvSpPr>
            <p:spPr bwMode="auto">
              <a:xfrm>
                <a:off x="1296" y="2448"/>
                <a:ext cx="1104"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FISCAL YEAR</a:t>
                </a:r>
              </a:p>
            </p:txBody>
          </p:sp>
        </p:grpSp>
        <p:grpSp>
          <p:nvGrpSpPr>
            <p:cNvPr id="76807" name="Group 18">
              <a:extLst>
                <a:ext uri="{FF2B5EF4-FFF2-40B4-BE49-F238E27FC236}">
                  <a16:creationId xmlns:a16="http://schemas.microsoft.com/office/drawing/2014/main" id="{FE8AE885-DB43-4494-F95B-19BD189F8C0A}"/>
                </a:ext>
              </a:extLst>
            </p:cNvPr>
            <p:cNvGrpSpPr>
              <a:grpSpLocks/>
            </p:cNvGrpSpPr>
            <p:nvPr/>
          </p:nvGrpSpPr>
          <p:grpSpPr bwMode="auto">
            <a:xfrm>
              <a:off x="3352800" y="4267200"/>
              <a:ext cx="2057400" cy="533400"/>
              <a:chOff x="1200" y="2832"/>
              <a:chExt cx="1296" cy="336"/>
            </a:xfrm>
            <a:noFill/>
          </p:grpSpPr>
          <p:sp>
            <p:nvSpPr>
              <p:cNvPr id="76833" name="Rectangle 8">
                <a:extLst>
                  <a:ext uri="{FF2B5EF4-FFF2-40B4-BE49-F238E27FC236}">
                    <a16:creationId xmlns:a16="http://schemas.microsoft.com/office/drawing/2014/main" id="{79895012-F2AA-B327-5F19-2A81DF40EBC3}"/>
                  </a:ext>
                </a:extLst>
              </p:cNvPr>
              <p:cNvSpPr>
                <a:spLocks noChangeArrowheads="1"/>
              </p:cNvSpPr>
              <p:nvPr/>
            </p:nvSpPr>
            <p:spPr bwMode="auto">
              <a:xfrm>
                <a:off x="1200" y="2832"/>
                <a:ext cx="1296" cy="336"/>
              </a:xfrm>
              <a:prstGeom prst="rect">
                <a:avLst/>
              </a:prstGeom>
              <a:grpFill/>
              <a:ln w="9525">
                <a:solidFill>
                  <a:schemeClr val="tx1"/>
                </a:solidFill>
                <a:miter lim="800000"/>
                <a:headEnd/>
                <a:tailEnd/>
              </a:ln>
            </p:spPr>
            <p:txBody>
              <a:bodyPr wrap="none" anchor="ctr"/>
              <a:lstStyle/>
              <a:p>
                <a:pPr>
                  <a:defRPr/>
                </a:pPr>
                <a:endParaRPr lang="en-US"/>
              </a:p>
            </p:txBody>
          </p:sp>
          <p:sp>
            <p:nvSpPr>
              <p:cNvPr id="76834" name="Text Box 14">
                <a:extLst>
                  <a:ext uri="{FF2B5EF4-FFF2-40B4-BE49-F238E27FC236}">
                    <a16:creationId xmlns:a16="http://schemas.microsoft.com/office/drawing/2014/main" id="{93F65FFF-5176-9D1C-1EB7-A47B0B0CDB6B}"/>
                  </a:ext>
                </a:extLst>
              </p:cNvPr>
              <p:cNvSpPr txBox="1">
                <a:spLocks noChangeArrowheads="1"/>
              </p:cNvSpPr>
              <p:nvPr/>
            </p:nvSpPr>
            <p:spPr bwMode="auto">
              <a:xfrm>
                <a:off x="1296" y="2928"/>
                <a:ext cx="1056"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FISCAL QUARTER</a:t>
                </a:r>
              </a:p>
            </p:txBody>
          </p:sp>
        </p:grpSp>
        <p:grpSp>
          <p:nvGrpSpPr>
            <p:cNvPr id="76808" name="Group 19">
              <a:extLst>
                <a:ext uri="{FF2B5EF4-FFF2-40B4-BE49-F238E27FC236}">
                  <a16:creationId xmlns:a16="http://schemas.microsoft.com/office/drawing/2014/main" id="{34E21600-6CF6-DFC4-846E-09331A03977A}"/>
                </a:ext>
              </a:extLst>
            </p:cNvPr>
            <p:cNvGrpSpPr>
              <a:grpSpLocks/>
            </p:cNvGrpSpPr>
            <p:nvPr/>
          </p:nvGrpSpPr>
          <p:grpSpPr bwMode="auto">
            <a:xfrm>
              <a:off x="3352800" y="5029200"/>
              <a:ext cx="2057400" cy="533400"/>
              <a:chOff x="1200" y="3264"/>
              <a:chExt cx="1296" cy="336"/>
            </a:xfrm>
            <a:noFill/>
          </p:grpSpPr>
          <p:sp>
            <p:nvSpPr>
              <p:cNvPr id="76831" name="Rectangle 7">
                <a:extLst>
                  <a:ext uri="{FF2B5EF4-FFF2-40B4-BE49-F238E27FC236}">
                    <a16:creationId xmlns:a16="http://schemas.microsoft.com/office/drawing/2014/main" id="{DB11DAEA-3242-59B7-08FF-3F19643BFC89}"/>
                  </a:ext>
                </a:extLst>
              </p:cNvPr>
              <p:cNvSpPr>
                <a:spLocks noChangeArrowheads="1"/>
              </p:cNvSpPr>
              <p:nvPr/>
            </p:nvSpPr>
            <p:spPr bwMode="auto">
              <a:xfrm>
                <a:off x="1200" y="3264"/>
                <a:ext cx="1296" cy="336"/>
              </a:xfrm>
              <a:prstGeom prst="rect">
                <a:avLst/>
              </a:prstGeom>
              <a:grpFill/>
              <a:ln w="9525">
                <a:solidFill>
                  <a:schemeClr val="tx1"/>
                </a:solidFill>
                <a:miter lim="800000"/>
                <a:headEnd/>
                <a:tailEnd/>
              </a:ln>
            </p:spPr>
            <p:txBody>
              <a:bodyPr wrap="none" anchor="ctr"/>
              <a:lstStyle/>
              <a:p>
                <a:pPr>
                  <a:defRPr/>
                </a:pPr>
                <a:endParaRPr lang="en-US"/>
              </a:p>
            </p:txBody>
          </p:sp>
          <p:sp>
            <p:nvSpPr>
              <p:cNvPr id="76832" name="Text Box 15">
                <a:extLst>
                  <a:ext uri="{FF2B5EF4-FFF2-40B4-BE49-F238E27FC236}">
                    <a16:creationId xmlns:a16="http://schemas.microsoft.com/office/drawing/2014/main" id="{12905249-4F2E-43F8-4D9C-E6BF2679B184}"/>
                  </a:ext>
                </a:extLst>
              </p:cNvPr>
              <p:cNvSpPr txBox="1">
                <a:spLocks noChangeArrowheads="1"/>
              </p:cNvSpPr>
              <p:nvPr/>
            </p:nvSpPr>
            <p:spPr bwMode="auto">
              <a:xfrm>
                <a:off x="1296" y="3312"/>
                <a:ext cx="1104"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FISCAL MONTH</a:t>
                </a:r>
              </a:p>
            </p:txBody>
          </p:sp>
        </p:grpSp>
        <p:grpSp>
          <p:nvGrpSpPr>
            <p:cNvPr id="76809" name="Group 20">
              <a:extLst>
                <a:ext uri="{FF2B5EF4-FFF2-40B4-BE49-F238E27FC236}">
                  <a16:creationId xmlns:a16="http://schemas.microsoft.com/office/drawing/2014/main" id="{9AEC6228-A7D5-699C-299D-FD6F02C9B220}"/>
                </a:ext>
              </a:extLst>
            </p:cNvPr>
            <p:cNvGrpSpPr>
              <a:grpSpLocks/>
            </p:cNvGrpSpPr>
            <p:nvPr/>
          </p:nvGrpSpPr>
          <p:grpSpPr bwMode="auto">
            <a:xfrm>
              <a:off x="3429000" y="5791200"/>
              <a:ext cx="2057400" cy="457200"/>
              <a:chOff x="1200" y="3792"/>
              <a:chExt cx="1296" cy="288"/>
            </a:xfrm>
            <a:noFill/>
          </p:grpSpPr>
          <p:sp>
            <p:nvSpPr>
              <p:cNvPr id="76829" name="Rectangle 10">
                <a:extLst>
                  <a:ext uri="{FF2B5EF4-FFF2-40B4-BE49-F238E27FC236}">
                    <a16:creationId xmlns:a16="http://schemas.microsoft.com/office/drawing/2014/main" id="{5E95ADAE-9A47-3177-77FE-C2F84EA0A006}"/>
                  </a:ext>
                </a:extLst>
              </p:cNvPr>
              <p:cNvSpPr>
                <a:spLocks noChangeArrowheads="1"/>
              </p:cNvSpPr>
              <p:nvPr/>
            </p:nvSpPr>
            <p:spPr bwMode="auto">
              <a:xfrm>
                <a:off x="1200" y="3792"/>
                <a:ext cx="1296" cy="288"/>
              </a:xfrm>
              <a:prstGeom prst="rect">
                <a:avLst/>
              </a:prstGeom>
              <a:grpFill/>
              <a:ln w="9525">
                <a:solidFill>
                  <a:schemeClr val="tx1"/>
                </a:solidFill>
                <a:miter lim="800000"/>
                <a:headEnd/>
                <a:tailEnd/>
              </a:ln>
            </p:spPr>
            <p:txBody>
              <a:bodyPr wrap="none" anchor="ctr"/>
              <a:lstStyle/>
              <a:p>
                <a:pPr>
                  <a:defRPr/>
                </a:pPr>
                <a:endParaRPr lang="en-US"/>
              </a:p>
            </p:txBody>
          </p:sp>
          <p:sp>
            <p:nvSpPr>
              <p:cNvPr id="76830" name="Text Box 16">
                <a:extLst>
                  <a:ext uri="{FF2B5EF4-FFF2-40B4-BE49-F238E27FC236}">
                    <a16:creationId xmlns:a16="http://schemas.microsoft.com/office/drawing/2014/main" id="{63AF2286-F85C-C49A-6045-3D119E64DA95}"/>
                  </a:ext>
                </a:extLst>
              </p:cNvPr>
              <p:cNvSpPr txBox="1">
                <a:spLocks noChangeArrowheads="1"/>
              </p:cNvSpPr>
              <p:nvPr/>
            </p:nvSpPr>
            <p:spPr bwMode="auto">
              <a:xfrm>
                <a:off x="1248" y="3840"/>
                <a:ext cx="1152"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FISCAL WEEK</a:t>
                </a:r>
              </a:p>
            </p:txBody>
          </p:sp>
        </p:grpSp>
        <p:grpSp>
          <p:nvGrpSpPr>
            <p:cNvPr id="76810" name="Group 23">
              <a:extLst>
                <a:ext uri="{FF2B5EF4-FFF2-40B4-BE49-F238E27FC236}">
                  <a16:creationId xmlns:a16="http://schemas.microsoft.com/office/drawing/2014/main" id="{6A04F880-4ADE-45EE-FF76-6120991AE00A}"/>
                </a:ext>
              </a:extLst>
            </p:cNvPr>
            <p:cNvGrpSpPr>
              <a:grpSpLocks/>
            </p:cNvGrpSpPr>
            <p:nvPr/>
          </p:nvGrpSpPr>
          <p:grpSpPr bwMode="auto">
            <a:xfrm>
              <a:off x="7010400" y="3505200"/>
              <a:ext cx="2057400" cy="457200"/>
              <a:chOff x="3456" y="2208"/>
              <a:chExt cx="1296" cy="288"/>
            </a:xfrm>
            <a:noFill/>
          </p:grpSpPr>
          <p:sp>
            <p:nvSpPr>
              <p:cNvPr id="76827" name="Rectangle 12">
                <a:extLst>
                  <a:ext uri="{FF2B5EF4-FFF2-40B4-BE49-F238E27FC236}">
                    <a16:creationId xmlns:a16="http://schemas.microsoft.com/office/drawing/2014/main" id="{3CED9A59-DF2F-F1E9-9528-B5032A990721}"/>
                  </a:ext>
                </a:extLst>
              </p:cNvPr>
              <p:cNvSpPr>
                <a:spLocks noChangeArrowheads="1"/>
              </p:cNvSpPr>
              <p:nvPr/>
            </p:nvSpPr>
            <p:spPr bwMode="auto">
              <a:xfrm>
                <a:off x="3456" y="2208"/>
                <a:ext cx="1296" cy="288"/>
              </a:xfrm>
              <a:prstGeom prst="rect">
                <a:avLst/>
              </a:prstGeom>
              <a:grpFill/>
              <a:ln w="9525">
                <a:solidFill>
                  <a:schemeClr val="tx1"/>
                </a:solidFill>
                <a:miter lim="800000"/>
                <a:headEnd/>
                <a:tailEnd/>
              </a:ln>
            </p:spPr>
            <p:txBody>
              <a:bodyPr wrap="none" anchor="ctr"/>
              <a:lstStyle/>
              <a:p>
                <a:pPr>
                  <a:defRPr/>
                </a:pPr>
                <a:endParaRPr lang="en-US"/>
              </a:p>
            </p:txBody>
          </p:sp>
          <p:sp>
            <p:nvSpPr>
              <p:cNvPr id="76828" name="Text Box 21">
                <a:extLst>
                  <a:ext uri="{FF2B5EF4-FFF2-40B4-BE49-F238E27FC236}">
                    <a16:creationId xmlns:a16="http://schemas.microsoft.com/office/drawing/2014/main" id="{11E41055-8253-C4D2-9A7A-32C8A4859DDD}"/>
                  </a:ext>
                </a:extLst>
              </p:cNvPr>
              <p:cNvSpPr txBox="1">
                <a:spLocks noChangeArrowheads="1"/>
              </p:cNvSpPr>
              <p:nvPr/>
            </p:nvSpPr>
            <p:spPr bwMode="auto">
              <a:xfrm>
                <a:off x="3504" y="2256"/>
                <a:ext cx="1104"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CALENDER YEAR</a:t>
                </a:r>
              </a:p>
            </p:txBody>
          </p:sp>
        </p:grpSp>
        <p:grpSp>
          <p:nvGrpSpPr>
            <p:cNvPr id="76811" name="Group 24">
              <a:extLst>
                <a:ext uri="{FF2B5EF4-FFF2-40B4-BE49-F238E27FC236}">
                  <a16:creationId xmlns:a16="http://schemas.microsoft.com/office/drawing/2014/main" id="{7625EAAD-4FAB-8C04-8DDA-4D890D8BE92B}"/>
                </a:ext>
              </a:extLst>
            </p:cNvPr>
            <p:cNvGrpSpPr>
              <a:grpSpLocks/>
            </p:cNvGrpSpPr>
            <p:nvPr/>
          </p:nvGrpSpPr>
          <p:grpSpPr bwMode="auto">
            <a:xfrm>
              <a:off x="7010400" y="4267200"/>
              <a:ext cx="2133600" cy="533400"/>
              <a:chOff x="3456" y="2688"/>
              <a:chExt cx="1344" cy="336"/>
            </a:xfrm>
            <a:noFill/>
          </p:grpSpPr>
          <p:sp>
            <p:nvSpPr>
              <p:cNvPr id="76825" name="Rectangle 11">
                <a:extLst>
                  <a:ext uri="{FF2B5EF4-FFF2-40B4-BE49-F238E27FC236}">
                    <a16:creationId xmlns:a16="http://schemas.microsoft.com/office/drawing/2014/main" id="{16125443-1F4C-DDDA-B4E7-A358A2929C67}"/>
                  </a:ext>
                </a:extLst>
              </p:cNvPr>
              <p:cNvSpPr>
                <a:spLocks noChangeArrowheads="1"/>
              </p:cNvSpPr>
              <p:nvPr/>
            </p:nvSpPr>
            <p:spPr bwMode="auto">
              <a:xfrm>
                <a:off x="3456" y="2688"/>
                <a:ext cx="1344" cy="336"/>
              </a:xfrm>
              <a:prstGeom prst="rect">
                <a:avLst/>
              </a:prstGeom>
              <a:grpFill/>
              <a:ln w="9525">
                <a:solidFill>
                  <a:schemeClr val="tx1"/>
                </a:solidFill>
                <a:miter lim="800000"/>
                <a:headEnd/>
                <a:tailEnd/>
              </a:ln>
            </p:spPr>
            <p:txBody>
              <a:bodyPr wrap="none" anchor="ctr"/>
              <a:lstStyle/>
              <a:p>
                <a:pPr>
                  <a:defRPr/>
                </a:pPr>
                <a:endParaRPr lang="en-US"/>
              </a:p>
            </p:txBody>
          </p:sp>
          <p:sp>
            <p:nvSpPr>
              <p:cNvPr id="76826" name="Text Box 22">
                <a:extLst>
                  <a:ext uri="{FF2B5EF4-FFF2-40B4-BE49-F238E27FC236}">
                    <a16:creationId xmlns:a16="http://schemas.microsoft.com/office/drawing/2014/main" id="{2CAFFDDE-02B1-7A99-78EF-35AF93F715A8}"/>
                  </a:ext>
                </a:extLst>
              </p:cNvPr>
              <p:cNvSpPr txBox="1">
                <a:spLocks noChangeArrowheads="1"/>
              </p:cNvSpPr>
              <p:nvPr/>
            </p:nvSpPr>
            <p:spPr bwMode="auto">
              <a:xfrm>
                <a:off x="3552" y="2736"/>
                <a:ext cx="1152"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CALENDER QUARTER</a:t>
                </a:r>
              </a:p>
            </p:txBody>
          </p:sp>
        </p:grpSp>
        <p:grpSp>
          <p:nvGrpSpPr>
            <p:cNvPr id="76812" name="Group 26">
              <a:extLst>
                <a:ext uri="{FF2B5EF4-FFF2-40B4-BE49-F238E27FC236}">
                  <a16:creationId xmlns:a16="http://schemas.microsoft.com/office/drawing/2014/main" id="{9DBAD123-B11D-0863-675F-1EA91D3475A7}"/>
                </a:ext>
              </a:extLst>
            </p:cNvPr>
            <p:cNvGrpSpPr>
              <a:grpSpLocks/>
            </p:cNvGrpSpPr>
            <p:nvPr/>
          </p:nvGrpSpPr>
          <p:grpSpPr bwMode="auto">
            <a:xfrm>
              <a:off x="6096000" y="6096000"/>
              <a:ext cx="2057400" cy="457200"/>
              <a:chOff x="3504" y="3216"/>
              <a:chExt cx="1296" cy="288"/>
            </a:xfrm>
            <a:noFill/>
          </p:grpSpPr>
          <p:sp>
            <p:nvSpPr>
              <p:cNvPr id="76823" name="Rectangle 9">
                <a:extLst>
                  <a:ext uri="{FF2B5EF4-FFF2-40B4-BE49-F238E27FC236}">
                    <a16:creationId xmlns:a16="http://schemas.microsoft.com/office/drawing/2014/main" id="{44B146C0-F6FB-7462-17AE-3F96915FEDE8}"/>
                  </a:ext>
                </a:extLst>
              </p:cNvPr>
              <p:cNvSpPr>
                <a:spLocks noChangeArrowheads="1"/>
              </p:cNvSpPr>
              <p:nvPr/>
            </p:nvSpPr>
            <p:spPr bwMode="auto">
              <a:xfrm>
                <a:off x="3504" y="3216"/>
                <a:ext cx="1296" cy="288"/>
              </a:xfrm>
              <a:prstGeom prst="rect">
                <a:avLst/>
              </a:prstGeom>
              <a:grpFill/>
              <a:ln w="9525">
                <a:solidFill>
                  <a:schemeClr val="tx1"/>
                </a:solidFill>
                <a:miter lim="800000"/>
                <a:headEnd/>
                <a:tailEnd/>
              </a:ln>
            </p:spPr>
            <p:txBody>
              <a:bodyPr wrap="none" anchor="ctr"/>
              <a:lstStyle/>
              <a:p>
                <a:pPr>
                  <a:defRPr/>
                </a:pPr>
                <a:endParaRPr lang="en-US"/>
              </a:p>
            </p:txBody>
          </p:sp>
          <p:sp>
            <p:nvSpPr>
              <p:cNvPr id="76824" name="Text Box 25">
                <a:extLst>
                  <a:ext uri="{FF2B5EF4-FFF2-40B4-BE49-F238E27FC236}">
                    <a16:creationId xmlns:a16="http://schemas.microsoft.com/office/drawing/2014/main" id="{2668E2B3-54DB-3434-5502-4EC71CD6D1F7}"/>
                  </a:ext>
                </a:extLst>
              </p:cNvPr>
              <p:cNvSpPr txBox="1">
                <a:spLocks noChangeArrowheads="1"/>
              </p:cNvSpPr>
              <p:nvPr/>
            </p:nvSpPr>
            <p:spPr bwMode="auto">
              <a:xfrm>
                <a:off x="3552" y="3312"/>
                <a:ext cx="1200"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DAY</a:t>
                </a:r>
              </a:p>
            </p:txBody>
          </p:sp>
        </p:grpSp>
        <p:grpSp>
          <p:nvGrpSpPr>
            <p:cNvPr id="76813" name="Group 27">
              <a:extLst>
                <a:ext uri="{FF2B5EF4-FFF2-40B4-BE49-F238E27FC236}">
                  <a16:creationId xmlns:a16="http://schemas.microsoft.com/office/drawing/2014/main" id="{500A8D48-3F19-2616-A68C-978CC8FFA501}"/>
                </a:ext>
              </a:extLst>
            </p:cNvPr>
            <p:cNvGrpSpPr>
              <a:grpSpLocks/>
            </p:cNvGrpSpPr>
            <p:nvPr/>
          </p:nvGrpSpPr>
          <p:grpSpPr bwMode="auto">
            <a:xfrm>
              <a:off x="7239000" y="5257800"/>
              <a:ext cx="2057400" cy="457200"/>
              <a:chOff x="3504" y="3216"/>
              <a:chExt cx="1296" cy="288"/>
            </a:xfrm>
            <a:noFill/>
          </p:grpSpPr>
          <p:sp>
            <p:nvSpPr>
              <p:cNvPr id="76821" name="Rectangle 28">
                <a:extLst>
                  <a:ext uri="{FF2B5EF4-FFF2-40B4-BE49-F238E27FC236}">
                    <a16:creationId xmlns:a16="http://schemas.microsoft.com/office/drawing/2014/main" id="{2D35AB9B-9EA4-B2C2-035B-5E2B1DABF573}"/>
                  </a:ext>
                </a:extLst>
              </p:cNvPr>
              <p:cNvSpPr>
                <a:spLocks noChangeArrowheads="1"/>
              </p:cNvSpPr>
              <p:nvPr/>
            </p:nvSpPr>
            <p:spPr bwMode="auto">
              <a:xfrm>
                <a:off x="3504" y="3216"/>
                <a:ext cx="1296" cy="288"/>
              </a:xfrm>
              <a:prstGeom prst="rect">
                <a:avLst/>
              </a:prstGeom>
              <a:grpFill/>
              <a:ln w="9525">
                <a:solidFill>
                  <a:schemeClr val="tx1"/>
                </a:solidFill>
                <a:miter lim="800000"/>
                <a:headEnd/>
                <a:tailEnd/>
              </a:ln>
            </p:spPr>
            <p:txBody>
              <a:bodyPr wrap="none" anchor="ctr"/>
              <a:lstStyle/>
              <a:p>
                <a:pPr>
                  <a:defRPr/>
                </a:pPr>
                <a:endParaRPr lang="en-US"/>
              </a:p>
            </p:txBody>
          </p:sp>
          <p:sp>
            <p:nvSpPr>
              <p:cNvPr id="76822" name="Text Box 29">
                <a:extLst>
                  <a:ext uri="{FF2B5EF4-FFF2-40B4-BE49-F238E27FC236}">
                    <a16:creationId xmlns:a16="http://schemas.microsoft.com/office/drawing/2014/main" id="{3E42F8E3-FBC6-9C8D-9524-C9F646074D7C}"/>
                  </a:ext>
                </a:extLst>
              </p:cNvPr>
              <p:cNvSpPr txBox="1">
                <a:spLocks noChangeArrowheads="1"/>
              </p:cNvSpPr>
              <p:nvPr/>
            </p:nvSpPr>
            <p:spPr bwMode="auto">
              <a:xfrm>
                <a:off x="3552" y="3312"/>
                <a:ext cx="1200" cy="173"/>
              </a:xfrm>
              <a:prstGeom prst="rect">
                <a:avLst/>
              </a:prstGeom>
              <a:grpFill/>
              <a:ln>
                <a:noFill/>
              </a:ln>
            </p:spPr>
            <p:txBody>
              <a:bodyPr>
                <a:spAutoFit/>
              </a:bodyPr>
              <a:lstStyle>
                <a:lvl1pPr eaLnBrk="0" hangingPunct="0">
                  <a:defRPr sz="1400">
                    <a:solidFill>
                      <a:schemeClr val="tx1"/>
                    </a:solidFill>
                    <a:latin typeface="Century Gothic" pitchFamily="34" charset="0"/>
                  </a:defRPr>
                </a:lvl1pPr>
                <a:lvl2pPr marL="742950" indent="-285750" eaLnBrk="0" hangingPunct="0">
                  <a:defRPr sz="1400">
                    <a:solidFill>
                      <a:schemeClr val="tx1"/>
                    </a:solidFill>
                    <a:latin typeface="Century Gothic" pitchFamily="34" charset="0"/>
                  </a:defRPr>
                </a:lvl2pPr>
                <a:lvl3pPr marL="1143000" indent="-228600" eaLnBrk="0" hangingPunct="0">
                  <a:defRPr sz="1400">
                    <a:solidFill>
                      <a:schemeClr val="tx1"/>
                    </a:solidFill>
                    <a:latin typeface="Century Gothic" pitchFamily="34" charset="0"/>
                  </a:defRPr>
                </a:lvl3pPr>
                <a:lvl4pPr marL="1600200" indent="-228600" eaLnBrk="0" hangingPunct="0">
                  <a:defRPr sz="1400">
                    <a:solidFill>
                      <a:schemeClr val="tx1"/>
                    </a:solidFill>
                    <a:latin typeface="Century Gothic" pitchFamily="34" charset="0"/>
                  </a:defRPr>
                </a:lvl4pPr>
                <a:lvl5pPr marL="2057400" indent="-228600" eaLnBrk="0" hangingPunct="0">
                  <a:defRPr sz="1400">
                    <a:solidFill>
                      <a:schemeClr val="tx1"/>
                    </a:solidFill>
                    <a:latin typeface="Century Gothic" pitchFamily="34" charset="0"/>
                  </a:defRPr>
                </a:lvl5pPr>
                <a:lvl6pPr marL="2514600" indent="-228600" eaLnBrk="0" fontAlgn="base" hangingPunct="0">
                  <a:spcBef>
                    <a:spcPct val="0"/>
                  </a:spcBef>
                  <a:spcAft>
                    <a:spcPct val="0"/>
                  </a:spcAft>
                  <a:defRPr sz="1400">
                    <a:solidFill>
                      <a:schemeClr val="tx1"/>
                    </a:solidFill>
                    <a:latin typeface="Century Gothic" pitchFamily="34" charset="0"/>
                  </a:defRPr>
                </a:lvl6pPr>
                <a:lvl7pPr marL="2971800" indent="-228600" eaLnBrk="0" fontAlgn="base" hangingPunct="0">
                  <a:spcBef>
                    <a:spcPct val="0"/>
                  </a:spcBef>
                  <a:spcAft>
                    <a:spcPct val="0"/>
                  </a:spcAft>
                  <a:defRPr sz="1400">
                    <a:solidFill>
                      <a:schemeClr val="tx1"/>
                    </a:solidFill>
                    <a:latin typeface="Century Gothic" pitchFamily="34" charset="0"/>
                  </a:defRPr>
                </a:lvl7pPr>
                <a:lvl8pPr marL="3429000" indent="-228600" eaLnBrk="0" fontAlgn="base" hangingPunct="0">
                  <a:spcBef>
                    <a:spcPct val="0"/>
                  </a:spcBef>
                  <a:spcAft>
                    <a:spcPct val="0"/>
                  </a:spcAft>
                  <a:defRPr sz="1400">
                    <a:solidFill>
                      <a:schemeClr val="tx1"/>
                    </a:solidFill>
                    <a:latin typeface="Century Gothic" pitchFamily="34" charset="0"/>
                  </a:defRPr>
                </a:lvl8pPr>
                <a:lvl9pPr marL="3886200" indent="-228600" eaLnBrk="0" fontAlgn="base" hangingPunct="0">
                  <a:spcBef>
                    <a:spcPct val="0"/>
                  </a:spcBef>
                  <a:spcAft>
                    <a:spcPct val="0"/>
                  </a:spcAft>
                  <a:defRPr sz="1400">
                    <a:solidFill>
                      <a:schemeClr val="tx1"/>
                    </a:solidFill>
                    <a:latin typeface="Century Gothic" pitchFamily="34" charset="0"/>
                  </a:defRPr>
                </a:lvl9pPr>
              </a:lstStyle>
              <a:p>
                <a:pPr algn="ctr" eaLnBrk="1" hangingPunct="1">
                  <a:spcBef>
                    <a:spcPct val="50000"/>
                  </a:spcBef>
                  <a:defRPr/>
                </a:pPr>
                <a:r>
                  <a:rPr lang="en-US" sz="1200">
                    <a:latin typeface="Comic Sans MS" pitchFamily="66" charset="0"/>
                  </a:rPr>
                  <a:t>CALENDER MONTH</a:t>
                </a:r>
              </a:p>
            </p:txBody>
          </p:sp>
        </p:grpSp>
        <p:sp>
          <p:nvSpPr>
            <p:cNvPr id="144397" name="Line 30">
              <a:extLst>
                <a:ext uri="{FF2B5EF4-FFF2-40B4-BE49-F238E27FC236}">
                  <a16:creationId xmlns:a16="http://schemas.microsoft.com/office/drawing/2014/main" id="{68782430-7EA6-0548-DFFE-C58FA5BA49F1}"/>
                </a:ext>
              </a:extLst>
            </p:cNvPr>
            <p:cNvSpPr>
              <a:spLocks noChangeShapeType="1"/>
            </p:cNvSpPr>
            <p:nvPr/>
          </p:nvSpPr>
          <p:spPr bwMode="auto">
            <a:xfrm>
              <a:off x="4267200" y="39624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4398" name="Line 31">
              <a:extLst>
                <a:ext uri="{FF2B5EF4-FFF2-40B4-BE49-F238E27FC236}">
                  <a16:creationId xmlns:a16="http://schemas.microsoft.com/office/drawing/2014/main" id="{EDC023C8-A379-2892-E6FE-AA6602818D39}"/>
                </a:ext>
              </a:extLst>
            </p:cNvPr>
            <p:cNvSpPr>
              <a:spLocks noChangeShapeType="1"/>
            </p:cNvSpPr>
            <p:nvPr/>
          </p:nvSpPr>
          <p:spPr bwMode="auto">
            <a:xfrm>
              <a:off x="4267200" y="48006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4399" name="Line 32">
              <a:extLst>
                <a:ext uri="{FF2B5EF4-FFF2-40B4-BE49-F238E27FC236}">
                  <a16:creationId xmlns:a16="http://schemas.microsoft.com/office/drawing/2014/main" id="{A21C7D38-940D-2AA4-16F2-56EACF1D85FC}"/>
                </a:ext>
              </a:extLst>
            </p:cNvPr>
            <p:cNvSpPr>
              <a:spLocks noChangeShapeType="1"/>
            </p:cNvSpPr>
            <p:nvPr/>
          </p:nvSpPr>
          <p:spPr bwMode="auto">
            <a:xfrm>
              <a:off x="4343400" y="55626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4400" name="Line 33">
              <a:extLst>
                <a:ext uri="{FF2B5EF4-FFF2-40B4-BE49-F238E27FC236}">
                  <a16:creationId xmlns:a16="http://schemas.microsoft.com/office/drawing/2014/main" id="{B50CFE62-F6B5-CCCC-C89B-1D2350E6CB08}"/>
                </a:ext>
              </a:extLst>
            </p:cNvPr>
            <p:cNvSpPr>
              <a:spLocks noChangeShapeType="1"/>
            </p:cNvSpPr>
            <p:nvPr/>
          </p:nvSpPr>
          <p:spPr bwMode="auto">
            <a:xfrm>
              <a:off x="5486400" y="5943600"/>
              <a:ext cx="609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4401" name="Line 34">
              <a:extLst>
                <a:ext uri="{FF2B5EF4-FFF2-40B4-BE49-F238E27FC236}">
                  <a16:creationId xmlns:a16="http://schemas.microsoft.com/office/drawing/2014/main" id="{89FD666D-69C1-0126-68EC-D01FB6B15F1A}"/>
                </a:ext>
              </a:extLst>
            </p:cNvPr>
            <p:cNvSpPr>
              <a:spLocks noChangeShapeType="1"/>
            </p:cNvSpPr>
            <p:nvPr/>
          </p:nvSpPr>
          <p:spPr bwMode="auto">
            <a:xfrm>
              <a:off x="8001000" y="39624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4402" name="Line 35">
              <a:extLst>
                <a:ext uri="{FF2B5EF4-FFF2-40B4-BE49-F238E27FC236}">
                  <a16:creationId xmlns:a16="http://schemas.microsoft.com/office/drawing/2014/main" id="{DA9BDF65-C618-364E-7B3E-3A23E418DB31}"/>
                </a:ext>
              </a:extLst>
            </p:cNvPr>
            <p:cNvSpPr>
              <a:spLocks noChangeShapeType="1"/>
            </p:cNvSpPr>
            <p:nvPr/>
          </p:nvSpPr>
          <p:spPr bwMode="auto">
            <a:xfrm>
              <a:off x="8077200" y="48006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4403" name="Line 36">
              <a:extLst>
                <a:ext uri="{FF2B5EF4-FFF2-40B4-BE49-F238E27FC236}">
                  <a16:creationId xmlns:a16="http://schemas.microsoft.com/office/drawing/2014/main" id="{DA35229B-87F4-2C34-3AFE-00E5A4A4044F}"/>
                </a:ext>
              </a:extLst>
            </p:cNvPr>
            <p:cNvSpPr>
              <a:spLocks noChangeShapeType="1"/>
            </p:cNvSpPr>
            <p:nvPr/>
          </p:nvSpPr>
          <p:spPr bwMode="auto">
            <a:xfrm flipH="1">
              <a:off x="7620000" y="5715000"/>
              <a:ext cx="457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Date Placeholder 1">
            <a:extLst>
              <a:ext uri="{FF2B5EF4-FFF2-40B4-BE49-F238E27FC236}">
                <a16:creationId xmlns:a16="http://schemas.microsoft.com/office/drawing/2014/main" id="{102FCC86-667A-FC20-3986-BCD9FEDDED77}"/>
              </a:ext>
            </a:extLst>
          </p:cNvPr>
          <p:cNvSpPr>
            <a:spLocks noGrp="1"/>
          </p:cNvSpPr>
          <p:nvPr>
            <p:ph type="dt" sz="quarter" idx="10"/>
          </p:nvPr>
        </p:nvSpPr>
        <p:spPr/>
        <p:txBody>
          <a:bodyPr/>
          <a:lstStyle/>
          <a:p>
            <a:pPr>
              <a:defRPr/>
            </a:pPr>
            <a:fld id="{9D89FDD7-B456-4B0F-AEDC-C5C764C12F67}" type="datetime1">
              <a:rPr lang="en-US" smtClean="0"/>
              <a:t>9/30/2025</a:t>
            </a:fld>
            <a:endParaRPr lang="en-US"/>
          </a:p>
        </p:txBody>
      </p:sp>
      <p:sp>
        <p:nvSpPr>
          <p:cNvPr id="3" name="Footer Placeholder 2">
            <a:extLst>
              <a:ext uri="{FF2B5EF4-FFF2-40B4-BE49-F238E27FC236}">
                <a16:creationId xmlns:a16="http://schemas.microsoft.com/office/drawing/2014/main" id="{D84AEB0F-2F8B-191C-5AA9-0139C9A7A742}"/>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1B66A40A-3BFB-D3DE-2208-171E8A15B773}"/>
              </a:ext>
            </a:extLst>
          </p:cNvPr>
          <p:cNvSpPr>
            <a:spLocks noGrp="1"/>
          </p:cNvSpPr>
          <p:nvPr>
            <p:ph type="sldNum" sz="quarter" idx="12"/>
          </p:nvPr>
        </p:nvSpPr>
        <p:spPr/>
        <p:txBody>
          <a:bodyPr/>
          <a:lstStyle/>
          <a:p>
            <a:pPr>
              <a:defRPr/>
            </a:pPr>
            <a:fld id="{BDF7FA9F-4A4D-4DEC-907E-6E222DA5826E}" type="slidenum">
              <a:rPr lang="en-US" altLang="en-US" smtClean="0"/>
              <a:pPr>
                <a:defRPr/>
              </a:pPr>
              <a:t>69</a:t>
            </a:fld>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FEEA84DA-7CD4-7157-6852-3BEB7E41519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46435" name="Text Box 3">
            <a:extLst>
              <a:ext uri="{FF2B5EF4-FFF2-40B4-BE49-F238E27FC236}">
                <a16:creationId xmlns:a16="http://schemas.microsoft.com/office/drawing/2014/main" id="{4BA4192E-F826-D7E9-5304-1658ADD976A1}"/>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46436" name="Text Box 4">
            <a:extLst>
              <a:ext uri="{FF2B5EF4-FFF2-40B4-BE49-F238E27FC236}">
                <a16:creationId xmlns:a16="http://schemas.microsoft.com/office/drawing/2014/main" id="{4C918257-A4CE-C473-2BC8-0F9B8F5AAC7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46437" name="Text Box 5">
            <a:extLst>
              <a:ext uri="{FF2B5EF4-FFF2-40B4-BE49-F238E27FC236}">
                <a16:creationId xmlns:a16="http://schemas.microsoft.com/office/drawing/2014/main" id="{CFE919F6-57FE-4EDF-D1A3-670556F0C2CF}"/>
              </a:ext>
            </a:extLst>
          </p:cNvPr>
          <p:cNvSpPr txBox="1">
            <a:spLocks noChangeArrowheads="1"/>
          </p:cNvSpPr>
          <p:nvPr/>
        </p:nvSpPr>
        <p:spPr bwMode="auto">
          <a:xfrm>
            <a:off x="2649070" y="1949823"/>
            <a:ext cx="8476129" cy="349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lnSpc>
                <a:spcPct val="60000"/>
              </a:lnSpc>
            </a:pPr>
            <a:endParaRPr lang="en-US" altLang="en-US" sz="2000" b="1" dirty="0">
              <a:latin typeface="Times New Roman" panose="02020603050405020304" pitchFamily="18" charset="0"/>
            </a:endParaRPr>
          </a:p>
          <a:p>
            <a:pPr eaLnBrk="1" hangingPunct="1"/>
            <a:r>
              <a:rPr lang="en-US" altLang="en-US" sz="2000" b="1" dirty="0">
                <a:latin typeface="Times New Roman" panose="02020603050405020304" pitchFamily="18" charset="0"/>
              </a:rPr>
              <a:t>Step 5:	Feedback for the Design (Fact And Dimension Tables)</a:t>
            </a:r>
          </a:p>
          <a:p>
            <a:pPr eaLnBrk="1" hangingPunct="1"/>
            <a:endParaRPr lang="en-US" altLang="en-US" sz="2000" dirty="0">
              <a:latin typeface="Times New Roman" panose="02020603050405020304" pitchFamily="18" charset="0"/>
            </a:endParaRPr>
          </a:p>
          <a:p>
            <a:pPr eaLnBrk="1" hangingPunct="1"/>
            <a:r>
              <a:rPr lang="en-US" altLang="en-US" sz="2000" dirty="0">
                <a:latin typeface="Times New Roman" panose="02020603050405020304" pitchFamily="18" charset="0"/>
              </a:rPr>
              <a:t>	</a:t>
            </a:r>
            <a:r>
              <a:rPr lang="en-US" altLang="en-US" sz="2000" b="1" dirty="0">
                <a:latin typeface="Times New Roman" panose="02020603050405020304" pitchFamily="18" charset="0"/>
              </a:rPr>
              <a:t>Step 5 A.  Get Inputs from the IS Team</a:t>
            </a:r>
            <a:endParaRPr lang="en-US" altLang="en-US" sz="2000" dirty="0">
              <a:latin typeface="Times New Roman" panose="02020603050405020304" pitchFamily="18" charset="0"/>
            </a:endParaRPr>
          </a:p>
          <a:p>
            <a:pPr lvl="2" eaLnBrk="1" hangingPunct="1">
              <a:buFont typeface="Symbol" panose="05050102010706020507" pitchFamily="18" charset="2"/>
              <a:buChar char="·"/>
            </a:pPr>
            <a:r>
              <a:rPr lang="en-US" altLang="en-US" sz="1600" dirty="0">
                <a:latin typeface="Times New Roman" panose="02020603050405020304" pitchFamily="18" charset="0"/>
              </a:rPr>
              <a:t>  Focus:  Need to see what are missed in the current dimensional model</a:t>
            </a:r>
          </a:p>
          <a:p>
            <a:pPr eaLnBrk="1" hangingPunct="1">
              <a:lnSpc>
                <a:spcPct val="60000"/>
              </a:lnSpc>
            </a:pPr>
            <a:endParaRPr lang="en-US" altLang="en-US" sz="1600" dirty="0">
              <a:latin typeface="Times New Roman" panose="02020603050405020304" pitchFamily="18" charset="0"/>
            </a:endParaRPr>
          </a:p>
          <a:p>
            <a:pPr eaLnBrk="1" hangingPunct="1"/>
            <a:r>
              <a:rPr lang="en-US" altLang="en-US" sz="2000" dirty="0">
                <a:latin typeface="Times New Roman" panose="02020603050405020304" pitchFamily="18" charset="0"/>
              </a:rPr>
              <a:t>	</a:t>
            </a:r>
            <a:r>
              <a:rPr lang="en-US" altLang="en-US" sz="2000" b="1" dirty="0">
                <a:latin typeface="Times New Roman" panose="02020603050405020304" pitchFamily="18" charset="0"/>
              </a:rPr>
              <a:t>Step 5 B.  Get Inputs from the Core Business Users</a:t>
            </a:r>
          </a:p>
          <a:p>
            <a:pPr lvl="2" eaLnBrk="1" hangingPunct="1">
              <a:buFont typeface="Symbol" panose="05050102010706020507" pitchFamily="18" charset="2"/>
              <a:buChar char="·"/>
            </a:pPr>
            <a:r>
              <a:rPr lang="en-US" altLang="en-US" sz="1600" dirty="0">
                <a:latin typeface="Times New Roman" panose="02020603050405020304" pitchFamily="18" charset="0"/>
              </a:rPr>
              <a:t>  Focus:  (a) See if the dimension model helps all the types of reports the core business users are envisioning to have; (b) Navigation through the large dimensions</a:t>
            </a:r>
          </a:p>
          <a:p>
            <a:pPr eaLnBrk="1" hangingPunct="1"/>
            <a:endParaRPr lang="en-US" altLang="en-US" sz="1600" dirty="0">
              <a:latin typeface="Times New Roman" panose="02020603050405020304" pitchFamily="18" charset="0"/>
            </a:endParaRPr>
          </a:p>
          <a:p>
            <a:pPr eaLnBrk="1" hangingPunct="1"/>
            <a:r>
              <a:rPr lang="en-US" altLang="en-US" sz="2000" dirty="0">
                <a:latin typeface="Times New Roman" panose="02020603050405020304" pitchFamily="18" charset="0"/>
              </a:rPr>
              <a:t>	</a:t>
            </a:r>
            <a:r>
              <a:rPr lang="en-US" altLang="en-US" sz="2000" b="1" dirty="0">
                <a:latin typeface="Times New Roman" panose="02020603050405020304" pitchFamily="18" charset="0"/>
              </a:rPr>
              <a:t>Step 5 C. Present to Business Users</a:t>
            </a:r>
          </a:p>
          <a:p>
            <a:pPr lvl="2" eaLnBrk="1" hangingPunct="1">
              <a:lnSpc>
                <a:spcPct val="70000"/>
              </a:lnSpc>
              <a:buFont typeface="Symbol" panose="05050102010706020507" pitchFamily="18" charset="2"/>
              <a:buChar char="·"/>
            </a:pPr>
            <a:r>
              <a:rPr lang="en-US" altLang="en-US" sz="1600" dirty="0">
                <a:latin typeface="Times New Roman" panose="02020603050405020304" pitchFamily="18" charset="0"/>
              </a:rPr>
              <a:t>  Focus: (a) check the model against the business questions; </a:t>
            </a:r>
          </a:p>
        </p:txBody>
      </p:sp>
      <p:sp>
        <p:nvSpPr>
          <p:cNvPr id="2" name="Date Placeholder 1">
            <a:extLst>
              <a:ext uri="{FF2B5EF4-FFF2-40B4-BE49-F238E27FC236}">
                <a16:creationId xmlns:a16="http://schemas.microsoft.com/office/drawing/2014/main" id="{77154CE7-A5BD-A853-ACB5-3F17B97EA76E}"/>
              </a:ext>
            </a:extLst>
          </p:cNvPr>
          <p:cNvSpPr>
            <a:spLocks noGrp="1"/>
          </p:cNvSpPr>
          <p:nvPr>
            <p:ph type="dt" sz="quarter" idx="10"/>
          </p:nvPr>
        </p:nvSpPr>
        <p:spPr/>
        <p:txBody>
          <a:bodyPr/>
          <a:lstStyle/>
          <a:p>
            <a:pPr>
              <a:defRPr/>
            </a:pPr>
            <a:fld id="{2F35DA16-7029-4DD2-80FE-F855D303FAA4}" type="datetime1">
              <a:rPr lang="en-US" smtClean="0"/>
              <a:t>9/30/2025</a:t>
            </a:fld>
            <a:endParaRPr lang="en-US"/>
          </a:p>
        </p:txBody>
      </p:sp>
      <p:sp>
        <p:nvSpPr>
          <p:cNvPr id="3" name="Footer Placeholder 2">
            <a:extLst>
              <a:ext uri="{FF2B5EF4-FFF2-40B4-BE49-F238E27FC236}">
                <a16:creationId xmlns:a16="http://schemas.microsoft.com/office/drawing/2014/main" id="{75FD0D31-2DA6-53ED-F6FF-F34394A64752}"/>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C98E864-AA7B-D0AE-6561-060A59819182}"/>
              </a:ext>
            </a:extLst>
          </p:cNvPr>
          <p:cNvSpPr>
            <a:spLocks noGrp="1"/>
          </p:cNvSpPr>
          <p:nvPr>
            <p:ph type="sldNum" sz="quarter" idx="12"/>
          </p:nvPr>
        </p:nvSpPr>
        <p:spPr/>
        <p:txBody>
          <a:bodyPr/>
          <a:lstStyle/>
          <a:p>
            <a:pPr>
              <a:defRPr/>
            </a:pPr>
            <a:fld id="{8EC34E83-A33C-45A9-ACEB-F828A8BF6271}" type="slidenum">
              <a:rPr lang="en-US" altLang="en-US" smtClean="0"/>
              <a:pPr>
                <a:defRPr/>
              </a:pPr>
              <a:t>70</a:t>
            </a:fld>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026">
            <a:extLst>
              <a:ext uri="{FF2B5EF4-FFF2-40B4-BE49-F238E27FC236}">
                <a16:creationId xmlns:a16="http://schemas.microsoft.com/office/drawing/2014/main" id="{0F55F9F5-7C74-121F-021D-9C57E70E245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48483" name="Text Box 1027">
            <a:extLst>
              <a:ext uri="{FF2B5EF4-FFF2-40B4-BE49-F238E27FC236}">
                <a16:creationId xmlns:a16="http://schemas.microsoft.com/office/drawing/2014/main" id="{F44929D8-7591-5FA9-4FE0-7776AE313B0D}"/>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48484" name="Text Box 1028">
            <a:extLst>
              <a:ext uri="{FF2B5EF4-FFF2-40B4-BE49-F238E27FC236}">
                <a16:creationId xmlns:a16="http://schemas.microsoft.com/office/drawing/2014/main" id="{72DA3C2A-5F4A-6200-595D-8B07B483F521}"/>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48485" name="Text Box 1029">
            <a:extLst>
              <a:ext uri="{FF2B5EF4-FFF2-40B4-BE49-F238E27FC236}">
                <a16:creationId xmlns:a16="http://schemas.microsoft.com/office/drawing/2014/main" id="{0211AA8A-B663-B384-0D6D-454656128601}"/>
              </a:ext>
            </a:extLst>
          </p:cNvPr>
          <p:cNvSpPr txBox="1">
            <a:spLocks noChangeArrowheads="1"/>
          </p:cNvSpPr>
          <p:nvPr/>
        </p:nvSpPr>
        <p:spPr bwMode="auto">
          <a:xfrm>
            <a:off x="2666999" y="1905001"/>
            <a:ext cx="8545483"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dirty="0">
              <a:latin typeface="Times New Roman" panose="02020603050405020304" pitchFamily="18" charset="0"/>
            </a:endParaRPr>
          </a:p>
          <a:p>
            <a:pPr eaLnBrk="1" hangingPunct="1"/>
            <a:r>
              <a:rPr lang="en-US" altLang="en-US" sz="2000" b="1" dirty="0">
                <a:latin typeface="Times New Roman" panose="02020603050405020304" pitchFamily="18" charset="0"/>
              </a:rPr>
              <a:t>Step 6:	Data Sourcing</a:t>
            </a:r>
          </a:p>
          <a:p>
            <a:pPr lvl="2" eaLnBrk="1" hangingPunct="1">
              <a:buFont typeface="Symbol" panose="05050102010706020507" pitchFamily="18" charset="2"/>
              <a:buChar char="·"/>
            </a:pPr>
            <a:r>
              <a:rPr lang="en-US" altLang="en-US" sz="2000" dirty="0">
                <a:latin typeface="Times New Roman" panose="02020603050405020304" pitchFamily="18" charset="0"/>
              </a:rPr>
              <a:t>There are two kinds of data sources: informal and formal.</a:t>
            </a:r>
          </a:p>
          <a:p>
            <a:pPr lvl="3" eaLnBrk="1" hangingPunct="1">
              <a:buFont typeface="Symbol" panose="05050102010706020507" pitchFamily="18" charset="2"/>
              <a:buChar char="·"/>
            </a:pPr>
            <a:r>
              <a:rPr lang="en-US" altLang="en-US" sz="1600" dirty="0">
                <a:latin typeface="Times New Roman" panose="02020603050405020304" pitchFamily="18" charset="0"/>
              </a:rPr>
              <a:t>Informal data sources are personal databases and new data input.  In both cases, </a:t>
            </a:r>
            <a:r>
              <a:rPr lang="en-US" altLang="en-US" sz="1600" b="1" dirty="0">
                <a:latin typeface="Times New Roman" panose="02020603050405020304" pitchFamily="18" charset="0"/>
              </a:rPr>
              <a:t>make sure</a:t>
            </a:r>
            <a:r>
              <a:rPr lang="en-US" altLang="en-US" sz="1600" dirty="0">
                <a:latin typeface="Times New Roman" panose="02020603050405020304" pitchFamily="18" charset="0"/>
              </a:rPr>
              <a:t> to clean the data before you let them in the data warehouse.</a:t>
            </a:r>
          </a:p>
          <a:p>
            <a:pPr lvl="3" eaLnBrk="1" hangingPunct="1">
              <a:buFont typeface="Symbol" panose="05050102010706020507" pitchFamily="18" charset="2"/>
              <a:buChar char="·"/>
            </a:pPr>
            <a:r>
              <a:rPr lang="en-US" altLang="en-US" sz="1600" dirty="0">
                <a:latin typeface="Times New Roman" panose="02020603050405020304" pitchFamily="18" charset="0"/>
              </a:rPr>
              <a:t>Formal sources are usually supported by the database staff</a:t>
            </a:r>
          </a:p>
        </p:txBody>
      </p:sp>
      <p:sp>
        <p:nvSpPr>
          <p:cNvPr id="2" name="Date Placeholder 1">
            <a:extLst>
              <a:ext uri="{FF2B5EF4-FFF2-40B4-BE49-F238E27FC236}">
                <a16:creationId xmlns:a16="http://schemas.microsoft.com/office/drawing/2014/main" id="{56D2DCCA-F195-9213-955E-EBE46510A79C}"/>
              </a:ext>
            </a:extLst>
          </p:cNvPr>
          <p:cNvSpPr>
            <a:spLocks noGrp="1"/>
          </p:cNvSpPr>
          <p:nvPr>
            <p:ph type="dt" sz="quarter" idx="10"/>
          </p:nvPr>
        </p:nvSpPr>
        <p:spPr/>
        <p:txBody>
          <a:bodyPr/>
          <a:lstStyle/>
          <a:p>
            <a:pPr>
              <a:defRPr/>
            </a:pPr>
            <a:fld id="{6682075A-DE8A-4B25-A926-46BFBC25B99A}" type="datetime1">
              <a:rPr lang="en-US" smtClean="0"/>
              <a:t>9/30/2025</a:t>
            </a:fld>
            <a:endParaRPr lang="en-US"/>
          </a:p>
        </p:txBody>
      </p:sp>
      <p:sp>
        <p:nvSpPr>
          <p:cNvPr id="3" name="Footer Placeholder 2">
            <a:extLst>
              <a:ext uri="{FF2B5EF4-FFF2-40B4-BE49-F238E27FC236}">
                <a16:creationId xmlns:a16="http://schemas.microsoft.com/office/drawing/2014/main" id="{E114FA88-021F-90A9-3943-3054F3AFF683}"/>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6776196D-AEB6-25D9-706F-5F8240CE771B}"/>
              </a:ext>
            </a:extLst>
          </p:cNvPr>
          <p:cNvSpPr>
            <a:spLocks noGrp="1"/>
          </p:cNvSpPr>
          <p:nvPr>
            <p:ph type="sldNum" sz="quarter" idx="12"/>
          </p:nvPr>
        </p:nvSpPr>
        <p:spPr/>
        <p:txBody>
          <a:bodyPr/>
          <a:lstStyle/>
          <a:p>
            <a:pPr>
              <a:defRPr/>
            </a:pPr>
            <a:fld id="{3F3E2644-71CF-4BE7-827D-AB735CF14F88}" type="slidenum">
              <a:rPr lang="en-US" altLang="en-US" smtClean="0"/>
              <a:pPr>
                <a:defRPr/>
              </a:pPr>
              <a:t>71</a:t>
            </a:fld>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824B1000-8F1A-9C36-2121-ED355BDA665C}"/>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50531" name="Text Box 3">
            <a:extLst>
              <a:ext uri="{FF2B5EF4-FFF2-40B4-BE49-F238E27FC236}">
                <a16:creationId xmlns:a16="http://schemas.microsoft.com/office/drawing/2014/main" id="{22BCDFB8-F2CC-9D2F-D938-55EF0E67F30F}"/>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50532" name="Text Box 4">
            <a:extLst>
              <a:ext uri="{FF2B5EF4-FFF2-40B4-BE49-F238E27FC236}">
                <a16:creationId xmlns:a16="http://schemas.microsoft.com/office/drawing/2014/main" id="{4E4C4F26-9A5E-BCD3-10C6-6FC1FBCE488C}"/>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50533" name="Text Box 5">
            <a:extLst>
              <a:ext uri="{FF2B5EF4-FFF2-40B4-BE49-F238E27FC236}">
                <a16:creationId xmlns:a16="http://schemas.microsoft.com/office/drawing/2014/main" id="{198D5EB9-CFFB-4CBF-9750-F78E20B591DF}"/>
              </a:ext>
            </a:extLst>
          </p:cNvPr>
          <p:cNvSpPr txBox="1">
            <a:spLocks noChangeArrowheads="1"/>
          </p:cNvSpPr>
          <p:nvPr/>
        </p:nvSpPr>
        <p:spPr bwMode="auto">
          <a:xfrm>
            <a:off x="2667000" y="1905000"/>
            <a:ext cx="868231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dirty="0">
              <a:latin typeface="Times New Roman" panose="02020603050405020304" pitchFamily="18" charset="0"/>
            </a:endParaRPr>
          </a:p>
          <a:p>
            <a:pPr eaLnBrk="1" hangingPunct="1"/>
            <a:r>
              <a:rPr lang="en-US" altLang="en-US" sz="2000" b="1" dirty="0">
                <a:latin typeface="Times New Roman" panose="02020603050405020304" pitchFamily="18" charset="0"/>
              </a:rPr>
              <a:t>Step 6:	Data Sourcing</a:t>
            </a:r>
          </a:p>
          <a:p>
            <a:pPr lvl="2" eaLnBrk="1" hangingPunct="1">
              <a:buFont typeface="Symbol" panose="05050102010706020507" pitchFamily="18" charset="2"/>
              <a:buChar char="·"/>
            </a:pPr>
            <a:r>
              <a:rPr lang="en-US" altLang="en-US" sz="2000" dirty="0">
                <a:latin typeface="Times New Roman" panose="02020603050405020304" pitchFamily="18" charset="0"/>
              </a:rPr>
              <a:t>Create Data Source Definitions </a:t>
            </a:r>
          </a:p>
          <a:p>
            <a:pPr lvl="3" eaLnBrk="1" hangingPunct="1">
              <a:buFont typeface="Symbol" panose="05050102010706020507" pitchFamily="18" charset="2"/>
              <a:buChar char="·"/>
            </a:pPr>
            <a:r>
              <a:rPr lang="en-US" altLang="en-US" sz="1600" dirty="0">
                <a:latin typeface="Times New Roman" panose="02020603050405020304" pitchFamily="18" charset="0"/>
              </a:rPr>
              <a:t>source -- name of the source system</a:t>
            </a:r>
          </a:p>
          <a:p>
            <a:pPr lvl="3" eaLnBrk="1" hangingPunct="1">
              <a:buFont typeface="Symbol" panose="05050102010706020507" pitchFamily="18" charset="2"/>
              <a:buChar char="·"/>
            </a:pPr>
            <a:r>
              <a:rPr lang="en-US" altLang="en-US" sz="1600" dirty="0">
                <a:latin typeface="Times New Roman" panose="02020603050405020304" pitchFamily="18" charset="0"/>
              </a:rPr>
              <a:t>business owner -- the name of the primary contact responsible</a:t>
            </a:r>
          </a:p>
          <a:p>
            <a:pPr lvl="3" eaLnBrk="1" hangingPunct="1">
              <a:buFont typeface="Symbol" panose="05050102010706020507" pitchFamily="18" charset="2"/>
              <a:buChar char="·"/>
            </a:pPr>
            <a:r>
              <a:rPr lang="en-US" altLang="en-US" sz="1600" dirty="0">
                <a:latin typeface="Times New Roman" panose="02020603050405020304" pitchFamily="18" charset="0"/>
              </a:rPr>
              <a:t>IS owner -- the name of the person who is responsible for the source system</a:t>
            </a:r>
          </a:p>
          <a:p>
            <a:pPr lvl="3" eaLnBrk="1" hangingPunct="1">
              <a:buFont typeface="Symbol" panose="05050102010706020507" pitchFamily="18" charset="2"/>
              <a:buChar char="·"/>
            </a:pPr>
            <a:r>
              <a:rPr lang="en-US" altLang="en-US" sz="1600" dirty="0">
                <a:latin typeface="Times New Roman" panose="02020603050405020304" pitchFamily="18" charset="0"/>
              </a:rPr>
              <a:t>platform</a:t>
            </a:r>
          </a:p>
          <a:p>
            <a:pPr lvl="3" eaLnBrk="1" hangingPunct="1">
              <a:buFont typeface="Symbol" panose="05050102010706020507" pitchFamily="18" charset="2"/>
              <a:buChar char="·"/>
            </a:pPr>
            <a:r>
              <a:rPr lang="en-US" altLang="en-US" sz="1600" dirty="0">
                <a:latin typeface="Times New Roman" panose="02020603050405020304" pitchFamily="18" charset="0"/>
              </a:rPr>
              <a:t>location</a:t>
            </a:r>
          </a:p>
          <a:p>
            <a:pPr lvl="3" eaLnBrk="1" hangingPunct="1">
              <a:buFont typeface="Symbol" panose="05050102010706020507" pitchFamily="18" charset="2"/>
              <a:buChar char="·"/>
            </a:pPr>
            <a:r>
              <a:rPr lang="en-US" altLang="en-US" sz="1600" dirty="0">
                <a:latin typeface="Times New Roman" panose="02020603050405020304" pitchFamily="18" charset="0"/>
              </a:rPr>
              <a:t>description</a:t>
            </a:r>
          </a:p>
        </p:txBody>
      </p:sp>
      <p:sp>
        <p:nvSpPr>
          <p:cNvPr id="2" name="Date Placeholder 1">
            <a:extLst>
              <a:ext uri="{FF2B5EF4-FFF2-40B4-BE49-F238E27FC236}">
                <a16:creationId xmlns:a16="http://schemas.microsoft.com/office/drawing/2014/main" id="{791DE454-F115-34DA-4FDF-EA8F7D41E1A1}"/>
              </a:ext>
            </a:extLst>
          </p:cNvPr>
          <p:cNvSpPr>
            <a:spLocks noGrp="1"/>
          </p:cNvSpPr>
          <p:nvPr>
            <p:ph type="dt" sz="quarter" idx="10"/>
          </p:nvPr>
        </p:nvSpPr>
        <p:spPr/>
        <p:txBody>
          <a:bodyPr/>
          <a:lstStyle/>
          <a:p>
            <a:pPr>
              <a:defRPr/>
            </a:pPr>
            <a:fld id="{D4952CB6-09D9-49BC-B3CB-EBD8B822C2F2}" type="datetime1">
              <a:rPr lang="en-US" smtClean="0"/>
              <a:t>9/30/2025</a:t>
            </a:fld>
            <a:endParaRPr lang="en-US"/>
          </a:p>
        </p:txBody>
      </p:sp>
      <p:sp>
        <p:nvSpPr>
          <p:cNvPr id="3" name="Footer Placeholder 2">
            <a:extLst>
              <a:ext uri="{FF2B5EF4-FFF2-40B4-BE49-F238E27FC236}">
                <a16:creationId xmlns:a16="http://schemas.microsoft.com/office/drawing/2014/main" id="{01D37F40-2B8F-CD7F-85E3-7055F09C0018}"/>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3FFAA26-8C6C-C52D-8ACC-075B040CCACE}"/>
              </a:ext>
            </a:extLst>
          </p:cNvPr>
          <p:cNvSpPr>
            <a:spLocks noGrp="1"/>
          </p:cNvSpPr>
          <p:nvPr>
            <p:ph type="sldNum" sz="quarter" idx="12"/>
          </p:nvPr>
        </p:nvSpPr>
        <p:spPr/>
        <p:txBody>
          <a:bodyPr/>
          <a:lstStyle/>
          <a:p>
            <a:pPr>
              <a:defRPr/>
            </a:pPr>
            <a:fld id="{49374CE4-D4CE-4CCA-8019-D07654C5D7E2}" type="slidenum">
              <a:rPr lang="en-US" altLang="en-US" smtClean="0"/>
              <a:pPr>
                <a:defRPr/>
              </a:pPr>
              <a:t>72</a:t>
            </a:fld>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30A3EC68-9AB4-CFF4-EE7F-0EC081600B2F}"/>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52579" name="Text Box 3">
            <a:extLst>
              <a:ext uri="{FF2B5EF4-FFF2-40B4-BE49-F238E27FC236}">
                <a16:creationId xmlns:a16="http://schemas.microsoft.com/office/drawing/2014/main" id="{ED3D41C8-06FA-DF12-45A0-4E3E66CA2796}"/>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52580" name="Text Box 4">
            <a:extLst>
              <a:ext uri="{FF2B5EF4-FFF2-40B4-BE49-F238E27FC236}">
                <a16:creationId xmlns:a16="http://schemas.microsoft.com/office/drawing/2014/main" id="{3D9DECD7-09F6-D949-6B57-1363C3B14C6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52581" name="Text Box 5">
            <a:extLst>
              <a:ext uri="{FF2B5EF4-FFF2-40B4-BE49-F238E27FC236}">
                <a16:creationId xmlns:a16="http://schemas.microsoft.com/office/drawing/2014/main" id="{2457A484-9A98-55DE-0853-6529CBF0E9D2}"/>
              </a:ext>
            </a:extLst>
          </p:cNvPr>
          <p:cNvSpPr txBox="1">
            <a:spLocks noChangeArrowheads="1"/>
          </p:cNvSpPr>
          <p:nvPr/>
        </p:nvSpPr>
        <p:spPr bwMode="auto">
          <a:xfrm>
            <a:off x="2667000" y="1905001"/>
            <a:ext cx="866438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a:defRPr>
                <a:solidFill>
                  <a:schemeClr val="tx1"/>
                </a:solidFill>
                <a:latin typeface="Franklin Gothic Book" panose="020B0503020102020204" pitchFamily="34" charset="0"/>
              </a:defRPr>
            </a:lvl5pPr>
            <a:lvl6pPr defTabSz="457200" eaLnBrk="0" fontAlgn="base" hangingPunct="0">
              <a:spcBef>
                <a:spcPct val="0"/>
              </a:spcBef>
              <a:spcAft>
                <a:spcPct val="0"/>
              </a:spcAft>
              <a:defRPr>
                <a:solidFill>
                  <a:schemeClr val="tx1"/>
                </a:solidFill>
                <a:latin typeface="Franklin Gothic Book" panose="020B0503020102020204" pitchFamily="34" charset="0"/>
              </a:defRPr>
            </a:lvl6pPr>
            <a:lvl7pPr defTabSz="457200" eaLnBrk="0" fontAlgn="base" hangingPunct="0">
              <a:spcBef>
                <a:spcPct val="0"/>
              </a:spcBef>
              <a:spcAft>
                <a:spcPct val="0"/>
              </a:spcAft>
              <a:defRPr>
                <a:solidFill>
                  <a:schemeClr val="tx1"/>
                </a:solidFill>
                <a:latin typeface="Franklin Gothic Book" panose="020B0503020102020204" pitchFamily="34" charset="0"/>
              </a:defRPr>
            </a:lvl7pPr>
            <a:lvl8pPr defTabSz="457200" eaLnBrk="0" fontAlgn="base" hangingPunct="0">
              <a:spcBef>
                <a:spcPct val="0"/>
              </a:spcBef>
              <a:spcAft>
                <a:spcPct val="0"/>
              </a:spcAft>
              <a:defRPr>
                <a:solidFill>
                  <a:schemeClr val="tx1"/>
                </a:solidFill>
                <a:latin typeface="Franklin Gothic Book" panose="020B0503020102020204" pitchFamily="34" charset="0"/>
              </a:defRPr>
            </a:lvl8pPr>
            <a:lvl9pPr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dirty="0">
              <a:latin typeface="Times New Roman" panose="02020603050405020304" pitchFamily="18" charset="0"/>
            </a:endParaRPr>
          </a:p>
          <a:p>
            <a:pPr eaLnBrk="1" hangingPunct="1"/>
            <a:r>
              <a:rPr lang="en-US" altLang="en-US" sz="2000" b="1" dirty="0">
                <a:latin typeface="Times New Roman" panose="02020603050405020304" pitchFamily="18" charset="0"/>
              </a:rPr>
              <a:t>Step 6:	Data Sourcing</a:t>
            </a:r>
          </a:p>
          <a:p>
            <a:pPr lvl="2" eaLnBrk="1" hangingPunct="1">
              <a:buFont typeface="Symbol" panose="05050102010706020507" pitchFamily="18" charset="2"/>
              <a:buChar char="·"/>
            </a:pPr>
            <a:r>
              <a:rPr lang="en-US" altLang="en-US" sz="1600" dirty="0">
                <a:latin typeface="Times New Roman" panose="02020603050405020304" pitchFamily="18" charset="0"/>
              </a:rPr>
              <a:t>Remember that there will be external data providers (could be data vendors, or could be from other divisions of the organization)</a:t>
            </a:r>
          </a:p>
          <a:p>
            <a:pPr lvl="2" eaLnBrk="1" hangingPunct="1">
              <a:buFont typeface="Symbol" panose="05050102010706020507" pitchFamily="18" charset="2"/>
              <a:buChar char="·"/>
            </a:pPr>
            <a:r>
              <a:rPr lang="en-US" altLang="en-US" sz="1600" dirty="0">
                <a:latin typeface="Times New Roman" panose="02020603050405020304" pitchFamily="18" charset="0"/>
              </a:rPr>
              <a:t>Facts need to come from one data source system</a:t>
            </a:r>
          </a:p>
          <a:p>
            <a:pPr lvl="2" eaLnBrk="1" hangingPunct="1">
              <a:buFontTx/>
              <a:buChar char="•"/>
            </a:pPr>
            <a:r>
              <a:rPr lang="en-US" altLang="en-US" sz="1600" b="1" dirty="0">
                <a:latin typeface="Times New Roman" panose="02020603050405020304" pitchFamily="18" charset="0"/>
              </a:rPr>
              <a:t>Data Extraction Planning</a:t>
            </a:r>
          </a:p>
          <a:p>
            <a:pPr lvl="4" eaLnBrk="1" hangingPunct="1">
              <a:buFont typeface="Symbol" panose="05050102010706020507" pitchFamily="18" charset="2"/>
              <a:buChar char="·"/>
            </a:pPr>
            <a:r>
              <a:rPr lang="en-US" altLang="en-US" sz="1600" dirty="0">
                <a:latin typeface="Times New Roman" panose="02020603050405020304" pitchFamily="18" charset="0"/>
              </a:rPr>
              <a:t>Data Accessibility -- pick the easier access data source</a:t>
            </a:r>
          </a:p>
          <a:p>
            <a:pPr lvl="4" eaLnBrk="1" hangingPunct="1">
              <a:buFont typeface="Symbol" panose="05050102010706020507" pitchFamily="18" charset="2"/>
              <a:buChar char="·"/>
            </a:pPr>
            <a:r>
              <a:rPr lang="en-US" altLang="en-US" sz="1600" dirty="0">
                <a:latin typeface="Times New Roman" panose="02020603050405020304" pitchFamily="18" charset="0"/>
              </a:rPr>
              <a:t>Look for the step that feeds the data</a:t>
            </a:r>
          </a:p>
          <a:p>
            <a:pPr lvl="4" eaLnBrk="1" hangingPunct="1">
              <a:buFont typeface="Symbol" panose="05050102010706020507" pitchFamily="18" charset="2"/>
              <a:buChar char="·"/>
            </a:pPr>
            <a:r>
              <a:rPr lang="en-US" altLang="en-US" sz="1600" dirty="0">
                <a:latin typeface="Times New Roman" panose="02020603050405020304" pitchFamily="18" charset="0"/>
              </a:rPr>
              <a:t>Data Accuracy</a:t>
            </a:r>
          </a:p>
          <a:p>
            <a:pPr lvl="2" eaLnBrk="1" hangingPunct="1">
              <a:buFont typeface="Symbol" panose="05050102010706020507" pitchFamily="18" charset="2"/>
              <a:buChar char="·"/>
            </a:pPr>
            <a:r>
              <a:rPr lang="en-US" altLang="en-US" sz="1600" b="1" dirty="0">
                <a:latin typeface="Times New Roman" panose="02020603050405020304" pitchFamily="18" charset="0"/>
              </a:rPr>
              <a:t>Mapping Data from Source to Staging (type 1)</a:t>
            </a:r>
            <a:endParaRPr lang="en-US" altLang="en-US" sz="1600" dirty="0">
              <a:latin typeface="Times New Roman" panose="02020603050405020304" pitchFamily="18" charset="0"/>
            </a:endParaRPr>
          </a:p>
        </p:txBody>
      </p:sp>
      <p:graphicFrame>
        <p:nvGraphicFramePr>
          <p:cNvPr id="2" name="Table 2">
            <a:extLst>
              <a:ext uri="{FF2B5EF4-FFF2-40B4-BE49-F238E27FC236}">
                <a16:creationId xmlns:a16="http://schemas.microsoft.com/office/drawing/2014/main" id="{5A98A033-8C58-74D2-B52F-ED2753DD3948}"/>
              </a:ext>
            </a:extLst>
          </p:cNvPr>
          <p:cNvGraphicFramePr>
            <a:graphicFrameLocks noGrp="1"/>
          </p:cNvGraphicFramePr>
          <p:nvPr>
            <p:extLst>
              <p:ext uri="{D42A27DB-BD31-4B8C-83A1-F6EECF244321}">
                <p14:modId xmlns:p14="http://schemas.microsoft.com/office/powerpoint/2010/main" val="1748640081"/>
              </p:ext>
            </p:extLst>
          </p:nvPr>
        </p:nvGraphicFramePr>
        <p:xfrm>
          <a:off x="3478026" y="5157404"/>
          <a:ext cx="6553201" cy="1096965"/>
        </p:xfrm>
        <a:graphic>
          <a:graphicData uri="http://schemas.openxmlformats.org/drawingml/2006/table">
            <a:tbl>
              <a:tblPr/>
              <a:tblGrid>
                <a:gridCol w="1034384">
                  <a:extLst>
                    <a:ext uri="{9D8B030D-6E8A-4147-A177-3AD203B41FA5}">
                      <a16:colId xmlns:a16="http://schemas.microsoft.com/office/drawing/2014/main" val="20000"/>
                    </a:ext>
                  </a:extLst>
                </a:gridCol>
                <a:gridCol w="1340284">
                  <a:extLst>
                    <a:ext uri="{9D8B030D-6E8A-4147-A177-3AD203B41FA5}">
                      <a16:colId xmlns:a16="http://schemas.microsoft.com/office/drawing/2014/main" val="20001"/>
                    </a:ext>
                  </a:extLst>
                </a:gridCol>
                <a:gridCol w="867242">
                  <a:extLst>
                    <a:ext uri="{9D8B030D-6E8A-4147-A177-3AD203B41FA5}">
                      <a16:colId xmlns:a16="http://schemas.microsoft.com/office/drawing/2014/main" val="20002"/>
                    </a:ext>
                  </a:extLst>
                </a:gridCol>
                <a:gridCol w="1103763">
                  <a:extLst>
                    <a:ext uri="{9D8B030D-6E8A-4147-A177-3AD203B41FA5}">
                      <a16:colId xmlns:a16="http://schemas.microsoft.com/office/drawing/2014/main" val="20003"/>
                    </a:ext>
                  </a:extLst>
                </a:gridCol>
                <a:gridCol w="1182604">
                  <a:extLst>
                    <a:ext uri="{9D8B030D-6E8A-4147-A177-3AD203B41FA5}">
                      <a16:colId xmlns:a16="http://schemas.microsoft.com/office/drawing/2014/main" val="20004"/>
                    </a:ext>
                  </a:extLst>
                </a:gridCol>
                <a:gridCol w="1024924">
                  <a:extLst>
                    <a:ext uri="{9D8B030D-6E8A-4147-A177-3AD203B41FA5}">
                      <a16:colId xmlns:a16="http://schemas.microsoft.com/office/drawing/2014/main" val="20005"/>
                    </a:ext>
                  </a:extLst>
                </a:gridCol>
              </a:tblGrid>
              <a:tr h="640023">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Source data</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Source data field</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Mapping</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Staging Table type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C00000"/>
                        </a:solidFill>
                        <a:effectLst/>
                        <a:latin typeface="Franklin Gothic Book" panose="020B0503020102020204" pitchFamily="34" charset="0"/>
                      </a:endParaRP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Staging Table name</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attribute</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6939">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Franklin Gothic Book" panose="020B0503020102020204" pitchFamily="34" charset="0"/>
                        </a:rPr>
                        <a:t>Sales.csv</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Franklin Gothic Book" panose="020B0503020102020204" pitchFamily="34" charset="0"/>
                        </a:rPr>
                        <a:t>Customer-name</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Franklin Gothic Book" panose="020B0503020102020204" pitchFamily="34" charset="0"/>
                        </a:rPr>
                        <a:t>Copy</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Franklin Gothic Book" panose="020B0503020102020204" pitchFamily="34" charset="0"/>
                        </a:rPr>
                        <a:t>Relation</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Franklin Gothic Book" panose="020B0503020102020204" pitchFamily="34" charset="0"/>
                        </a:rPr>
                        <a:t>Sales_staging</a:t>
                      </a:r>
                      <a:endParaRPr kumimoji="0" lang="en-US" altLang="en-US" sz="1200" b="0" i="0" u="none" strike="noStrike" cap="none" normalizeH="0" baseline="0" dirty="0">
                        <a:ln>
                          <a:noFill/>
                        </a:ln>
                        <a:solidFill>
                          <a:schemeClr val="tx1"/>
                        </a:solidFill>
                        <a:effectLst/>
                        <a:latin typeface="Franklin Gothic Book" panose="020B0503020102020204" pitchFamily="34" charset="0"/>
                      </a:endParaRP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Franklin Gothic Book" panose="020B0503020102020204" pitchFamily="34" charset="0"/>
                        </a:rPr>
                        <a:t>C-name</a:t>
                      </a:r>
                    </a:p>
                  </a:txBody>
                  <a:tcPr marL="91446" marR="91446"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Date Placeholder 2">
            <a:extLst>
              <a:ext uri="{FF2B5EF4-FFF2-40B4-BE49-F238E27FC236}">
                <a16:creationId xmlns:a16="http://schemas.microsoft.com/office/drawing/2014/main" id="{E77821CD-AA0E-D8A2-216A-73D45ADE39FC}"/>
              </a:ext>
            </a:extLst>
          </p:cNvPr>
          <p:cNvSpPr>
            <a:spLocks noGrp="1"/>
          </p:cNvSpPr>
          <p:nvPr>
            <p:ph type="dt" sz="quarter" idx="10"/>
          </p:nvPr>
        </p:nvSpPr>
        <p:spPr/>
        <p:txBody>
          <a:bodyPr/>
          <a:lstStyle/>
          <a:p>
            <a:pPr>
              <a:defRPr/>
            </a:pPr>
            <a:fld id="{D29EC167-2EF1-454C-A873-1A2488433734}" type="datetime1">
              <a:rPr lang="en-US" smtClean="0"/>
              <a:t>9/30/2025</a:t>
            </a:fld>
            <a:endParaRPr lang="en-US"/>
          </a:p>
        </p:txBody>
      </p:sp>
      <p:sp>
        <p:nvSpPr>
          <p:cNvPr id="4" name="Footer Placeholder 3">
            <a:extLst>
              <a:ext uri="{FF2B5EF4-FFF2-40B4-BE49-F238E27FC236}">
                <a16:creationId xmlns:a16="http://schemas.microsoft.com/office/drawing/2014/main" id="{74357A62-0855-8505-7430-A3DE16B32256}"/>
              </a:ext>
            </a:extLst>
          </p:cNvPr>
          <p:cNvSpPr>
            <a:spLocks noGrp="1"/>
          </p:cNvSpPr>
          <p:nvPr>
            <p:ph type="ftr" sz="quarter" idx="11"/>
          </p:nvPr>
        </p:nvSpPr>
        <p:spPr/>
        <p:txBody>
          <a:bodyPr/>
          <a:lstStyle/>
          <a:p>
            <a:pPr>
              <a:defRPr/>
            </a:pPr>
            <a:r>
              <a:rPr lang="en-US"/>
              <a:t>Copyrighted by Arun Sen</a:t>
            </a:r>
          </a:p>
        </p:txBody>
      </p:sp>
      <p:sp>
        <p:nvSpPr>
          <p:cNvPr id="5" name="Slide Number Placeholder 4">
            <a:extLst>
              <a:ext uri="{FF2B5EF4-FFF2-40B4-BE49-F238E27FC236}">
                <a16:creationId xmlns:a16="http://schemas.microsoft.com/office/drawing/2014/main" id="{48B25BE9-AD31-3689-4081-537402A76E99}"/>
              </a:ext>
            </a:extLst>
          </p:cNvPr>
          <p:cNvSpPr>
            <a:spLocks noGrp="1"/>
          </p:cNvSpPr>
          <p:nvPr>
            <p:ph type="sldNum" sz="quarter" idx="12"/>
          </p:nvPr>
        </p:nvSpPr>
        <p:spPr/>
        <p:txBody>
          <a:bodyPr/>
          <a:lstStyle/>
          <a:p>
            <a:pPr>
              <a:defRPr/>
            </a:pPr>
            <a:fld id="{009A156E-F550-471A-8F4F-452949A449C5}" type="slidenum">
              <a:rPr lang="en-US" altLang="en-US" smtClean="0"/>
              <a:pPr>
                <a:defRPr/>
              </a:pPr>
              <a:t>73</a:t>
            </a:fld>
            <a:endParaRPr lang="en-US"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B88AF3CD-8FE9-5352-F9AA-3E8279BCEDDD}"/>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54627" name="Text Box 3">
            <a:extLst>
              <a:ext uri="{FF2B5EF4-FFF2-40B4-BE49-F238E27FC236}">
                <a16:creationId xmlns:a16="http://schemas.microsoft.com/office/drawing/2014/main" id="{5A507CA8-EC40-D0A7-F3CA-DE54C4E3AA99}"/>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54628" name="Text Box 4">
            <a:extLst>
              <a:ext uri="{FF2B5EF4-FFF2-40B4-BE49-F238E27FC236}">
                <a16:creationId xmlns:a16="http://schemas.microsoft.com/office/drawing/2014/main" id="{C909BA28-E877-FB1A-8E5E-C93F9CB49F54}"/>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54629" name="Text Box 5">
            <a:extLst>
              <a:ext uri="{FF2B5EF4-FFF2-40B4-BE49-F238E27FC236}">
                <a16:creationId xmlns:a16="http://schemas.microsoft.com/office/drawing/2014/main" id="{C1E39A57-9892-33E6-0C39-5C9DC0A75C5D}"/>
              </a:ext>
            </a:extLst>
          </p:cNvPr>
          <p:cNvSpPr txBox="1">
            <a:spLocks noChangeArrowheads="1"/>
          </p:cNvSpPr>
          <p:nvPr/>
        </p:nvSpPr>
        <p:spPr bwMode="auto">
          <a:xfrm>
            <a:off x="2667000" y="1905001"/>
            <a:ext cx="863749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11.  Steps to Build Star/Snowflake Schema 	(Kimball)</a:t>
            </a:r>
            <a:endParaRPr lang="en-US" altLang="en-US" sz="2400" dirty="0">
              <a:latin typeface="Tahoma" panose="020B0604030504040204" pitchFamily="34" charset="0"/>
            </a:endParaRPr>
          </a:p>
          <a:p>
            <a:pPr eaLnBrk="1" hangingPunct="1"/>
            <a:endParaRPr lang="en-US" altLang="en-US" sz="2000" dirty="0">
              <a:latin typeface="Times New Roman" panose="02020603050405020304" pitchFamily="18" charset="0"/>
            </a:endParaRPr>
          </a:p>
          <a:p>
            <a:pPr eaLnBrk="1" hangingPunct="1"/>
            <a:r>
              <a:rPr lang="en-US" altLang="en-US" sz="2000" b="1" dirty="0">
                <a:latin typeface="Times New Roman" panose="02020603050405020304" pitchFamily="18" charset="0"/>
              </a:rPr>
              <a:t>Step 6:	Data Sourcing</a:t>
            </a:r>
          </a:p>
          <a:p>
            <a:pPr lvl="2" eaLnBrk="1" hangingPunct="1">
              <a:buFont typeface="Symbol" panose="05050102010706020507" pitchFamily="18" charset="2"/>
              <a:buChar char="·"/>
            </a:pPr>
            <a:r>
              <a:rPr lang="en-US" altLang="en-US" sz="1600" b="1" dirty="0">
                <a:latin typeface="Times New Roman" panose="02020603050405020304" pitchFamily="18" charset="0"/>
              </a:rPr>
              <a:t>  Data Loading from Staging to Presentation Server</a:t>
            </a:r>
          </a:p>
          <a:p>
            <a:pPr lvl="2" eaLnBrk="1" hangingPunct="1"/>
            <a:r>
              <a:rPr lang="en-US" altLang="en-US" sz="1600" b="1" dirty="0">
                <a:latin typeface="Times New Roman" panose="02020603050405020304" pitchFamily="18" charset="0"/>
              </a:rPr>
              <a:t>	</a:t>
            </a:r>
            <a:r>
              <a:rPr lang="en-US" altLang="en-US" sz="1600" dirty="0">
                <a:latin typeface="Times New Roman" panose="02020603050405020304" pitchFamily="18" charset="0"/>
              </a:rPr>
              <a:t>You need to load the data from staging to presentation server after doing all the 	transformations</a:t>
            </a:r>
          </a:p>
          <a:p>
            <a:pPr lvl="2" eaLnBrk="1" hangingPunct="1"/>
            <a:endParaRPr lang="en-US" altLang="en-US" sz="1600" b="1" dirty="0">
              <a:latin typeface="Times New Roman" panose="02020603050405020304" pitchFamily="18" charset="0"/>
            </a:endParaRPr>
          </a:p>
          <a:p>
            <a:pPr lvl="2" eaLnBrk="1" hangingPunct="1">
              <a:buFont typeface="Symbol" panose="05050102010706020507" pitchFamily="18" charset="2"/>
              <a:buChar char="·"/>
            </a:pPr>
            <a:r>
              <a:rPr lang="en-US" altLang="en-US" sz="1600" b="1" dirty="0">
                <a:latin typeface="Times New Roman" panose="02020603050405020304" pitchFamily="18" charset="0"/>
              </a:rPr>
              <a:t>  Mapping Data from Staging to Presentation Server (type 2)</a:t>
            </a:r>
            <a:endParaRPr lang="en-US" altLang="en-US" sz="1600" dirty="0">
              <a:latin typeface="Times New Roman" panose="02020603050405020304" pitchFamily="18" charset="0"/>
            </a:endParaRPr>
          </a:p>
        </p:txBody>
      </p:sp>
      <p:graphicFrame>
        <p:nvGraphicFramePr>
          <p:cNvPr id="2" name="Table 2">
            <a:extLst>
              <a:ext uri="{FF2B5EF4-FFF2-40B4-BE49-F238E27FC236}">
                <a16:creationId xmlns:a16="http://schemas.microsoft.com/office/drawing/2014/main" id="{89F20610-C008-4755-9511-946DE145666A}"/>
              </a:ext>
            </a:extLst>
          </p:cNvPr>
          <p:cNvGraphicFramePr>
            <a:graphicFrameLocks noGrp="1"/>
          </p:cNvGraphicFramePr>
          <p:nvPr>
            <p:extLst>
              <p:ext uri="{D42A27DB-BD31-4B8C-83A1-F6EECF244321}">
                <p14:modId xmlns:p14="http://schemas.microsoft.com/office/powerpoint/2010/main" val="3100341915"/>
              </p:ext>
            </p:extLst>
          </p:nvPr>
        </p:nvGraphicFramePr>
        <p:xfrm>
          <a:off x="3569551" y="4325972"/>
          <a:ext cx="6334125" cy="1097052"/>
        </p:xfrm>
        <a:graphic>
          <a:graphicData uri="http://schemas.openxmlformats.org/drawingml/2006/table">
            <a:tbl>
              <a:tblPr/>
              <a:tblGrid>
                <a:gridCol w="1147762">
                  <a:extLst>
                    <a:ext uri="{9D8B030D-6E8A-4147-A177-3AD203B41FA5}">
                      <a16:colId xmlns:a16="http://schemas.microsoft.com/office/drawing/2014/main" val="20000"/>
                    </a:ext>
                  </a:extLst>
                </a:gridCol>
                <a:gridCol w="1147520">
                  <a:extLst>
                    <a:ext uri="{9D8B030D-6E8A-4147-A177-3AD203B41FA5}">
                      <a16:colId xmlns:a16="http://schemas.microsoft.com/office/drawing/2014/main" val="20001"/>
                    </a:ext>
                  </a:extLst>
                </a:gridCol>
                <a:gridCol w="838250">
                  <a:extLst>
                    <a:ext uri="{9D8B030D-6E8A-4147-A177-3AD203B41FA5}">
                      <a16:colId xmlns:a16="http://schemas.microsoft.com/office/drawing/2014/main" val="20002"/>
                    </a:ext>
                  </a:extLst>
                </a:gridCol>
                <a:gridCol w="1066864">
                  <a:extLst>
                    <a:ext uri="{9D8B030D-6E8A-4147-A177-3AD203B41FA5}">
                      <a16:colId xmlns:a16="http://schemas.microsoft.com/office/drawing/2014/main" val="20003"/>
                    </a:ext>
                  </a:extLst>
                </a:gridCol>
                <a:gridCol w="1143069">
                  <a:extLst>
                    <a:ext uri="{9D8B030D-6E8A-4147-A177-3AD203B41FA5}">
                      <a16:colId xmlns:a16="http://schemas.microsoft.com/office/drawing/2014/main" val="20004"/>
                    </a:ext>
                  </a:extLst>
                </a:gridCol>
                <a:gridCol w="990660">
                  <a:extLst>
                    <a:ext uri="{9D8B030D-6E8A-4147-A177-3AD203B41FA5}">
                      <a16:colId xmlns:a16="http://schemas.microsoft.com/office/drawing/2014/main" val="20005"/>
                    </a:ext>
                  </a:extLst>
                </a:gridCol>
              </a:tblGrid>
              <a:tr h="639913">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Source data in staging</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Staging table data field</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Mapping</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Data Mart Table type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C00000"/>
                        </a:solidFill>
                        <a:effectLst/>
                        <a:latin typeface="Franklin Gothic Book" panose="020B0503020102020204" pitchFamily="34" charset="0"/>
                      </a:endParaRP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Table name</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00000"/>
                          </a:solidFill>
                          <a:effectLst/>
                          <a:latin typeface="Franklin Gothic Book" panose="020B0503020102020204" pitchFamily="34" charset="0"/>
                        </a:rPr>
                        <a:t>attribute</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050">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Franklin Gothic Book" panose="020B0503020102020204" pitchFamily="34" charset="0"/>
                        </a:rPr>
                        <a:t>Sales_staging</a:t>
                      </a:r>
                      <a:r>
                        <a:rPr kumimoji="0" lang="en-US" altLang="en-US" sz="1200" b="0" i="0" u="none" strike="noStrike" cap="none" normalizeH="0" baseline="0" dirty="0">
                          <a:ln>
                            <a:noFill/>
                          </a:ln>
                          <a:solidFill>
                            <a:schemeClr val="tx1"/>
                          </a:solidFill>
                          <a:effectLst/>
                          <a:latin typeface="Franklin Gothic Book" panose="020B0503020102020204" pitchFamily="34" charset="0"/>
                        </a:rPr>
                        <a:t> table</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Franklin Gothic Book" panose="020B0503020102020204" pitchFamily="34" charset="0"/>
                        </a:rPr>
                        <a:t>C-name</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Franklin Gothic Book" panose="020B0503020102020204" pitchFamily="34" charset="0"/>
                        </a:rPr>
                        <a:t>Copy</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Franklin Gothic Book" panose="020B0503020102020204" pitchFamily="34" charset="0"/>
                        </a:rPr>
                        <a:t>Dimension Table</a:t>
                      </a: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Franklin Gothic Book" panose="020B0503020102020204" pitchFamily="34" charset="0"/>
                        </a:rPr>
                        <a:t>Dim.customer</a:t>
                      </a:r>
                      <a:endParaRPr kumimoji="0" lang="en-US" altLang="en-US" sz="1200" b="0" i="0" u="none" strike="noStrike" cap="none" normalizeH="0" baseline="0" dirty="0">
                        <a:ln>
                          <a:noFill/>
                        </a:ln>
                        <a:solidFill>
                          <a:schemeClr val="tx1"/>
                        </a:solidFill>
                        <a:effectLst/>
                        <a:latin typeface="Franklin Gothic Book" panose="020B0503020102020204" pitchFamily="34" charset="0"/>
                      </a:endParaRP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4000"/>
                        </a:lnSpc>
                        <a:spcBef>
                          <a:spcPts val="750"/>
                        </a:spcBef>
                        <a:spcAft>
                          <a:spcPts val="150"/>
                        </a:spcAft>
                        <a:buFont typeface="Franklin Gothic Book" panose="020B0503020102020204" pitchFamily="34" charset="0"/>
                        <a:defRPr sz="1300">
                          <a:solidFill>
                            <a:schemeClr val="tx2"/>
                          </a:solidFill>
                          <a:latin typeface="Franklin Gothic Book" panose="020B0503020102020204" pitchFamily="34" charset="0"/>
                        </a:defRPr>
                      </a:lvl1pPr>
                      <a:lvl2pPr marL="742950" indent="-285750" defTabSz="685800">
                        <a:lnSpc>
                          <a:spcPct val="94000"/>
                        </a:lnSpc>
                        <a:spcBef>
                          <a:spcPts val="375"/>
                        </a:spcBef>
                        <a:spcAft>
                          <a:spcPts val="150"/>
                        </a:spcAft>
                        <a:buFont typeface="Franklin Gothic Book" panose="020B0503020102020204" pitchFamily="34" charset="0"/>
                        <a:defRPr sz="1300" i="1">
                          <a:solidFill>
                            <a:schemeClr val="tx2"/>
                          </a:solidFill>
                          <a:latin typeface="Franklin Gothic Book" panose="020B0503020102020204" pitchFamily="34" charset="0"/>
                        </a:defRPr>
                      </a:lvl2pPr>
                      <a:lvl3pPr marL="1143000" indent="-228600" defTabSz="685800">
                        <a:lnSpc>
                          <a:spcPct val="94000"/>
                        </a:lnSpc>
                        <a:spcBef>
                          <a:spcPts val="375"/>
                        </a:spcBef>
                        <a:spcAft>
                          <a:spcPts val="150"/>
                        </a:spcAft>
                        <a:buFont typeface="Franklin Gothic Book" panose="020B0503020102020204" pitchFamily="34" charset="0"/>
                        <a:defRPr sz="1100">
                          <a:solidFill>
                            <a:schemeClr val="tx2"/>
                          </a:solidFill>
                          <a:latin typeface="Franklin Gothic Book" panose="020B0503020102020204" pitchFamily="34" charset="0"/>
                        </a:defRPr>
                      </a:lvl3pPr>
                      <a:lvl4pPr marL="1600200" indent="-228600" defTabSz="685800">
                        <a:lnSpc>
                          <a:spcPct val="94000"/>
                        </a:lnSpc>
                        <a:spcBef>
                          <a:spcPts val="375"/>
                        </a:spcBef>
                        <a:spcAft>
                          <a:spcPts val="150"/>
                        </a:spcAft>
                        <a:buFont typeface="Franklin Gothic Book" panose="020B0503020102020204" pitchFamily="34" charset="0"/>
                        <a:defRPr sz="1100" i="1">
                          <a:solidFill>
                            <a:schemeClr val="tx2"/>
                          </a:solidFill>
                          <a:latin typeface="Franklin Gothic Book" panose="020B0503020102020204" pitchFamily="34" charset="0"/>
                        </a:defRPr>
                      </a:lvl4pPr>
                      <a:lvl5pPr marL="2057400" indent="-228600" defTabSz="685800">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5pPr>
                      <a:lvl6pPr marL="25146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6pPr>
                      <a:lvl7pPr marL="29718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7pPr>
                      <a:lvl8pPr marL="34290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8pPr>
                      <a:lvl9pPr marL="3886200" indent="-228600" defTabSz="685800" fontAlgn="base">
                        <a:lnSpc>
                          <a:spcPct val="94000"/>
                        </a:lnSpc>
                        <a:spcBef>
                          <a:spcPts val="375"/>
                        </a:spcBef>
                        <a:spcAft>
                          <a:spcPts val="150"/>
                        </a:spcAft>
                        <a:buFont typeface="Franklin Gothic Book" panose="020B0503020102020204" pitchFamily="34" charset="0"/>
                        <a:defRPr sz="1000">
                          <a:solidFill>
                            <a:schemeClr val="tx2"/>
                          </a:solidFill>
                          <a:latin typeface="Franklin Gothic Book" panose="020B05030201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Franklin Gothic Book" panose="020B0503020102020204" pitchFamily="34" charset="0"/>
                        </a:rPr>
                        <a:t>CustName</a:t>
                      </a:r>
                      <a:endParaRPr kumimoji="0" lang="en-US" altLang="en-US" sz="1200" b="0" i="0" u="none" strike="noStrike" cap="none" normalizeH="0" baseline="0" dirty="0">
                        <a:ln>
                          <a:noFill/>
                        </a:ln>
                        <a:solidFill>
                          <a:schemeClr val="tx1"/>
                        </a:solidFill>
                        <a:effectLst/>
                        <a:latin typeface="Franklin Gothic Book" panose="020B0503020102020204" pitchFamily="34" charset="0"/>
                      </a:endParaRPr>
                    </a:p>
                  </a:txBody>
                  <a:tcPr marL="91446" marR="91446" marT="45663" marB="45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Date Placeholder 2">
            <a:extLst>
              <a:ext uri="{FF2B5EF4-FFF2-40B4-BE49-F238E27FC236}">
                <a16:creationId xmlns:a16="http://schemas.microsoft.com/office/drawing/2014/main" id="{AB975DD2-6359-2F75-0DD4-F8C2F95842E2}"/>
              </a:ext>
            </a:extLst>
          </p:cNvPr>
          <p:cNvSpPr>
            <a:spLocks noGrp="1"/>
          </p:cNvSpPr>
          <p:nvPr>
            <p:ph type="dt" sz="quarter" idx="10"/>
          </p:nvPr>
        </p:nvSpPr>
        <p:spPr/>
        <p:txBody>
          <a:bodyPr/>
          <a:lstStyle/>
          <a:p>
            <a:pPr>
              <a:defRPr/>
            </a:pPr>
            <a:fld id="{EF427918-EFD7-4425-83AB-795DEAD15B5D}" type="datetime1">
              <a:rPr lang="en-US" smtClean="0"/>
              <a:t>9/30/2025</a:t>
            </a:fld>
            <a:endParaRPr lang="en-US"/>
          </a:p>
        </p:txBody>
      </p:sp>
      <p:sp>
        <p:nvSpPr>
          <p:cNvPr id="4" name="Footer Placeholder 3">
            <a:extLst>
              <a:ext uri="{FF2B5EF4-FFF2-40B4-BE49-F238E27FC236}">
                <a16:creationId xmlns:a16="http://schemas.microsoft.com/office/drawing/2014/main" id="{9710F44A-FC91-E67D-4D4D-0BFBED53C99D}"/>
              </a:ext>
            </a:extLst>
          </p:cNvPr>
          <p:cNvSpPr>
            <a:spLocks noGrp="1"/>
          </p:cNvSpPr>
          <p:nvPr>
            <p:ph type="ftr" sz="quarter" idx="11"/>
          </p:nvPr>
        </p:nvSpPr>
        <p:spPr/>
        <p:txBody>
          <a:bodyPr/>
          <a:lstStyle/>
          <a:p>
            <a:pPr>
              <a:defRPr/>
            </a:pPr>
            <a:r>
              <a:rPr lang="en-US"/>
              <a:t>Copyrighted by Arun Sen</a:t>
            </a:r>
          </a:p>
        </p:txBody>
      </p:sp>
      <p:sp>
        <p:nvSpPr>
          <p:cNvPr id="5" name="Slide Number Placeholder 4">
            <a:extLst>
              <a:ext uri="{FF2B5EF4-FFF2-40B4-BE49-F238E27FC236}">
                <a16:creationId xmlns:a16="http://schemas.microsoft.com/office/drawing/2014/main" id="{3F8468E4-2B4A-FBFB-5F6F-264188D39E73}"/>
              </a:ext>
            </a:extLst>
          </p:cNvPr>
          <p:cNvSpPr>
            <a:spLocks noGrp="1"/>
          </p:cNvSpPr>
          <p:nvPr>
            <p:ph type="sldNum" sz="quarter" idx="12"/>
          </p:nvPr>
        </p:nvSpPr>
        <p:spPr/>
        <p:txBody>
          <a:bodyPr/>
          <a:lstStyle/>
          <a:p>
            <a:pPr>
              <a:defRPr/>
            </a:pPr>
            <a:fld id="{5277C720-A7AD-4E03-A603-256EBC8E47C1}" type="slidenum">
              <a:rPr lang="en-US" altLang="en-US" smtClean="0"/>
              <a:pPr>
                <a:defRPr/>
              </a:pPr>
              <a:t>74</a:t>
            </a:fld>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CDDC248A-D532-41BE-D0EA-370FC15C311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Star Schema</a:t>
            </a:r>
          </a:p>
        </p:txBody>
      </p:sp>
      <p:grpSp>
        <p:nvGrpSpPr>
          <p:cNvPr id="156675" name="Group 28">
            <a:extLst>
              <a:ext uri="{FF2B5EF4-FFF2-40B4-BE49-F238E27FC236}">
                <a16:creationId xmlns:a16="http://schemas.microsoft.com/office/drawing/2014/main" id="{94200195-827F-00A4-1F26-4F25E05555F9}"/>
              </a:ext>
            </a:extLst>
          </p:cNvPr>
          <p:cNvGrpSpPr>
            <a:grpSpLocks/>
          </p:cNvGrpSpPr>
          <p:nvPr/>
        </p:nvGrpSpPr>
        <p:grpSpPr bwMode="auto">
          <a:xfrm>
            <a:off x="2432858" y="1707776"/>
            <a:ext cx="7467600" cy="4681538"/>
            <a:chOff x="624" y="1200"/>
            <a:chExt cx="4704" cy="2949"/>
          </a:xfrm>
        </p:grpSpPr>
        <p:sp>
          <p:nvSpPr>
            <p:cNvPr id="156679" name="Text Box 3">
              <a:extLst>
                <a:ext uri="{FF2B5EF4-FFF2-40B4-BE49-F238E27FC236}">
                  <a16:creationId xmlns:a16="http://schemas.microsoft.com/office/drawing/2014/main" id="{49FFF1AC-AEE9-6C0C-B373-6DA37C6201B5}"/>
                </a:ext>
              </a:extLst>
            </p:cNvPr>
            <p:cNvSpPr txBox="1">
              <a:spLocks noChangeArrowheads="1"/>
            </p:cNvSpPr>
            <p:nvPr/>
          </p:nvSpPr>
          <p:spPr bwMode="auto">
            <a:xfrm>
              <a:off x="864" y="1680"/>
              <a:ext cx="4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56680" name="Text Box 4">
              <a:extLst>
                <a:ext uri="{FF2B5EF4-FFF2-40B4-BE49-F238E27FC236}">
                  <a16:creationId xmlns:a16="http://schemas.microsoft.com/office/drawing/2014/main" id="{75E9329F-A05F-1E34-1AE4-954F5F3AA3C9}"/>
                </a:ext>
              </a:extLst>
            </p:cNvPr>
            <p:cNvSpPr txBox="1">
              <a:spLocks noChangeArrowheads="1"/>
            </p:cNvSpPr>
            <p:nvPr/>
          </p:nvSpPr>
          <p:spPr bwMode="auto">
            <a:xfrm>
              <a:off x="912" y="1680"/>
              <a:ext cx="4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grpSp>
          <p:nvGrpSpPr>
            <p:cNvPr id="156681" name="Group 6">
              <a:extLst>
                <a:ext uri="{FF2B5EF4-FFF2-40B4-BE49-F238E27FC236}">
                  <a16:creationId xmlns:a16="http://schemas.microsoft.com/office/drawing/2014/main" id="{0AE67B73-2724-20D1-F524-0FBF1AFC73F1}"/>
                </a:ext>
              </a:extLst>
            </p:cNvPr>
            <p:cNvGrpSpPr>
              <a:grpSpLocks/>
            </p:cNvGrpSpPr>
            <p:nvPr/>
          </p:nvGrpSpPr>
          <p:grpSpPr bwMode="auto">
            <a:xfrm>
              <a:off x="2160" y="1392"/>
              <a:ext cx="1536" cy="1475"/>
              <a:chOff x="2112" y="1872"/>
              <a:chExt cx="1536" cy="1475"/>
            </a:xfrm>
          </p:grpSpPr>
          <p:sp>
            <p:nvSpPr>
              <p:cNvPr id="156698" name="Text Box 7">
                <a:extLst>
                  <a:ext uri="{FF2B5EF4-FFF2-40B4-BE49-F238E27FC236}">
                    <a16:creationId xmlns:a16="http://schemas.microsoft.com/office/drawing/2014/main" id="{F84F01B0-CFD0-0118-3D95-5F0DA440A039}"/>
                  </a:ext>
                </a:extLst>
              </p:cNvPr>
              <p:cNvSpPr txBox="1">
                <a:spLocks noChangeArrowheads="1"/>
              </p:cNvSpPr>
              <p:nvPr/>
            </p:nvSpPr>
            <p:spPr bwMode="auto">
              <a:xfrm>
                <a:off x="2160" y="2112"/>
                <a:ext cx="1440" cy="123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dirty="0">
                    <a:latin typeface="Times New Roman" panose="02020603050405020304" pitchFamily="18" charset="0"/>
                  </a:rPr>
                  <a:t>Time-key (FK)</a:t>
                </a:r>
              </a:p>
              <a:p>
                <a:pPr eaLnBrk="1" hangingPunct="1">
                  <a:lnSpc>
                    <a:spcPct val="50000"/>
                  </a:lnSpc>
                  <a:spcBef>
                    <a:spcPct val="50000"/>
                  </a:spcBef>
                </a:pPr>
                <a:r>
                  <a:rPr lang="en-US" altLang="en-US" sz="2000" dirty="0">
                    <a:latin typeface="Times New Roman" panose="02020603050405020304" pitchFamily="18" charset="0"/>
                  </a:rPr>
                  <a:t>Product-key (FK)</a:t>
                </a:r>
              </a:p>
              <a:p>
                <a:pPr eaLnBrk="1" hangingPunct="1">
                  <a:lnSpc>
                    <a:spcPct val="50000"/>
                  </a:lnSpc>
                  <a:spcBef>
                    <a:spcPct val="50000"/>
                  </a:spcBef>
                </a:pPr>
                <a:r>
                  <a:rPr lang="en-US" altLang="en-US" sz="2000" dirty="0">
                    <a:latin typeface="Times New Roman" panose="02020603050405020304" pitchFamily="18" charset="0"/>
                  </a:rPr>
                  <a:t>Store-key (FK)</a:t>
                </a:r>
              </a:p>
              <a:p>
                <a:pPr eaLnBrk="1" hangingPunct="1">
                  <a:lnSpc>
                    <a:spcPct val="50000"/>
                  </a:lnSpc>
                  <a:spcBef>
                    <a:spcPct val="50000"/>
                  </a:spcBef>
                </a:pPr>
                <a:r>
                  <a:rPr lang="en-US" altLang="en-US" sz="2000" dirty="0">
                    <a:latin typeface="Times New Roman" panose="02020603050405020304" pitchFamily="18" charset="0"/>
                  </a:rPr>
                  <a:t>dollars-sold</a:t>
                </a:r>
              </a:p>
              <a:p>
                <a:pPr eaLnBrk="1" hangingPunct="1">
                  <a:lnSpc>
                    <a:spcPct val="50000"/>
                  </a:lnSpc>
                  <a:spcBef>
                    <a:spcPct val="50000"/>
                  </a:spcBef>
                </a:pPr>
                <a:r>
                  <a:rPr lang="en-US" altLang="en-US" sz="2000" dirty="0">
                    <a:latin typeface="Times New Roman" panose="02020603050405020304" pitchFamily="18" charset="0"/>
                  </a:rPr>
                  <a:t>units-sold</a:t>
                </a:r>
              </a:p>
              <a:p>
                <a:pPr eaLnBrk="1" hangingPunct="1">
                  <a:lnSpc>
                    <a:spcPct val="50000"/>
                  </a:lnSpc>
                  <a:spcBef>
                    <a:spcPct val="50000"/>
                  </a:spcBef>
                </a:pPr>
                <a:r>
                  <a:rPr lang="en-US" altLang="en-US" sz="2000" dirty="0">
                    <a:latin typeface="Times New Roman" panose="02020603050405020304" pitchFamily="18" charset="0"/>
                  </a:rPr>
                  <a:t>dollars-cost</a:t>
                </a:r>
              </a:p>
            </p:txBody>
          </p:sp>
          <p:sp>
            <p:nvSpPr>
              <p:cNvPr id="156699" name="Text Box 8">
                <a:extLst>
                  <a:ext uri="{FF2B5EF4-FFF2-40B4-BE49-F238E27FC236}">
                    <a16:creationId xmlns:a16="http://schemas.microsoft.com/office/drawing/2014/main" id="{E3BB5DB2-0D8B-D157-1D86-4C190FFF2713}"/>
                  </a:ext>
                </a:extLst>
              </p:cNvPr>
              <p:cNvSpPr txBox="1">
                <a:spLocks noChangeArrowheads="1"/>
              </p:cNvSpPr>
              <p:nvPr/>
            </p:nvSpPr>
            <p:spPr bwMode="auto">
              <a:xfrm>
                <a:off x="2112" y="1872"/>
                <a:ext cx="15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2000" b="1">
                    <a:latin typeface="Tahoma" panose="020B0604030504040204" pitchFamily="34" charset="0"/>
                  </a:rPr>
                  <a:t>Sales Fact Table</a:t>
                </a:r>
              </a:p>
            </p:txBody>
          </p:sp>
        </p:grpSp>
        <p:sp>
          <p:nvSpPr>
            <p:cNvPr id="156682" name="Text Box 10">
              <a:extLst>
                <a:ext uri="{FF2B5EF4-FFF2-40B4-BE49-F238E27FC236}">
                  <a16:creationId xmlns:a16="http://schemas.microsoft.com/office/drawing/2014/main" id="{458456BF-1CA0-88F8-C70F-8E81C33BD160}"/>
                </a:ext>
              </a:extLst>
            </p:cNvPr>
            <p:cNvSpPr txBox="1">
              <a:spLocks noChangeArrowheads="1"/>
            </p:cNvSpPr>
            <p:nvPr/>
          </p:nvSpPr>
          <p:spPr bwMode="auto">
            <a:xfrm>
              <a:off x="624" y="1632"/>
              <a:ext cx="1104" cy="87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80000"/>
                </a:lnSpc>
                <a:spcBef>
                  <a:spcPct val="50000"/>
                </a:spcBef>
              </a:pPr>
              <a:r>
                <a:rPr lang="en-US" altLang="en-US">
                  <a:latin typeface="Times New Roman" panose="02020603050405020304" pitchFamily="18" charset="0"/>
                </a:rPr>
                <a:t>Time-key (PK)</a:t>
              </a:r>
            </a:p>
            <a:p>
              <a:pPr eaLnBrk="1" hangingPunct="1">
                <a:lnSpc>
                  <a:spcPct val="80000"/>
                </a:lnSpc>
                <a:spcBef>
                  <a:spcPct val="50000"/>
                </a:spcBef>
              </a:pPr>
              <a:r>
                <a:rPr lang="en-US" altLang="en-US">
                  <a:latin typeface="Times New Roman" panose="02020603050405020304" pitchFamily="18" charset="0"/>
                </a:rPr>
                <a:t>Day-of-week</a:t>
              </a:r>
            </a:p>
            <a:p>
              <a:pPr eaLnBrk="1" hangingPunct="1">
                <a:lnSpc>
                  <a:spcPct val="80000"/>
                </a:lnSpc>
                <a:spcBef>
                  <a:spcPct val="50000"/>
                </a:spcBef>
              </a:pPr>
              <a:r>
                <a:rPr lang="en-US" altLang="en-US">
                  <a:latin typeface="Times New Roman" panose="02020603050405020304" pitchFamily="18" charset="0"/>
                </a:rPr>
                <a:t>week-number</a:t>
              </a:r>
            </a:p>
            <a:p>
              <a:pPr eaLnBrk="1" hangingPunct="1">
                <a:lnSpc>
                  <a:spcPct val="80000"/>
                </a:lnSpc>
                <a:spcBef>
                  <a:spcPct val="50000"/>
                </a:spcBef>
              </a:pPr>
              <a:r>
                <a:rPr lang="en-US" altLang="en-US">
                  <a:latin typeface="Times New Roman" panose="02020603050405020304" pitchFamily="18" charset="0"/>
                </a:rPr>
                <a:t>Month</a:t>
              </a:r>
              <a:endParaRPr lang="en-US" altLang="en-US" sz="2400">
                <a:latin typeface="Times New Roman" panose="02020603050405020304" pitchFamily="18" charset="0"/>
              </a:endParaRPr>
            </a:p>
          </p:txBody>
        </p:sp>
        <p:sp>
          <p:nvSpPr>
            <p:cNvPr id="156683" name="Text Box 11">
              <a:extLst>
                <a:ext uri="{FF2B5EF4-FFF2-40B4-BE49-F238E27FC236}">
                  <a16:creationId xmlns:a16="http://schemas.microsoft.com/office/drawing/2014/main" id="{28C00B22-0058-527A-1063-2509C81A4EFE}"/>
                </a:ext>
              </a:extLst>
            </p:cNvPr>
            <p:cNvSpPr txBox="1">
              <a:spLocks noChangeArrowheads="1"/>
            </p:cNvSpPr>
            <p:nvPr/>
          </p:nvSpPr>
          <p:spPr bwMode="auto">
            <a:xfrm>
              <a:off x="672" y="1200"/>
              <a:ext cx="110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a:latin typeface="Tahoma" panose="020B0604030504040204" pitchFamily="34" charset="0"/>
                </a:rPr>
                <a:t>Time Dimension</a:t>
              </a:r>
            </a:p>
          </p:txBody>
        </p:sp>
        <p:sp>
          <p:nvSpPr>
            <p:cNvPr id="156684" name="Text Box 12">
              <a:extLst>
                <a:ext uri="{FF2B5EF4-FFF2-40B4-BE49-F238E27FC236}">
                  <a16:creationId xmlns:a16="http://schemas.microsoft.com/office/drawing/2014/main" id="{C8A96B99-F3BC-0129-D759-373387310C4D}"/>
                </a:ext>
              </a:extLst>
            </p:cNvPr>
            <p:cNvSpPr txBox="1">
              <a:spLocks noChangeArrowheads="1"/>
            </p:cNvSpPr>
            <p:nvPr/>
          </p:nvSpPr>
          <p:spPr bwMode="auto">
            <a:xfrm>
              <a:off x="4032" y="1968"/>
              <a:ext cx="1248" cy="101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70000"/>
                </a:lnSpc>
                <a:spcBef>
                  <a:spcPct val="50000"/>
                </a:spcBef>
              </a:pPr>
              <a:r>
                <a:rPr lang="en-US" altLang="en-US">
                  <a:latin typeface="Times New Roman" panose="02020603050405020304" pitchFamily="18" charset="0"/>
                </a:rPr>
                <a:t>Product-key (PK)</a:t>
              </a:r>
            </a:p>
            <a:p>
              <a:pPr eaLnBrk="1" hangingPunct="1">
                <a:lnSpc>
                  <a:spcPct val="70000"/>
                </a:lnSpc>
                <a:spcBef>
                  <a:spcPct val="50000"/>
                </a:spcBef>
              </a:pPr>
              <a:r>
                <a:rPr lang="en-US" altLang="en-US">
                  <a:latin typeface="Times New Roman" panose="02020603050405020304" pitchFamily="18" charset="0"/>
                </a:rPr>
                <a:t>SKU</a:t>
              </a:r>
            </a:p>
            <a:p>
              <a:pPr eaLnBrk="1" hangingPunct="1">
                <a:lnSpc>
                  <a:spcPct val="70000"/>
                </a:lnSpc>
                <a:spcBef>
                  <a:spcPct val="50000"/>
                </a:spcBef>
              </a:pPr>
              <a:r>
                <a:rPr lang="en-US" altLang="en-US">
                  <a:latin typeface="Times New Roman" panose="02020603050405020304" pitchFamily="18" charset="0"/>
                </a:rPr>
                <a:t>description</a:t>
              </a:r>
            </a:p>
            <a:p>
              <a:pPr eaLnBrk="1" hangingPunct="1">
                <a:lnSpc>
                  <a:spcPct val="70000"/>
                </a:lnSpc>
                <a:spcBef>
                  <a:spcPct val="50000"/>
                </a:spcBef>
              </a:pPr>
              <a:r>
                <a:rPr lang="en-US" altLang="en-US">
                  <a:latin typeface="Times New Roman" panose="02020603050405020304" pitchFamily="18" charset="0"/>
                </a:rPr>
                <a:t>brand</a:t>
              </a:r>
            </a:p>
            <a:p>
              <a:pPr eaLnBrk="1" hangingPunct="1">
                <a:lnSpc>
                  <a:spcPct val="70000"/>
                </a:lnSpc>
                <a:spcBef>
                  <a:spcPct val="50000"/>
                </a:spcBef>
              </a:pPr>
              <a:r>
                <a:rPr lang="en-US" altLang="en-US">
                  <a:latin typeface="Times New Roman" panose="02020603050405020304" pitchFamily="18" charset="0"/>
                </a:rPr>
                <a:t>category</a:t>
              </a:r>
            </a:p>
          </p:txBody>
        </p:sp>
        <p:sp>
          <p:nvSpPr>
            <p:cNvPr id="156685" name="Text Box 13">
              <a:extLst>
                <a:ext uri="{FF2B5EF4-FFF2-40B4-BE49-F238E27FC236}">
                  <a16:creationId xmlns:a16="http://schemas.microsoft.com/office/drawing/2014/main" id="{77841806-CDB3-1008-C676-91FDEEF87C87}"/>
                </a:ext>
              </a:extLst>
            </p:cNvPr>
            <p:cNvSpPr txBox="1">
              <a:spLocks noChangeArrowheads="1"/>
            </p:cNvSpPr>
            <p:nvPr/>
          </p:nvSpPr>
          <p:spPr bwMode="auto">
            <a:xfrm>
              <a:off x="3984" y="1680"/>
              <a:ext cx="1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a:latin typeface="Tahoma" panose="020B0604030504040204" pitchFamily="34" charset="0"/>
                </a:rPr>
                <a:t>Product Dim</a:t>
              </a:r>
            </a:p>
          </p:txBody>
        </p:sp>
        <p:sp>
          <p:nvSpPr>
            <p:cNvPr id="156686" name="Text Box 14">
              <a:extLst>
                <a:ext uri="{FF2B5EF4-FFF2-40B4-BE49-F238E27FC236}">
                  <a16:creationId xmlns:a16="http://schemas.microsoft.com/office/drawing/2014/main" id="{2369DFCB-21D6-04A9-396C-EB4D090BEB8B}"/>
                </a:ext>
              </a:extLst>
            </p:cNvPr>
            <p:cNvSpPr txBox="1">
              <a:spLocks noChangeArrowheads="1"/>
            </p:cNvSpPr>
            <p:nvPr/>
          </p:nvSpPr>
          <p:spPr bwMode="auto">
            <a:xfrm>
              <a:off x="1951" y="3408"/>
              <a:ext cx="1536" cy="74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60000"/>
                </a:lnSpc>
                <a:spcBef>
                  <a:spcPct val="50000"/>
                </a:spcBef>
              </a:pPr>
              <a:r>
                <a:rPr lang="en-US" altLang="en-US">
                  <a:latin typeface="Times New Roman" panose="02020603050405020304" pitchFamily="18" charset="0"/>
                </a:rPr>
                <a:t>Store-key (PK)</a:t>
              </a:r>
            </a:p>
            <a:p>
              <a:pPr eaLnBrk="1" hangingPunct="1">
                <a:lnSpc>
                  <a:spcPct val="60000"/>
                </a:lnSpc>
                <a:spcBef>
                  <a:spcPct val="50000"/>
                </a:spcBef>
              </a:pPr>
              <a:r>
                <a:rPr lang="en-US" altLang="en-US">
                  <a:latin typeface="Times New Roman" panose="02020603050405020304" pitchFamily="18" charset="0"/>
                </a:rPr>
                <a:t>store-ID</a:t>
              </a:r>
            </a:p>
            <a:p>
              <a:pPr eaLnBrk="1" hangingPunct="1">
                <a:lnSpc>
                  <a:spcPct val="60000"/>
                </a:lnSpc>
                <a:spcBef>
                  <a:spcPct val="50000"/>
                </a:spcBef>
              </a:pPr>
              <a:r>
                <a:rPr lang="en-US" altLang="en-US">
                  <a:latin typeface="Times New Roman" panose="02020603050405020304" pitchFamily="18" charset="0"/>
                </a:rPr>
                <a:t>store-name</a:t>
              </a:r>
            </a:p>
            <a:p>
              <a:pPr eaLnBrk="1" hangingPunct="1">
                <a:lnSpc>
                  <a:spcPct val="60000"/>
                </a:lnSpc>
                <a:spcBef>
                  <a:spcPct val="50000"/>
                </a:spcBef>
              </a:pPr>
              <a:r>
                <a:rPr lang="en-US" altLang="en-US">
                  <a:latin typeface="Times New Roman" panose="02020603050405020304" pitchFamily="18" charset="0"/>
                </a:rPr>
                <a:t>address</a:t>
              </a:r>
            </a:p>
          </p:txBody>
        </p:sp>
        <p:sp>
          <p:nvSpPr>
            <p:cNvPr id="156687" name="Text Box 15">
              <a:extLst>
                <a:ext uri="{FF2B5EF4-FFF2-40B4-BE49-F238E27FC236}">
                  <a16:creationId xmlns:a16="http://schemas.microsoft.com/office/drawing/2014/main" id="{B65CFF5F-A03D-9AC4-5532-7BC46455C0E0}"/>
                </a:ext>
              </a:extLst>
            </p:cNvPr>
            <p:cNvSpPr txBox="1">
              <a:spLocks noChangeArrowheads="1"/>
            </p:cNvSpPr>
            <p:nvPr/>
          </p:nvSpPr>
          <p:spPr bwMode="auto">
            <a:xfrm>
              <a:off x="984" y="3096"/>
              <a:ext cx="21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a:latin typeface="Tahoma" panose="020B0604030504040204" pitchFamily="34" charset="0"/>
                </a:rPr>
                <a:t>Store Dimension</a:t>
              </a:r>
            </a:p>
          </p:txBody>
        </p:sp>
        <p:sp>
          <p:nvSpPr>
            <p:cNvPr id="156688" name="Line 16">
              <a:extLst>
                <a:ext uri="{FF2B5EF4-FFF2-40B4-BE49-F238E27FC236}">
                  <a16:creationId xmlns:a16="http://schemas.microsoft.com/office/drawing/2014/main" id="{74A42125-E24F-2C0B-3D5C-C1C6AE1C2DF1}"/>
                </a:ext>
              </a:extLst>
            </p:cNvPr>
            <p:cNvSpPr>
              <a:spLocks noChangeShapeType="1"/>
            </p:cNvSpPr>
            <p:nvPr/>
          </p:nvSpPr>
          <p:spPr bwMode="auto">
            <a:xfrm>
              <a:off x="1728" y="2160"/>
              <a:ext cx="48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6689" name="Line 17">
              <a:extLst>
                <a:ext uri="{FF2B5EF4-FFF2-40B4-BE49-F238E27FC236}">
                  <a16:creationId xmlns:a16="http://schemas.microsoft.com/office/drawing/2014/main" id="{8EFB036C-6130-960E-CF10-FF89DEC03E92}"/>
                </a:ext>
              </a:extLst>
            </p:cNvPr>
            <p:cNvSpPr>
              <a:spLocks noChangeShapeType="1"/>
            </p:cNvSpPr>
            <p:nvPr/>
          </p:nvSpPr>
          <p:spPr bwMode="auto">
            <a:xfrm flipV="1">
              <a:off x="2496" y="2880"/>
              <a:ext cx="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6690" name="Line 18">
              <a:extLst>
                <a:ext uri="{FF2B5EF4-FFF2-40B4-BE49-F238E27FC236}">
                  <a16:creationId xmlns:a16="http://schemas.microsoft.com/office/drawing/2014/main" id="{51F0A16F-BFC9-CF67-F852-E5A73FE584EE}"/>
                </a:ext>
              </a:extLst>
            </p:cNvPr>
            <p:cNvSpPr>
              <a:spLocks noChangeShapeType="1"/>
            </p:cNvSpPr>
            <p:nvPr/>
          </p:nvSpPr>
          <p:spPr bwMode="auto">
            <a:xfrm>
              <a:off x="3648" y="2400"/>
              <a:ext cx="3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56691" name="Group 23">
              <a:extLst>
                <a:ext uri="{FF2B5EF4-FFF2-40B4-BE49-F238E27FC236}">
                  <a16:creationId xmlns:a16="http://schemas.microsoft.com/office/drawing/2014/main" id="{E59C267C-6623-5339-8B2D-D49B53179937}"/>
                </a:ext>
              </a:extLst>
            </p:cNvPr>
            <p:cNvGrpSpPr>
              <a:grpSpLocks/>
            </p:cNvGrpSpPr>
            <p:nvPr/>
          </p:nvGrpSpPr>
          <p:grpSpPr bwMode="auto">
            <a:xfrm>
              <a:off x="2016" y="1968"/>
              <a:ext cx="192" cy="384"/>
              <a:chOff x="2016" y="1968"/>
              <a:chExt cx="192" cy="384"/>
            </a:xfrm>
          </p:grpSpPr>
          <p:sp>
            <p:nvSpPr>
              <p:cNvPr id="156696" name="Line 21">
                <a:extLst>
                  <a:ext uri="{FF2B5EF4-FFF2-40B4-BE49-F238E27FC236}">
                    <a16:creationId xmlns:a16="http://schemas.microsoft.com/office/drawing/2014/main" id="{A908C273-F0B3-8011-4BEE-FBCEDA05B937}"/>
                  </a:ext>
                </a:extLst>
              </p:cNvPr>
              <p:cNvSpPr>
                <a:spLocks noChangeShapeType="1"/>
              </p:cNvSpPr>
              <p:nvPr/>
            </p:nvSpPr>
            <p:spPr bwMode="auto">
              <a:xfrm flipV="1">
                <a:off x="2016" y="196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6697" name="Line 22">
                <a:extLst>
                  <a:ext uri="{FF2B5EF4-FFF2-40B4-BE49-F238E27FC236}">
                    <a16:creationId xmlns:a16="http://schemas.microsoft.com/office/drawing/2014/main" id="{E9118262-CDC4-7749-B37B-540AF593D6F4}"/>
                  </a:ext>
                </a:extLst>
              </p:cNvPr>
              <p:cNvSpPr>
                <a:spLocks noChangeShapeType="1"/>
              </p:cNvSpPr>
              <p:nvPr/>
            </p:nvSpPr>
            <p:spPr bwMode="auto">
              <a:xfrm>
                <a:off x="2016" y="216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56692" name="Line 24">
              <a:extLst>
                <a:ext uri="{FF2B5EF4-FFF2-40B4-BE49-F238E27FC236}">
                  <a16:creationId xmlns:a16="http://schemas.microsoft.com/office/drawing/2014/main" id="{63384C00-8428-7D86-DD89-CB092B1567E6}"/>
                </a:ext>
              </a:extLst>
            </p:cNvPr>
            <p:cNvSpPr>
              <a:spLocks noChangeShapeType="1"/>
            </p:cNvSpPr>
            <p:nvPr/>
          </p:nvSpPr>
          <p:spPr bwMode="auto">
            <a:xfrm flipH="1" flipV="1">
              <a:off x="2302" y="2880"/>
              <a:ext cx="19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6693" name="Line 25">
              <a:extLst>
                <a:ext uri="{FF2B5EF4-FFF2-40B4-BE49-F238E27FC236}">
                  <a16:creationId xmlns:a16="http://schemas.microsoft.com/office/drawing/2014/main" id="{3074264B-0979-0B89-8FD1-5DC25194F0ED}"/>
                </a:ext>
              </a:extLst>
            </p:cNvPr>
            <p:cNvSpPr>
              <a:spLocks noChangeShapeType="1"/>
            </p:cNvSpPr>
            <p:nvPr/>
          </p:nvSpPr>
          <p:spPr bwMode="auto">
            <a:xfrm flipV="1">
              <a:off x="2496" y="2880"/>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6694" name="Line 26">
              <a:extLst>
                <a:ext uri="{FF2B5EF4-FFF2-40B4-BE49-F238E27FC236}">
                  <a16:creationId xmlns:a16="http://schemas.microsoft.com/office/drawing/2014/main" id="{1EC8FF02-72A3-3736-5709-3071B9054784}"/>
                </a:ext>
              </a:extLst>
            </p:cNvPr>
            <p:cNvSpPr>
              <a:spLocks noChangeShapeType="1"/>
            </p:cNvSpPr>
            <p:nvPr/>
          </p:nvSpPr>
          <p:spPr bwMode="auto">
            <a:xfrm flipH="1" flipV="1">
              <a:off x="3648" y="2208"/>
              <a:ext cx="14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6695" name="Line 27">
              <a:extLst>
                <a:ext uri="{FF2B5EF4-FFF2-40B4-BE49-F238E27FC236}">
                  <a16:creationId xmlns:a16="http://schemas.microsoft.com/office/drawing/2014/main" id="{9F2B58E0-BC22-9CBD-990D-85F26EA7FACC}"/>
                </a:ext>
              </a:extLst>
            </p:cNvPr>
            <p:cNvSpPr>
              <a:spLocks noChangeShapeType="1"/>
            </p:cNvSpPr>
            <p:nvPr/>
          </p:nvSpPr>
          <p:spPr bwMode="auto">
            <a:xfrm flipH="1">
              <a:off x="3648" y="2400"/>
              <a:ext cx="14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Date Placeholder 1">
            <a:extLst>
              <a:ext uri="{FF2B5EF4-FFF2-40B4-BE49-F238E27FC236}">
                <a16:creationId xmlns:a16="http://schemas.microsoft.com/office/drawing/2014/main" id="{3AC866D2-CA6A-DF64-C045-1AA2BB838EA0}"/>
              </a:ext>
            </a:extLst>
          </p:cNvPr>
          <p:cNvSpPr>
            <a:spLocks noGrp="1"/>
          </p:cNvSpPr>
          <p:nvPr>
            <p:ph type="dt" sz="quarter" idx="10"/>
          </p:nvPr>
        </p:nvSpPr>
        <p:spPr/>
        <p:txBody>
          <a:bodyPr/>
          <a:lstStyle/>
          <a:p>
            <a:pPr>
              <a:defRPr/>
            </a:pPr>
            <a:fld id="{529CA28B-E9ED-4C8C-930C-9C947A1D8FC1}" type="datetime1">
              <a:rPr lang="en-US" smtClean="0"/>
              <a:t>9/30/2025</a:t>
            </a:fld>
            <a:endParaRPr lang="en-US"/>
          </a:p>
        </p:txBody>
      </p:sp>
      <p:sp>
        <p:nvSpPr>
          <p:cNvPr id="3" name="Footer Placeholder 2">
            <a:extLst>
              <a:ext uri="{FF2B5EF4-FFF2-40B4-BE49-F238E27FC236}">
                <a16:creationId xmlns:a16="http://schemas.microsoft.com/office/drawing/2014/main" id="{95F6DD33-615C-F7D1-79EC-32EC432AA3A6}"/>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8EC673ED-0D75-1C7D-D8BC-1784E0B3E625}"/>
              </a:ext>
            </a:extLst>
          </p:cNvPr>
          <p:cNvSpPr>
            <a:spLocks noGrp="1"/>
          </p:cNvSpPr>
          <p:nvPr>
            <p:ph type="sldNum" sz="quarter" idx="12"/>
          </p:nvPr>
        </p:nvSpPr>
        <p:spPr/>
        <p:txBody>
          <a:bodyPr/>
          <a:lstStyle/>
          <a:p>
            <a:pPr>
              <a:defRPr/>
            </a:pPr>
            <a:fld id="{7D4AA005-BD76-47A4-8C07-89EDD16CB910}" type="slidenum">
              <a:rPr lang="en-US" altLang="en-US" smtClean="0"/>
              <a:pPr>
                <a:defRPr/>
              </a:pPr>
              <a:t>75</a:t>
            </a:fld>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E6034B7D-62FC-7E24-6A24-8EB916E0A50D}"/>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Star Schema</a:t>
            </a:r>
          </a:p>
        </p:txBody>
      </p:sp>
      <p:pic>
        <p:nvPicPr>
          <p:cNvPr id="158723" name="Picture 2">
            <a:extLst>
              <a:ext uri="{FF2B5EF4-FFF2-40B4-BE49-F238E27FC236}">
                <a16:creationId xmlns:a16="http://schemas.microsoft.com/office/drawing/2014/main" id="{55D75BC8-4F8D-5CF4-97DD-5C1E104923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2871" y="1794550"/>
            <a:ext cx="6584576" cy="442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4" name="Rectangle 1">
            <a:extLst>
              <a:ext uri="{FF2B5EF4-FFF2-40B4-BE49-F238E27FC236}">
                <a16:creationId xmlns:a16="http://schemas.microsoft.com/office/drawing/2014/main" id="{3E05987F-4B52-3E79-4B14-D6C8A6957FC8}"/>
              </a:ext>
            </a:extLst>
          </p:cNvPr>
          <p:cNvSpPr>
            <a:spLocks noChangeArrowheads="1"/>
          </p:cNvSpPr>
          <p:nvPr/>
        </p:nvSpPr>
        <p:spPr bwMode="auto">
          <a:xfrm>
            <a:off x="2474913" y="6299201"/>
            <a:ext cx="7772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000">
                <a:latin typeface="Century Gothic" panose="020B0502020202020204" pitchFamily="34" charset="0"/>
                <a:hlinkClick r:id="rId4"/>
              </a:rPr>
              <a:t>http://www.youtube.com/watch?v=A-G5UVohwQQ</a:t>
            </a:r>
            <a:r>
              <a:rPr lang="en-US" altLang="en-US" sz="1000">
                <a:latin typeface="Century Gothic" panose="020B0502020202020204" pitchFamily="34" charset="0"/>
              </a:rPr>
              <a:t> </a:t>
            </a:r>
          </a:p>
        </p:txBody>
      </p:sp>
      <p:sp>
        <p:nvSpPr>
          <p:cNvPr id="2" name="Date Placeholder 1">
            <a:extLst>
              <a:ext uri="{FF2B5EF4-FFF2-40B4-BE49-F238E27FC236}">
                <a16:creationId xmlns:a16="http://schemas.microsoft.com/office/drawing/2014/main" id="{898CE877-3091-A281-AB55-E36BF5365416}"/>
              </a:ext>
            </a:extLst>
          </p:cNvPr>
          <p:cNvSpPr>
            <a:spLocks noGrp="1"/>
          </p:cNvSpPr>
          <p:nvPr>
            <p:ph type="dt" sz="quarter" idx="10"/>
          </p:nvPr>
        </p:nvSpPr>
        <p:spPr/>
        <p:txBody>
          <a:bodyPr/>
          <a:lstStyle/>
          <a:p>
            <a:pPr>
              <a:defRPr/>
            </a:pPr>
            <a:fld id="{DA4552E6-7053-4D23-B38E-0F187ED72C05}" type="datetime1">
              <a:rPr lang="en-US" smtClean="0"/>
              <a:t>9/30/2025</a:t>
            </a:fld>
            <a:endParaRPr lang="en-US"/>
          </a:p>
        </p:txBody>
      </p:sp>
      <p:sp>
        <p:nvSpPr>
          <p:cNvPr id="3" name="Footer Placeholder 2">
            <a:extLst>
              <a:ext uri="{FF2B5EF4-FFF2-40B4-BE49-F238E27FC236}">
                <a16:creationId xmlns:a16="http://schemas.microsoft.com/office/drawing/2014/main" id="{1AAF929D-E85F-2FD4-0283-15BB3E4FF00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4FD1C6D-B523-1AE5-EA35-BB54F46A596C}"/>
              </a:ext>
            </a:extLst>
          </p:cNvPr>
          <p:cNvSpPr>
            <a:spLocks noGrp="1"/>
          </p:cNvSpPr>
          <p:nvPr>
            <p:ph type="sldNum" sz="quarter" idx="12"/>
          </p:nvPr>
        </p:nvSpPr>
        <p:spPr/>
        <p:txBody>
          <a:bodyPr/>
          <a:lstStyle/>
          <a:p>
            <a:pPr>
              <a:defRPr/>
            </a:pPr>
            <a:fld id="{0466E4AB-8BEB-4098-8129-3E94FC11AF70}" type="slidenum">
              <a:rPr lang="en-US" altLang="en-US" smtClean="0"/>
              <a:pPr>
                <a:defRPr/>
              </a:pPr>
              <a:t>76</a:t>
            </a:fld>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FCFA479D-5562-E03B-B979-985B501D1AFC}"/>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60771" name="Text Box 3">
            <a:extLst>
              <a:ext uri="{FF2B5EF4-FFF2-40B4-BE49-F238E27FC236}">
                <a16:creationId xmlns:a16="http://schemas.microsoft.com/office/drawing/2014/main" id="{F6724AA0-1FF1-BBC3-F5C5-F7C6E5A8217C}"/>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60772" name="Text Box 4">
            <a:extLst>
              <a:ext uri="{FF2B5EF4-FFF2-40B4-BE49-F238E27FC236}">
                <a16:creationId xmlns:a16="http://schemas.microsoft.com/office/drawing/2014/main" id="{21E0334B-1CE5-0026-1CC8-1704F7590EA2}"/>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60773" name="Text Box 5">
            <a:extLst>
              <a:ext uri="{FF2B5EF4-FFF2-40B4-BE49-F238E27FC236}">
                <a16:creationId xmlns:a16="http://schemas.microsoft.com/office/drawing/2014/main" id="{F49EDD5A-911A-A44F-B9D7-934CA658E11F}"/>
              </a:ext>
            </a:extLst>
          </p:cNvPr>
          <p:cNvSpPr txBox="1">
            <a:spLocks noChangeArrowheads="1"/>
          </p:cNvSpPr>
          <p:nvPr/>
        </p:nvSpPr>
        <p:spPr bwMode="auto">
          <a:xfrm>
            <a:off x="1097280" y="1769023"/>
            <a:ext cx="807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a:latin typeface="Tahoma" panose="020B0604030504040204" pitchFamily="34" charset="0"/>
              </a:rPr>
              <a:t>Fact Table</a:t>
            </a:r>
            <a:r>
              <a:rPr lang="en-US" altLang="en-US" sz="2400" dirty="0">
                <a:latin typeface="Times New Roman" panose="02020603050405020304" pitchFamily="18" charset="0"/>
              </a:rPr>
              <a:t>  </a:t>
            </a:r>
          </a:p>
        </p:txBody>
      </p:sp>
      <p:pic>
        <p:nvPicPr>
          <p:cNvPr id="160774" name="Picture 3">
            <a:extLst>
              <a:ext uri="{FF2B5EF4-FFF2-40B4-BE49-F238E27FC236}">
                <a16:creationId xmlns:a16="http://schemas.microsoft.com/office/drawing/2014/main" id="{43986077-C443-9807-472C-7A7CB78DB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6870" y="2000004"/>
            <a:ext cx="60960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54ED2D9-F824-D515-48D1-7CF9A9DF7176}"/>
              </a:ext>
            </a:extLst>
          </p:cNvPr>
          <p:cNvSpPr>
            <a:spLocks noGrp="1"/>
          </p:cNvSpPr>
          <p:nvPr>
            <p:ph type="dt" sz="quarter" idx="10"/>
          </p:nvPr>
        </p:nvSpPr>
        <p:spPr/>
        <p:txBody>
          <a:bodyPr/>
          <a:lstStyle/>
          <a:p>
            <a:pPr>
              <a:defRPr/>
            </a:pPr>
            <a:fld id="{F18FD223-9118-4FBE-9078-702D748060D5}" type="datetime1">
              <a:rPr lang="en-US" smtClean="0"/>
              <a:t>9/30/2025</a:t>
            </a:fld>
            <a:endParaRPr lang="en-US"/>
          </a:p>
        </p:txBody>
      </p:sp>
      <p:sp>
        <p:nvSpPr>
          <p:cNvPr id="3" name="Footer Placeholder 2">
            <a:extLst>
              <a:ext uri="{FF2B5EF4-FFF2-40B4-BE49-F238E27FC236}">
                <a16:creationId xmlns:a16="http://schemas.microsoft.com/office/drawing/2014/main" id="{A68D4A47-4AD7-27DD-95C5-832F3E3EC73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74CAAA28-9B0A-5E27-819D-6944627B3314}"/>
              </a:ext>
            </a:extLst>
          </p:cNvPr>
          <p:cNvSpPr>
            <a:spLocks noGrp="1"/>
          </p:cNvSpPr>
          <p:nvPr>
            <p:ph type="sldNum" sz="quarter" idx="12"/>
          </p:nvPr>
        </p:nvSpPr>
        <p:spPr/>
        <p:txBody>
          <a:bodyPr/>
          <a:lstStyle/>
          <a:p>
            <a:pPr>
              <a:defRPr/>
            </a:pPr>
            <a:fld id="{93C89883-6C9F-4ADD-8E3C-7840CF3CAE68}" type="slidenum">
              <a:rPr lang="en-US" altLang="en-US" smtClean="0"/>
              <a:pPr>
                <a:defRPr/>
              </a:pPr>
              <a:t>77</a:t>
            </a:fld>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6AD28738-A4D9-D6AE-8D71-679DA610355A}"/>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II.  Dimensional Modeling and Star/Snowflake Schema</a:t>
            </a:r>
          </a:p>
        </p:txBody>
      </p:sp>
      <p:sp>
        <p:nvSpPr>
          <p:cNvPr id="162819" name="Text Box 3">
            <a:extLst>
              <a:ext uri="{FF2B5EF4-FFF2-40B4-BE49-F238E27FC236}">
                <a16:creationId xmlns:a16="http://schemas.microsoft.com/office/drawing/2014/main" id="{0DEA65E5-7232-4686-FBA6-94B863BB779A}"/>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62820" name="Text Box 4">
            <a:extLst>
              <a:ext uri="{FF2B5EF4-FFF2-40B4-BE49-F238E27FC236}">
                <a16:creationId xmlns:a16="http://schemas.microsoft.com/office/drawing/2014/main" id="{CDD5FD8A-6AFC-048B-7E58-634F781EAE36}"/>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sp>
        <p:nvSpPr>
          <p:cNvPr id="162821" name="Text Box 5">
            <a:extLst>
              <a:ext uri="{FF2B5EF4-FFF2-40B4-BE49-F238E27FC236}">
                <a16:creationId xmlns:a16="http://schemas.microsoft.com/office/drawing/2014/main" id="{6EBE1B32-DC37-07B9-C69D-64F4D2A1B6E8}"/>
              </a:ext>
            </a:extLst>
          </p:cNvPr>
          <p:cNvSpPr txBox="1">
            <a:spLocks noChangeArrowheads="1"/>
          </p:cNvSpPr>
          <p:nvPr/>
        </p:nvSpPr>
        <p:spPr bwMode="auto">
          <a:xfrm>
            <a:off x="654424" y="1718223"/>
            <a:ext cx="807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400" b="1" dirty="0" err="1">
                <a:latin typeface="Tahoma" panose="020B0604030504040204" pitchFamily="34" charset="0"/>
                <a:cs typeface="Tahoma" panose="020B0604030504040204" pitchFamily="34" charset="0"/>
              </a:rPr>
              <a:t>dimEmployee</a:t>
            </a:r>
            <a:r>
              <a:rPr lang="en-US" altLang="en-US" sz="2400" b="1" dirty="0">
                <a:latin typeface="Tahoma" panose="020B0604030504040204" pitchFamily="34" charset="0"/>
                <a:cs typeface="Tahoma" panose="020B0604030504040204" pitchFamily="34" charset="0"/>
              </a:rPr>
              <a:t> </a:t>
            </a:r>
            <a:r>
              <a:rPr lang="en-US" altLang="en-US" sz="2400" b="1" dirty="0">
                <a:latin typeface="Tahoma" panose="020B0604030504040204" pitchFamily="34" charset="0"/>
              </a:rPr>
              <a:t>Table</a:t>
            </a:r>
            <a:r>
              <a:rPr lang="en-US" altLang="en-US" sz="2400" dirty="0">
                <a:latin typeface="Times New Roman" panose="02020603050405020304" pitchFamily="18" charset="0"/>
              </a:rPr>
              <a:t>  </a:t>
            </a:r>
          </a:p>
        </p:txBody>
      </p:sp>
      <p:pic>
        <p:nvPicPr>
          <p:cNvPr id="162822" name="Picture 2">
            <a:extLst>
              <a:ext uri="{FF2B5EF4-FFF2-40B4-BE49-F238E27FC236}">
                <a16:creationId xmlns:a16="http://schemas.microsoft.com/office/drawing/2014/main" id="{A2739320-AEAE-9F46-EE50-C55487595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0675" y="2180186"/>
            <a:ext cx="6107849" cy="4104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C0FDC0B1-B22C-19B4-8FB4-8C9DDB18B419}"/>
              </a:ext>
            </a:extLst>
          </p:cNvPr>
          <p:cNvSpPr>
            <a:spLocks noGrp="1"/>
          </p:cNvSpPr>
          <p:nvPr>
            <p:ph type="dt" sz="quarter" idx="10"/>
          </p:nvPr>
        </p:nvSpPr>
        <p:spPr/>
        <p:txBody>
          <a:bodyPr/>
          <a:lstStyle/>
          <a:p>
            <a:pPr>
              <a:defRPr/>
            </a:pPr>
            <a:fld id="{907FEBA1-0F00-442C-B16B-A4D4FDEC856C}" type="datetime1">
              <a:rPr lang="en-US" smtClean="0"/>
              <a:t>9/30/2025</a:t>
            </a:fld>
            <a:endParaRPr lang="en-US"/>
          </a:p>
        </p:txBody>
      </p:sp>
      <p:sp>
        <p:nvSpPr>
          <p:cNvPr id="3" name="Footer Placeholder 2">
            <a:extLst>
              <a:ext uri="{FF2B5EF4-FFF2-40B4-BE49-F238E27FC236}">
                <a16:creationId xmlns:a16="http://schemas.microsoft.com/office/drawing/2014/main" id="{FB65AB78-EB23-FC13-B732-AF722900147E}"/>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E14843B-254A-DA99-4FCC-4F22F555DCCC}"/>
              </a:ext>
            </a:extLst>
          </p:cNvPr>
          <p:cNvSpPr>
            <a:spLocks noGrp="1"/>
          </p:cNvSpPr>
          <p:nvPr>
            <p:ph type="sldNum" sz="quarter" idx="12"/>
          </p:nvPr>
        </p:nvSpPr>
        <p:spPr/>
        <p:txBody>
          <a:bodyPr/>
          <a:lstStyle/>
          <a:p>
            <a:pPr>
              <a:defRPr/>
            </a:pPr>
            <a:fld id="{C3DA2DF0-8F58-417C-8A48-227CD033CD37}" type="slidenum">
              <a:rPr lang="en-US" altLang="en-US" smtClean="0"/>
              <a:pPr>
                <a:defRPr/>
              </a:pPr>
              <a:t>78</a:t>
            </a:fld>
            <a:endParaRPr lang="en-US"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FA6B45B0-4848-D5D2-EA87-1165C3B6DF2B}"/>
              </a:ext>
            </a:extLst>
          </p:cNvPr>
          <p:cNvSpPr>
            <a:spLocks noChangeArrowheads="1"/>
          </p:cNvSpPr>
          <p:nvPr/>
        </p:nvSpPr>
        <p:spPr bwMode="auto">
          <a:xfrm>
            <a:off x="2549323" y="33251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Snowflake Schema</a:t>
            </a:r>
          </a:p>
        </p:txBody>
      </p:sp>
      <p:sp>
        <p:nvSpPr>
          <p:cNvPr id="2" name="Oval 1">
            <a:extLst>
              <a:ext uri="{FF2B5EF4-FFF2-40B4-BE49-F238E27FC236}">
                <a16:creationId xmlns:a16="http://schemas.microsoft.com/office/drawing/2014/main" id="{7F3D9E2C-7BA2-E1E9-306A-B9C2A6E7B10F}"/>
              </a:ext>
            </a:extLst>
          </p:cNvPr>
          <p:cNvSpPr/>
          <p:nvPr/>
        </p:nvSpPr>
        <p:spPr>
          <a:xfrm>
            <a:off x="9595658" y="973896"/>
            <a:ext cx="3048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 name="Straight Connector 3">
            <a:extLst>
              <a:ext uri="{FF2B5EF4-FFF2-40B4-BE49-F238E27FC236}">
                <a16:creationId xmlns:a16="http://schemas.microsoft.com/office/drawing/2014/main" id="{31BE4B98-58EC-4C9A-38FC-F9DB1346D14B}"/>
              </a:ext>
            </a:extLst>
          </p:cNvPr>
          <p:cNvCxnSpPr>
            <a:stCxn id="2" idx="7"/>
          </p:cNvCxnSpPr>
          <p:nvPr/>
        </p:nvCxnSpPr>
        <p:spPr>
          <a:xfrm flipV="1">
            <a:off x="9856008" y="745296"/>
            <a:ext cx="196850" cy="261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4129DC5-4400-123D-3BCD-26B3438702A9}"/>
              </a:ext>
            </a:extLst>
          </p:cNvPr>
          <p:cNvCxnSpPr>
            <a:stCxn id="2" idx="1"/>
          </p:cNvCxnSpPr>
          <p:nvPr/>
        </p:nvCxnSpPr>
        <p:spPr>
          <a:xfrm flipH="1" flipV="1">
            <a:off x="9367058" y="897696"/>
            <a:ext cx="273050" cy="109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B65F1C6-1D1C-D877-114B-9D3D45A49443}"/>
              </a:ext>
            </a:extLst>
          </p:cNvPr>
          <p:cNvCxnSpPr>
            <a:stCxn id="2" idx="4"/>
          </p:cNvCxnSpPr>
          <p:nvPr/>
        </p:nvCxnSpPr>
        <p:spPr>
          <a:xfrm flipH="1">
            <a:off x="9595658" y="1202496"/>
            <a:ext cx="1524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B6B0B7-84F7-6C3F-22DE-7317E367EACF}"/>
              </a:ext>
            </a:extLst>
          </p:cNvPr>
          <p:cNvCxnSpPr>
            <a:stCxn id="2" idx="5"/>
          </p:cNvCxnSpPr>
          <p:nvPr/>
        </p:nvCxnSpPr>
        <p:spPr>
          <a:xfrm>
            <a:off x="9856008" y="1169160"/>
            <a:ext cx="349250" cy="338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9870630-E890-1507-4D25-89F0067E11C3}"/>
              </a:ext>
            </a:extLst>
          </p:cNvPr>
          <p:cNvCxnSpPr>
            <a:cxnSpLocks/>
            <a:endCxn id="2" idx="6"/>
          </p:cNvCxnSpPr>
          <p:nvPr/>
        </p:nvCxnSpPr>
        <p:spPr>
          <a:xfrm flipH="1">
            <a:off x="9900458" y="1083434"/>
            <a:ext cx="456996" cy="4762"/>
          </a:xfrm>
          <a:prstGeom prst="line">
            <a:avLst/>
          </a:prstGeom>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75765FE9-FF63-6E00-B137-7E077B930A41}"/>
              </a:ext>
            </a:extLst>
          </p:cNvPr>
          <p:cNvSpPr/>
          <p:nvPr/>
        </p:nvSpPr>
        <p:spPr>
          <a:xfrm>
            <a:off x="10112375" y="1422525"/>
            <a:ext cx="152400" cy="136525"/>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64867" name="Text Box 4">
            <a:extLst>
              <a:ext uri="{FF2B5EF4-FFF2-40B4-BE49-F238E27FC236}">
                <a16:creationId xmlns:a16="http://schemas.microsoft.com/office/drawing/2014/main" id="{11BF4A98-CAD1-6D23-FB6E-ECB086105F82}"/>
              </a:ext>
            </a:extLst>
          </p:cNvPr>
          <p:cNvSpPr txBox="1">
            <a:spLocks noChangeArrowheads="1"/>
          </p:cNvSpPr>
          <p:nvPr/>
        </p:nvSpPr>
        <p:spPr bwMode="auto">
          <a:xfrm>
            <a:off x="2549323" y="2591073"/>
            <a:ext cx="6610284" cy="37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000">
              <a:latin typeface="Tahoma" panose="020B0604030504040204" pitchFamily="34" charset="0"/>
            </a:endParaRPr>
          </a:p>
        </p:txBody>
      </p:sp>
      <p:sp>
        <p:nvSpPr>
          <p:cNvPr id="164868" name="Text Box 5">
            <a:extLst>
              <a:ext uri="{FF2B5EF4-FFF2-40B4-BE49-F238E27FC236}">
                <a16:creationId xmlns:a16="http://schemas.microsoft.com/office/drawing/2014/main" id="{F5437A49-BEC7-DACC-FB32-3066E432046D}"/>
              </a:ext>
            </a:extLst>
          </p:cNvPr>
          <p:cNvSpPr txBox="1">
            <a:spLocks noChangeArrowheads="1"/>
          </p:cNvSpPr>
          <p:nvPr/>
        </p:nvSpPr>
        <p:spPr bwMode="auto">
          <a:xfrm>
            <a:off x="2621964" y="2591073"/>
            <a:ext cx="6610284" cy="37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endParaRPr lang="en-US" altLang="en-US" sz="2000">
              <a:latin typeface="Tahoma" panose="020B0604030504040204" pitchFamily="34" charset="0"/>
            </a:endParaRPr>
          </a:p>
        </p:txBody>
      </p:sp>
      <p:grpSp>
        <p:nvGrpSpPr>
          <p:cNvPr id="164869" name="Group 6">
            <a:extLst>
              <a:ext uri="{FF2B5EF4-FFF2-40B4-BE49-F238E27FC236}">
                <a16:creationId xmlns:a16="http://schemas.microsoft.com/office/drawing/2014/main" id="{8680E272-C5C5-93E8-9BAA-6225BF62DEF4}"/>
              </a:ext>
            </a:extLst>
          </p:cNvPr>
          <p:cNvGrpSpPr>
            <a:grpSpLocks/>
          </p:cNvGrpSpPr>
          <p:nvPr/>
        </p:nvGrpSpPr>
        <p:grpSpPr bwMode="auto">
          <a:xfrm>
            <a:off x="4510616" y="2157129"/>
            <a:ext cx="2324495" cy="2222460"/>
            <a:chOff x="2112" y="1872"/>
            <a:chExt cx="1536" cy="1475"/>
          </a:xfrm>
        </p:grpSpPr>
        <p:sp>
          <p:nvSpPr>
            <p:cNvPr id="164904" name="Text Box 7">
              <a:extLst>
                <a:ext uri="{FF2B5EF4-FFF2-40B4-BE49-F238E27FC236}">
                  <a16:creationId xmlns:a16="http://schemas.microsoft.com/office/drawing/2014/main" id="{6F724B5C-F136-8B79-500B-2BB667493FCB}"/>
                </a:ext>
              </a:extLst>
            </p:cNvPr>
            <p:cNvSpPr txBox="1">
              <a:spLocks noChangeArrowheads="1"/>
            </p:cNvSpPr>
            <p:nvPr/>
          </p:nvSpPr>
          <p:spPr bwMode="auto">
            <a:xfrm>
              <a:off x="2160" y="2112"/>
              <a:ext cx="1440" cy="123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a:latin typeface="Times New Roman" panose="02020603050405020304" pitchFamily="18" charset="0"/>
                </a:rPr>
                <a:t>Time-key (FK)</a:t>
              </a:r>
            </a:p>
            <a:p>
              <a:pPr eaLnBrk="1" hangingPunct="1">
                <a:lnSpc>
                  <a:spcPct val="50000"/>
                </a:lnSpc>
                <a:spcBef>
                  <a:spcPct val="50000"/>
                </a:spcBef>
              </a:pPr>
              <a:r>
                <a:rPr lang="en-US" altLang="en-US" sz="2000">
                  <a:latin typeface="Times New Roman" panose="02020603050405020304" pitchFamily="18" charset="0"/>
                </a:rPr>
                <a:t>Product-key (FK)</a:t>
              </a:r>
            </a:p>
            <a:p>
              <a:pPr eaLnBrk="1" hangingPunct="1">
                <a:lnSpc>
                  <a:spcPct val="50000"/>
                </a:lnSpc>
                <a:spcBef>
                  <a:spcPct val="50000"/>
                </a:spcBef>
              </a:pPr>
              <a:r>
                <a:rPr lang="en-US" altLang="en-US" sz="2000">
                  <a:latin typeface="Times New Roman" panose="02020603050405020304" pitchFamily="18" charset="0"/>
                </a:rPr>
                <a:t>Store-key (FK)</a:t>
              </a:r>
            </a:p>
            <a:p>
              <a:pPr eaLnBrk="1" hangingPunct="1">
                <a:lnSpc>
                  <a:spcPct val="50000"/>
                </a:lnSpc>
                <a:spcBef>
                  <a:spcPct val="50000"/>
                </a:spcBef>
              </a:pPr>
              <a:r>
                <a:rPr lang="en-US" altLang="en-US" sz="2000">
                  <a:latin typeface="Times New Roman" panose="02020603050405020304" pitchFamily="18" charset="0"/>
                </a:rPr>
                <a:t>dollars-sold</a:t>
              </a:r>
            </a:p>
            <a:p>
              <a:pPr eaLnBrk="1" hangingPunct="1">
                <a:lnSpc>
                  <a:spcPct val="50000"/>
                </a:lnSpc>
                <a:spcBef>
                  <a:spcPct val="50000"/>
                </a:spcBef>
              </a:pPr>
              <a:r>
                <a:rPr lang="en-US" altLang="en-US" sz="2000">
                  <a:latin typeface="Times New Roman" panose="02020603050405020304" pitchFamily="18" charset="0"/>
                </a:rPr>
                <a:t>units-sold</a:t>
              </a:r>
            </a:p>
            <a:p>
              <a:pPr eaLnBrk="1" hangingPunct="1">
                <a:lnSpc>
                  <a:spcPct val="50000"/>
                </a:lnSpc>
                <a:spcBef>
                  <a:spcPct val="50000"/>
                </a:spcBef>
              </a:pPr>
              <a:r>
                <a:rPr lang="en-US" altLang="en-US" sz="2000">
                  <a:latin typeface="Times New Roman" panose="02020603050405020304" pitchFamily="18" charset="0"/>
                </a:rPr>
                <a:t>dollars-cost</a:t>
              </a:r>
            </a:p>
          </p:txBody>
        </p:sp>
        <p:sp>
          <p:nvSpPr>
            <p:cNvPr id="164905" name="Text Box 8">
              <a:extLst>
                <a:ext uri="{FF2B5EF4-FFF2-40B4-BE49-F238E27FC236}">
                  <a16:creationId xmlns:a16="http://schemas.microsoft.com/office/drawing/2014/main" id="{4BF033DF-BA3E-1ED5-FBD5-FF1DF1EDA934}"/>
                </a:ext>
              </a:extLst>
            </p:cNvPr>
            <p:cNvSpPr txBox="1">
              <a:spLocks noChangeArrowheads="1"/>
            </p:cNvSpPr>
            <p:nvPr/>
          </p:nvSpPr>
          <p:spPr bwMode="auto">
            <a:xfrm>
              <a:off x="2112" y="1872"/>
              <a:ext cx="15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spcBef>
                  <a:spcPct val="50000"/>
                </a:spcBef>
              </a:pPr>
              <a:r>
                <a:rPr lang="en-US" altLang="en-US" sz="2000" b="1">
                  <a:latin typeface="Tahoma" panose="020B0604030504040204" pitchFamily="34" charset="0"/>
                </a:rPr>
                <a:t>Sales Fact Table</a:t>
              </a:r>
            </a:p>
          </p:txBody>
        </p:sp>
      </p:grpSp>
      <p:sp>
        <p:nvSpPr>
          <p:cNvPr id="164870" name="Text Box 9">
            <a:extLst>
              <a:ext uri="{FF2B5EF4-FFF2-40B4-BE49-F238E27FC236}">
                <a16:creationId xmlns:a16="http://schemas.microsoft.com/office/drawing/2014/main" id="{6DE5CBA8-2E44-96B1-BA75-3B6864FEC6AE}"/>
              </a:ext>
            </a:extLst>
          </p:cNvPr>
          <p:cNvSpPr txBox="1">
            <a:spLocks noChangeArrowheads="1"/>
          </p:cNvSpPr>
          <p:nvPr/>
        </p:nvSpPr>
        <p:spPr bwMode="auto">
          <a:xfrm>
            <a:off x="2186121" y="2518748"/>
            <a:ext cx="1670731" cy="13214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80000"/>
              </a:lnSpc>
              <a:spcBef>
                <a:spcPct val="50000"/>
              </a:spcBef>
            </a:pPr>
            <a:r>
              <a:rPr lang="en-US" altLang="en-US">
                <a:latin typeface="Times New Roman" panose="02020603050405020304" pitchFamily="18" charset="0"/>
              </a:rPr>
              <a:t>Time-key (PK)</a:t>
            </a:r>
          </a:p>
          <a:p>
            <a:pPr eaLnBrk="1" hangingPunct="1">
              <a:lnSpc>
                <a:spcPct val="80000"/>
              </a:lnSpc>
              <a:spcBef>
                <a:spcPct val="50000"/>
              </a:spcBef>
            </a:pPr>
            <a:r>
              <a:rPr lang="en-US" altLang="en-US">
                <a:latin typeface="Times New Roman" panose="02020603050405020304" pitchFamily="18" charset="0"/>
              </a:rPr>
              <a:t>Day-of-week</a:t>
            </a:r>
          </a:p>
          <a:p>
            <a:pPr eaLnBrk="1" hangingPunct="1">
              <a:lnSpc>
                <a:spcPct val="80000"/>
              </a:lnSpc>
              <a:spcBef>
                <a:spcPct val="50000"/>
              </a:spcBef>
            </a:pPr>
            <a:r>
              <a:rPr lang="en-US" altLang="en-US">
                <a:latin typeface="Times New Roman" panose="02020603050405020304" pitchFamily="18" charset="0"/>
              </a:rPr>
              <a:t>week-number</a:t>
            </a:r>
          </a:p>
          <a:p>
            <a:pPr eaLnBrk="1" hangingPunct="1">
              <a:lnSpc>
                <a:spcPct val="80000"/>
              </a:lnSpc>
              <a:spcBef>
                <a:spcPct val="50000"/>
              </a:spcBef>
            </a:pPr>
            <a:r>
              <a:rPr lang="en-US" altLang="en-US">
                <a:latin typeface="Times New Roman" panose="02020603050405020304" pitchFamily="18" charset="0"/>
              </a:rPr>
              <a:t>Month</a:t>
            </a:r>
            <a:endParaRPr lang="en-US" altLang="en-US" sz="2400">
              <a:latin typeface="Times New Roman" panose="02020603050405020304" pitchFamily="18" charset="0"/>
            </a:endParaRPr>
          </a:p>
        </p:txBody>
      </p:sp>
      <p:sp>
        <p:nvSpPr>
          <p:cNvPr id="164871" name="Text Box 10">
            <a:extLst>
              <a:ext uri="{FF2B5EF4-FFF2-40B4-BE49-F238E27FC236}">
                <a16:creationId xmlns:a16="http://schemas.microsoft.com/office/drawing/2014/main" id="{BE0FFAE9-305B-B0CA-E33A-87D2950FA67B}"/>
              </a:ext>
            </a:extLst>
          </p:cNvPr>
          <p:cNvSpPr txBox="1">
            <a:spLocks noChangeArrowheads="1"/>
          </p:cNvSpPr>
          <p:nvPr/>
        </p:nvSpPr>
        <p:spPr bwMode="auto">
          <a:xfrm>
            <a:off x="2258761" y="1867832"/>
            <a:ext cx="1670731" cy="665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a:latin typeface="Tahoma" panose="020B0604030504040204" pitchFamily="34" charset="0"/>
              </a:rPr>
              <a:t>Time Dimension</a:t>
            </a:r>
          </a:p>
        </p:txBody>
      </p:sp>
      <p:sp>
        <p:nvSpPr>
          <p:cNvPr id="164872" name="Text Box 11">
            <a:extLst>
              <a:ext uri="{FF2B5EF4-FFF2-40B4-BE49-F238E27FC236}">
                <a16:creationId xmlns:a16="http://schemas.microsoft.com/office/drawing/2014/main" id="{C07AF72F-B398-117E-1CA8-3BA33FA4C35A}"/>
              </a:ext>
            </a:extLst>
          </p:cNvPr>
          <p:cNvSpPr txBox="1">
            <a:spLocks noChangeArrowheads="1"/>
          </p:cNvSpPr>
          <p:nvPr/>
        </p:nvSpPr>
        <p:spPr bwMode="auto">
          <a:xfrm>
            <a:off x="7343595" y="3025017"/>
            <a:ext cx="2251855" cy="121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70000"/>
              </a:lnSpc>
              <a:spcBef>
                <a:spcPct val="50000"/>
              </a:spcBef>
            </a:pPr>
            <a:r>
              <a:rPr lang="en-US" altLang="en-US">
                <a:latin typeface="Times New Roman" panose="02020603050405020304" pitchFamily="18" charset="0"/>
              </a:rPr>
              <a:t>Product-key (PK)</a:t>
            </a:r>
          </a:p>
          <a:p>
            <a:pPr eaLnBrk="1" hangingPunct="1">
              <a:lnSpc>
                <a:spcPct val="70000"/>
              </a:lnSpc>
              <a:spcBef>
                <a:spcPct val="50000"/>
              </a:spcBef>
            </a:pPr>
            <a:r>
              <a:rPr lang="en-US" altLang="en-US">
                <a:latin typeface="Times New Roman" panose="02020603050405020304" pitchFamily="18" charset="0"/>
              </a:rPr>
              <a:t>SKU</a:t>
            </a:r>
          </a:p>
          <a:p>
            <a:pPr eaLnBrk="1" hangingPunct="1">
              <a:lnSpc>
                <a:spcPct val="70000"/>
              </a:lnSpc>
              <a:spcBef>
                <a:spcPct val="50000"/>
              </a:spcBef>
            </a:pPr>
            <a:r>
              <a:rPr lang="en-US" altLang="en-US">
                <a:latin typeface="Times New Roman" panose="02020603050405020304" pitchFamily="18" charset="0"/>
              </a:rPr>
              <a:t>description</a:t>
            </a:r>
          </a:p>
          <a:p>
            <a:pPr eaLnBrk="1" hangingPunct="1">
              <a:lnSpc>
                <a:spcPct val="70000"/>
              </a:lnSpc>
              <a:spcBef>
                <a:spcPct val="50000"/>
              </a:spcBef>
            </a:pPr>
            <a:r>
              <a:rPr lang="en-US" altLang="en-US">
                <a:latin typeface="Times New Roman" panose="02020603050405020304" pitchFamily="18" charset="0"/>
              </a:rPr>
              <a:t>marketing-brand-key</a:t>
            </a:r>
          </a:p>
        </p:txBody>
      </p:sp>
      <p:sp>
        <p:nvSpPr>
          <p:cNvPr id="164873" name="Text Box 12">
            <a:extLst>
              <a:ext uri="{FF2B5EF4-FFF2-40B4-BE49-F238E27FC236}">
                <a16:creationId xmlns:a16="http://schemas.microsoft.com/office/drawing/2014/main" id="{36007802-A3F9-0074-7B5B-550D815673EA}"/>
              </a:ext>
            </a:extLst>
          </p:cNvPr>
          <p:cNvSpPr txBox="1">
            <a:spLocks noChangeArrowheads="1"/>
          </p:cNvSpPr>
          <p:nvPr/>
        </p:nvSpPr>
        <p:spPr bwMode="auto">
          <a:xfrm>
            <a:off x="7270955" y="2591073"/>
            <a:ext cx="2033933" cy="37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a:latin typeface="Tahoma" panose="020B0604030504040204" pitchFamily="34" charset="0"/>
              </a:rPr>
              <a:t>Product Dim</a:t>
            </a:r>
          </a:p>
        </p:txBody>
      </p:sp>
      <p:sp>
        <p:nvSpPr>
          <p:cNvPr id="164874" name="Text Box 13">
            <a:extLst>
              <a:ext uri="{FF2B5EF4-FFF2-40B4-BE49-F238E27FC236}">
                <a16:creationId xmlns:a16="http://schemas.microsoft.com/office/drawing/2014/main" id="{B0161EFE-E21C-B5FF-B96C-AF37EA6937E0}"/>
              </a:ext>
            </a:extLst>
          </p:cNvPr>
          <p:cNvSpPr txBox="1">
            <a:spLocks noChangeArrowheads="1"/>
          </p:cNvSpPr>
          <p:nvPr/>
        </p:nvSpPr>
        <p:spPr bwMode="auto">
          <a:xfrm>
            <a:off x="2839885" y="5194739"/>
            <a:ext cx="2324495" cy="111650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lnSpc>
                <a:spcPct val="60000"/>
              </a:lnSpc>
              <a:spcBef>
                <a:spcPct val="50000"/>
              </a:spcBef>
            </a:pPr>
            <a:r>
              <a:rPr lang="en-US" altLang="en-US">
                <a:latin typeface="Times New Roman" panose="02020603050405020304" pitchFamily="18" charset="0"/>
              </a:rPr>
              <a:t>Store-key (PK)</a:t>
            </a:r>
          </a:p>
          <a:p>
            <a:pPr eaLnBrk="1" hangingPunct="1">
              <a:lnSpc>
                <a:spcPct val="60000"/>
              </a:lnSpc>
              <a:spcBef>
                <a:spcPct val="50000"/>
              </a:spcBef>
            </a:pPr>
            <a:r>
              <a:rPr lang="en-US" altLang="en-US">
                <a:latin typeface="Times New Roman" panose="02020603050405020304" pitchFamily="18" charset="0"/>
              </a:rPr>
              <a:t>store-ID</a:t>
            </a:r>
          </a:p>
          <a:p>
            <a:pPr eaLnBrk="1" hangingPunct="1">
              <a:lnSpc>
                <a:spcPct val="60000"/>
              </a:lnSpc>
              <a:spcBef>
                <a:spcPct val="50000"/>
              </a:spcBef>
            </a:pPr>
            <a:r>
              <a:rPr lang="en-US" altLang="en-US">
                <a:latin typeface="Times New Roman" panose="02020603050405020304" pitchFamily="18" charset="0"/>
              </a:rPr>
              <a:t>store-name</a:t>
            </a:r>
          </a:p>
          <a:p>
            <a:pPr eaLnBrk="1" hangingPunct="1">
              <a:lnSpc>
                <a:spcPct val="60000"/>
              </a:lnSpc>
              <a:spcBef>
                <a:spcPct val="50000"/>
              </a:spcBef>
            </a:pPr>
            <a:r>
              <a:rPr lang="en-US" altLang="en-US">
                <a:latin typeface="Times New Roman" panose="02020603050405020304" pitchFamily="18" charset="0"/>
              </a:rPr>
              <a:t>address</a:t>
            </a:r>
          </a:p>
        </p:txBody>
      </p:sp>
      <p:sp>
        <p:nvSpPr>
          <p:cNvPr id="164875" name="Text Box 14">
            <a:extLst>
              <a:ext uri="{FF2B5EF4-FFF2-40B4-BE49-F238E27FC236}">
                <a16:creationId xmlns:a16="http://schemas.microsoft.com/office/drawing/2014/main" id="{CEE9692B-EFB2-9C8D-AC55-CD1CF88BF05B}"/>
              </a:ext>
            </a:extLst>
          </p:cNvPr>
          <p:cNvSpPr txBox="1">
            <a:spLocks noChangeArrowheads="1"/>
          </p:cNvSpPr>
          <p:nvPr/>
        </p:nvSpPr>
        <p:spPr bwMode="auto">
          <a:xfrm>
            <a:off x="2694604" y="4833120"/>
            <a:ext cx="3196181" cy="37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sz="2000" b="1">
                <a:latin typeface="Tahoma" panose="020B0604030504040204" pitchFamily="34" charset="0"/>
              </a:rPr>
              <a:t>Store Dimension</a:t>
            </a:r>
          </a:p>
        </p:txBody>
      </p:sp>
      <p:sp>
        <p:nvSpPr>
          <p:cNvPr id="164876" name="Line 15">
            <a:extLst>
              <a:ext uri="{FF2B5EF4-FFF2-40B4-BE49-F238E27FC236}">
                <a16:creationId xmlns:a16="http://schemas.microsoft.com/office/drawing/2014/main" id="{7BC6C0A7-CCD5-1DA2-2B00-741E9C50047C}"/>
              </a:ext>
            </a:extLst>
          </p:cNvPr>
          <p:cNvSpPr>
            <a:spLocks noChangeShapeType="1"/>
          </p:cNvSpPr>
          <p:nvPr/>
        </p:nvSpPr>
        <p:spPr bwMode="auto">
          <a:xfrm>
            <a:off x="3856852" y="3314313"/>
            <a:ext cx="72640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77" name="Line 16">
            <a:extLst>
              <a:ext uri="{FF2B5EF4-FFF2-40B4-BE49-F238E27FC236}">
                <a16:creationId xmlns:a16="http://schemas.microsoft.com/office/drawing/2014/main" id="{261F0155-92C5-DF90-AAAE-881F70742E46}"/>
              </a:ext>
            </a:extLst>
          </p:cNvPr>
          <p:cNvSpPr>
            <a:spLocks noChangeShapeType="1"/>
          </p:cNvSpPr>
          <p:nvPr/>
        </p:nvSpPr>
        <p:spPr bwMode="auto">
          <a:xfrm flipV="1">
            <a:off x="5019100" y="4326850"/>
            <a:ext cx="0" cy="8678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78" name="Line 17">
            <a:extLst>
              <a:ext uri="{FF2B5EF4-FFF2-40B4-BE49-F238E27FC236}">
                <a16:creationId xmlns:a16="http://schemas.microsoft.com/office/drawing/2014/main" id="{00DB7588-EF21-A7AD-5D16-C745AFBEE5EA}"/>
              </a:ext>
            </a:extLst>
          </p:cNvPr>
          <p:cNvSpPr>
            <a:spLocks noChangeShapeType="1"/>
          </p:cNvSpPr>
          <p:nvPr/>
        </p:nvSpPr>
        <p:spPr bwMode="auto">
          <a:xfrm>
            <a:off x="6762471" y="3675933"/>
            <a:ext cx="5811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64879" name="Group 18">
            <a:extLst>
              <a:ext uri="{FF2B5EF4-FFF2-40B4-BE49-F238E27FC236}">
                <a16:creationId xmlns:a16="http://schemas.microsoft.com/office/drawing/2014/main" id="{887F8C98-775A-CD6B-9311-240778045F06}"/>
              </a:ext>
            </a:extLst>
          </p:cNvPr>
          <p:cNvGrpSpPr>
            <a:grpSpLocks/>
          </p:cNvGrpSpPr>
          <p:nvPr/>
        </p:nvGrpSpPr>
        <p:grpSpPr bwMode="auto">
          <a:xfrm>
            <a:off x="4292695" y="3025017"/>
            <a:ext cx="290562" cy="578593"/>
            <a:chOff x="2016" y="1968"/>
            <a:chExt cx="192" cy="384"/>
          </a:xfrm>
        </p:grpSpPr>
        <p:sp>
          <p:nvSpPr>
            <p:cNvPr id="164902" name="Line 19">
              <a:extLst>
                <a:ext uri="{FF2B5EF4-FFF2-40B4-BE49-F238E27FC236}">
                  <a16:creationId xmlns:a16="http://schemas.microsoft.com/office/drawing/2014/main" id="{CB7291F7-460E-643F-15CF-D0890AC766AA}"/>
                </a:ext>
              </a:extLst>
            </p:cNvPr>
            <p:cNvSpPr>
              <a:spLocks noChangeShapeType="1"/>
            </p:cNvSpPr>
            <p:nvPr/>
          </p:nvSpPr>
          <p:spPr bwMode="auto">
            <a:xfrm flipV="1">
              <a:off x="2016" y="196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903" name="Line 20">
              <a:extLst>
                <a:ext uri="{FF2B5EF4-FFF2-40B4-BE49-F238E27FC236}">
                  <a16:creationId xmlns:a16="http://schemas.microsoft.com/office/drawing/2014/main" id="{9013F600-BEAB-32D7-756B-AC9A42FBB492}"/>
                </a:ext>
              </a:extLst>
            </p:cNvPr>
            <p:cNvSpPr>
              <a:spLocks noChangeShapeType="1"/>
            </p:cNvSpPr>
            <p:nvPr/>
          </p:nvSpPr>
          <p:spPr bwMode="auto">
            <a:xfrm>
              <a:off x="2016" y="216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64880" name="Line 21">
            <a:extLst>
              <a:ext uri="{FF2B5EF4-FFF2-40B4-BE49-F238E27FC236}">
                <a16:creationId xmlns:a16="http://schemas.microsoft.com/office/drawing/2014/main" id="{66F86204-2CF0-A75E-B82A-A11490BF6DB5}"/>
              </a:ext>
            </a:extLst>
          </p:cNvPr>
          <p:cNvSpPr>
            <a:spLocks noChangeShapeType="1"/>
          </p:cNvSpPr>
          <p:nvPr/>
        </p:nvSpPr>
        <p:spPr bwMode="auto">
          <a:xfrm flipH="1" flipV="1">
            <a:off x="4655897" y="4326850"/>
            <a:ext cx="363202" cy="2169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81" name="Line 22">
            <a:extLst>
              <a:ext uri="{FF2B5EF4-FFF2-40B4-BE49-F238E27FC236}">
                <a16:creationId xmlns:a16="http://schemas.microsoft.com/office/drawing/2014/main" id="{E3227637-A604-A11E-E4B4-7F19E98B5268}"/>
              </a:ext>
            </a:extLst>
          </p:cNvPr>
          <p:cNvSpPr>
            <a:spLocks noChangeShapeType="1"/>
          </p:cNvSpPr>
          <p:nvPr/>
        </p:nvSpPr>
        <p:spPr bwMode="auto">
          <a:xfrm flipV="1">
            <a:off x="5019100" y="4399174"/>
            <a:ext cx="290562" cy="1446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82" name="Line 23">
            <a:extLst>
              <a:ext uri="{FF2B5EF4-FFF2-40B4-BE49-F238E27FC236}">
                <a16:creationId xmlns:a16="http://schemas.microsoft.com/office/drawing/2014/main" id="{FB25D8F2-2186-A446-6F83-741D1DD66E1F}"/>
              </a:ext>
            </a:extLst>
          </p:cNvPr>
          <p:cNvSpPr>
            <a:spLocks noChangeShapeType="1"/>
          </p:cNvSpPr>
          <p:nvPr/>
        </p:nvSpPr>
        <p:spPr bwMode="auto">
          <a:xfrm flipH="1" flipV="1">
            <a:off x="6689831" y="3314313"/>
            <a:ext cx="290562" cy="3616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83" name="Line 24">
            <a:extLst>
              <a:ext uri="{FF2B5EF4-FFF2-40B4-BE49-F238E27FC236}">
                <a16:creationId xmlns:a16="http://schemas.microsoft.com/office/drawing/2014/main" id="{0400B84F-93E7-F26A-788E-DC06EA8EAE9A}"/>
              </a:ext>
            </a:extLst>
          </p:cNvPr>
          <p:cNvSpPr>
            <a:spLocks noChangeShapeType="1"/>
          </p:cNvSpPr>
          <p:nvPr/>
        </p:nvSpPr>
        <p:spPr bwMode="auto">
          <a:xfrm flipH="1">
            <a:off x="6762471" y="3675933"/>
            <a:ext cx="217921" cy="289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84" name="Text Box 25">
            <a:extLst>
              <a:ext uri="{FF2B5EF4-FFF2-40B4-BE49-F238E27FC236}">
                <a16:creationId xmlns:a16="http://schemas.microsoft.com/office/drawing/2014/main" id="{9F9E24E8-A2B7-7D24-A49C-6C1CD8FDE7E4}"/>
              </a:ext>
            </a:extLst>
          </p:cNvPr>
          <p:cNvSpPr txBox="1">
            <a:spLocks noChangeArrowheads="1"/>
          </p:cNvSpPr>
          <p:nvPr/>
        </p:nvSpPr>
        <p:spPr bwMode="auto">
          <a:xfrm>
            <a:off x="6399268" y="5267063"/>
            <a:ext cx="2619225" cy="6865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r>
              <a:rPr lang="en-US" altLang="en-US">
                <a:latin typeface="Times New Roman" panose="02020603050405020304" pitchFamily="18" charset="0"/>
              </a:rPr>
              <a:t>Marketing-brand-key</a:t>
            </a:r>
          </a:p>
          <a:p>
            <a:pPr eaLnBrk="1" hangingPunct="1">
              <a:lnSpc>
                <a:spcPct val="60000"/>
              </a:lnSpc>
              <a:spcBef>
                <a:spcPct val="50000"/>
              </a:spcBef>
            </a:pPr>
            <a:r>
              <a:rPr lang="en-US" altLang="en-US">
                <a:latin typeface="Times New Roman" panose="02020603050405020304" pitchFamily="18" charset="0"/>
              </a:rPr>
              <a:t>marketing brand</a:t>
            </a:r>
            <a:endParaRPr lang="en-US" altLang="en-US" sz="2400">
              <a:latin typeface="Times New Roman" panose="02020603050405020304" pitchFamily="18" charset="0"/>
            </a:endParaRPr>
          </a:p>
        </p:txBody>
      </p:sp>
      <p:sp>
        <p:nvSpPr>
          <p:cNvPr id="164885" name="Line 26">
            <a:extLst>
              <a:ext uri="{FF2B5EF4-FFF2-40B4-BE49-F238E27FC236}">
                <a16:creationId xmlns:a16="http://schemas.microsoft.com/office/drawing/2014/main" id="{8B6C903D-8EE0-EAB5-2338-898F9F0151EE}"/>
              </a:ext>
            </a:extLst>
          </p:cNvPr>
          <p:cNvSpPr>
            <a:spLocks noChangeShapeType="1"/>
          </p:cNvSpPr>
          <p:nvPr/>
        </p:nvSpPr>
        <p:spPr bwMode="auto">
          <a:xfrm flipV="1">
            <a:off x="7997359" y="4182202"/>
            <a:ext cx="0" cy="108486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86" name="Line 27">
            <a:extLst>
              <a:ext uri="{FF2B5EF4-FFF2-40B4-BE49-F238E27FC236}">
                <a16:creationId xmlns:a16="http://schemas.microsoft.com/office/drawing/2014/main" id="{7657328A-9AF5-D2AE-113C-D1321420E503}"/>
              </a:ext>
            </a:extLst>
          </p:cNvPr>
          <p:cNvSpPr>
            <a:spLocks noChangeShapeType="1"/>
          </p:cNvSpPr>
          <p:nvPr/>
        </p:nvSpPr>
        <p:spPr bwMode="auto">
          <a:xfrm flipH="1" flipV="1">
            <a:off x="7634157" y="4254526"/>
            <a:ext cx="363202" cy="2169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887" name="Line 28">
            <a:extLst>
              <a:ext uri="{FF2B5EF4-FFF2-40B4-BE49-F238E27FC236}">
                <a16:creationId xmlns:a16="http://schemas.microsoft.com/office/drawing/2014/main" id="{CA2C7837-4396-40A5-1BD5-7135D6437F7B}"/>
              </a:ext>
            </a:extLst>
          </p:cNvPr>
          <p:cNvSpPr>
            <a:spLocks noChangeShapeType="1"/>
          </p:cNvSpPr>
          <p:nvPr/>
        </p:nvSpPr>
        <p:spPr bwMode="auto">
          <a:xfrm flipV="1">
            <a:off x="7997359" y="4254526"/>
            <a:ext cx="217921" cy="2169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Oval 10">
            <a:extLst>
              <a:ext uri="{FF2B5EF4-FFF2-40B4-BE49-F238E27FC236}">
                <a16:creationId xmlns:a16="http://schemas.microsoft.com/office/drawing/2014/main" id="{956C46A5-8D05-ED0F-6ED1-0702DE826B2C}"/>
              </a:ext>
            </a:extLst>
          </p:cNvPr>
          <p:cNvSpPr/>
          <p:nvPr/>
        </p:nvSpPr>
        <p:spPr>
          <a:xfrm>
            <a:off x="10328841" y="1005939"/>
            <a:ext cx="145281" cy="129581"/>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38" name="Oval 37">
            <a:extLst>
              <a:ext uri="{FF2B5EF4-FFF2-40B4-BE49-F238E27FC236}">
                <a16:creationId xmlns:a16="http://schemas.microsoft.com/office/drawing/2014/main" id="{0E782C88-A9DA-5981-F559-C45FA5086C6E}"/>
              </a:ext>
            </a:extLst>
          </p:cNvPr>
          <p:cNvSpPr/>
          <p:nvPr/>
        </p:nvSpPr>
        <p:spPr>
          <a:xfrm>
            <a:off x="9479193" y="1467975"/>
            <a:ext cx="145281" cy="129581"/>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39" name="Oval 38">
            <a:extLst>
              <a:ext uri="{FF2B5EF4-FFF2-40B4-BE49-F238E27FC236}">
                <a16:creationId xmlns:a16="http://schemas.microsoft.com/office/drawing/2014/main" id="{B58EB2F7-F202-1972-2306-944B4995AE0F}"/>
              </a:ext>
            </a:extLst>
          </p:cNvPr>
          <p:cNvSpPr/>
          <p:nvPr/>
        </p:nvSpPr>
        <p:spPr>
          <a:xfrm>
            <a:off x="9221777" y="793660"/>
            <a:ext cx="145281" cy="129581"/>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3" name="Date Placeholder 2">
            <a:extLst>
              <a:ext uri="{FF2B5EF4-FFF2-40B4-BE49-F238E27FC236}">
                <a16:creationId xmlns:a16="http://schemas.microsoft.com/office/drawing/2014/main" id="{CF88B370-716E-3F8B-3E72-58D9DD093F47}"/>
              </a:ext>
            </a:extLst>
          </p:cNvPr>
          <p:cNvSpPr>
            <a:spLocks noGrp="1"/>
          </p:cNvSpPr>
          <p:nvPr>
            <p:ph type="dt" sz="quarter" idx="10"/>
          </p:nvPr>
        </p:nvSpPr>
        <p:spPr/>
        <p:txBody>
          <a:bodyPr/>
          <a:lstStyle/>
          <a:p>
            <a:pPr>
              <a:defRPr/>
            </a:pPr>
            <a:fld id="{4C1E10D9-3154-4902-A893-ABBE38E34528}" type="datetime1">
              <a:rPr lang="en-US" smtClean="0"/>
              <a:t>9/30/2025</a:t>
            </a:fld>
            <a:endParaRPr lang="en-US"/>
          </a:p>
        </p:txBody>
      </p:sp>
      <p:sp>
        <p:nvSpPr>
          <p:cNvPr id="7" name="Footer Placeholder 6">
            <a:extLst>
              <a:ext uri="{FF2B5EF4-FFF2-40B4-BE49-F238E27FC236}">
                <a16:creationId xmlns:a16="http://schemas.microsoft.com/office/drawing/2014/main" id="{1B0D85A6-320B-0925-B678-5F8D11E8F7C2}"/>
              </a:ext>
            </a:extLst>
          </p:cNvPr>
          <p:cNvSpPr>
            <a:spLocks noGrp="1"/>
          </p:cNvSpPr>
          <p:nvPr>
            <p:ph type="ftr" sz="quarter" idx="11"/>
          </p:nvPr>
        </p:nvSpPr>
        <p:spPr>
          <a:xfrm>
            <a:off x="3686185" y="6459785"/>
            <a:ext cx="4822804" cy="365125"/>
          </a:xfrm>
        </p:spPr>
        <p:txBody>
          <a:bodyPr/>
          <a:lstStyle/>
          <a:p>
            <a:pPr>
              <a:defRPr/>
            </a:pPr>
            <a:r>
              <a:rPr lang="en-US"/>
              <a:t>Copyrighted by Arun Sen</a:t>
            </a:r>
          </a:p>
        </p:txBody>
      </p:sp>
      <p:sp>
        <p:nvSpPr>
          <p:cNvPr id="12" name="Slide Number Placeholder 11">
            <a:extLst>
              <a:ext uri="{FF2B5EF4-FFF2-40B4-BE49-F238E27FC236}">
                <a16:creationId xmlns:a16="http://schemas.microsoft.com/office/drawing/2014/main" id="{A38F4B45-14E0-25A8-A116-62C651CCD797}"/>
              </a:ext>
            </a:extLst>
          </p:cNvPr>
          <p:cNvSpPr>
            <a:spLocks noGrp="1"/>
          </p:cNvSpPr>
          <p:nvPr>
            <p:ph type="sldNum" sz="quarter" idx="12"/>
          </p:nvPr>
        </p:nvSpPr>
        <p:spPr/>
        <p:txBody>
          <a:bodyPr/>
          <a:lstStyle/>
          <a:p>
            <a:pPr>
              <a:defRPr/>
            </a:pPr>
            <a:fld id="{94632A13-93EF-461C-B560-BCD9D2CA633E}" type="slidenum">
              <a:rPr lang="en-US" altLang="en-US" smtClean="0"/>
              <a:pPr>
                <a:defRPr/>
              </a:pPr>
              <a:t>79</a:t>
            </a:fld>
            <a:endParaRPr lang="en-US" altLang="en-US"/>
          </a:p>
        </p:txBody>
      </p:sp>
      <p:sp>
        <p:nvSpPr>
          <p:cNvPr id="18" name="Oval 17">
            <a:extLst>
              <a:ext uri="{FF2B5EF4-FFF2-40B4-BE49-F238E27FC236}">
                <a16:creationId xmlns:a16="http://schemas.microsoft.com/office/drawing/2014/main" id="{950EF25B-1F20-E57F-03D4-1750A847E6C0}"/>
              </a:ext>
            </a:extLst>
          </p:cNvPr>
          <p:cNvSpPr/>
          <p:nvPr/>
        </p:nvSpPr>
        <p:spPr>
          <a:xfrm>
            <a:off x="10665391" y="1225315"/>
            <a:ext cx="145281" cy="129581"/>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9" name="Oval 18">
            <a:extLst>
              <a:ext uri="{FF2B5EF4-FFF2-40B4-BE49-F238E27FC236}">
                <a16:creationId xmlns:a16="http://schemas.microsoft.com/office/drawing/2014/main" id="{AE244B06-A9D2-0971-CA65-A0252DE610D1}"/>
              </a:ext>
            </a:extLst>
          </p:cNvPr>
          <p:cNvSpPr/>
          <p:nvPr/>
        </p:nvSpPr>
        <p:spPr>
          <a:xfrm>
            <a:off x="10738032" y="876358"/>
            <a:ext cx="145281" cy="129581"/>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cxnSp>
        <p:nvCxnSpPr>
          <p:cNvPr id="21" name="Straight Connector 20">
            <a:extLst>
              <a:ext uri="{FF2B5EF4-FFF2-40B4-BE49-F238E27FC236}">
                <a16:creationId xmlns:a16="http://schemas.microsoft.com/office/drawing/2014/main" id="{938C6051-FA78-0748-DED5-A405B48CF8DE}"/>
              </a:ext>
            </a:extLst>
          </p:cNvPr>
          <p:cNvCxnSpPr>
            <a:cxnSpLocks/>
            <a:stCxn id="11" idx="7"/>
            <a:endCxn id="19" idx="2"/>
          </p:cNvCxnSpPr>
          <p:nvPr/>
        </p:nvCxnSpPr>
        <p:spPr>
          <a:xfrm flipV="1">
            <a:off x="10452846" y="941149"/>
            <a:ext cx="285186" cy="837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5E40C0D-178D-2DC2-28FF-5DAA907CE784}"/>
              </a:ext>
            </a:extLst>
          </p:cNvPr>
          <p:cNvCxnSpPr>
            <a:stCxn id="11" idx="5"/>
            <a:endCxn id="18" idx="1"/>
          </p:cNvCxnSpPr>
          <p:nvPr/>
        </p:nvCxnSpPr>
        <p:spPr>
          <a:xfrm>
            <a:off x="10452846" y="1116543"/>
            <a:ext cx="212545" cy="173563"/>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A30648D4-EFF5-F2FE-A5B7-8B960F97FA09}"/>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Snowflake Schema</a:t>
            </a:r>
          </a:p>
        </p:txBody>
      </p:sp>
      <p:sp>
        <p:nvSpPr>
          <p:cNvPr id="166915" name="Text Box 28">
            <a:extLst>
              <a:ext uri="{FF2B5EF4-FFF2-40B4-BE49-F238E27FC236}">
                <a16:creationId xmlns:a16="http://schemas.microsoft.com/office/drawing/2014/main" id="{F35C61A3-6B62-63B5-5D56-AC299C6382F9}"/>
              </a:ext>
            </a:extLst>
          </p:cNvPr>
          <p:cNvSpPr txBox="1">
            <a:spLocks noChangeArrowheads="1"/>
          </p:cNvSpPr>
          <p:nvPr/>
        </p:nvSpPr>
        <p:spPr bwMode="auto">
          <a:xfrm>
            <a:off x="2590800" y="19050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spcBef>
                <a:spcPct val="50000"/>
              </a:spcBef>
            </a:pPr>
            <a:endParaRPr lang="en-US" altLang="en-US" sz="2400">
              <a:latin typeface="Times New Roman" panose="02020603050405020304" pitchFamily="18" charset="0"/>
            </a:endParaRPr>
          </a:p>
        </p:txBody>
      </p:sp>
      <p:sp>
        <p:nvSpPr>
          <p:cNvPr id="167940" name="Text Box 29">
            <a:extLst>
              <a:ext uri="{FF2B5EF4-FFF2-40B4-BE49-F238E27FC236}">
                <a16:creationId xmlns:a16="http://schemas.microsoft.com/office/drawing/2014/main" id="{0C355F59-4D60-058B-96AE-B9CEA38FD319}"/>
              </a:ext>
            </a:extLst>
          </p:cNvPr>
          <p:cNvSpPr txBox="1">
            <a:spLocks noChangeArrowheads="1"/>
          </p:cNvSpPr>
          <p:nvPr/>
        </p:nvSpPr>
        <p:spPr bwMode="auto">
          <a:xfrm>
            <a:off x="2333415" y="1755541"/>
            <a:ext cx="7696200" cy="3804118"/>
          </a:xfrm>
          <a:prstGeom prst="rect">
            <a:avLst/>
          </a:prstGeom>
          <a:noFill/>
          <a:ln>
            <a:noFill/>
          </a:ln>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None/>
              <a:defRPr/>
            </a:pPr>
            <a:r>
              <a:rPr lang="en-US" altLang="en-US" sz="1800" b="1" dirty="0">
                <a:latin typeface="Tahoma" panose="020B0604030504040204" pitchFamily="34" charset="0"/>
              </a:rPr>
              <a:t>12.  Permissible Snowflaking</a:t>
            </a:r>
            <a:endParaRPr lang="en-US" altLang="en-US" sz="1800" dirty="0">
              <a:latin typeface="Tahoma" panose="020B0604030504040204" pitchFamily="34" charset="0"/>
            </a:endParaRPr>
          </a:p>
          <a:p>
            <a:pPr lvl="2">
              <a:spcBef>
                <a:spcPct val="50000"/>
              </a:spcBef>
              <a:buClrTx/>
              <a:buSzTx/>
              <a:buFontTx/>
              <a:buChar char="•"/>
              <a:defRPr/>
            </a:pPr>
            <a:r>
              <a:rPr lang="en-US" altLang="en-US" dirty="0">
                <a:latin typeface="Times New Roman" panose="02020603050405020304" pitchFamily="18" charset="0"/>
              </a:rPr>
              <a:t>   </a:t>
            </a:r>
            <a:r>
              <a:rPr lang="en-US" altLang="en-US" dirty="0">
                <a:highlight>
                  <a:srgbClr val="00FF00"/>
                </a:highlight>
                <a:latin typeface="Times New Roman" panose="02020603050405020304" pitchFamily="18" charset="0"/>
              </a:rPr>
              <a:t>A dimension is said to be “</a:t>
            </a:r>
            <a:r>
              <a:rPr lang="en-US" altLang="en-US" dirty="0" err="1">
                <a:highlight>
                  <a:srgbClr val="00FF00"/>
                </a:highlight>
                <a:latin typeface="Times New Roman" panose="02020603050405020304" pitchFamily="18" charset="0"/>
              </a:rPr>
              <a:t>snowflaked</a:t>
            </a:r>
            <a:r>
              <a:rPr lang="en-US" altLang="en-US" dirty="0">
                <a:highlight>
                  <a:srgbClr val="00FF00"/>
                </a:highlight>
                <a:latin typeface="Times New Roman" panose="02020603050405020304" pitchFamily="18" charset="0"/>
              </a:rPr>
              <a:t>” when the </a:t>
            </a:r>
            <a:r>
              <a:rPr lang="en-US" altLang="en-US" dirty="0">
                <a:solidFill>
                  <a:srgbClr val="C00000"/>
                </a:solidFill>
                <a:highlight>
                  <a:srgbClr val="00FF00"/>
                </a:highlight>
                <a:latin typeface="Times New Roman" panose="02020603050405020304" pitchFamily="18" charset="0"/>
              </a:rPr>
              <a:t>low cardinality fields</a:t>
            </a:r>
            <a:r>
              <a:rPr lang="en-US" altLang="en-US" dirty="0">
                <a:highlight>
                  <a:srgbClr val="00FF00"/>
                </a:highlight>
                <a:latin typeface="Times New Roman" panose="02020603050405020304" pitchFamily="18" charset="0"/>
              </a:rPr>
              <a:t> in the dimension have been removed to separate tables and linked back into the original table with artificial key</a:t>
            </a:r>
            <a:r>
              <a:rPr lang="en-US" altLang="en-US" dirty="0">
                <a:latin typeface="Times New Roman" panose="02020603050405020304" pitchFamily="18" charset="0"/>
              </a:rPr>
              <a:t>.  </a:t>
            </a:r>
            <a:r>
              <a:rPr lang="en-US" altLang="en-US" u="sng" dirty="0">
                <a:latin typeface="Times New Roman" panose="02020603050405020304" pitchFamily="18" charset="0"/>
              </a:rPr>
              <a:t>This helps if the user is asking only for the distinct values of the category</a:t>
            </a:r>
            <a:r>
              <a:rPr lang="en-US" altLang="en-US" dirty="0">
                <a:latin typeface="Times New Roman" panose="02020603050405020304" pitchFamily="18" charset="0"/>
              </a:rPr>
              <a:t>….</a:t>
            </a:r>
          </a:p>
          <a:p>
            <a:pPr lvl="2">
              <a:spcBef>
                <a:spcPct val="50000"/>
              </a:spcBef>
              <a:buClrTx/>
              <a:buSzTx/>
              <a:buFontTx/>
              <a:buChar char="•"/>
              <a:defRPr/>
            </a:pPr>
            <a:r>
              <a:rPr lang="en-US" altLang="en-US" b="1" dirty="0">
                <a:latin typeface="Tahoma" panose="020B0604030504040204" pitchFamily="34" charset="0"/>
              </a:rPr>
              <a:t>  </a:t>
            </a:r>
            <a:r>
              <a:rPr lang="en-US" altLang="en-US" dirty="0">
                <a:latin typeface="Times New Roman" panose="02020603050405020304" pitchFamily="18" charset="0"/>
              </a:rPr>
              <a:t>Snowflaking makes most forms of browsing among the dimension attributes slower</a:t>
            </a:r>
            <a:r>
              <a:rPr lang="en-US" altLang="en-US" b="1" dirty="0">
                <a:latin typeface="Tahoma" panose="020B0604030504040204" pitchFamily="34" charset="0"/>
              </a:rPr>
              <a:t>.</a:t>
            </a:r>
          </a:p>
          <a:p>
            <a:pPr lvl="2">
              <a:spcBef>
                <a:spcPct val="50000"/>
              </a:spcBef>
              <a:buClrTx/>
              <a:buSzTx/>
              <a:buFontTx/>
              <a:buChar char="•"/>
              <a:defRPr/>
            </a:pPr>
            <a:r>
              <a:rPr lang="en-US" altLang="en-US" b="1" dirty="0">
                <a:latin typeface="Tahoma" panose="020B0604030504040204" pitchFamily="34" charset="0"/>
              </a:rPr>
              <a:t>  </a:t>
            </a:r>
            <a:r>
              <a:rPr lang="en-US" altLang="en-US" dirty="0">
                <a:latin typeface="Times New Roman" panose="02020603050405020304" pitchFamily="18" charset="0"/>
              </a:rPr>
              <a:t>Not always a good idea because --</a:t>
            </a:r>
          </a:p>
          <a:p>
            <a:pPr lvl="3">
              <a:lnSpc>
                <a:spcPct val="80000"/>
              </a:lnSpc>
              <a:spcBef>
                <a:spcPct val="50000"/>
              </a:spcBef>
              <a:buClrTx/>
              <a:buSzTx/>
              <a:buFontTx/>
              <a:buChar char="•"/>
              <a:defRPr/>
            </a:pPr>
            <a:r>
              <a:rPr lang="en-US" altLang="en-US" dirty="0">
                <a:latin typeface="Times New Roman" panose="02020603050405020304" pitchFamily="18" charset="0"/>
              </a:rPr>
              <a:t>    creates confusion with the users’ understanding</a:t>
            </a:r>
          </a:p>
          <a:p>
            <a:pPr lvl="3">
              <a:lnSpc>
                <a:spcPct val="80000"/>
              </a:lnSpc>
              <a:spcBef>
                <a:spcPct val="50000"/>
              </a:spcBef>
              <a:buClrTx/>
              <a:buSzTx/>
              <a:buFontTx/>
              <a:buChar char="•"/>
              <a:defRPr/>
            </a:pPr>
            <a:r>
              <a:rPr lang="en-US" altLang="en-US" dirty="0">
                <a:latin typeface="Times New Roman" panose="02020603050405020304" pitchFamily="18" charset="0"/>
              </a:rPr>
              <a:t>    create problems with “bit mapped indexes”</a:t>
            </a:r>
          </a:p>
          <a:p>
            <a:pPr lvl="3">
              <a:lnSpc>
                <a:spcPct val="80000"/>
              </a:lnSpc>
              <a:spcBef>
                <a:spcPct val="50000"/>
              </a:spcBef>
              <a:buClrTx/>
              <a:buSzTx/>
              <a:buFontTx/>
              <a:buChar char="•"/>
              <a:defRPr/>
            </a:pPr>
            <a:r>
              <a:rPr lang="en-US" altLang="en-US" dirty="0">
                <a:latin typeface="Times New Roman" panose="02020603050405020304" pitchFamily="18" charset="0"/>
              </a:rPr>
              <a:t>    more administration cost</a:t>
            </a:r>
            <a:endParaRPr lang="en-US" altLang="en-US" b="1" dirty="0">
              <a:latin typeface="Tahoma" panose="020B0604030504040204" pitchFamily="34" charset="0"/>
            </a:endParaRPr>
          </a:p>
        </p:txBody>
      </p:sp>
      <p:sp>
        <p:nvSpPr>
          <p:cNvPr id="165893" name="TextBox 1">
            <a:extLst>
              <a:ext uri="{FF2B5EF4-FFF2-40B4-BE49-F238E27FC236}">
                <a16:creationId xmlns:a16="http://schemas.microsoft.com/office/drawing/2014/main" id="{390FDE35-3EC9-6599-C810-B8D8A6C5F2EA}"/>
              </a:ext>
            </a:extLst>
          </p:cNvPr>
          <p:cNvSpPr txBox="1">
            <a:spLocks noChangeArrowheads="1"/>
          </p:cNvSpPr>
          <p:nvPr/>
        </p:nvSpPr>
        <p:spPr bwMode="auto">
          <a:xfrm>
            <a:off x="246530" y="3091779"/>
            <a:ext cx="2783541" cy="2246769"/>
          </a:xfrm>
          <a:prstGeom prst="rect">
            <a:avLst/>
          </a:prstGeom>
          <a:noFill/>
          <a:ln>
            <a:noFill/>
          </a:ln>
        </p:spPr>
        <p:txBody>
          <a:bodyPr wrap="squar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defRPr/>
            </a:pPr>
            <a:r>
              <a:rPr lang="en-US" altLang="en-US" sz="1000" b="1" dirty="0">
                <a:highlight>
                  <a:srgbClr val="00FF00"/>
                </a:highlight>
                <a:latin typeface="Century Gothic" panose="020B0502020202020204" pitchFamily="34" charset="0"/>
              </a:rPr>
              <a:t>(Low-cardinality refers to columns with few unique values</a:t>
            </a:r>
            <a:r>
              <a:rPr lang="en-US" altLang="en-US" sz="1000" b="1" dirty="0">
                <a:latin typeface="Century Gothic" panose="020B0502020202020204" pitchFamily="34" charset="0"/>
              </a:rPr>
              <a:t>. Low-cardinality column values are typically status flags, Boolean values, or major classifications such as gender. </a:t>
            </a:r>
            <a:r>
              <a:rPr lang="en-US" altLang="en-US" sz="1000" b="1" dirty="0">
                <a:highlight>
                  <a:srgbClr val="00FF00"/>
                </a:highlight>
                <a:latin typeface="Century Gothic" panose="020B0502020202020204" pitchFamily="34" charset="0"/>
              </a:rPr>
              <a:t>An example of a data table column with low-cardinality would be a CUSTOMER table with a column named NEW_CUSTOMER. This column would contain only 2 distinct values: Y or N, </a:t>
            </a:r>
            <a:r>
              <a:rPr lang="en-US" altLang="en-US" sz="1000" b="1" dirty="0">
                <a:latin typeface="Century Gothic" panose="020B0502020202020204" pitchFamily="34" charset="0"/>
              </a:rPr>
              <a:t>denoting whether the customer was new or not. Since there are only 2 possible values held in this column, its cardinality type would be referred to as low-cardinality. – Wikipedia) </a:t>
            </a:r>
          </a:p>
        </p:txBody>
      </p:sp>
      <p:sp>
        <p:nvSpPr>
          <p:cNvPr id="2" name="Date Placeholder 1">
            <a:extLst>
              <a:ext uri="{FF2B5EF4-FFF2-40B4-BE49-F238E27FC236}">
                <a16:creationId xmlns:a16="http://schemas.microsoft.com/office/drawing/2014/main" id="{20BA038C-8907-92CA-7CF5-FDBFE9C4E19D}"/>
              </a:ext>
            </a:extLst>
          </p:cNvPr>
          <p:cNvSpPr>
            <a:spLocks noGrp="1"/>
          </p:cNvSpPr>
          <p:nvPr>
            <p:ph type="dt" sz="quarter" idx="10"/>
          </p:nvPr>
        </p:nvSpPr>
        <p:spPr/>
        <p:txBody>
          <a:bodyPr/>
          <a:lstStyle/>
          <a:p>
            <a:pPr>
              <a:defRPr/>
            </a:pPr>
            <a:fld id="{654C7699-B8DF-489B-B9BE-6C2A0A4B3074}" type="datetime1">
              <a:rPr lang="en-US" smtClean="0"/>
              <a:t>9/30/2025</a:t>
            </a:fld>
            <a:endParaRPr lang="en-US"/>
          </a:p>
        </p:txBody>
      </p:sp>
      <p:sp>
        <p:nvSpPr>
          <p:cNvPr id="3" name="Footer Placeholder 2">
            <a:extLst>
              <a:ext uri="{FF2B5EF4-FFF2-40B4-BE49-F238E27FC236}">
                <a16:creationId xmlns:a16="http://schemas.microsoft.com/office/drawing/2014/main" id="{3990EE71-7F0A-9D2A-456C-38E5C24C0F87}"/>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066407F-8FDA-D6E4-594E-849FA4BC1842}"/>
              </a:ext>
            </a:extLst>
          </p:cNvPr>
          <p:cNvSpPr>
            <a:spLocks noGrp="1"/>
          </p:cNvSpPr>
          <p:nvPr>
            <p:ph type="sldNum" sz="quarter" idx="12"/>
          </p:nvPr>
        </p:nvSpPr>
        <p:spPr/>
        <p:txBody>
          <a:bodyPr/>
          <a:lstStyle/>
          <a:p>
            <a:pPr>
              <a:defRPr/>
            </a:pPr>
            <a:fld id="{5171CEE9-C51C-4F39-B853-2EA9855D7D13}" type="slidenum">
              <a:rPr lang="en-US" altLang="en-US" smtClean="0"/>
              <a:pPr>
                <a:defRPr/>
              </a:pPr>
              <a:t>80</a:t>
            </a:fld>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7993161F-5BAD-3503-0EF3-6D5548FD2C5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Examples from a TELCO Case Study (Kimball)</a:t>
            </a:r>
          </a:p>
        </p:txBody>
      </p:sp>
      <p:sp>
        <p:nvSpPr>
          <p:cNvPr id="168963" name="Rectangle 6">
            <a:extLst>
              <a:ext uri="{FF2B5EF4-FFF2-40B4-BE49-F238E27FC236}">
                <a16:creationId xmlns:a16="http://schemas.microsoft.com/office/drawing/2014/main" id="{2D6ABC4D-9247-6072-36B8-478BE863D5B8}"/>
              </a:ext>
            </a:extLst>
          </p:cNvPr>
          <p:cNvSpPr>
            <a:spLocks noChangeArrowheads="1"/>
          </p:cNvSpPr>
          <p:nvPr/>
        </p:nvSpPr>
        <p:spPr bwMode="auto">
          <a:xfrm>
            <a:off x="2209800" y="1660525"/>
            <a:ext cx="213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600" b="1">
                <a:latin typeface="Arial" panose="020B0604020202020204" pitchFamily="34" charset="0"/>
                <a:ea typeface="Times New Roman" panose="02020603050405020304" pitchFamily="18" charset="0"/>
                <a:cs typeface="Arial" panose="020B0604020202020204" pitchFamily="34" charset="0"/>
              </a:rPr>
              <a:t>Dimension Tables</a:t>
            </a:r>
            <a:r>
              <a:rPr lang="en-US" altLang="en-US" sz="1600" b="1">
                <a:latin typeface="Century Gothic" panose="020B0502020202020204" pitchFamily="34" charset="0"/>
                <a:ea typeface="Times New Roman" panose="02020603050405020304" pitchFamily="18" charset="0"/>
                <a:cs typeface="Arial" panose="020B0604020202020204" pitchFamily="34" charset="0"/>
              </a:rPr>
              <a:t> </a:t>
            </a:r>
          </a:p>
        </p:txBody>
      </p:sp>
      <p:pic>
        <p:nvPicPr>
          <p:cNvPr id="168964" name="Picture 8">
            <a:extLst>
              <a:ext uri="{FF2B5EF4-FFF2-40B4-BE49-F238E27FC236}">
                <a16:creationId xmlns:a16="http://schemas.microsoft.com/office/drawing/2014/main" id="{45277080-BBC1-E3CC-E928-EE96D43806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6529" y="1676400"/>
            <a:ext cx="1476376" cy="4714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5" name="Picture 9">
            <a:extLst>
              <a:ext uri="{FF2B5EF4-FFF2-40B4-BE49-F238E27FC236}">
                <a16:creationId xmlns:a16="http://schemas.microsoft.com/office/drawing/2014/main" id="{4E7A9541-33D8-A1B3-BB59-6C6EF9C0CA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2057400"/>
            <a:ext cx="18669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6" name="Picture 10">
            <a:extLst>
              <a:ext uri="{FF2B5EF4-FFF2-40B4-BE49-F238E27FC236}">
                <a16:creationId xmlns:a16="http://schemas.microsoft.com/office/drawing/2014/main" id="{C046D77C-319A-B97B-4A83-2C4E3388F3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683" y="1598860"/>
            <a:ext cx="2092402"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022638CA-43B8-7CCC-C254-22FEC0AF7383}"/>
              </a:ext>
            </a:extLst>
          </p:cNvPr>
          <p:cNvSpPr>
            <a:spLocks noGrp="1"/>
          </p:cNvSpPr>
          <p:nvPr>
            <p:ph type="dt" sz="quarter" idx="10"/>
          </p:nvPr>
        </p:nvSpPr>
        <p:spPr/>
        <p:txBody>
          <a:bodyPr/>
          <a:lstStyle/>
          <a:p>
            <a:pPr>
              <a:defRPr/>
            </a:pPr>
            <a:fld id="{168D750A-C84E-4E2E-8A90-9FBA4646184D}" type="datetime1">
              <a:rPr lang="en-US" smtClean="0"/>
              <a:t>9/30/2025</a:t>
            </a:fld>
            <a:endParaRPr lang="en-US"/>
          </a:p>
        </p:txBody>
      </p:sp>
      <p:sp>
        <p:nvSpPr>
          <p:cNvPr id="3" name="Footer Placeholder 2">
            <a:extLst>
              <a:ext uri="{FF2B5EF4-FFF2-40B4-BE49-F238E27FC236}">
                <a16:creationId xmlns:a16="http://schemas.microsoft.com/office/drawing/2014/main" id="{7658B06E-E4AE-91B3-40F4-D18E04F518E9}"/>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D80DFB28-410D-2985-ED9E-78087E035154}"/>
              </a:ext>
            </a:extLst>
          </p:cNvPr>
          <p:cNvSpPr>
            <a:spLocks noGrp="1"/>
          </p:cNvSpPr>
          <p:nvPr>
            <p:ph type="sldNum" sz="quarter" idx="12"/>
          </p:nvPr>
        </p:nvSpPr>
        <p:spPr/>
        <p:txBody>
          <a:bodyPr/>
          <a:lstStyle/>
          <a:p>
            <a:pPr>
              <a:defRPr/>
            </a:pPr>
            <a:fld id="{26876600-3A7D-4E1F-848F-40B48971F341}" type="slidenum">
              <a:rPr lang="en-US" altLang="en-US" smtClean="0"/>
              <a:pPr>
                <a:defRPr/>
              </a:pPr>
              <a:t>81</a:t>
            </a:fld>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DCBF1A18-ECD5-E7E8-6E96-A18ECC18FE62}"/>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71011" name="Rectangle 3">
            <a:extLst>
              <a:ext uri="{FF2B5EF4-FFF2-40B4-BE49-F238E27FC236}">
                <a16:creationId xmlns:a16="http://schemas.microsoft.com/office/drawing/2014/main" id="{31A71306-13CC-30CA-151D-44152F65C155}"/>
              </a:ext>
            </a:extLst>
          </p:cNvPr>
          <p:cNvSpPr>
            <a:spLocks noChangeArrowheads="1"/>
          </p:cNvSpPr>
          <p:nvPr/>
        </p:nvSpPr>
        <p:spPr bwMode="auto">
          <a:xfrm>
            <a:off x="2209800" y="1660525"/>
            <a:ext cx="213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600" b="1">
                <a:latin typeface="Arial" panose="020B0604020202020204" pitchFamily="34" charset="0"/>
                <a:ea typeface="Times New Roman" panose="02020603050405020304" pitchFamily="18" charset="0"/>
                <a:cs typeface="Arial" panose="020B0604020202020204" pitchFamily="34" charset="0"/>
              </a:rPr>
              <a:t>Dimension Tables</a:t>
            </a:r>
            <a:r>
              <a:rPr lang="en-US" altLang="en-US" sz="1600" b="1">
                <a:latin typeface="Century Gothic" panose="020B0502020202020204" pitchFamily="34" charset="0"/>
                <a:ea typeface="Times New Roman" panose="02020603050405020304" pitchFamily="18" charset="0"/>
                <a:cs typeface="Arial" panose="020B0604020202020204" pitchFamily="34" charset="0"/>
              </a:rPr>
              <a:t> </a:t>
            </a:r>
          </a:p>
        </p:txBody>
      </p:sp>
      <p:pic>
        <p:nvPicPr>
          <p:cNvPr id="171012" name="Picture 4">
            <a:extLst>
              <a:ext uri="{FF2B5EF4-FFF2-40B4-BE49-F238E27FC236}">
                <a16:creationId xmlns:a16="http://schemas.microsoft.com/office/drawing/2014/main" id="{98DB4F19-863C-8AED-308F-6B681170E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2362200"/>
            <a:ext cx="16668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013" name="Picture 5">
            <a:extLst>
              <a:ext uri="{FF2B5EF4-FFF2-40B4-BE49-F238E27FC236}">
                <a16:creationId xmlns:a16="http://schemas.microsoft.com/office/drawing/2014/main" id="{E9E981EF-25D1-FB8A-4CF1-907D1A1700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4754" y="1582985"/>
            <a:ext cx="425767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108D98F-02EC-48A1-C96C-663DD3B5EC48}"/>
              </a:ext>
            </a:extLst>
          </p:cNvPr>
          <p:cNvSpPr>
            <a:spLocks noGrp="1"/>
          </p:cNvSpPr>
          <p:nvPr>
            <p:ph type="dt" sz="quarter" idx="10"/>
          </p:nvPr>
        </p:nvSpPr>
        <p:spPr/>
        <p:txBody>
          <a:bodyPr/>
          <a:lstStyle/>
          <a:p>
            <a:pPr>
              <a:defRPr/>
            </a:pPr>
            <a:fld id="{E3A30BF5-CFAD-463B-B35A-9FBBDB923768}" type="datetime1">
              <a:rPr lang="en-US" smtClean="0"/>
              <a:t>9/30/2025</a:t>
            </a:fld>
            <a:endParaRPr lang="en-US"/>
          </a:p>
        </p:txBody>
      </p:sp>
      <p:sp>
        <p:nvSpPr>
          <p:cNvPr id="3" name="Footer Placeholder 2">
            <a:extLst>
              <a:ext uri="{FF2B5EF4-FFF2-40B4-BE49-F238E27FC236}">
                <a16:creationId xmlns:a16="http://schemas.microsoft.com/office/drawing/2014/main" id="{B32005C0-2362-DA22-8ADE-B47E9C4AA1A7}"/>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67962750-94DD-1C6C-691D-751B35A121A8}"/>
              </a:ext>
            </a:extLst>
          </p:cNvPr>
          <p:cNvSpPr>
            <a:spLocks noGrp="1"/>
          </p:cNvSpPr>
          <p:nvPr>
            <p:ph type="sldNum" sz="quarter" idx="12"/>
          </p:nvPr>
        </p:nvSpPr>
        <p:spPr/>
        <p:txBody>
          <a:bodyPr/>
          <a:lstStyle/>
          <a:p>
            <a:pPr>
              <a:defRPr/>
            </a:pPr>
            <a:fld id="{DF7B2D18-6E34-4FD2-B848-AE354BEFD090}" type="slidenum">
              <a:rPr lang="en-US" altLang="en-US" smtClean="0"/>
              <a:pPr>
                <a:defRPr/>
              </a:pPr>
              <a:t>82</a:t>
            </a:fld>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20FBEE99-E1AC-8778-FDED-1A1948D2E30A}"/>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73059" name="Rectangle 3">
            <a:extLst>
              <a:ext uri="{FF2B5EF4-FFF2-40B4-BE49-F238E27FC236}">
                <a16:creationId xmlns:a16="http://schemas.microsoft.com/office/drawing/2014/main" id="{5568DA36-398A-295A-FA89-E48EAEB47157}"/>
              </a:ext>
            </a:extLst>
          </p:cNvPr>
          <p:cNvSpPr>
            <a:spLocks noChangeArrowheads="1"/>
          </p:cNvSpPr>
          <p:nvPr/>
        </p:nvSpPr>
        <p:spPr bwMode="auto">
          <a:xfrm>
            <a:off x="2209800" y="1660525"/>
            <a:ext cx="213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600" b="1">
                <a:latin typeface="Arial" panose="020B0604020202020204" pitchFamily="34" charset="0"/>
                <a:ea typeface="Times New Roman" panose="02020603050405020304" pitchFamily="18" charset="0"/>
                <a:cs typeface="Arial" panose="020B0604020202020204" pitchFamily="34" charset="0"/>
              </a:rPr>
              <a:t>Dimension Tables</a:t>
            </a:r>
            <a:r>
              <a:rPr lang="en-US" altLang="en-US" sz="1600" b="1">
                <a:latin typeface="Century Gothic" panose="020B0502020202020204" pitchFamily="34" charset="0"/>
                <a:ea typeface="Times New Roman" panose="02020603050405020304" pitchFamily="18" charset="0"/>
                <a:cs typeface="Arial" panose="020B0604020202020204" pitchFamily="34" charset="0"/>
              </a:rPr>
              <a:t> </a:t>
            </a:r>
          </a:p>
        </p:txBody>
      </p:sp>
      <p:pic>
        <p:nvPicPr>
          <p:cNvPr id="173060" name="Picture 4">
            <a:extLst>
              <a:ext uri="{FF2B5EF4-FFF2-40B4-BE49-F238E27FC236}">
                <a16:creationId xmlns:a16="http://schemas.microsoft.com/office/drawing/2014/main" id="{8F7C1A23-518B-FF33-4314-DB89EEEE8C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1" y="2362200"/>
            <a:ext cx="1800225"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1" name="Picture 5">
            <a:extLst>
              <a:ext uri="{FF2B5EF4-FFF2-40B4-BE49-F238E27FC236}">
                <a16:creationId xmlns:a16="http://schemas.microsoft.com/office/drawing/2014/main" id="{604CAEE5-1BAA-5B3F-C25B-A95D6C01DA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905000"/>
            <a:ext cx="1828800"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2" name="Picture 6">
            <a:extLst>
              <a:ext uri="{FF2B5EF4-FFF2-40B4-BE49-F238E27FC236}">
                <a16:creationId xmlns:a16="http://schemas.microsoft.com/office/drawing/2014/main" id="{639A36EA-8D31-2C65-C654-3C69D81B00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1752600"/>
            <a:ext cx="207645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3" name="Picture 7">
            <a:extLst>
              <a:ext uri="{FF2B5EF4-FFF2-40B4-BE49-F238E27FC236}">
                <a16:creationId xmlns:a16="http://schemas.microsoft.com/office/drawing/2014/main" id="{BFCF7E10-AF7C-20AE-8156-0B31B37C7C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1" y="3733800"/>
            <a:ext cx="1666875"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4" name="Picture 8">
            <a:extLst>
              <a:ext uri="{FF2B5EF4-FFF2-40B4-BE49-F238E27FC236}">
                <a16:creationId xmlns:a16="http://schemas.microsoft.com/office/drawing/2014/main" id="{D08511B9-A229-D810-019A-98A13989C6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34400" y="3581400"/>
            <a:ext cx="192405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735F50FD-E51D-1E6F-D988-3E79023B42E7}"/>
              </a:ext>
            </a:extLst>
          </p:cNvPr>
          <p:cNvSpPr>
            <a:spLocks noGrp="1"/>
          </p:cNvSpPr>
          <p:nvPr>
            <p:ph type="dt" sz="quarter" idx="10"/>
          </p:nvPr>
        </p:nvSpPr>
        <p:spPr/>
        <p:txBody>
          <a:bodyPr/>
          <a:lstStyle/>
          <a:p>
            <a:pPr>
              <a:defRPr/>
            </a:pPr>
            <a:fld id="{DAA5B0DF-3839-4AE4-9C79-17631BD97C99}" type="datetime1">
              <a:rPr lang="en-US" smtClean="0"/>
              <a:t>9/30/2025</a:t>
            </a:fld>
            <a:endParaRPr lang="en-US"/>
          </a:p>
        </p:txBody>
      </p:sp>
      <p:sp>
        <p:nvSpPr>
          <p:cNvPr id="3" name="Footer Placeholder 2">
            <a:extLst>
              <a:ext uri="{FF2B5EF4-FFF2-40B4-BE49-F238E27FC236}">
                <a16:creationId xmlns:a16="http://schemas.microsoft.com/office/drawing/2014/main" id="{FAB846CA-8D2A-9ABC-CC99-FC1F60EB9A2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93E56B88-DE85-A9D8-413A-833C993FC006}"/>
              </a:ext>
            </a:extLst>
          </p:cNvPr>
          <p:cNvSpPr>
            <a:spLocks noGrp="1"/>
          </p:cNvSpPr>
          <p:nvPr>
            <p:ph type="sldNum" sz="quarter" idx="12"/>
          </p:nvPr>
        </p:nvSpPr>
        <p:spPr/>
        <p:txBody>
          <a:bodyPr/>
          <a:lstStyle/>
          <a:p>
            <a:pPr>
              <a:defRPr/>
            </a:pPr>
            <a:fld id="{FB7BA281-84E6-4038-8510-5138B74E5723}" type="slidenum">
              <a:rPr lang="en-US" altLang="en-US" smtClean="0"/>
              <a:pPr>
                <a:defRPr/>
              </a:pPr>
              <a:t>83</a:t>
            </a:fld>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B99260C3-0977-AFE6-F9FC-5F2CFEA30231}"/>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75107" name="Rectangle 3">
            <a:extLst>
              <a:ext uri="{FF2B5EF4-FFF2-40B4-BE49-F238E27FC236}">
                <a16:creationId xmlns:a16="http://schemas.microsoft.com/office/drawing/2014/main" id="{ED55D44B-2672-FECD-200D-ED005B88C868}"/>
              </a:ext>
            </a:extLst>
          </p:cNvPr>
          <p:cNvSpPr>
            <a:spLocks noChangeArrowheads="1"/>
          </p:cNvSpPr>
          <p:nvPr/>
        </p:nvSpPr>
        <p:spPr bwMode="auto">
          <a:xfrm>
            <a:off x="2209800" y="1660525"/>
            <a:ext cx="213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600" b="1">
                <a:latin typeface="Arial" panose="020B0604020202020204" pitchFamily="34" charset="0"/>
                <a:ea typeface="Times New Roman" panose="02020603050405020304" pitchFamily="18" charset="0"/>
                <a:cs typeface="Arial" panose="020B0604020202020204" pitchFamily="34" charset="0"/>
              </a:rPr>
              <a:t>Dimension Tables</a:t>
            </a:r>
            <a:r>
              <a:rPr lang="en-US" altLang="en-US" sz="1600" b="1">
                <a:latin typeface="Century Gothic" panose="020B0502020202020204" pitchFamily="34" charset="0"/>
                <a:ea typeface="Times New Roman" panose="02020603050405020304" pitchFamily="18" charset="0"/>
                <a:cs typeface="Arial" panose="020B0604020202020204" pitchFamily="34" charset="0"/>
              </a:rPr>
              <a:t> </a:t>
            </a:r>
          </a:p>
        </p:txBody>
      </p:sp>
      <p:pic>
        <p:nvPicPr>
          <p:cNvPr id="175108" name="Picture 4">
            <a:extLst>
              <a:ext uri="{FF2B5EF4-FFF2-40B4-BE49-F238E27FC236}">
                <a16:creationId xmlns:a16="http://schemas.microsoft.com/office/drawing/2014/main" id="{FB3F5286-E1AE-7A95-7091-1F318CA50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37" y="1746497"/>
            <a:ext cx="2066925"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09" name="Picture 5">
            <a:extLst>
              <a:ext uri="{FF2B5EF4-FFF2-40B4-BE49-F238E27FC236}">
                <a16:creationId xmlns:a16="http://schemas.microsoft.com/office/drawing/2014/main" id="{FACD6DFA-33BD-F933-00A7-9D40E08980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676400"/>
            <a:ext cx="2000250"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10" name="Picture 6">
            <a:extLst>
              <a:ext uri="{FF2B5EF4-FFF2-40B4-BE49-F238E27FC236}">
                <a16:creationId xmlns:a16="http://schemas.microsoft.com/office/drawing/2014/main" id="{8AF70AFC-2B1F-8EC9-1365-588EBA04E1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1828800"/>
            <a:ext cx="18669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11" name="Picture 7">
            <a:extLst>
              <a:ext uri="{FF2B5EF4-FFF2-40B4-BE49-F238E27FC236}">
                <a16:creationId xmlns:a16="http://schemas.microsoft.com/office/drawing/2014/main" id="{AFFAAAF7-E79A-00F6-60BA-706C518907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8200" y="1981200"/>
            <a:ext cx="2000250"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18BCF31-0CE2-9AAB-A4DC-029B9B93D0BF}"/>
              </a:ext>
            </a:extLst>
          </p:cNvPr>
          <p:cNvSpPr>
            <a:spLocks noGrp="1"/>
          </p:cNvSpPr>
          <p:nvPr>
            <p:ph type="dt" sz="quarter" idx="10"/>
          </p:nvPr>
        </p:nvSpPr>
        <p:spPr/>
        <p:txBody>
          <a:bodyPr/>
          <a:lstStyle/>
          <a:p>
            <a:pPr>
              <a:defRPr/>
            </a:pPr>
            <a:fld id="{CB645B3D-DC36-4FD4-8667-17DA59DBBBA7}" type="datetime1">
              <a:rPr lang="en-US" smtClean="0"/>
              <a:t>9/30/2025</a:t>
            </a:fld>
            <a:endParaRPr lang="en-US"/>
          </a:p>
        </p:txBody>
      </p:sp>
      <p:sp>
        <p:nvSpPr>
          <p:cNvPr id="3" name="Footer Placeholder 2">
            <a:extLst>
              <a:ext uri="{FF2B5EF4-FFF2-40B4-BE49-F238E27FC236}">
                <a16:creationId xmlns:a16="http://schemas.microsoft.com/office/drawing/2014/main" id="{AD0C92F7-6B4E-BD55-3BCF-7FF9C061C203}"/>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4E984431-5384-18FF-8C1C-AF7D1F9C047C}"/>
              </a:ext>
            </a:extLst>
          </p:cNvPr>
          <p:cNvSpPr>
            <a:spLocks noGrp="1"/>
          </p:cNvSpPr>
          <p:nvPr>
            <p:ph type="sldNum" sz="quarter" idx="12"/>
          </p:nvPr>
        </p:nvSpPr>
        <p:spPr/>
        <p:txBody>
          <a:bodyPr/>
          <a:lstStyle/>
          <a:p>
            <a:pPr>
              <a:defRPr/>
            </a:pPr>
            <a:fld id="{0A22877C-016D-4339-8A0A-FB4E90E2109F}" type="slidenum">
              <a:rPr lang="en-US" altLang="en-US" smtClean="0"/>
              <a:pPr>
                <a:defRPr/>
              </a:pPr>
              <a:t>84</a:t>
            </a:fld>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55053A2E-1246-47B1-440E-1B632CA051FB}"/>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77155" name="Rectangle 3">
            <a:extLst>
              <a:ext uri="{FF2B5EF4-FFF2-40B4-BE49-F238E27FC236}">
                <a16:creationId xmlns:a16="http://schemas.microsoft.com/office/drawing/2014/main" id="{66B5447F-6113-56F4-62C5-E58C814A6ECF}"/>
              </a:ext>
            </a:extLst>
          </p:cNvPr>
          <p:cNvSpPr>
            <a:spLocks noChangeArrowheads="1"/>
          </p:cNvSpPr>
          <p:nvPr/>
        </p:nvSpPr>
        <p:spPr bwMode="auto">
          <a:xfrm>
            <a:off x="2209800" y="1660525"/>
            <a:ext cx="213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1600" b="1">
                <a:latin typeface="Arial" panose="020B0604020202020204" pitchFamily="34" charset="0"/>
                <a:ea typeface="Times New Roman" panose="02020603050405020304" pitchFamily="18" charset="0"/>
                <a:cs typeface="Arial" panose="020B0604020202020204" pitchFamily="34" charset="0"/>
              </a:rPr>
              <a:t>Dimension Tables</a:t>
            </a:r>
            <a:r>
              <a:rPr lang="en-US" altLang="en-US" sz="1600" b="1">
                <a:latin typeface="Century Gothic" panose="020B0502020202020204" pitchFamily="34" charset="0"/>
                <a:ea typeface="Times New Roman" panose="02020603050405020304" pitchFamily="18" charset="0"/>
                <a:cs typeface="Arial" panose="020B0604020202020204" pitchFamily="34" charset="0"/>
              </a:rPr>
              <a:t> </a:t>
            </a:r>
          </a:p>
        </p:txBody>
      </p:sp>
      <p:pic>
        <p:nvPicPr>
          <p:cNvPr id="177156" name="Picture 4">
            <a:extLst>
              <a:ext uri="{FF2B5EF4-FFF2-40B4-BE49-F238E27FC236}">
                <a16:creationId xmlns:a16="http://schemas.microsoft.com/office/drawing/2014/main" id="{3CE10279-1682-8469-F061-2C56384D69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8454" y="1571625"/>
            <a:ext cx="1819275"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57" name="Picture 5">
            <a:extLst>
              <a:ext uri="{FF2B5EF4-FFF2-40B4-BE49-F238E27FC236}">
                <a16:creationId xmlns:a16="http://schemas.microsoft.com/office/drawing/2014/main" id="{1C29D939-0892-3C90-A17D-FFCC96D9E3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1" y="2133600"/>
            <a:ext cx="2085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58" name="Picture 6">
            <a:extLst>
              <a:ext uri="{FF2B5EF4-FFF2-40B4-BE49-F238E27FC236}">
                <a16:creationId xmlns:a16="http://schemas.microsoft.com/office/drawing/2014/main" id="{77C78538-5EB5-2063-2A29-1E747791FF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1" y="4191000"/>
            <a:ext cx="2085975"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3C61ADAD-5296-EEDA-6514-E4E81498738B}"/>
              </a:ext>
            </a:extLst>
          </p:cNvPr>
          <p:cNvSpPr>
            <a:spLocks noGrp="1"/>
          </p:cNvSpPr>
          <p:nvPr>
            <p:ph type="dt" sz="quarter" idx="10"/>
          </p:nvPr>
        </p:nvSpPr>
        <p:spPr/>
        <p:txBody>
          <a:bodyPr/>
          <a:lstStyle/>
          <a:p>
            <a:pPr>
              <a:defRPr/>
            </a:pPr>
            <a:fld id="{49B9037B-8896-44C1-A311-F616CD11B5B1}" type="datetime1">
              <a:rPr lang="en-US" smtClean="0"/>
              <a:t>9/30/2025</a:t>
            </a:fld>
            <a:endParaRPr lang="en-US"/>
          </a:p>
        </p:txBody>
      </p:sp>
      <p:sp>
        <p:nvSpPr>
          <p:cNvPr id="3" name="Footer Placeholder 2">
            <a:extLst>
              <a:ext uri="{FF2B5EF4-FFF2-40B4-BE49-F238E27FC236}">
                <a16:creationId xmlns:a16="http://schemas.microsoft.com/office/drawing/2014/main" id="{60795772-B232-CE14-8C4E-C219E14634B7}"/>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79A87CED-4BAB-20A8-E7E6-BF9FEA17B3CD}"/>
              </a:ext>
            </a:extLst>
          </p:cNvPr>
          <p:cNvSpPr>
            <a:spLocks noGrp="1"/>
          </p:cNvSpPr>
          <p:nvPr>
            <p:ph type="sldNum" sz="quarter" idx="12"/>
          </p:nvPr>
        </p:nvSpPr>
        <p:spPr/>
        <p:txBody>
          <a:bodyPr/>
          <a:lstStyle/>
          <a:p>
            <a:pPr>
              <a:defRPr/>
            </a:pPr>
            <a:fld id="{8F80DB2F-D099-40B3-AAC6-1086FBFE965A}" type="slidenum">
              <a:rPr lang="en-US" altLang="en-US" smtClean="0"/>
              <a:pPr>
                <a:defRPr/>
              </a:pPr>
              <a:t>85</a:t>
            </a:fld>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CE7010F8-C2BE-84B6-0CD0-A5F9F619755A}"/>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79203" name="Rectangle 3">
            <a:extLst>
              <a:ext uri="{FF2B5EF4-FFF2-40B4-BE49-F238E27FC236}">
                <a16:creationId xmlns:a16="http://schemas.microsoft.com/office/drawing/2014/main" id="{6FE4D2CA-4F4B-D316-57AA-946BC1ACD170}"/>
              </a:ext>
            </a:extLst>
          </p:cNvPr>
          <p:cNvSpPr>
            <a:spLocks noChangeArrowheads="1"/>
          </p:cNvSpPr>
          <p:nvPr/>
        </p:nvSpPr>
        <p:spPr bwMode="auto">
          <a:xfrm>
            <a:off x="1757082" y="1812926"/>
            <a:ext cx="510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dirty="0">
                <a:latin typeface="Arial" panose="020B0604020202020204" pitchFamily="34" charset="0"/>
                <a:ea typeface="Times New Roman" panose="02020603050405020304" pitchFamily="18" charset="0"/>
                <a:cs typeface="Arial" panose="020B0604020202020204" pitchFamily="34" charset="0"/>
              </a:rPr>
              <a:t>Star Schema  </a:t>
            </a:r>
            <a:r>
              <a:rPr lang="en-US" altLang="en-US" sz="2000" b="1" i="1" dirty="0">
                <a:latin typeface="Arial" panose="020B0604020202020204" pitchFamily="34" charset="0"/>
                <a:ea typeface="Times New Roman" panose="02020603050405020304" pitchFamily="18" charset="0"/>
                <a:cs typeface="Arial" panose="020B0604020202020204" pitchFamily="34" charset="0"/>
              </a:rPr>
              <a:t>Customer Usage Billing</a:t>
            </a:r>
            <a:endParaRPr lang="en-US" altLang="en-US" sz="2000" b="1" dirty="0">
              <a:latin typeface="Arial" panose="020B0604020202020204" pitchFamily="34" charset="0"/>
              <a:ea typeface="Times New Roman" panose="02020603050405020304" pitchFamily="18" charset="0"/>
              <a:cs typeface="Arial" panose="020B0604020202020204" pitchFamily="34" charset="0"/>
            </a:endParaRPr>
          </a:p>
        </p:txBody>
      </p:sp>
      <p:pic>
        <p:nvPicPr>
          <p:cNvPr id="179204" name="Picture 5">
            <a:extLst>
              <a:ext uri="{FF2B5EF4-FFF2-40B4-BE49-F238E27FC236}">
                <a16:creationId xmlns:a16="http://schemas.microsoft.com/office/drawing/2014/main" id="{5971D76D-82F1-AE0C-33BD-F2B59395C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2209801"/>
            <a:ext cx="574357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2E03125F-969B-A31E-4E44-072E99F05341}"/>
              </a:ext>
            </a:extLst>
          </p:cNvPr>
          <p:cNvSpPr>
            <a:spLocks noGrp="1"/>
          </p:cNvSpPr>
          <p:nvPr>
            <p:ph type="dt" sz="quarter" idx="10"/>
          </p:nvPr>
        </p:nvSpPr>
        <p:spPr/>
        <p:txBody>
          <a:bodyPr/>
          <a:lstStyle/>
          <a:p>
            <a:pPr>
              <a:defRPr/>
            </a:pPr>
            <a:fld id="{9675C4BB-1C6E-4B68-ACB7-07F430DFAF98}" type="datetime1">
              <a:rPr lang="en-US" smtClean="0"/>
              <a:t>9/30/2025</a:t>
            </a:fld>
            <a:endParaRPr lang="en-US"/>
          </a:p>
        </p:txBody>
      </p:sp>
      <p:sp>
        <p:nvSpPr>
          <p:cNvPr id="3" name="Footer Placeholder 2">
            <a:extLst>
              <a:ext uri="{FF2B5EF4-FFF2-40B4-BE49-F238E27FC236}">
                <a16:creationId xmlns:a16="http://schemas.microsoft.com/office/drawing/2014/main" id="{5D773DA8-E815-D4B0-922D-1B4FA121A046}"/>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AE9DC78-02FD-9B04-8288-CEFE1B74C49E}"/>
              </a:ext>
            </a:extLst>
          </p:cNvPr>
          <p:cNvSpPr>
            <a:spLocks noGrp="1"/>
          </p:cNvSpPr>
          <p:nvPr>
            <p:ph type="sldNum" sz="quarter" idx="12"/>
          </p:nvPr>
        </p:nvSpPr>
        <p:spPr/>
        <p:txBody>
          <a:bodyPr/>
          <a:lstStyle/>
          <a:p>
            <a:pPr>
              <a:defRPr/>
            </a:pPr>
            <a:fld id="{2799C823-CED8-4E09-ABB2-C2002280115C}" type="slidenum">
              <a:rPr lang="en-US" altLang="en-US" smtClean="0"/>
              <a:pPr>
                <a:defRPr/>
              </a:pPr>
              <a:t>86</a:t>
            </a:fld>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1BEF1242-C1B7-4F61-15C0-0DEAE660F3EA}"/>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81251" name="Rectangle 3">
            <a:extLst>
              <a:ext uri="{FF2B5EF4-FFF2-40B4-BE49-F238E27FC236}">
                <a16:creationId xmlns:a16="http://schemas.microsoft.com/office/drawing/2014/main" id="{240192E3-3AC5-8B50-688D-879095037A69}"/>
              </a:ext>
            </a:extLst>
          </p:cNvPr>
          <p:cNvSpPr>
            <a:spLocks noChangeArrowheads="1"/>
          </p:cNvSpPr>
          <p:nvPr/>
        </p:nvSpPr>
        <p:spPr bwMode="auto">
          <a:xfrm>
            <a:off x="1972235" y="1779495"/>
            <a:ext cx="510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dirty="0">
                <a:latin typeface="Arial" panose="020B0604020202020204" pitchFamily="34" charset="0"/>
                <a:ea typeface="Times New Roman" panose="02020603050405020304" pitchFamily="18" charset="0"/>
                <a:cs typeface="Arial" panose="020B0604020202020204" pitchFamily="34" charset="0"/>
              </a:rPr>
              <a:t>Star Schema  </a:t>
            </a:r>
            <a:r>
              <a:rPr lang="en-US" altLang="en-US" sz="2000" b="1" i="1" dirty="0">
                <a:latin typeface="Arial" panose="020B0604020202020204" pitchFamily="34" charset="0"/>
                <a:ea typeface="Times New Roman" panose="02020603050405020304" pitchFamily="18" charset="0"/>
                <a:cs typeface="Arial" panose="020B0604020202020204" pitchFamily="34" charset="0"/>
              </a:rPr>
              <a:t>Call Detail Tracking </a:t>
            </a:r>
          </a:p>
        </p:txBody>
      </p:sp>
      <p:pic>
        <p:nvPicPr>
          <p:cNvPr id="181252" name="Picture 5">
            <a:extLst>
              <a:ext uri="{FF2B5EF4-FFF2-40B4-BE49-F238E27FC236}">
                <a16:creationId xmlns:a16="http://schemas.microsoft.com/office/drawing/2014/main" id="{08AB0E76-E999-958E-6719-11567881EF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4236" y="1906983"/>
            <a:ext cx="4599455" cy="4301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36E75D12-10C7-9545-CCC5-315E4BE60FF6}"/>
              </a:ext>
            </a:extLst>
          </p:cNvPr>
          <p:cNvSpPr>
            <a:spLocks noGrp="1"/>
          </p:cNvSpPr>
          <p:nvPr>
            <p:ph type="dt" sz="quarter" idx="10"/>
          </p:nvPr>
        </p:nvSpPr>
        <p:spPr/>
        <p:txBody>
          <a:bodyPr/>
          <a:lstStyle/>
          <a:p>
            <a:pPr>
              <a:defRPr/>
            </a:pPr>
            <a:fld id="{AA51E2E8-2A24-463F-84EE-C54F626B8ABD}" type="datetime1">
              <a:rPr lang="en-US" smtClean="0"/>
              <a:t>9/30/2025</a:t>
            </a:fld>
            <a:endParaRPr lang="en-US"/>
          </a:p>
        </p:txBody>
      </p:sp>
      <p:sp>
        <p:nvSpPr>
          <p:cNvPr id="3" name="Footer Placeholder 2">
            <a:extLst>
              <a:ext uri="{FF2B5EF4-FFF2-40B4-BE49-F238E27FC236}">
                <a16:creationId xmlns:a16="http://schemas.microsoft.com/office/drawing/2014/main" id="{1AFEA536-E8B6-4DDD-E383-772F7A436400}"/>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21AFF4A9-D121-DF7E-D643-EED1D7C4EB53}"/>
              </a:ext>
            </a:extLst>
          </p:cNvPr>
          <p:cNvSpPr>
            <a:spLocks noGrp="1"/>
          </p:cNvSpPr>
          <p:nvPr>
            <p:ph type="sldNum" sz="quarter" idx="12"/>
          </p:nvPr>
        </p:nvSpPr>
        <p:spPr/>
        <p:txBody>
          <a:bodyPr/>
          <a:lstStyle/>
          <a:p>
            <a:pPr>
              <a:defRPr/>
            </a:pPr>
            <a:fld id="{9F9E9A7A-1F29-4975-AE48-73FE1A166A4A}" type="slidenum">
              <a:rPr lang="en-US" altLang="en-US" smtClean="0"/>
              <a:pPr>
                <a:defRPr/>
              </a:pPr>
              <a:t>87</a:t>
            </a:fld>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0B5FFAD7-30F7-4B48-89DA-23ECD1F285E8}"/>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83299" name="Rectangle 3">
            <a:extLst>
              <a:ext uri="{FF2B5EF4-FFF2-40B4-BE49-F238E27FC236}">
                <a16:creationId xmlns:a16="http://schemas.microsoft.com/office/drawing/2014/main" id="{0BAB8928-5B8D-D7CE-F40D-30FBEE3FFA4F}"/>
              </a:ext>
            </a:extLst>
          </p:cNvPr>
          <p:cNvSpPr>
            <a:spLocks noChangeArrowheads="1"/>
          </p:cNvSpPr>
          <p:nvPr/>
        </p:nvSpPr>
        <p:spPr bwMode="auto">
          <a:xfrm>
            <a:off x="2209800" y="1886620"/>
            <a:ext cx="419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dirty="0">
                <a:latin typeface="Arial" panose="020B0604020202020204" pitchFamily="34" charset="0"/>
                <a:ea typeface="Times New Roman" panose="02020603050405020304" pitchFamily="18" charset="0"/>
                <a:cs typeface="Arial" panose="020B0604020202020204" pitchFamily="34" charset="0"/>
              </a:rPr>
              <a:t>Star Schema </a:t>
            </a:r>
            <a:r>
              <a:rPr lang="en-US" altLang="en-US" sz="2000" b="1" i="1" dirty="0">
                <a:latin typeface="Century Gothic" panose="020B0502020202020204" pitchFamily="34" charset="0"/>
                <a:ea typeface="Times New Roman" panose="02020603050405020304" pitchFamily="18" charset="0"/>
                <a:cs typeface="Arial" panose="020B0604020202020204" pitchFamily="34" charset="0"/>
              </a:rPr>
              <a:t>Vendor Contract</a:t>
            </a:r>
            <a:r>
              <a:rPr lang="en-US" altLang="en-US" sz="2000" dirty="0">
                <a:latin typeface="Century Gothic" panose="020B0502020202020204" pitchFamily="34" charset="0"/>
                <a:ea typeface="Times New Roman" panose="02020603050405020304" pitchFamily="18" charset="0"/>
                <a:cs typeface="Arial" panose="020B0604020202020204" pitchFamily="34" charset="0"/>
              </a:rPr>
              <a:t> </a:t>
            </a:r>
          </a:p>
        </p:txBody>
      </p:sp>
      <p:pic>
        <p:nvPicPr>
          <p:cNvPr id="183300" name="Picture 4">
            <a:extLst>
              <a:ext uri="{FF2B5EF4-FFF2-40B4-BE49-F238E27FC236}">
                <a16:creationId xmlns:a16="http://schemas.microsoft.com/office/drawing/2014/main" id="{B6B09442-2902-49B8-D1CB-0443B9E962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1" y="2667000"/>
            <a:ext cx="5724525"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95A3BCE-31EC-142B-42DD-92AD918BCE9B}"/>
              </a:ext>
            </a:extLst>
          </p:cNvPr>
          <p:cNvSpPr>
            <a:spLocks noGrp="1"/>
          </p:cNvSpPr>
          <p:nvPr>
            <p:ph type="dt" sz="quarter" idx="10"/>
          </p:nvPr>
        </p:nvSpPr>
        <p:spPr/>
        <p:txBody>
          <a:bodyPr/>
          <a:lstStyle/>
          <a:p>
            <a:pPr>
              <a:defRPr/>
            </a:pPr>
            <a:fld id="{CDCAE812-EB6E-43E6-AA8E-875054F47B33}" type="datetime1">
              <a:rPr lang="en-US" smtClean="0"/>
              <a:t>9/30/2025</a:t>
            </a:fld>
            <a:endParaRPr lang="en-US"/>
          </a:p>
        </p:txBody>
      </p:sp>
      <p:sp>
        <p:nvSpPr>
          <p:cNvPr id="3" name="Footer Placeholder 2">
            <a:extLst>
              <a:ext uri="{FF2B5EF4-FFF2-40B4-BE49-F238E27FC236}">
                <a16:creationId xmlns:a16="http://schemas.microsoft.com/office/drawing/2014/main" id="{39950ABB-F0F5-05B1-F9B8-18A28B74FBF6}"/>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89A2F9F9-2E9E-6CD3-B47C-999469C3A2DA}"/>
              </a:ext>
            </a:extLst>
          </p:cNvPr>
          <p:cNvSpPr>
            <a:spLocks noGrp="1"/>
          </p:cNvSpPr>
          <p:nvPr>
            <p:ph type="sldNum" sz="quarter" idx="12"/>
          </p:nvPr>
        </p:nvSpPr>
        <p:spPr/>
        <p:txBody>
          <a:bodyPr/>
          <a:lstStyle/>
          <a:p>
            <a:pPr>
              <a:defRPr/>
            </a:pPr>
            <a:fld id="{78D3766A-2FFB-4DF6-A5C9-512A9AEF6B29}" type="slidenum">
              <a:rPr lang="en-US" altLang="en-US" smtClean="0"/>
              <a:pPr>
                <a:defRPr/>
              </a:pPr>
              <a:t>88</a:t>
            </a:fld>
            <a:endParaRPr lang="en-US"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6B28D737-2DDB-40B2-E5CF-E441F4467D8E}"/>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85347" name="Rectangle 3">
            <a:extLst>
              <a:ext uri="{FF2B5EF4-FFF2-40B4-BE49-F238E27FC236}">
                <a16:creationId xmlns:a16="http://schemas.microsoft.com/office/drawing/2014/main" id="{2EA547DC-D1EA-501B-9ED6-E077CFDFC25E}"/>
              </a:ext>
            </a:extLst>
          </p:cNvPr>
          <p:cNvSpPr>
            <a:spLocks noChangeArrowheads="1"/>
          </p:cNvSpPr>
          <p:nvPr/>
        </p:nvSpPr>
        <p:spPr bwMode="auto">
          <a:xfrm>
            <a:off x="2129118" y="1841747"/>
            <a:ext cx="525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dirty="0">
                <a:latin typeface="Arial" panose="020B0604020202020204" pitchFamily="34" charset="0"/>
                <a:ea typeface="Times New Roman" panose="02020603050405020304" pitchFamily="18" charset="0"/>
                <a:cs typeface="Arial" panose="020B0604020202020204" pitchFamily="34" charset="0"/>
              </a:rPr>
              <a:t>Star Schema </a:t>
            </a:r>
            <a:r>
              <a:rPr lang="en-US" altLang="en-US" sz="2000" b="1" i="1" dirty="0">
                <a:latin typeface="Century Gothic" panose="020B0502020202020204" pitchFamily="34" charset="0"/>
                <a:ea typeface="Times New Roman" panose="02020603050405020304" pitchFamily="18" charset="0"/>
                <a:cs typeface="Arial" panose="020B0604020202020204" pitchFamily="34" charset="0"/>
              </a:rPr>
              <a:t>Purchased Product Tracking</a:t>
            </a:r>
            <a:r>
              <a:rPr lang="en-US" altLang="en-US" sz="2000" i="1" dirty="0">
                <a:latin typeface="Century Gothic" panose="020B0502020202020204" pitchFamily="34" charset="0"/>
                <a:ea typeface="Times New Roman" panose="02020603050405020304" pitchFamily="18" charset="0"/>
                <a:cs typeface="Arial" panose="020B0604020202020204" pitchFamily="34" charset="0"/>
              </a:rPr>
              <a:t> </a:t>
            </a:r>
          </a:p>
        </p:txBody>
      </p:sp>
      <p:pic>
        <p:nvPicPr>
          <p:cNvPr id="185348" name="Picture 4">
            <a:extLst>
              <a:ext uri="{FF2B5EF4-FFF2-40B4-BE49-F238E27FC236}">
                <a16:creationId xmlns:a16="http://schemas.microsoft.com/office/drawing/2014/main" id="{9FAD0E86-24B5-DD49-22DD-B26C89F01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362200"/>
            <a:ext cx="607695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93111022-03A5-2139-73BF-B914945B380B}"/>
              </a:ext>
            </a:extLst>
          </p:cNvPr>
          <p:cNvSpPr>
            <a:spLocks noGrp="1"/>
          </p:cNvSpPr>
          <p:nvPr>
            <p:ph type="dt" sz="quarter" idx="10"/>
          </p:nvPr>
        </p:nvSpPr>
        <p:spPr/>
        <p:txBody>
          <a:bodyPr/>
          <a:lstStyle/>
          <a:p>
            <a:pPr>
              <a:defRPr/>
            </a:pPr>
            <a:fld id="{2C992785-46C5-4003-9522-2EDE1E16BFE9}" type="datetime1">
              <a:rPr lang="en-US" smtClean="0"/>
              <a:t>9/30/2025</a:t>
            </a:fld>
            <a:endParaRPr lang="en-US"/>
          </a:p>
        </p:txBody>
      </p:sp>
      <p:sp>
        <p:nvSpPr>
          <p:cNvPr id="3" name="Footer Placeholder 2">
            <a:extLst>
              <a:ext uri="{FF2B5EF4-FFF2-40B4-BE49-F238E27FC236}">
                <a16:creationId xmlns:a16="http://schemas.microsoft.com/office/drawing/2014/main" id="{A60397D3-8052-FD80-2228-34CC38B2959D}"/>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B2A47F56-5B91-C084-9703-CC542587D208}"/>
              </a:ext>
            </a:extLst>
          </p:cNvPr>
          <p:cNvSpPr>
            <a:spLocks noGrp="1"/>
          </p:cNvSpPr>
          <p:nvPr>
            <p:ph type="sldNum" sz="quarter" idx="12"/>
          </p:nvPr>
        </p:nvSpPr>
        <p:spPr/>
        <p:txBody>
          <a:bodyPr/>
          <a:lstStyle/>
          <a:p>
            <a:pPr>
              <a:defRPr/>
            </a:pPr>
            <a:fld id="{860E3F8B-F7A6-4E90-9F9A-1E75DE8E29FE}" type="slidenum">
              <a:rPr lang="en-US" altLang="en-US" smtClean="0"/>
              <a:pPr>
                <a:defRPr/>
              </a:pPr>
              <a:t>89</a:t>
            </a:fld>
            <a:endParaRPr lang="en-US"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4C4BCD8A-264E-6F44-8852-936E09FF9F18}"/>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87395" name="Rectangle 3">
            <a:extLst>
              <a:ext uri="{FF2B5EF4-FFF2-40B4-BE49-F238E27FC236}">
                <a16:creationId xmlns:a16="http://schemas.microsoft.com/office/drawing/2014/main" id="{76590418-ABE5-F8D7-0F3F-38E703BE00AC}"/>
              </a:ext>
            </a:extLst>
          </p:cNvPr>
          <p:cNvSpPr>
            <a:spLocks noChangeArrowheads="1"/>
          </p:cNvSpPr>
          <p:nvPr/>
        </p:nvSpPr>
        <p:spPr bwMode="auto">
          <a:xfrm>
            <a:off x="2057400" y="1935832"/>
            <a:ext cx="525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dirty="0">
                <a:latin typeface="Arial" panose="020B0604020202020204" pitchFamily="34" charset="0"/>
                <a:ea typeface="Times New Roman" panose="02020603050405020304" pitchFamily="18" charset="0"/>
                <a:cs typeface="Arial" panose="020B0604020202020204" pitchFamily="34" charset="0"/>
              </a:rPr>
              <a:t>Star Schema </a:t>
            </a:r>
            <a:r>
              <a:rPr lang="en-US" altLang="en-US" sz="2000" b="1" i="1" dirty="0">
                <a:latin typeface="Century Gothic" panose="020B0502020202020204" pitchFamily="34" charset="0"/>
                <a:ea typeface="Times New Roman" panose="02020603050405020304" pitchFamily="18" charset="0"/>
                <a:cs typeface="Arial" panose="020B0604020202020204" pitchFamily="34" charset="0"/>
              </a:rPr>
              <a:t>Materials Inventory </a:t>
            </a:r>
          </a:p>
        </p:txBody>
      </p:sp>
      <p:pic>
        <p:nvPicPr>
          <p:cNvPr id="187396" name="Picture 5">
            <a:extLst>
              <a:ext uri="{FF2B5EF4-FFF2-40B4-BE49-F238E27FC236}">
                <a16:creationId xmlns:a16="http://schemas.microsoft.com/office/drawing/2014/main" id="{6CD5CCF9-F678-65A5-373F-171B82DF1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2895600"/>
            <a:ext cx="61817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4477E6FB-592D-8AA5-F4E2-85C079206E22}"/>
              </a:ext>
            </a:extLst>
          </p:cNvPr>
          <p:cNvSpPr>
            <a:spLocks noGrp="1"/>
          </p:cNvSpPr>
          <p:nvPr>
            <p:ph type="dt" sz="quarter" idx="10"/>
          </p:nvPr>
        </p:nvSpPr>
        <p:spPr/>
        <p:txBody>
          <a:bodyPr/>
          <a:lstStyle/>
          <a:p>
            <a:pPr>
              <a:defRPr/>
            </a:pPr>
            <a:fld id="{769FD616-6757-4DA4-8E22-91785E78CFA3}" type="datetime1">
              <a:rPr lang="en-US" smtClean="0"/>
              <a:t>9/30/2025</a:t>
            </a:fld>
            <a:endParaRPr lang="en-US"/>
          </a:p>
        </p:txBody>
      </p:sp>
      <p:sp>
        <p:nvSpPr>
          <p:cNvPr id="3" name="Footer Placeholder 2">
            <a:extLst>
              <a:ext uri="{FF2B5EF4-FFF2-40B4-BE49-F238E27FC236}">
                <a16:creationId xmlns:a16="http://schemas.microsoft.com/office/drawing/2014/main" id="{574789F7-0D98-0026-B9B2-2B868A9CD6C4}"/>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1743E366-7E36-0661-FCB5-C2E746530F2C}"/>
              </a:ext>
            </a:extLst>
          </p:cNvPr>
          <p:cNvSpPr>
            <a:spLocks noGrp="1"/>
          </p:cNvSpPr>
          <p:nvPr>
            <p:ph type="sldNum" sz="quarter" idx="12"/>
          </p:nvPr>
        </p:nvSpPr>
        <p:spPr/>
        <p:txBody>
          <a:bodyPr/>
          <a:lstStyle/>
          <a:p>
            <a:pPr>
              <a:defRPr/>
            </a:pPr>
            <a:fld id="{9CCA3A29-3599-4BC9-AC9D-3BE539A6B51A}" type="slidenum">
              <a:rPr lang="en-US" altLang="en-US" smtClean="0"/>
              <a:pPr>
                <a:defRPr/>
              </a:pPr>
              <a:t>90</a:t>
            </a:fld>
            <a:endParaRPr lang="en-US"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F5FF4BCC-47E4-6183-31EA-ECBDCCBA7D8C}"/>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89443" name="Rectangle 3">
            <a:extLst>
              <a:ext uri="{FF2B5EF4-FFF2-40B4-BE49-F238E27FC236}">
                <a16:creationId xmlns:a16="http://schemas.microsoft.com/office/drawing/2014/main" id="{5648BDF2-9F76-74DC-A1D3-3E8536FD92DD}"/>
              </a:ext>
            </a:extLst>
          </p:cNvPr>
          <p:cNvSpPr>
            <a:spLocks noChangeArrowheads="1"/>
          </p:cNvSpPr>
          <p:nvPr/>
        </p:nvSpPr>
        <p:spPr bwMode="auto">
          <a:xfrm>
            <a:off x="1833282" y="1858963"/>
            <a:ext cx="525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dirty="0">
                <a:latin typeface="Arial" panose="020B0604020202020204" pitchFamily="34" charset="0"/>
                <a:ea typeface="Times New Roman" panose="02020603050405020304" pitchFamily="18" charset="0"/>
                <a:cs typeface="Arial" panose="020B0604020202020204" pitchFamily="34" charset="0"/>
              </a:rPr>
              <a:t>Star Schema </a:t>
            </a:r>
            <a:r>
              <a:rPr lang="en-US" altLang="en-US" sz="2000" b="1" i="1" dirty="0">
                <a:latin typeface="Century Gothic" panose="020B0502020202020204" pitchFamily="34" charset="0"/>
                <a:ea typeface="Times New Roman" panose="02020603050405020304" pitchFamily="18" charset="0"/>
                <a:cs typeface="Arial" panose="020B0604020202020204" pitchFamily="34" charset="0"/>
              </a:rPr>
              <a:t>Service Call Tracking </a:t>
            </a:r>
          </a:p>
        </p:txBody>
      </p:sp>
      <p:pic>
        <p:nvPicPr>
          <p:cNvPr id="189444" name="Picture 5">
            <a:extLst>
              <a:ext uri="{FF2B5EF4-FFF2-40B4-BE49-F238E27FC236}">
                <a16:creationId xmlns:a16="http://schemas.microsoft.com/office/drawing/2014/main" id="{4791F7A1-C708-602C-7E6E-A21D8782BA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1" y="2057401"/>
            <a:ext cx="5934075"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A6F60FD5-BE55-146E-8AC8-12F0334C77EA}"/>
              </a:ext>
            </a:extLst>
          </p:cNvPr>
          <p:cNvSpPr>
            <a:spLocks noGrp="1"/>
          </p:cNvSpPr>
          <p:nvPr>
            <p:ph type="dt" sz="quarter" idx="10"/>
          </p:nvPr>
        </p:nvSpPr>
        <p:spPr/>
        <p:txBody>
          <a:bodyPr/>
          <a:lstStyle/>
          <a:p>
            <a:pPr>
              <a:defRPr/>
            </a:pPr>
            <a:fld id="{19937DF6-F605-4BEB-A419-9FB99BB32F5B}" type="datetime1">
              <a:rPr lang="en-US" smtClean="0"/>
              <a:t>9/30/2025</a:t>
            </a:fld>
            <a:endParaRPr lang="en-US"/>
          </a:p>
        </p:txBody>
      </p:sp>
      <p:sp>
        <p:nvSpPr>
          <p:cNvPr id="3" name="Footer Placeholder 2">
            <a:extLst>
              <a:ext uri="{FF2B5EF4-FFF2-40B4-BE49-F238E27FC236}">
                <a16:creationId xmlns:a16="http://schemas.microsoft.com/office/drawing/2014/main" id="{2930260D-C81B-44F8-72BE-CC886E13A52C}"/>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3FA1DE09-540E-D31A-910C-6282431F1A62}"/>
              </a:ext>
            </a:extLst>
          </p:cNvPr>
          <p:cNvSpPr>
            <a:spLocks noGrp="1"/>
          </p:cNvSpPr>
          <p:nvPr>
            <p:ph type="sldNum" sz="quarter" idx="12"/>
          </p:nvPr>
        </p:nvSpPr>
        <p:spPr/>
        <p:txBody>
          <a:bodyPr/>
          <a:lstStyle/>
          <a:p>
            <a:pPr>
              <a:defRPr/>
            </a:pPr>
            <a:fld id="{1C159708-0CD6-4117-82CE-AFBB85D77A9A}" type="slidenum">
              <a:rPr lang="en-US" altLang="en-US" smtClean="0"/>
              <a:pPr>
                <a:defRPr/>
              </a:pPr>
              <a:t>91</a:t>
            </a:fld>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DBDC5A08-836A-D880-682F-BB85CAD83FE9}"/>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US" altLang="en-US" sz="2900" b="1">
                <a:solidFill>
                  <a:srgbClr val="C00000"/>
                </a:solidFill>
                <a:latin typeface="Tahoma" panose="020B0604030504040204" pitchFamily="34" charset="0"/>
              </a:rPr>
              <a:t>A TELCO Case Study (Kimball)</a:t>
            </a:r>
          </a:p>
        </p:txBody>
      </p:sp>
      <p:sp>
        <p:nvSpPr>
          <p:cNvPr id="191491" name="Rectangle 3">
            <a:extLst>
              <a:ext uri="{FF2B5EF4-FFF2-40B4-BE49-F238E27FC236}">
                <a16:creationId xmlns:a16="http://schemas.microsoft.com/office/drawing/2014/main" id="{1E9A98DE-DB84-6488-B4AC-1B76B8BF10D5}"/>
              </a:ext>
            </a:extLst>
          </p:cNvPr>
          <p:cNvSpPr>
            <a:spLocks noChangeArrowheads="1"/>
          </p:cNvSpPr>
          <p:nvPr/>
        </p:nvSpPr>
        <p:spPr bwMode="auto">
          <a:xfrm>
            <a:off x="1931894" y="1834234"/>
            <a:ext cx="525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US" altLang="en-US" sz="2000" b="1" dirty="0">
                <a:latin typeface="Arial" panose="020B0604020202020204" pitchFamily="34" charset="0"/>
                <a:ea typeface="Times New Roman" panose="02020603050405020304" pitchFamily="18" charset="0"/>
                <a:cs typeface="Arial" panose="020B0604020202020204" pitchFamily="34" charset="0"/>
              </a:rPr>
              <a:t>Star Schema </a:t>
            </a:r>
            <a:r>
              <a:rPr lang="en-US" altLang="en-US" sz="2000" b="1" i="1" dirty="0">
                <a:latin typeface="Century Gothic" panose="020B0502020202020204" pitchFamily="34" charset="0"/>
                <a:ea typeface="Times New Roman" panose="02020603050405020304" pitchFamily="18" charset="0"/>
                <a:cs typeface="Arial" panose="020B0604020202020204" pitchFamily="34" charset="0"/>
              </a:rPr>
              <a:t>Repaired Items </a:t>
            </a:r>
          </a:p>
        </p:txBody>
      </p:sp>
      <p:pic>
        <p:nvPicPr>
          <p:cNvPr id="191492" name="Picture 5">
            <a:extLst>
              <a:ext uri="{FF2B5EF4-FFF2-40B4-BE49-F238E27FC236}">
                <a16:creationId xmlns:a16="http://schemas.microsoft.com/office/drawing/2014/main" id="{29C9FA1B-03FC-CD22-03F3-96E835800C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057401"/>
            <a:ext cx="57912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A9754038-5B7F-A2A4-9979-24CDB61941E6}"/>
              </a:ext>
            </a:extLst>
          </p:cNvPr>
          <p:cNvSpPr>
            <a:spLocks noGrp="1"/>
          </p:cNvSpPr>
          <p:nvPr>
            <p:ph type="dt" sz="quarter" idx="10"/>
          </p:nvPr>
        </p:nvSpPr>
        <p:spPr/>
        <p:txBody>
          <a:bodyPr/>
          <a:lstStyle/>
          <a:p>
            <a:pPr>
              <a:defRPr/>
            </a:pPr>
            <a:fld id="{266925C0-7765-45A6-B02D-83A6DF4F4E4F}" type="datetime1">
              <a:rPr lang="en-US" smtClean="0"/>
              <a:t>9/30/2025</a:t>
            </a:fld>
            <a:endParaRPr lang="en-US"/>
          </a:p>
        </p:txBody>
      </p:sp>
      <p:sp>
        <p:nvSpPr>
          <p:cNvPr id="3" name="Footer Placeholder 2">
            <a:extLst>
              <a:ext uri="{FF2B5EF4-FFF2-40B4-BE49-F238E27FC236}">
                <a16:creationId xmlns:a16="http://schemas.microsoft.com/office/drawing/2014/main" id="{3FE3C831-0DAD-6864-2622-BF2DD16B077C}"/>
              </a:ext>
            </a:extLst>
          </p:cNvPr>
          <p:cNvSpPr>
            <a:spLocks noGrp="1"/>
          </p:cNvSpPr>
          <p:nvPr>
            <p:ph type="ftr" sz="quarter" idx="11"/>
          </p:nvPr>
        </p:nvSpPr>
        <p:spPr/>
        <p:txBody>
          <a:bodyPr/>
          <a:lstStyle/>
          <a:p>
            <a:pPr>
              <a:defRPr/>
            </a:pPr>
            <a:r>
              <a:rPr lang="en-US"/>
              <a:t>Copyrighted by Arun Sen</a:t>
            </a:r>
          </a:p>
        </p:txBody>
      </p:sp>
      <p:sp>
        <p:nvSpPr>
          <p:cNvPr id="4" name="Slide Number Placeholder 3">
            <a:extLst>
              <a:ext uri="{FF2B5EF4-FFF2-40B4-BE49-F238E27FC236}">
                <a16:creationId xmlns:a16="http://schemas.microsoft.com/office/drawing/2014/main" id="{C28135A9-4593-10BA-470D-B86E6E4F981F}"/>
              </a:ext>
            </a:extLst>
          </p:cNvPr>
          <p:cNvSpPr>
            <a:spLocks noGrp="1"/>
          </p:cNvSpPr>
          <p:nvPr>
            <p:ph type="sldNum" sz="quarter" idx="12"/>
          </p:nvPr>
        </p:nvSpPr>
        <p:spPr/>
        <p:txBody>
          <a:bodyPr/>
          <a:lstStyle/>
          <a:p>
            <a:pPr>
              <a:defRPr/>
            </a:pPr>
            <a:fld id="{F848A455-4F30-4B10-B68C-A7C2652E0144}" type="slidenum">
              <a:rPr lang="en-US" altLang="en-US" smtClean="0"/>
              <a:pPr>
                <a:defRPr/>
              </a:pPr>
              <a:t>92</a:t>
            </a:fld>
            <a:endParaRPr lang="en-US" altLang="en-US"/>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18556</TotalTime>
  <Words>6903</Words>
  <Application>Microsoft Office PowerPoint</Application>
  <PresentationFormat>Widescreen</PresentationFormat>
  <Paragraphs>1177</Paragraphs>
  <Slides>92</Slides>
  <Notes>89</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107" baseType="lpstr">
      <vt:lpstr>Arena Black</vt:lpstr>
      <vt:lpstr>Arial</vt:lpstr>
      <vt:lpstr>Calibri</vt:lpstr>
      <vt:lpstr>Calibri Light</vt:lpstr>
      <vt:lpstr>Century Gothic</vt:lpstr>
      <vt:lpstr>Century Schoolbook</vt:lpstr>
      <vt:lpstr>Comic Sans MS</vt:lpstr>
      <vt:lpstr>Franklin Gothic Book</vt:lpstr>
      <vt:lpstr>Symbol</vt:lpstr>
      <vt:lpstr>Tahoma</vt:lpstr>
      <vt:lpstr>Times New Roman</vt:lpstr>
      <vt:lpstr>Wingdings</vt:lpstr>
      <vt:lpstr>Wingdings 2</vt:lpstr>
      <vt:lpstr>Retrospect</vt:lpstr>
      <vt:lpstr>Worksheet</vt:lpstr>
      <vt:lpstr>       Task 3a.  data base design in  Data Warehousing Process</vt:lpstr>
      <vt:lpstr>Following the Data Warehousing Process</vt:lpstr>
      <vt:lpstr>Data Design for Data Warehousing</vt:lpstr>
      <vt:lpstr>Data Design for Data Warehousing</vt:lpstr>
      <vt:lpstr>Data Design for Data Warehousing</vt:lpstr>
      <vt:lpstr> I.  ERD (conceptual) &amp; Relational Schema (logical) – Targeted for EDW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II.  Dimensional model (conceptual+logical) and Star/Snowflake  Schema (logical) – Targeted for  Independent Data marts</vt:lpstr>
      <vt:lpstr>Following the Data Warehousing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Tasks in Data Warehousing Process</dc:title>
  <dc:creator>Sen, Arun</dc:creator>
  <cp:lastModifiedBy>Arun Sen</cp:lastModifiedBy>
  <cp:revision>193</cp:revision>
  <dcterms:created xsi:type="dcterms:W3CDTF">2021-06-01T20:42:09Z</dcterms:created>
  <dcterms:modified xsi:type="dcterms:W3CDTF">2025-10-01T00:23:22Z</dcterms:modified>
</cp:coreProperties>
</file>