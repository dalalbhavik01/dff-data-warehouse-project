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1" r:id="rId1"/>
  </p:sldMasterIdLst>
  <p:notesMasterIdLst>
    <p:notesMasterId r:id="rId34"/>
  </p:notesMasterIdLst>
  <p:handoutMasterIdLst>
    <p:handoutMasterId r:id="rId35"/>
  </p:handoutMasterIdLst>
  <p:sldIdLst>
    <p:sldId id="256" r:id="rId2"/>
    <p:sldId id="519" r:id="rId3"/>
    <p:sldId id="524" r:id="rId4"/>
    <p:sldId id="491" r:id="rId5"/>
    <p:sldId id="493" r:id="rId6"/>
    <p:sldId id="494" r:id="rId7"/>
    <p:sldId id="489" r:id="rId8"/>
    <p:sldId id="495" r:id="rId9"/>
    <p:sldId id="531" r:id="rId10"/>
    <p:sldId id="523" r:id="rId11"/>
    <p:sldId id="521" r:id="rId12"/>
    <p:sldId id="501" r:id="rId13"/>
    <p:sldId id="525" r:id="rId14"/>
    <p:sldId id="500" r:id="rId15"/>
    <p:sldId id="445" r:id="rId16"/>
    <p:sldId id="508" r:id="rId17"/>
    <p:sldId id="513" r:id="rId18"/>
    <p:sldId id="515" r:id="rId19"/>
    <p:sldId id="509" r:id="rId20"/>
    <p:sldId id="518" r:id="rId21"/>
    <p:sldId id="510" r:id="rId22"/>
    <p:sldId id="516" r:id="rId23"/>
    <p:sldId id="517" r:id="rId24"/>
    <p:sldId id="511" r:id="rId25"/>
    <p:sldId id="274" r:id="rId26"/>
    <p:sldId id="496" r:id="rId27"/>
    <p:sldId id="490" r:id="rId28"/>
    <p:sldId id="505" r:id="rId29"/>
    <p:sldId id="497" r:id="rId30"/>
    <p:sldId id="528" r:id="rId31"/>
    <p:sldId id="526" r:id="rId32"/>
    <p:sldId id="52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-se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20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C93F7C-9321-4EE7-9207-1360FA6988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5E8CE-2FF7-4DB5-ACCD-31F9B146FE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6/1/2021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0C2E8-8FC1-4081-9B10-60593EB27B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F13FB-0351-4C97-B399-34DF69722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4CABC-5F2D-4D27-8A5D-09800E473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092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6/1/2021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D520-69ED-4815-A760-D3BDB7B68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5345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021BD2D6-214C-B148-1629-F1CD315E4E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5E8C487A-D513-2DD6-BB95-98A92DC7DF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158CE7A5-F660-B477-E283-9AFFBC34B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5CDD659-E5C0-49F4-B0FC-B5E555C6A9C2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1B8772A-1560-A337-68BB-3C03F4914F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8B64ADEB-98DA-5A3C-1D5D-EF72E2FAE4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D0B7E85A-ABA4-3A2F-9F2E-692383141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0ADDC12-721E-4613-B957-CD1593E3A211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0C49553B-1EF0-10C2-A57A-2FA243ACD3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EEB20CF-8114-7880-C093-6E92B95D9F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AC0B8112-226D-069D-6771-BDF8D8ACF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E0FBBB-749B-48FB-A675-4C9F9B907EB8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B558259A-31C4-FF73-63A6-63A5E6AFEA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87F64334-7C23-ABC8-282A-EC3732FAB1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6F228324-7AA1-47E7-B7EC-40B87874A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F8A3C5E-1C4B-4568-956C-33937190AAF3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57414D0C-31E2-A44F-E935-BFB3CF2252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0D66EFFB-D077-5B91-A8D8-CEB9B0A539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009F11FB-4968-A5D1-B658-2B08558D7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5FEFB3-8093-4BB0-90FD-950679172111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16DF5786-8CF3-40EB-DA18-DD2D7C8EC0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ECFDFC9F-CE7B-9033-2DEF-B5ADFF7E29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009A9152-428E-DF6F-431F-9905B0CEE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97979AC-D470-4DE9-9215-E581379E6B2A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65FA88DD-4795-9484-1647-7B89A61B0B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D32CCEDF-7EC6-A40B-FC45-6B98247E0C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C4966F2D-AA72-2367-FE96-A1B725582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7985A6D-53DD-46FF-9F75-EB6E7EA6D828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8DF695A1-0D33-913F-085A-DA0406CAD4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6E29A25B-0817-2689-5148-95872D1C34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B52B98CC-3CD5-63F1-13B8-BD043CC4E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DBAE02-2389-424E-99DC-2BE1C6EAB5AD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8F7B60BE-51C0-9593-C617-984C09987F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4D472E55-363A-CE86-1D22-6AC9F400E8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1464C79D-1F16-26EC-06A5-E37584D4B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B8D3B3-5A4C-4833-B9B5-B514E72C2931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6747568F-F003-7CCA-9116-3EC8310DA7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4C86DEB9-F4CD-B30D-5521-926F2CFEAB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BEBBADD9-CAD7-58C2-F8FB-94D2AAF9D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034479-E38E-4FE7-954E-37D561D3172C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41B13F57-FA3C-BF16-84D5-D59F9F4C9F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6248DB96-1E24-7691-B190-7134467E8D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0761805E-CB79-D0E4-C412-BEC3DEC86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45F487F-9BCF-4E6C-BED3-09E17632E0D7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028A0B97-DF9C-B5A0-334B-3A6F940034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4A5928D6-5081-24F4-198F-992CC01BE8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62B876D8-E622-8153-715E-5A0A20DDC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621C0CE-53CE-4118-8C7B-C56B9577A93A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EF9D7378-16AF-3204-2F10-E9C1A3828F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FB50D3DD-E320-8A4F-0CAB-E05BC726EA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232730C7-3403-6D6D-EB38-AF055C5CA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D28B7CF-E474-4E8E-822B-7D3723C63B20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2120B7A7-6AA1-7D55-1DC6-72729EA2AA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97CC508A-E70F-F67E-C247-075A5C30F9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C3382FDD-DB04-1516-2150-6603018C2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EFA0A1-964E-49FC-B354-47A82273AF82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102AC761-A970-0BE2-023D-53C70FDCD9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59D391AD-BF91-8ECB-8914-5AEEEE5D1C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FAF6949A-A39D-124B-0AE7-80F39FBD7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815C7BD-BF1A-4DBA-AB3B-1AF1BDB0BC32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D4FBAA45-8BA1-7A7B-44DF-3EC1AACA07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DDC9181A-8CE7-1E8E-7775-FEC204681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1044F203-94C7-E61A-06FE-F08F26C4E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5F7864A-6AC5-4EF8-A0E8-7B9267977DCC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43583851-4EF1-1AD0-7609-C2F304CE74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E692FB27-B005-FCD6-CCED-C840224CA2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1A2195E2-1F37-6871-4750-8CFA583FC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8AE44A-03DA-47E2-A19D-CC675260D2A2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B56966FC-40CC-9B35-E192-86B0AA06F6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43A82627-73DA-469A-731B-6994836B46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A24E65F5-DAC8-8261-36E4-712EA1262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805401-127A-47A6-B613-52351D291684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8045D03A-91C3-ACAE-C6F9-37AA2CED91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E6FA958C-440C-0865-27F6-7FF897A2FE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BF9E782D-E874-B72E-3288-7CFC4F6C5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F45D3C2-52E0-4385-AC22-6E5DDFE8D152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DB665064-FD60-06F4-EB50-930FC41EFA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643FDB10-A8FA-E89D-201E-C03E96CA95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236743D7-7698-B774-C1F4-E5A088CD9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4217719-0338-4DEB-8470-A0E849F9F3FE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1EBE8B76-BF8D-C3B2-832D-D011348CB4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10B6D838-9AFF-B35C-7969-A988EFABAB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04DBF2FA-669C-4425-886E-E51B048ED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E38EFD2-5612-4625-B9BF-4D47C68D7BDB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3E7C7401-436E-287B-E9B3-AE72F2C730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66162FE0-C54B-BC07-1374-66FA1908E0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5A15991C-EF0D-914B-A751-B45CA5450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C82F043-CA08-499C-AFF3-13ECE2AE1350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2118E0DE-C40B-664B-560A-A732679233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48605DED-8EF7-8396-FF4A-4184DAF8B8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87FFC15B-5B5E-94BF-82D4-56FD8BD80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FFEA030-B8D3-416E-B65B-2BD69DAD9E7A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A9158E5D-F6A5-8829-FF11-1F3225A1C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CF787E9D-5515-5A1E-D937-3BE4C11EAA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5C5B51C4-ABC8-E4B7-71FE-48411649B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088405A-48CF-4FCB-AD0F-86609BD64EE8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348ED38A-5B7E-250B-D572-E2DDDDB370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96D2287D-E9F5-25A7-311A-CC06F5BD64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5DF7A59C-6CB4-7E88-D11B-C614BD307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57AFEA-7CA5-4429-A77C-3FB03695D3B6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C8222C1F-0504-45B9-221E-BA324F752F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F2C4B37F-D14F-CEF5-D910-05120B66A0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15B90B77-75DF-EF67-E130-E6FD61B9A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8C4F98F-335F-4189-A57A-74D1F2D06768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587274E0-47CA-C9F2-AFDD-65947674F9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7CB6229F-933E-AE22-2F13-E98A499872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230DA93D-5A25-1B33-8621-44AC32D13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03E7DD-DBF7-4B17-B652-821DBC31F3BA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A150CD51-4264-09D2-2AEC-DDD6C780E5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696D0DE1-177F-4BA3-C430-012FDFAE04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E90E25B9-AB48-5238-B0CE-654370571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56FD428-2AC3-4320-9E59-C55768D67265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157D2DD5-4E20-F8E1-2333-625A97B53C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8D4BFE21-776A-15F5-0AB0-A3A3ED74C0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A7CA3EE0-5F3A-9EAE-0F3F-74B05A179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99D0031-6562-44E0-BAEC-E32416B1E5E2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0ED4B1DB-DC7D-7C19-858F-00D1640208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6EE306F3-2582-A10F-CFB6-F805F8202E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87C328F1-46F1-98D5-0363-2153E3BC1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14FC098-AEB1-409A-88CE-049ACB69B4B9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3EB80BE2-BF41-ADD2-8485-B7F2CB0B8B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F6E0B5D4-E8C8-5F63-0F76-5CCFE9BE2C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B0986306-B547-DCB2-5F57-8096ECEA4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B2DA7B-FC87-4C83-A2D6-EB3D52D1257D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B6D28-855F-4CC9-90CF-D0A23A9F5A26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48167-EABB-4F71-A5F4-B6C0CBE3286B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C33D-5FDF-4762-B884-91BBDF7612A7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78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49A3-261B-4A07-B2E5-3E00BF62D5B5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08879-58B5-44A3-B8A8-1585E849F5B8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6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A4AF1-E863-4AB0-9B79-06F0BAD18F0B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86CC9-8AA8-4F39-90D9-D6057ECEB996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30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76991D-A247-4C83-986A-CF40A5FCBED3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17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248A-C761-4FF5-91DC-A3DCBBAB1EEF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502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F5B6-FE5A-4AD7-9FFD-3AF68A7BF427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1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E020-1AB3-4D9C-A987-E07AD6F2952A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51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0C963A-8511-4001-A896-EF2194045358}" type="datetime1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59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EF099-15AF-4169-A285-740CE3D29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Task 3b. Physical Design of Data Warehouse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B8327-E815-4464-8B4C-278C0CC0F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Arun Sen</a:t>
            </a:r>
          </a:p>
          <a:p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Department of Information &amp; Operations Mgmt.</a:t>
            </a:r>
          </a:p>
          <a:p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Mays Business School</a:t>
            </a:r>
          </a:p>
          <a:p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Texas A&amp;M University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0019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BC9745C-7C8A-B158-A425-C10C4C677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096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Different Design Fundamentals</a:t>
            </a:r>
          </a:p>
        </p:txBody>
      </p:sp>
      <p:sp>
        <p:nvSpPr>
          <p:cNvPr id="9219" name="Footer Placeholder 1">
            <a:extLst>
              <a:ext uri="{FF2B5EF4-FFF2-40B4-BE49-F238E27FC236}">
                <a16:creationId xmlns:a16="http://schemas.microsoft.com/office/drawing/2014/main" id="{E6FF2B7D-CF5F-C5A8-C5E2-4C5668AC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9220" name="Slide Number Placeholder 2">
            <a:extLst>
              <a:ext uri="{FF2B5EF4-FFF2-40B4-BE49-F238E27FC236}">
                <a16:creationId xmlns:a16="http://schemas.microsoft.com/office/drawing/2014/main" id="{DC3429CD-1469-850C-670F-1943DE7A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51B129F-104F-4B06-BFE7-445C685CC791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21" name="Text Box 3">
            <a:extLst>
              <a:ext uri="{FF2B5EF4-FFF2-40B4-BE49-F238E27FC236}">
                <a16:creationId xmlns:a16="http://schemas.microsoft.com/office/drawing/2014/main" id="{2F3FCBF0-D871-09B8-7B96-26E1C5D13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800227"/>
            <a:ext cx="8362544" cy="13849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A.  What have we done so far in the Design?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Conceptual Design (use ERD or Dimensional Modeling) on paper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Logical Design (Translates to a RDBMS ) 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9222" name="Line 4">
            <a:extLst>
              <a:ext uri="{FF2B5EF4-FFF2-40B4-BE49-F238E27FC236}">
                <a16:creationId xmlns:a16="http://schemas.microsoft.com/office/drawing/2014/main" id="{C67E0A59-4C7B-96AC-D053-8F4194D7A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4230" y="3185222"/>
            <a:ext cx="12970" cy="153917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AutoShape 8">
            <a:extLst>
              <a:ext uri="{FF2B5EF4-FFF2-40B4-BE49-F238E27FC236}">
                <a16:creationId xmlns:a16="http://schemas.microsoft.com/office/drawing/2014/main" id="{973C153E-53B7-5E28-5C0F-BF798AC84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189" y="3523188"/>
            <a:ext cx="5269960" cy="2286000"/>
          </a:xfrm>
          <a:prstGeom prst="wedgeRectCallout">
            <a:avLst>
              <a:gd name="adj1" fmla="val 67120"/>
              <a:gd name="adj2" fmla="val 134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224" name="Rectangle 6">
            <a:extLst>
              <a:ext uri="{FF2B5EF4-FFF2-40B4-BE49-F238E27FC236}">
                <a16:creationId xmlns:a16="http://schemas.microsoft.com/office/drawing/2014/main" id="{A4B2674D-5202-E76B-F4A9-EB570C765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689" y="4204484"/>
            <a:ext cx="537291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</a:rPr>
              <a:t> Physical Model – </a:t>
            </a:r>
            <a:r>
              <a:rPr lang="en-US" altLang="en-US" sz="1600" dirty="0">
                <a:latin typeface="Times New Roman" panose="02020603050405020304" pitchFamily="18" charset="0"/>
              </a:rPr>
              <a:t>adding physical characteristics like indexing style, etc.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</a:rPr>
              <a:t>  </a:t>
            </a:r>
            <a:r>
              <a:rPr lang="en-US" altLang="en-US" sz="1600" b="1" dirty="0">
                <a:latin typeface="Times New Roman" panose="02020603050405020304" pitchFamily="18" charset="0"/>
              </a:rPr>
              <a:t>Implementation model --</a:t>
            </a:r>
            <a:r>
              <a:rPr lang="en-US" altLang="en-US" sz="1600" dirty="0">
                <a:latin typeface="Times New Roman" panose="02020603050405020304" pitchFamily="18" charset="0"/>
              </a:rPr>
              <a:t>  use of SQL Server specifics</a:t>
            </a:r>
          </a:p>
        </p:txBody>
      </p:sp>
      <p:sp>
        <p:nvSpPr>
          <p:cNvPr id="9225" name="Text Box 7">
            <a:extLst>
              <a:ext uri="{FF2B5EF4-FFF2-40B4-BE49-F238E27FC236}">
                <a16:creationId xmlns:a16="http://schemas.microsoft.com/office/drawing/2014/main" id="{CD9F324F-7B36-9D50-5375-B06E7D1E1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4724401"/>
            <a:ext cx="2895600" cy="1252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chemeClr val="accent2"/>
                </a:solidFill>
                <a:latin typeface="Tahoma" panose="020B0604030504040204" pitchFamily="34" charset="0"/>
              </a:rPr>
              <a:t>Physical Design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b="1" dirty="0">
                <a:latin typeface="Times New Roman" panose="02020603050405020304" pitchFamily="18" charset="0"/>
              </a:rPr>
              <a:t>It is a way for understanding the data requirements within a given context or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69DE132-1454-3AB2-8F3C-E292B3AE1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85800"/>
          </a:xfrm>
        </p:spPr>
        <p:txBody>
          <a:bodyPr/>
          <a:lstStyle/>
          <a:p>
            <a:pPr algn="ctr"/>
            <a:r>
              <a:rPr lang="en-US" altLang="en-US" sz="2400" b="1">
                <a:solidFill>
                  <a:srgbClr val="C00000"/>
                </a:solidFill>
                <a:latin typeface="Tahoma" panose="020B0604030504040204" pitchFamily="34" charset="0"/>
              </a:rPr>
              <a:t>LOGICAL DESIGN FUNDAMENTALS</a:t>
            </a:r>
          </a:p>
        </p:txBody>
      </p:sp>
      <p:pic>
        <p:nvPicPr>
          <p:cNvPr id="11267" name="Picture 30">
            <a:extLst>
              <a:ext uri="{FF2B5EF4-FFF2-40B4-BE49-F238E27FC236}">
                <a16:creationId xmlns:a16="http://schemas.microsoft.com/office/drawing/2014/main" id="{D9266881-6FC0-5AC3-84D3-DD797807F3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1600201"/>
            <a:ext cx="5915025" cy="4765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8" name="Footer Placeholder 1">
            <a:extLst>
              <a:ext uri="{FF2B5EF4-FFF2-40B4-BE49-F238E27FC236}">
                <a16:creationId xmlns:a16="http://schemas.microsoft.com/office/drawing/2014/main" id="{26336400-D648-8A91-0C11-DF53F4B4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11269" name="Slide Number Placeholder 2">
            <a:extLst>
              <a:ext uri="{FF2B5EF4-FFF2-40B4-BE49-F238E27FC236}">
                <a16:creationId xmlns:a16="http://schemas.microsoft.com/office/drawing/2014/main" id="{DA6AB648-C5B3-312C-934C-80F4EC7D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7F05396-99D0-4EC7-97DD-B63D31D28AD7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270" name="Text Box 29">
            <a:extLst>
              <a:ext uri="{FF2B5EF4-FFF2-40B4-BE49-F238E27FC236}">
                <a16:creationId xmlns:a16="http://schemas.microsoft.com/office/drawing/2014/main" id="{BFE91923-BD69-3C89-665B-440A874DC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2209800"/>
            <a:ext cx="2057400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 b="1">
                <a:solidFill>
                  <a:schemeClr val="accent2"/>
                </a:solidFill>
                <a:latin typeface="Tahoma" panose="020B0604030504040204" pitchFamily="34" charset="0"/>
              </a:rPr>
              <a:t>Logical Design (ERD)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400" b="1">
                <a:latin typeface="Times New Roman" panose="02020603050405020304" pitchFamily="18" charset="0"/>
              </a:rPr>
              <a:t>It is a way to understand the overall data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4622072-0807-9F99-3DC5-5C9197952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096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</a:t>
            </a:r>
          </a:p>
        </p:txBody>
      </p:sp>
      <p:sp>
        <p:nvSpPr>
          <p:cNvPr id="13315" name="Footer Placeholder 1">
            <a:extLst>
              <a:ext uri="{FF2B5EF4-FFF2-40B4-BE49-F238E27FC236}">
                <a16:creationId xmlns:a16="http://schemas.microsoft.com/office/drawing/2014/main" id="{CCB91CD7-B799-CC69-8CD1-0A3A34FF2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13316" name="Slide Number Placeholder 2">
            <a:extLst>
              <a:ext uri="{FF2B5EF4-FFF2-40B4-BE49-F238E27FC236}">
                <a16:creationId xmlns:a16="http://schemas.microsoft.com/office/drawing/2014/main" id="{9DF2F6A9-AE8D-2F84-B9D2-ABDEFA4E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1550A09-16E2-441E-BF09-DE183CCA3CFA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Text Box 3">
            <a:extLst>
              <a:ext uri="{FF2B5EF4-FFF2-40B4-BE49-F238E27FC236}">
                <a16:creationId xmlns:a16="http://schemas.microsoft.com/office/drawing/2014/main" id="{1024902A-F414-D967-592C-701BC8697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860177"/>
            <a:ext cx="79248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indent="-182563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B.  What is a Physical Design?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The physical design transforms the logical design to a particular OS, a DBMS, a hardware and a platform.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The major objectives of the physical design are: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	</a:t>
            </a:r>
            <a:r>
              <a:rPr lang="en-US" altLang="en-US" dirty="0">
                <a:latin typeface="Times New Roman" panose="02020603050405020304" pitchFamily="18" charset="0"/>
              </a:rPr>
              <a:t>1.  </a:t>
            </a: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Improve Performance</a:t>
            </a:r>
          </a:p>
          <a:p>
            <a:pPr lvl="3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Response in OLTP is &lt; 3 secs, while in OLAP is less stringent</a:t>
            </a:r>
          </a:p>
          <a:p>
            <a:pPr lvl="3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Response still should be very quick even if we are processing a very large volume of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01F7A21-9E0F-B66B-48F8-4CA47006C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858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</a:p>
        </p:txBody>
      </p:sp>
      <p:sp>
        <p:nvSpPr>
          <p:cNvPr id="15363" name="Footer Placeholder 1">
            <a:extLst>
              <a:ext uri="{FF2B5EF4-FFF2-40B4-BE49-F238E27FC236}">
                <a16:creationId xmlns:a16="http://schemas.microsoft.com/office/drawing/2014/main" id="{AD2F7B55-79F2-C5D1-6630-033012A9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15364" name="Slide Number Placeholder 2">
            <a:extLst>
              <a:ext uri="{FF2B5EF4-FFF2-40B4-BE49-F238E27FC236}">
                <a16:creationId xmlns:a16="http://schemas.microsoft.com/office/drawing/2014/main" id="{A29F200D-A231-567C-8941-4E0AAA9C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3AA6F1-1737-4C5B-A644-A3465C03FF76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65" name="Text Box 3">
            <a:extLst>
              <a:ext uri="{FF2B5EF4-FFF2-40B4-BE49-F238E27FC236}">
                <a16:creationId xmlns:a16="http://schemas.microsoft.com/office/drawing/2014/main" id="{1ECCE80A-F8D6-DADC-67B0-1A681FDDF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635" y="1889918"/>
            <a:ext cx="822960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B.  What is a Physical Design?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2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2.    Ensure Scalability</a:t>
            </a:r>
          </a:p>
          <a:p>
            <a:pPr lvl="3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 Usage increases over time</a:t>
            </a:r>
          </a:p>
          <a:p>
            <a:pPr lvl="3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 Usage increases due to number of users increases and number 	of concurrent users increase</a:t>
            </a:r>
          </a:p>
          <a:p>
            <a:pPr lvl="2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3.  Manage Storage</a:t>
            </a:r>
          </a:p>
          <a:p>
            <a:pPr lvl="3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Proper management of stored data will boost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D50BBC0-F30B-77FF-3817-8745E2C0F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096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</a:p>
        </p:txBody>
      </p:sp>
      <p:sp>
        <p:nvSpPr>
          <p:cNvPr id="17411" name="Footer Placeholder 1">
            <a:extLst>
              <a:ext uri="{FF2B5EF4-FFF2-40B4-BE49-F238E27FC236}">
                <a16:creationId xmlns:a16="http://schemas.microsoft.com/office/drawing/2014/main" id="{91961427-5512-CFD7-B020-B9265970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17412" name="Slide Number Placeholder 2">
            <a:extLst>
              <a:ext uri="{FF2B5EF4-FFF2-40B4-BE49-F238E27FC236}">
                <a16:creationId xmlns:a16="http://schemas.microsoft.com/office/drawing/2014/main" id="{5AD53CAE-598C-9C46-99AE-F3350852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681FEC-C405-446D-A05C-97F33614A75A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3" name="Text Box 3">
            <a:extLst>
              <a:ext uri="{FF2B5EF4-FFF2-40B4-BE49-F238E27FC236}">
                <a16:creationId xmlns:a16="http://schemas.microsoft.com/office/drawing/2014/main" id="{A397F476-891C-0379-EE70-47E180895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1878106"/>
            <a:ext cx="8077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B.  What is a Physical Design?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2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4.  Provide Ease of Administration</a:t>
            </a:r>
          </a:p>
          <a:p>
            <a:pPr lvl="3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Methods for proper arrangement of table rows in storage so 	that frequent reorganization is avoided.</a:t>
            </a:r>
          </a:p>
          <a:p>
            <a:pPr lvl="3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Back up and recovery of database tables</a:t>
            </a:r>
          </a:p>
          <a:p>
            <a:pPr lvl="2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5.   Design for Flexibility</a:t>
            </a:r>
          </a:p>
          <a:p>
            <a:pPr lvl="3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Keep the design open so that the changes to the physical 	model is achieved.</a:t>
            </a:r>
          </a:p>
          <a:p>
            <a:pPr lvl="3" eaLnBrk="1" hangingPunct="1">
              <a:spcBef>
                <a:spcPct val="50000"/>
              </a:spcBef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72AF79B-BCF3-A1BC-86F5-E9891AC8FD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096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</a:p>
        </p:txBody>
      </p:sp>
      <p:sp>
        <p:nvSpPr>
          <p:cNvPr id="19459" name="Footer Placeholder 1">
            <a:extLst>
              <a:ext uri="{FF2B5EF4-FFF2-40B4-BE49-F238E27FC236}">
                <a16:creationId xmlns:a16="http://schemas.microsoft.com/office/drawing/2014/main" id="{D43AD7F3-7444-A945-BAEE-519AEED5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19460" name="Slide Number Placeholder 2">
            <a:extLst>
              <a:ext uri="{FF2B5EF4-FFF2-40B4-BE49-F238E27FC236}">
                <a16:creationId xmlns:a16="http://schemas.microsoft.com/office/drawing/2014/main" id="{F1C53EA4-50BB-EE23-2C41-2BAE157E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B0A306C-7DF0-4892-9CC1-2EB2C7D89EA4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9461" name="Text Box 3">
            <a:extLst>
              <a:ext uri="{FF2B5EF4-FFF2-40B4-BE49-F238E27FC236}">
                <a16:creationId xmlns:a16="http://schemas.microsoft.com/office/drawing/2014/main" id="{E6DB4C3B-5AEA-28D7-0BDB-130047543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1788459"/>
            <a:ext cx="8001000" cy="446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 1.	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Develop standards</a:t>
            </a:r>
          </a:p>
          <a:p>
            <a:pPr lvl="3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Standards ensure consistency across various areas</a:t>
            </a:r>
          </a:p>
          <a:p>
            <a:pPr lvl="3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It is very important in the data warehouse world as users can be from other disciplines</a:t>
            </a:r>
          </a:p>
          <a:p>
            <a:pPr lvl="3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Naming of Database Objects -- a clear method must be present for composing names of the data warehouse objects.</a:t>
            </a:r>
          </a:p>
          <a:p>
            <a:pPr lvl="3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Naming of the files and tables in the staging area</a:t>
            </a:r>
          </a:p>
          <a:p>
            <a:pPr lvl="3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Standards for physical files -- source code files, database files and application documents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AB98944-1A1F-5216-085E-12F1FDBB68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858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21507" name="Footer Placeholder 1">
            <a:extLst>
              <a:ext uri="{FF2B5EF4-FFF2-40B4-BE49-F238E27FC236}">
                <a16:creationId xmlns:a16="http://schemas.microsoft.com/office/drawing/2014/main" id="{9CD78FC1-96D3-5586-F248-2D186EDF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21508" name="Slide Number Placeholder 2">
            <a:extLst>
              <a:ext uri="{FF2B5EF4-FFF2-40B4-BE49-F238E27FC236}">
                <a16:creationId xmlns:a16="http://schemas.microsoft.com/office/drawing/2014/main" id="{913EAB07-A41F-29D1-15CC-88FF5607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B2ADD6-5054-4DE9-8459-838CA38F2B2F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1509" name="Text Box 3">
            <a:extLst>
              <a:ext uri="{FF2B5EF4-FFF2-40B4-BE49-F238E27FC236}">
                <a16:creationId xmlns:a16="http://schemas.microsoft.com/office/drawing/2014/main" id="{1D966818-E5D9-C934-C72F-69078C612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706" y="1954307"/>
            <a:ext cx="777240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  2.	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Create Aggregate Plan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Worry about the summary tables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If you have data stored in the lowest level of granularity, accessing summery data can involve lot of calculations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How many summary tables need to be created?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Need a comprehensive plan for aggregation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3A72B4C-4711-C27D-1E8E-327318DBD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1"/>
            <a:ext cx="7200900" cy="544513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</a:t>
            </a:r>
          </a:p>
        </p:txBody>
      </p:sp>
      <p:sp>
        <p:nvSpPr>
          <p:cNvPr id="23555" name="Footer Placeholder 1">
            <a:extLst>
              <a:ext uri="{FF2B5EF4-FFF2-40B4-BE49-F238E27FC236}">
                <a16:creationId xmlns:a16="http://schemas.microsoft.com/office/drawing/2014/main" id="{32B3F7FD-488F-713F-EE81-387ECFD80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23556" name="Slide Number Placeholder 2">
            <a:extLst>
              <a:ext uri="{FF2B5EF4-FFF2-40B4-BE49-F238E27FC236}">
                <a16:creationId xmlns:a16="http://schemas.microsoft.com/office/drawing/2014/main" id="{632C449B-4B71-F59C-A68C-E560949B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1D0E158-3498-4638-B2E8-DC0548D28EB1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Oval 6">
            <a:extLst>
              <a:ext uri="{FF2B5EF4-FFF2-40B4-BE49-F238E27FC236}">
                <a16:creationId xmlns:a16="http://schemas.microsoft.com/office/drawing/2014/main" id="{0BBB806D-915E-5CB5-A7BF-D4404DC58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057400"/>
            <a:ext cx="2514600" cy="2286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3558" name="Text Box 7">
            <a:extLst>
              <a:ext uri="{FF2B5EF4-FFF2-40B4-BE49-F238E27FC236}">
                <a16:creationId xmlns:a16="http://schemas.microsoft.com/office/drawing/2014/main" id="{35D5DB01-2A9E-7C25-78BC-B4E34C968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325" y="1812394"/>
            <a:ext cx="7696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 3.	</a:t>
            </a:r>
            <a:r>
              <a:rPr lang="en-US" altLang="en-US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Denormalization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 of Logical Design (if needed)</a:t>
            </a:r>
            <a:endParaRPr lang="en-US" altLang="en-US" sz="2400" b="1" u="sng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3559" name="Group 146">
            <a:extLst>
              <a:ext uri="{FF2B5EF4-FFF2-40B4-BE49-F238E27FC236}">
                <a16:creationId xmlns:a16="http://schemas.microsoft.com/office/drawing/2014/main" id="{1DB39A6C-6EFF-393A-979B-F660E9F02CC0}"/>
              </a:ext>
            </a:extLst>
          </p:cNvPr>
          <p:cNvGrpSpPr>
            <a:grpSpLocks/>
          </p:cNvGrpSpPr>
          <p:nvPr/>
        </p:nvGrpSpPr>
        <p:grpSpPr bwMode="auto">
          <a:xfrm>
            <a:off x="3429001" y="2667000"/>
            <a:ext cx="5724525" cy="3779838"/>
            <a:chOff x="768" y="1287"/>
            <a:chExt cx="3794" cy="2726"/>
          </a:xfrm>
        </p:grpSpPr>
        <p:sp>
          <p:nvSpPr>
            <p:cNvPr id="23561" name="Oval 5">
              <a:extLst>
                <a:ext uri="{FF2B5EF4-FFF2-40B4-BE49-F238E27FC236}">
                  <a16:creationId xmlns:a16="http://schemas.microsoft.com/office/drawing/2014/main" id="{320E721C-7F3F-A4C9-338E-1FCC34ABB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296"/>
              <a:ext cx="1872" cy="26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Arial" panose="020B0604020202020204" pitchFamily="34" charset="0"/>
              </a:endParaRPr>
            </a:p>
          </p:txBody>
        </p:sp>
        <p:grpSp>
          <p:nvGrpSpPr>
            <p:cNvPr id="23562" name="Group 145">
              <a:extLst>
                <a:ext uri="{FF2B5EF4-FFF2-40B4-BE49-F238E27FC236}">
                  <a16:creationId xmlns:a16="http://schemas.microsoft.com/office/drawing/2014/main" id="{9C1EF950-5904-ADAD-9642-CBB919EF3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6" y="1287"/>
              <a:ext cx="3376" cy="2726"/>
              <a:chOff x="1186" y="1287"/>
              <a:chExt cx="3376" cy="2726"/>
            </a:xfrm>
          </p:grpSpPr>
          <p:sp>
            <p:nvSpPr>
              <p:cNvPr id="23563" name="Rectangle 10">
                <a:extLst>
                  <a:ext uri="{FF2B5EF4-FFF2-40B4-BE49-F238E27FC236}">
                    <a16:creationId xmlns:a16="http://schemas.microsoft.com/office/drawing/2014/main" id="{18F9F92C-D4A8-048E-54AD-F123CDDB6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1461"/>
                <a:ext cx="788" cy="422"/>
              </a:xfrm>
              <a:prstGeom prst="rect">
                <a:avLst/>
              </a:prstGeom>
              <a:solidFill>
                <a:srgbClr val="FFFFCC"/>
              </a:solidFill>
              <a:ln w="0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64" name="Rectangle 11">
                <a:extLst>
                  <a:ext uri="{FF2B5EF4-FFF2-40B4-BE49-F238E27FC236}">
                    <a16:creationId xmlns:a16="http://schemas.microsoft.com/office/drawing/2014/main" id="{8B411475-9016-4BD7-A0B2-BFA668F31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8" y="1478"/>
                <a:ext cx="560" cy="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category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65" name="Rectangle 12">
                <a:extLst>
                  <a:ext uri="{FF2B5EF4-FFF2-40B4-BE49-F238E27FC236}">
                    <a16:creationId xmlns:a16="http://schemas.microsoft.com/office/drawing/2014/main" id="{49F75E1F-3A2E-5F5E-24A5-CF1FB6AF95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1579"/>
                <a:ext cx="788" cy="304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66" name="Rectangle 13">
                <a:extLst>
                  <a:ext uri="{FF2B5EF4-FFF2-40B4-BE49-F238E27FC236}">
                    <a16:creationId xmlns:a16="http://schemas.microsoft.com/office/drawing/2014/main" id="{2EC14087-1CD4-E259-FB5E-F29E25E12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1804"/>
                <a:ext cx="788" cy="79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567" name="Picture 14">
                <a:extLst>
                  <a:ext uri="{FF2B5EF4-FFF2-40B4-BE49-F238E27FC236}">
                    <a16:creationId xmlns:a16="http://schemas.microsoft.com/office/drawing/2014/main" id="{1B166292-60F2-B6E2-092D-07787530C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4" y="1590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68" name="Picture 15">
                <a:extLst>
                  <a:ext uri="{FF2B5EF4-FFF2-40B4-BE49-F238E27FC236}">
                    <a16:creationId xmlns:a16="http://schemas.microsoft.com/office/drawing/2014/main" id="{CA560D46-40F8-F230-1FC5-7070A0949C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4" y="1590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69" name="Picture 16">
                <a:extLst>
                  <a:ext uri="{FF2B5EF4-FFF2-40B4-BE49-F238E27FC236}">
                    <a16:creationId xmlns:a16="http://schemas.microsoft.com/office/drawing/2014/main" id="{D7B7EDB4-3383-7EC3-E810-73FB158A2E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4" y="1590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70" name="Rectangle 17">
                <a:extLst>
                  <a:ext uri="{FF2B5EF4-FFF2-40B4-BE49-F238E27FC236}">
                    <a16:creationId xmlns:a16="http://schemas.microsoft.com/office/drawing/2014/main" id="{CCE25BDC-CCEC-996F-5BDD-19A9D3CF0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6" y="1590"/>
                <a:ext cx="56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cat code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571" name="Picture 18">
                <a:extLst>
                  <a:ext uri="{FF2B5EF4-FFF2-40B4-BE49-F238E27FC236}">
                    <a16:creationId xmlns:a16="http://schemas.microsoft.com/office/drawing/2014/main" id="{422DA3AA-4B51-ABA5-61CC-8425B7D71F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4" y="1680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72" name="Picture 19">
                <a:extLst>
                  <a:ext uri="{FF2B5EF4-FFF2-40B4-BE49-F238E27FC236}">
                    <a16:creationId xmlns:a16="http://schemas.microsoft.com/office/drawing/2014/main" id="{5BBB7D05-F526-D410-7320-D9FB92CF20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4" y="1680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73" name="Picture 20">
                <a:extLst>
                  <a:ext uri="{FF2B5EF4-FFF2-40B4-BE49-F238E27FC236}">
                    <a16:creationId xmlns:a16="http://schemas.microsoft.com/office/drawing/2014/main" id="{F784AD94-E815-8132-8BEC-D0E2BA5ABA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4" y="1680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74" name="Rectangle 21">
                <a:extLst>
                  <a:ext uri="{FF2B5EF4-FFF2-40B4-BE49-F238E27FC236}">
                    <a16:creationId xmlns:a16="http://schemas.microsoft.com/office/drawing/2014/main" id="{1F80FCFC-78E0-7A10-D972-399350E95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6" y="1680"/>
                <a:ext cx="55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cat desc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75" name="Rectangle 22">
                <a:extLst>
                  <a:ext uri="{FF2B5EF4-FFF2-40B4-BE49-F238E27FC236}">
                    <a16:creationId xmlns:a16="http://schemas.microsoft.com/office/drawing/2014/main" id="{61BBB8AC-F6FE-C830-7013-94E4E2D59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293"/>
                <a:ext cx="1106" cy="422"/>
              </a:xfrm>
              <a:prstGeom prst="rect">
                <a:avLst/>
              </a:prstGeom>
              <a:solidFill>
                <a:srgbClr val="FFFFCC"/>
              </a:solidFill>
              <a:ln w="0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76" name="Rectangle 23">
                <a:extLst>
                  <a:ext uri="{FF2B5EF4-FFF2-40B4-BE49-F238E27FC236}">
                    <a16:creationId xmlns:a16="http://schemas.microsoft.com/office/drawing/2014/main" id="{0E2650DB-D3C1-BAC7-8F1C-138EC0064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7" y="2316"/>
                <a:ext cx="786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cat assignment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77" name="Rectangle 24">
                <a:extLst>
                  <a:ext uri="{FF2B5EF4-FFF2-40B4-BE49-F238E27FC236}">
                    <a16:creationId xmlns:a16="http://schemas.microsoft.com/office/drawing/2014/main" id="{6EE7C372-06D2-DDCE-0E4E-19BEBEE3D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411"/>
                <a:ext cx="1106" cy="304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78" name="Rectangle 25">
                <a:extLst>
                  <a:ext uri="{FF2B5EF4-FFF2-40B4-BE49-F238E27FC236}">
                    <a16:creationId xmlns:a16="http://schemas.microsoft.com/office/drawing/2014/main" id="{38A93F1F-F2F8-4504-1B5D-101769462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636"/>
                <a:ext cx="1106" cy="79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579" name="Picture 26">
                <a:extLst>
                  <a:ext uri="{FF2B5EF4-FFF2-40B4-BE49-F238E27FC236}">
                    <a16:creationId xmlns:a16="http://schemas.microsoft.com/office/drawing/2014/main" id="{435E3724-BBC8-98FB-28C9-24DC2CFB70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5" y="2423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80" name="Picture 27">
                <a:extLst>
                  <a:ext uri="{FF2B5EF4-FFF2-40B4-BE49-F238E27FC236}">
                    <a16:creationId xmlns:a16="http://schemas.microsoft.com/office/drawing/2014/main" id="{4887A260-B02E-E7A5-0391-5938CA43F9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5" y="2423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81" name="Picture 28">
                <a:extLst>
                  <a:ext uri="{FF2B5EF4-FFF2-40B4-BE49-F238E27FC236}">
                    <a16:creationId xmlns:a16="http://schemas.microsoft.com/office/drawing/2014/main" id="{2F5FA24F-A603-C601-7822-648A607BB1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5" y="2423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82" name="Rectangle 29">
                <a:extLst>
                  <a:ext uri="{FF2B5EF4-FFF2-40B4-BE49-F238E27FC236}">
                    <a16:creationId xmlns:a16="http://schemas.microsoft.com/office/drawing/2014/main" id="{34533BE9-873E-F5EE-0DEA-F883B5E11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7" y="2423"/>
                <a:ext cx="56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cat code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583" name="Picture 30">
                <a:extLst>
                  <a:ext uri="{FF2B5EF4-FFF2-40B4-BE49-F238E27FC236}">
                    <a16:creationId xmlns:a16="http://schemas.microsoft.com/office/drawing/2014/main" id="{1A20754C-6DB1-3DC3-70A3-FD2A824BD2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5" y="2512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84" name="Picture 31">
                <a:extLst>
                  <a:ext uri="{FF2B5EF4-FFF2-40B4-BE49-F238E27FC236}">
                    <a16:creationId xmlns:a16="http://schemas.microsoft.com/office/drawing/2014/main" id="{2C2257D6-9C10-6DC7-D212-1B47FEF940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5" y="2512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85" name="Picture 32">
                <a:extLst>
                  <a:ext uri="{FF2B5EF4-FFF2-40B4-BE49-F238E27FC236}">
                    <a16:creationId xmlns:a16="http://schemas.microsoft.com/office/drawing/2014/main" id="{25B2E722-F1E3-0E11-F2AB-22E8D97E59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5" y="2512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86" name="Rectangle 33">
                <a:extLst>
                  <a:ext uri="{FF2B5EF4-FFF2-40B4-BE49-F238E27FC236}">
                    <a16:creationId xmlns:a16="http://schemas.microsoft.com/office/drawing/2014/main" id="{1B6B5FBC-AE4A-A081-36B4-15FB39EBBB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7" y="2512"/>
                <a:ext cx="43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code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87" name="Line 34">
                <a:extLst>
                  <a:ext uri="{FF2B5EF4-FFF2-40B4-BE49-F238E27FC236}">
                    <a16:creationId xmlns:a16="http://schemas.microsoft.com/office/drawing/2014/main" id="{4AD66E50-E385-1D80-2965-B8D2B2C7D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9" y="1883"/>
                <a:ext cx="1" cy="410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8" name="Line 35">
                <a:extLst>
                  <a:ext uri="{FF2B5EF4-FFF2-40B4-BE49-F238E27FC236}">
                    <a16:creationId xmlns:a16="http://schemas.microsoft.com/office/drawing/2014/main" id="{685B103A-9F2E-3AEC-E964-2BACF9608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9" y="2226"/>
                <a:ext cx="32" cy="67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9" name="Line 36">
                <a:extLst>
                  <a:ext uri="{FF2B5EF4-FFF2-40B4-BE49-F238E27FC236}">
                    <a16:creationId xmlns:a16="http://schemas.microsoft.com/office/drawing/2014/main" id="{CBE0331C-805F-BCBC-BA62-C34A84BB2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07" y="2226"/>
                <a:ext cx="32" cy="67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0" name="Rectangle 37">
                <a:extLst>
                  <a:ext uri="{FF2B5EF4-FFF2-40B4-BE49-F238E27FC236}">
                    <a16:creationId xmlns:a16="http://schemas.microsoft.com/office/drawing/2014/main" id="{38D54D16-8876-1619-FAC9-F0E39DF7C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6" y="1877"/>
                <a:ext cx="12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1..1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91" name="Rectangle 38">
                <a:extLst>
                  <a:ext uri="{FF2B5EF4-FFF2-40B4-BE49-F238E27FC236}">
                    <a16:creationId xmlns:a16="http://schemas.microsoft.com/office/drawing/2014/main" id="{7A452161-AD2F-0E38-E8D1-8ADB3BBA9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6" y="2203"/>
                <a:ext cx="12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0..n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92" name="Rectangle 39">
                <a:extLst>
                  <a:ext uri="{FF2B5EF4-FFF2-40B4-BE49-F238E27FC236}">
                    <a16:creationId xmlns:a16="http://schemas.microsoft.com/office/drawing/2014/main" id="{5FA51C0C-BE2D-1CF0-BE1D-01B26267E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1" y="3210"/>
                <a:ext cx="916" cy="601"/>
              </a:xfrm>
              <a:prstGeom prst="rect">
                <a:avLst/>
              </a:prstGeom>
              <a:solidFill>
                <a:srgbClr val="FFFFCC"/>
              </a:solidFill>
              <a:ln w="0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93" name="Rectangle 40">
                <a:extLst>
                  <a:ext uri="{FF2B5EF4-FFF2-40B4-BE49-F238E27FC236}">
                    <a16:creationId xmlns:a16="http://schemas.microsoft.com/office/drawing/2014/main" id="{32FA8ADD-94F8-01A8-C4E1-404840F8E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3" y="3232"/>
                <a:ext cx="261" cy="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94" name="Rectangle 41">
                <a:extLst>
                  <a:ext uri="{FF2B5EF4-FFF2-40B4-BE49-F238E27FC236}">
                    <a16:creationId xmlns:a16="http://schemas.microsoft.com/office/drawing/2014/main" id="{9119A676-466F-2E7E-7E32-6A57171E2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1" y="3328"/>
                <a:ext cx="916" cy="483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595" name="Rectangle 42">
                <a:extLst>
                  <a:ext uri="{FF2B5EF4-FFF2-40B4-BE49-F238E27FC236}">
                    <a16:creationId xmlns:a16="http://schemas.microsoft.com/office/drawing/2014/main" id="{A76BDDF9-0E82-D872-F0C0-2EEBB38CF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1" y="3732"/>
                <a:ext cx="916" cy="79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596" name="Picture 43">
                <a:extLst>
                  <a:ext uri="{FF2B5EF4-FFF2-40B4-BE49-F238E27FC236}">
                    <a16:creationId xmlns:a16="http://schemas.microsoft.com/office/drawing/2014/main" id="{C843C70C-5B77-9EB5-9068-A74942B301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33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97" name="Picture 44">
                <a:extLst>
                  <a:ext uri="{FF2B5EF4-FFF2-40B4-BE49-F238E27FC236}">
                    <a16:creationId xmlns:a16="http://schemas.microsoft.com/office/drawing/2014/main" id="{C0ADEBF3-7F4F-95B3-5D90-95EAC2E52D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33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98" name="Picture 45">
                <a:extLst>
                  <a:ext uri="{FF2B5EF4-FFF2-40B4-BE49-F238E27FC236}">
                    <a16:creationId xmlns:a16="http://schemas.microsoft.com/office/drawing/2014/main" id="{70C53CB7-F8F0-F443-E305-624DA654FC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33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99" name="Rectangle 46">
                <a:extLst>
                  <a:ext uri="{FF2B5EF4-FFF2-40B4-BE49-F238E27FC236}">
                    <a16:creationId xmlns:a16="http://schemas.microsoft.com/office/drawing/2014/main" id="{B380BF0F-5F40-6487-6EDE-DC2548D47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3339"/>
                <a:ext cx="463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name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00" name="Picture 47">
                <a:extLst>
                  <a:ext uri="{FF2B5EF4-FFF2-40B4-BE49-F238E27FC236}">
                    <a16:creationId xmlns:a16="http://schemas.microsoft.com/office/drawing/2014/main" id="{E47435D7-6D6A-EFCF-ACD8-FA3AB63117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42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01" name="Picture 48">
                <a:extLst>
                  <a:ext uri="{FF2B5EF4-FFF2-40B4-BE49-F238E27FC236}">
                    <a16:creationId xmlns:a16="http://schemas.microsoft.com/office/drawing/2014/main" id="{03E7659D-09A7-33D3-E88A-DCC1D00467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42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02" name="Picture 49">
                <a:extLst>
                  <a:ext uri="{FF2B5EF4-FFF2-40B4-BE49-F238E27FC236}">
                    <a16:creationId xmlns:a16="http://schemas.microsoft.com/office/drawing/2014/main" id="{3CC9471A-EE03-7682-8E7E-0927908385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42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03" name="Rectangle 50">
                <a:extLst>
                  <a:ext uri="{FF2B5EF4-FFF2-40B4-BE49-F238E27FC236}">
                    <a16:creationId xmlns:a16="http://schemas.microsoft.com/office/drawing/2014/main" id="{0BFE358A-985C-1310-7C58-E83785DB6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3429"/>
                <a:ext cx="433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desc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04" name="Picture 51">
                <a:extLst>
                  <a:ext uri="{FF2B5EF4-FFF2-40B4-BE49-F238E27FC236}">
                    <a16:creationId xmlns:a16="http://schemas.microsoft.com/office/drawing/2014/main" id="{C55F85FA-21D6-2E86-4AB5-4354CEB0D9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51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05" name="Picture 52">
                <a:extLst>
                  <a:ext uri="{FF2B5EF4-FFF2-40B4-BE49-F238E27FC236}">
                    <a16:creationId xmlns:a16="http://schemas.microsoft.com/office/drawing/2014/main" id="{4B510A9E-7921-965C-C707-A5039AB24D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51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06" name="Picture 53">
                <a:extLst>
                  <a:ext uri="{FF2B5EF4-FFF2-40B4-BE49-F238E27FC236}">
                    <a16:creationId xmlns:a16="http://schemas.microsoft.com/office/drawing/2014/main" id="{2B6BEB97-E2B3-60A6-4AF7-58707795C3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51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07" name="Rectangle 54">
                <a:extLst>
                  <a:ext uri="{FF2B5EF4-FFF2-40B4-BE49-F238E27FC236}">
                    <a16:creationId xmlns:a16="http://schemas.microsoft.com/office/drawing/2014/main" id="{C64D73DD-422E-BCFE-987E-9117F1A8C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3520"/>
                <a:ext cx="714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price amount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08" name="Picture 55">
                <a:extLst>
                  <a:ext uri="{FF2B5EF4-FFF2-40B4-BE49-F238E27FC236}">
                    <a16:creationId xmlns:a16="http://schemas.microsoft.com/office/drawing/2014/main" id="{13F3BA54-E866-D3A4-7D26-F63098CDAA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60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09" name="Picture 56">
                <a:extLst>
                  <a:ext uri="{FF2B5EF4-FFF2-40B4-BE49-F238E27FC236}">
                    <a16:creationId xmlns:a16="http://schemas.microsoft.com/office/drawing/2014/main" id="{9A0D3F1A-3220-951E-303D-D44B945AC9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60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10" name="Picture 57">
                <a:extLst>
                  <a:ext uri="{FF2B5EF4-FFF2-40B4-BE49-F238E27FC236}">
                    <a16:creationId xmlns:a16="http://schemas.microsoft.com/office/drawing/2014/main" id="{EA456712-8A08-1713-3D80-4DA1C6E698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0" y="3609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11" name="Rectangle 58">
                <a:extLst>
                  <a:ext uri="{FF2B5EF4-FFF2-40B4-BE49-F238E27FC236}">
                    <a16:creationId xmlns:a16="http://schemas.microsoft.com/office/drawing/2014/main" id="{4A7D783C-664C-3D8D-D4C0-B8725035F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3609"/>
                <a:ext cx="43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code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12" name="Line 59">
                <a:extLst>
                  <a:ext uri="{FF2B5EF4-FFF2-40B4-BE49-F238E27FC236}">
                    <a16:creationId xmlns:a16="http://schemas.microsoft.com/office/drawing/2014/main" id="{B3E431BD-9796-F86E-43E5-8E60309FA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9" y="2715"/>
                <a:ext cx="1" cy="495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3" name="Line 60">
                <a:extLst>
                  <a:ext uri="{FF2B5EF4-FFF2-40B4-BE49-F238E27FC236}">
                    <a16:creationId xmlns:a16="http://schemas.microsoft.com/office/drawing/2014/main" id="{A5F50B7F-C445-1973-78D1-0014A1FE9D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9" y="2715"/>
                <a:ext cx="32" cy="67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4" name="Line 61">
                <a:extLst>
                  <a:ext uri="{FF2B5EF4-FFF2-40B4-BE49-F238E27FC236}">
                    <a16:creationId xmlns:a16="http://schemas.microsoft.com/office/drawing/2014/main" id="{828E55F5-8D03-3F83-1354-E30A794F2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07" y="2715"/>
                <a:ext cx="32" cy="67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5" name="Rectangle 62">
                <a:extLst>
                  <a:ext uri="{FF2B5EF4-FFF2-40B4-BE49-F238E27FC236}">
                    <a16:creationId xmlns:a16="http://schemas.microsoft.com/office/drawing/2014/main" id="{A28A304F-7FB9-FB87-3455-F22E6E324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9" y="3114"/>
                <a:ext cx="127" cy="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1..1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16" name="Rectangle 63">
                <a:extLst>
                  <a:ext uri="{FF2B5EF4-FFF2-40B4-BE49-F238E27FC236}">
                    <a16:creationId xmlns:a16="http://schemas.microsoft.com/office/drawing/2014/main" id="{BBD5B456-10A7-3F5D-DA99-3E67AA00D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9" y="2720"/>
                <a:ext cx="127" cy="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0..n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17" name="Rectangle 64">
                <a:extLst>
                  <a:ext uri="{FF2B5EF4-FFF2-40B4-BE49-F238E27FC236}">
                    <a16:creationId xmlns:a16="http://schemas.microsoft.com/office/drawing/2014/main" id="{2F28C279-625C-DA8E-AD8A-A46916BC2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7" y="1287"/>
                <a:ext cx="763" cy="422"/>
              </a:xfrm>
              <a:prstGeom prst="rect">
                <a:avLst/>
              </a:prstGeom>
              <a:solidFill>
                <a:srgbClr val="FFFFCC"/>
              </a:solidFill>
              <a:ln w="0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18" name="Rectangle 65">
                <a:extLst>
                  <a:ext uri="{FF2B5EF4-FFF2-40B4-BE49-F238E27FC236}">
                    <a16:creationId xmlns:a16="http://schemas.microsoft.com/office/drawing/2014/main" id="{4E7F088B-C41C-633A-1F83-2522FC248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1" y="1309"/>
                <a:ext cx="242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Region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19" name="Rectangle 66">
                <a:extLst>
                  <a:ext uri="{FF2B5EF4-FFF2-40B4-BE49-F238E27FC236}">
                    <a16:creationId xmlns:a16="http://schemas.microsoft.com/office/drawing/2014/main" id="{0CDFAEB5-8ED2-AEB6-BA21-B16F030E1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7" y="1405"/>
                <a:ext cx="763" cy="304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20" name="Rectangle 67">
                <a:extLst>
                  <a:ext uri="{FF2B5EF4-FFF2-40B4-BE49-F238E27FC236}">
                    <a16:creationId xmlns:a16="http://schemas.microsoft.com/office/drawing/2014/main" id="{0E4A3904-08EA-0B0D-DE4E-CD45488DD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7" y="1630"/>
                <a:ext cx="763" cy="79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21" name="Picture 68">
                <a:extLst>
                  <a:ext uri="{FF2B5EF4-FFF2-40B4-BE49-F238E27FC236}">
                    <a16:creationId xmlns:a16="http://schemas.microsoft.com/office/drawing/2014/main" id="{9835162A-51FA-A197-884F-C52A8A2EC4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56" y="1416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22" name="Picture 69">
                <a:extLst>
                  <a:ext uri="{FF2B5EF4-FFF2-40B4-BE49-F238E27FC236}">
                    <a16:creationId xmlns:a16="http://schemas.microsoft.com/office/drawing/2014/main" id="{7FDF1CD7-6990-690C-0822-69C1E447C1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56" y="1416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23" name="Picture 70">
                <a:extLst>
                  <a:ext uri="{FF2B5EF4-FFF2-40B4-BE49-F238E27FC236}">
                    <a16:creationId xmlns:a16="http://schemas.microsoft.com/office/drawing/2014/main" id="{91D0406B-BE12-1678-E9A7-FDF4FFE378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56" y="1416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24" name="Rectangle 71">
                <a:extLst>
                  <a:ext uri="{FF2B5EF4-FFF2-40B4-BE49-F238E27FC236}">
                    <a16:creationId xmlns:a16="http://schemas.microsoft.com/office/drawing/2014/main" id="{8EA302E5-6DBD-CABF-A982-6DB2CD031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8" y="1416"/>
                <a:ext cx="543" cy="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rest region code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25" name="Picture 72">
                <a:extLst>
                  <a:ext uri="{FF2B5EF4-FFF2-40B4-BE49-F238E27FC236}">
                    <a16:creationId xmlns:a16="http://schemas.microsoft.com/office/drawing/2014/main" id="{6538A0B1-1D3D-770C-3176-2DA878824C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56" y="1506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26" name="Picture 73">
                <a:extLst>
                  <a:ext uri="{FF2B5EF4-FFF2-40B4-BE49-F238E27FC236}">
                    <a16:creationId xmlns:a16="http://schemas.microsoft.com/office/drawing/2014/main" id="{EE952123-186C-BDCE-64D0-55654439F4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56" y="1506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27" name="Picture 74">
                <a:extLst>
                  <a:ext uri="{FF2B5EF4-FFF2-40B4-BE49-F238E27FC236}">
                    <a16:creationId xmlns:a16="http://schemas.microsoft.com/office/drawing/2014/main" id="{CF70FA40-FF73-DBE3-88A7-B87F23E94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56" y="1506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28" name="Rectangle 75">
                <a:extLst>
                  <a:ext uri="{FF2B5EF4-FFF2-40B4-BE49-F238E27FC236}">
                    <a16:creationId xmlns:a16="http://schemas.microsoft.com/office/drawing/2014/main" id="{12149C27-68E0-8A13-6C38-D7E68E78A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8" y="1506"/>
                <a:ext cx="574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rest region name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29" name="Rectangle 76">
                <a:extLst>
                  <a:ext uri="{FF2B5EF4-FFF2-40B4-BE49-F238E27FC236}">
                    <a16:creationId xmlns:a16="http://schemas.microsoft.com/office/drawing/2014/main" id="{39C4DC8B-74B1-3A2D-99D5-F2ECE0A46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1" y="2074"/>
                <a:ext cx="922" cy="517"/>
              </a:xfrm>
              <a:prstGeom prst="rect">
                <a:avLst/>
              </a:prstGeom>
              <a:solidFill>
                <a:srgbClr val="FFFFCC"/>
              </a:solidFill>
              <a:ln w="0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30" name="Rectangle 77">
                <a:extLst>
                  <a:ext uri="{FF2B5EF4-FFF2-40B4-BE49-F238E27FC236}">
                    <a16:creationId xmlns:a16="http://schemas.microsoft.com/office/drawing/2014/main" id="{54DD8B9F-9B4B-4861-F5E9-1650493E6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5" y="2096"/>
                <a:ext cx="341" cy="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restaurant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31" name="Rectangle 78">
                <a:extLst>
                  <a:ext uri="{FF2B5EF4-FFF2-40B4-BE49-F238E27FC236}">
                    <a16:creationId xmlns:a16="http://schemas.microsoft.com/office/drawing/2014/main" id="{423AD1D5-75B7-CF64-D42F-343B5E6AC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1" y="2198"/>
                <a:ext cx="922" cy="393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32" name="Rectangle 79">
                <a:extLst>
                  <a:ext uri="{FF2B5EF4-FFF2-40B4-BE49-F238E27FC236}">
                    <a16:creationId xmlns:a16="http://schemas.microsoft.com/office/drawing/2014/main" id="{E817EFA5-B2C9-0D05-2770-E4EB0DDD9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1" y="2512"/>
                <a:ext cx="922" cy="79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33" name="Picture 80">
                <a:extLst>
                  <a:ext uri="{FF2B5EF4-FFF2-40B4-BE49-F238E27FC236}">
                    <a16:creationId xmlns:a16="http://schemas.microsoft.com/office/drawing/2014/main" id="{D2E66983-F43D-61F1-5556-DDE9034B32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4" y="2209"/>
                <a:ext cx="102" cy="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34" name="Picture 81">
                <a:extLst>
                  <a:ext uri="{FF2B5EF4-FFF2-40B4-BE49-F238E27FC236}">
                    <a16:creationId xmlns:a16="http://schemas.microsoft.com/office/drawing/2014/main" id="{358E58E3-DAE4-E0E6-C685-363F10D546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4" y="2209"/>
                <a:ext cx="102" cy="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35" name="Picture 82">
                <a:extLst>
                  <a:ext uri="{FF2B5EF4-FFF2-40B4-BE49-F238E27FC236}">
                    <a16:creationId xmlns:a16="http://schemas.microsoft.com/office/drawing/2014/main" id="{0FCECB41-CE0F-7EA1-143D-D48EBF927B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4" y="2209"/>
                <a:ext cx="102" cy="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36" name="Rectangle 83">
                <a:extLst>
                  <a:ext uri="{FF2B5EF4-FFF2-40B4-BE49-F238E27FC236}">
                    <a16:creationId xmlns:a16="http://schemas.microsoft.com/office/drawing/2014/main" id="{7BBA7041-1E64-5525-8A81-FE2AD0FC2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6" y="2209"/>
                <a:ext cx="20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rest id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37" name="Picture 84">
                <a:extLst>
                  <a:ext uri="{FF2B5EF4-FFF2-40B4-BE49-F238E27FC236}">
                    <a16:creationId xmlns:a16="http://schemas.microsoft.com/office/drawing/2014/main" id="{37AF804B-5C8F-9361-6B7E-152DE1D34A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4" y="2299"/>
                <a:ext cx="102" cy="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38" name="Picture 85">
                <a:extLst>
                  <a:ext uri="{FF2B5EF4-FFF2-40B4-BE49-F238E27FC236}">
                    <a16:creationId xmlns:a16="http://schemas.microsoft.com/office/drawing/2014/main" id="{7783D1F6-C5AD-09FB-D066-54686EE07A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4" y="2299"/>
                <a:ext cx="102" cy="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39" name="Picture 86">
                <a:extLst>
                  <a:ext uri="{FF2B5EF4-FFF2-40B4-BE49-F238E27FC236}">
                    <a16:creationId xmlns:a16="http://schemas.microsoft.com/office/drawing/2014/main" id="{EFFAE613-DC1F-9528-DCBB-90AE091A33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4" y="2299"/>
                <a:ext cx="102" cy="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40" name="Rectangle 87">
                <a:extLst>
                  <a:ext uri="{FF2B5EF4-FFF2-40B4-BE49-F238E27FC236}">
                    <a16:creationId xmlns:a16="http://schemas.microsoft.com/office/drawing/2014/main" id="{C961456F-145B-FEA0-DE7B-CE4AA440F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6" y="2299"/>
                <a:ext cx="543" cy="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rest region code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41" name="Picture 88">
                <a:extLst>
                  <a:ext uri="{FF2B5EF4-FFF2-40B4-BE49-F238E27FC236}">
                    <a16:creationId xmlns:a16="http://schemas.microsoft.com/office/drawing/2014/main" id="{23BACCFC-66A0-BD1C-EB44-551A4F6701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4" y="2389"/>
                <a:ext cx="102" cy="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42" name="Picture 89">
                <a:extLst>
                  <a:ext uri="{FF2B5EF4-FFF2-40B4-BE49-F238E27FC236}">
                    <a16:creationId xmlns:a16="http://schemas.microsoft.com/office/drawing/2014/main" id="{6B82037D-1F6B-0398-E9C6-D0D6F7CD46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4" y="2389"/>
                <a:ext cx="102" cy="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43" name="Picture 90">
                <a:extLst>
                  <a:ext uri="{FF2B5EF4-FFF2-40B4-BE49-F238E27FC236}">
                    <a16:creationId xmlns:a16="http://schemas.microsoft.com/office/drawing/2014/main" id="{4CA7099E-0AC6-D185-9894-0ECA01A177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4" y="2389"/>
                <a:ext cx="102" cy="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44" name="Rectangle 91">
                <a:extLst>
                  <a:ext uri="{FF2B5EF4-FFF2-40B4-BE49-F238E27FC236}">
                    <a16:creationId xmlns:a16="http://schemas.microsoft.com/office/drawing/2014/main" id="{4B11FEE2-506E-171A-339B-3DFF26FEC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6" y="2390"/>
                <a:ext cx="71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rest max cap number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45" name="Rectangle 92">
                <a:extLst>
                  <a:ext uri="{FF2B5EF4-FFF2-40B4-BE49-F238E27FC236}">
                    <a16:creationId xmlns:a16="http://schemas.microsoft.com/office/drawing/2014/main" id="{5D140F4F-30E9-8A21-66EE-B2CE644CB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6" y="2810"/>
                <a:ext cx="751" cy="422"/>
              </a:xfrm>
              <a:prstGeom prst="rect">
                <a:avLst/>
              </a:prstGeom>
              <a:solidFill>
                <a:srgbClr val="FFFFCC"/>
              </a:solidFill>
              <a:ln w="0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46" name="Rectangle 93">
                <a:extLst>
                  <a:ext uri="{FF2B5EF4-FFF2-40B4-BE49-F238E27FC236}">
                    <a16:creationId xmlns:a16="http://schemas.microsoft.com/office/drawing/2014/main" id="{DBAE8834-F0E5-7C9C-263D-9CBC3B2EA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2" y="2833"/>
                <a:ext cx="52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offering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47" name="Rectangle 94">
                <a:extLst>
                  <a:ext uri="{FF2B5EF4-FFF2-40B4-BE49-F238E27FC236}">
                    <a16:creationId xmlns:a16="http://schemas.microsoft.com/office/drawing/2014/main" id="{EEFD6C83-BB26-D226-CD26-833BFCB6F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6" y="2928"/>
                <a:ext cx="751" cy="304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48" name="Rectangle 95">
                <a:extLst>
                  <a:ext uri="{FF2B5EF4-FFF2-40B4-BE49-F238E27FC236}">
                    <a16:creationId xmlns:a16="http://schemas.microsoft.com/office/drawing/2014/main" id="{31AA53DB-C27B-8C33-7C67-4ACBA3D66E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6" y="3153"/>
                <a:ext cx="751" cy="79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49" name="Picture 96">
                <a:extLst>
                  <a:ext uri="{FF2B5EF4-FFF2-40B4-BE49-F238E27FC236}">
                    <a16:creationId xmlns:a16="http://schemas.microsoft.com/office/drawing/2014/main" id="{1A431F23-85CA-1ECD-8F35-3F10824317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6" y="2940"/>
                <a:ext cx="101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50" name="Picture 97">
                <a:extLst>
                  <a:ext uri="{FF2B5EF4-FFF2-40B4-BE49-F238E27FC236}">
                    <a16:creationId xmlns:a16="http://schemas.microsoft.com/office/drawing/2014/main" id="{976BD110-459D-8A7E-FBF3-9569FD9EC6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6" y="2940"/>
                <a:ext cx="101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51" name="Picture 98">
                <a:extLst>
                  <a:ext uri="{FF2B5EF4-FFF2-40B4-BE49-F238E27FC236}">
                    <a16:creationId xmlns:a16="http://schemas.microsoft.com/office/drawing/2014/main" id="{87A25EEF-D4BE-B434-6E4C-894E884079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6" y="2940"/>
                <a:ext cx="101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52" name="Rectangle 99">
                <a:extLst>
                  <a:ext uri="{FF2B5EF4-FFF2-40B4-BE49-F238E27FC236}">
                    <a16:creationId xmlns:a16="http://schemas.microsoft.com/office/drawing/2014/main" id="{44CCC7F8-DFB2-D4C1-BE81-AE45DD951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7" y="2940"/>
                <a:ext cx="412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desset code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53" name="Picture 100">
                <a:extLst>
                  <a:ext uri="{FF2B5EF4-FFF2-40B4-BE49-F238E27FC236}">
                    <a16:creationId xmlns:a16="http://schemas.microsoft.com/office/drawing/2014/main" id="{65BC393D-1923-1857-D6E1-BC0C546035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6" y="3030"/>
                <a:ext cx="101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54" name="Picture 101">
                <a:extLst>
                  <a:ext uri="{FF2B5EF4-FFF2-40B4-BE49-F238E27FC236}">
                    <a16:creationId xmlns:a16="http://schemas.microsoft.com/office/drawing/2014/main" id="{3AE0B41B-E340-05BB-41BD-9BB7677480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6" y="3030"/>
                <a:ext cx="101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55" name="Picture 102">
                <a:extLst>
                  <a:ext uri="{FF2B5EF4-FFF2-40B4-BE49-F238E27FC236}">
                    <a16:creationId xmlns:a16="http://schemas.microsoft.com/office/drawing/2014/main" id="{0B5FCEB2-088C-20A3-4C72-39A226C35E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6" y="3030"/>
                <a:ext cx="101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56" name="Rectangle 103">
                <a:extLst>
                  <a:ext uri="{FF2B5EF4-FFF2-40B4-BE49-F238E27FC236}">
                    <a16:creationId xmlns:a16="http://schemas.microsoft.com/office/drawing/2014/main" id="{A61F5440-431F-BD05-934A-66DD2F686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7" y="3030"/>
                <a:ext cx="20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rest id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57" name="Rectangle 104">
                <a:extLst>
                  <a:ext uri="{FF2B5EF4-FFF2-40B4-BE49-F238E27FC236}">
                    <a16:creationId xmlns:a16="http://schemas.microsoft.com/office/drawing/2014/main" id="{DB1F7255-989C-4879-6E79-EDB5D61A8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3" y="3412"/>
                <a:ext cx="769" cy="601"/>
              </a:xfrm>
              <a:prstGeom prst="rect">
                <a:avLst/>
              </a:prstGeom>
              <a:solidFill>
                <a:srgbClr val="FFFFCC"/>
              </a:solidFill>
              <a:ln w="0">
                <a:solidFill>
                  <a:srgbClr val="99003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58" name="Rectangle 105">
                <a:extLst>
                  <a:ext uri="{FF2B5EF4-FFF2-40B4-BE49-F238E27FC236}">
                    <a16:creationId xmlns:a16="http://schemas.microsoft.com/office/drawing/2014/main" id="{7C84B1B4-6537-4BD8-00F5-73FB17A9C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434"/>
                <a:ext cx="35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daily order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59" name="Rectangle 106">
                <a:extLst>
                  <a:ext uri="{FF2B5EF4-FFF2-40B4-BE49-F238E27FC236}">
                    <a16:creationId xmlns:a16="http://schemas.microsoft.com/office/drawing/2014/main" id="{E35C739D-6F5F-918E-46BB-529DE5DE5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3" y="3530"/>
                <a:ext cx="769" cy="483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60" name="Rectangle 107">
                <a:extLst>
                  <a:ext uri="{FF2B5EF4-FFF2-40B4-BE49-F238E27FC236}">
                    <a16:creationId xmlns:a16="http://schemas.microsoft.com/office/drawing/2014/main" id="{59D8A477-7751-F1DD-8A36-2C1AEE00F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3" y="3935"/>
                <a:ext cx="769" cy="78"/>
              </a:xfrm>
              <a:prstGeom prst="rect">
                <a:avLst/>
              </a:prstGeom>
              <a:noFill/>
              <a:ln w="0">
                <a:solidFill>
                  <a:srgbClr val="9900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61" name="Picture 108">
                <a:extLst>
                  <a:ext uri="{FF2B5EF4-FFF2-40B4-BE49-F238E27FC236}">
                    <a16:creationId xmlns:a16="http://schemas.microsoft.com/office/drawing/2014/main" id="{FE2F4404-4C08-5248-B5F7-105929F81F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541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62" name="Picture 109">
                <a:extLst>
                  <a:ext uri="{FF2B5EF4-FFF2-40B4-BE49-F238E27FC236}">
                    <a16:creationId xmlns:a16="http://schemas.microsoft.com/office/drawing/2014/main" id="{8111F906-033E-10C3-FDDF-39D791F241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541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63" name="Picture 110">
                <a:extLst>
                  <a:ext uri="{FF2B5EF4-FFF2-40B4-BE49-F238E27FC236}">
                    <a16:creationId xmlns:a16="http://schemas.microsoft.com/office/drawing/2014/main" id="{D66EBD27-4536-2D94-DD8F-0285F6BE2F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541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64" name="Rectangle 111">
                <a:extLst>
                  <a:ext uri="{FF2B5EF4-FFF2-40B4-BE49-F238E27FC236}">
                    <a16:creationId xmlns:a16="http://schemas.microsoft.com/office/drawing/2014/main" id="{508D94AA-4578-A462-1B75-02CD477F6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4" y="3541"/>
                <a:ext cx="43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code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65" name="Picture 112">
                <a:extLst>
                  <a:ext uri="{FF2B5EF4-FFF2-40B4-BE49-F238E27FC236}">
                    <a16:creationId xmlns:a16="http://schemas.microsoft.com/office/drawing/2014/main" id="{F1F80960-85CD-6ABE-99A0-79D3D58043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631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66" name="Picture 113">
                <a:extLst>
                  <a:ext uri="{FF2B5EF4-FFF2-40B4-BE49-F238E27FC236}">
                    <a16:creationId xmlns:a16="http://schemas.microsoft.com/office/drawing/2014/main" id="{6E4BE644-F4C5-E961-45D9-D6A9F5E3EE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631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67" name="Picture 114">
                <a:extLst>
                  <a:ext uri="{FF2B5EF4-FFF2-40B4-BE49-F238E27FC236}">
                    <a16:creationId xmlns:a16="http://schemas.microsoft.com/office/drawing/2014/main" id="{D95059E7-1277-F187-F12E-1546996E81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631"/>
                <a:ext cx="102" cy="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68" name="Rectangle 115">
                <a:extLst>
                  <a:ext uri="{FF2B5EF4-FFF2-40B4-BE49-F238E27FC236}">
                    <a16:creationId xmlns:a16="http://schemas.microsoft.com/office/drawing/2014/main" id="{F3E73E1C-F5B0-5371-7777-AFF3F184B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4" y="3631"/>
                <a:ext cx="34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order date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69" name="Picture 116">
                <a:extLst>
                  <a:ext uri="{FF2B5EF4-FFF2-40B4-BE49-F238E27FC236}">
                    <a16:creationId xmlns:a16="http://schemas.microsoft.com/office/drawing/2014/main" id="{07A507D3-7E25-F409-7177-BCD1E1964A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721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70" name="Picture 117">
                <a:extLst>
                  <a:ext uri="{FF2B5EF4-FFF2-40B4-BE49-F238E27FC236}">
                    <a16:creationId xmlns:a16="http://schemas.microsoft.com/office/drawing/2014/main" id="{B96305C2-5843-DBD0-F893-30E4AC9C23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721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71" name="Picture 118">
                <a:extLst>
                  <a:ext uri="{FF2B5EF4-FFF2-40B4-BE49-F238E27FC236}">
                    <a16:creationId xmlns:a16="http://schemas.microsoft.com/office/drawing/2014/main" id="{D3413FE0-E40D-AD14-382A-396A6304DA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721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72" name="Rectangle 119">
                <a:extLst>
                  <a:ext uri="{FF2B5EF4-FFF2-40B4-BE49-F238E27FC236}">
                    <a16:creationId xmlns:a16="http://schemas.microsoft.com/office/drawing/2014/main" id="{FD855DD2-FF34-4C0F-DFA2-EB76F7993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4" y="3721"/>
                <a:ext cx="20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rest id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pic>
            <p:nvPicPr>
              <p:cNvPr id="23673" name="Picture 120">
                <a:extLst>
                  <a:ext uri="{FF2B5EF4-FFF2-40B4-BE49-F238E27FC236}">
                    <a16:creationId xmlns:a16="http://schemas.microsoft.com/office/drawing/2014/main" id="{6528C4F5-1FB1-28E1-A0B5-26214B68E6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811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74" name="Picture 121">
                <a:extLst>
                  <a:ext uri="{FF2B5EF4-FFF2-40B4-BE49-F238E27FC236}">
                    <a16:creationId xmlns:a16="http://schemas.microsoft.com/office/drawing/2014/main" id="{DBE20AC2-EFE0-8BAA-3DEC-44F38FFB11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811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75" name="Picture 122">
                <a:extLst>
                  <a:ext uri="{FF2B5EF4-FFF2-40B4-BE49-F238E27FC236}">
                    <a16:creationId xmlns:a16="http://schemas.microsoft.com/office/drawing/2014/main" id="{C96C66C7-1E7B-5DDE-088E-55C307E7D1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2" y="3811"/>
                <a:ext cx="102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676" name="Rectangle 123">
                <a:extLst>
                  <a:ext uri="{FF2B5EF4-FFF2-40B4-BE49-F238E27FC236}">
                    <a16:creationId xmlns:a16="http://schemas.microsoft.com/office/drawing/2014/main" id="{F948FD56-9598-005D-95F5-AC1281BB2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4" y="3811"/>
                <a:ext cx="574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dessert order qty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77" name="Line 124">
                <a:extLst>
                  <a:ext uri="{FF2B5EF4-FFF2-40B4-BE49-F238E27FC236}">
                    <a16:creationId xmlns:a16="http://schemas.microsoft.com/office/drawing/2014/main" id="{6C7E5AE0-6D5F-21A0-7B63-05DCFCE7D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2" y="1709"/>
                <a:ext cx="114" cy="365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78" name="Line 125">
                <a:extLst>
                  <a:ext uri="{FF2B5EF4-FFF2-40B4-BE49-F238E27FC236}">
                    <a16:creationId xmlns:a16="http://schemas.microsoft.com/office/drawing/2014/main" id="{53664A7E-6630-7BB8-6D10-371B4C146B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6" y="2001"/>
                <a:ext cx="13" cy="73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79" name="Line 126">
                <a:extLst>
                  <a:ext uri="{FF2B5EF4-FFF2-40B4-BE49-F238E27FC236}">
                    <a16:creationId xmlns:a16="http://schemas.microsoft.com/office/drawing/2014/main" id="{BE8C9CC4-953D-6D46-23D3-3F738013A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52" y="2018"/>
                <a:ext cx="44" cy="56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0" name="Rectangle 127">
                <a:extLst>
                  <a:ext uri="{FF2B5EF4-FFF2-40B4-BE49-F238E27FC236}">
                    <a16:creationId xmlns:a16="http://schemas.microsoft.com/office/drawing/2014/main" id="{6F09AD9A-2921-5F8A-D912-8074F8508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1" y="1687"/>
                <a:ext cx="12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1..1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81" name="Rectangle 128">
                <a:extLst>
                  <a:ext uri="{FF2B5EF4-FFF2-40B4-BE49-F238E27FC236}">
                    <a16:creationId xmlns:a16="http://schemas.microsoft.com/office/drawing/2014/main" id="{7BDBA9BB-8C8F-1464-AE68-B1F7D721E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0" y="1973"/>
                <a:ext cx="12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0..n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82" name="Line 129">
                <a:extLst>
                  <a:ext uri="{FF2B5EF4-FFF2-40B4-BE49-F238E27FC236}">
                    <a16:creationId xmlns:a16="http://schemas.microsoft.com/office/drawing/2014/main" id="{CCD6D67A-D3E3-07E0-F7C5-288C6B8AAA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75" y="2591"/>
                <a:ext cx="273" cy="219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3" name="Line 130">
                <a:extLst>
                  <a:ext uri="{FF2B5EF4-FFF2-40B4-BE49-F238E27FC236}">
                    <a16:creationId xmlns:a16="http://schemas.microsoft.com/office/drawing/2014/main" id="{C1CEF2DB-DFF8-BEBA-0CF3-2C2C6AFBA6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5" y="2782"/>
                <a:ext cx="70" cy="28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4" name="Line 131">
                <a:extLst>
                  <a:ext uri="{FF2B5EF4-FFF2-40B4-BE49-F238E27FC236}">
                    <a16:creationId xmlns:a16="http://schemas.microsoft.com/office/drawing/2014/main" id="{CE290BDB-1F34-113B-FAD9-0508A2869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5" y="2743"/>
                <a:ext cx="32" cy="67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5" name="Rectangle 132">
                <a:extLst>
                  <a:ext uri="{FF2B5EF4-FFF2-40B4-BE49-F238E27FC236}">
                    <a16:creationId xmlns:a16="http://schemas.microsoft.com/office/drawing/2014/main" id="{8A289A0F-3D8F-6EF4-8465-7609BA87E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4" y="2614"/>
                <a:ext cx="12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1..1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86" name="Rectangle 133">
                <a:extLst>
                  <a:ext uri="{FF2B5EF4-FFF2-40B4-BE49-F238E27FC236}">
                    <a16:creationId xmlns:a16="http://schemas.microsoft.com/office/drawing/2014/main" id="{C2E9DB9B-35A2-17B2-63D7-AE25B8146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1" y="2788"/>
                <a:ext cx="12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0..n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87" name="Line 134">
                <a:extLst>
                  <a:ext uri="{FF2B5EF4-FFF2-40B4-BE49-F238E27FC236}">
                    <a16:creationId xmlns:a16="http://schemas.microsoft.com/office/drawing/2014/main" id="{A9ACBA8F-BC1A-5815-B3E8-22E8CC655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0" y="3232"/>
                <a:ext cx="293" cy="208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8" name="Line 135">
                <a:extLst>
                  <a:ext uri="{FF2B5EF4-FFF2-40B4-BE49-F238E27FC236}">
                    <a16:creationId xmlns:a16="http://schemas.microsoft.com/office/drawing/2014/main" id="{6CF84F6D-6A4F-9F3F-9F0A-84DDC9C55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55" y="3378"/>
                <a:ext cx="38" cy="62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9" name="Line 136">
                <a:extLst>
                  <a:ext uri="{FF2B5EF4-FFF2-40B4-BE49-F238E27FC236}">
                    <a16:creationId xmlns:a16="http://schemas.microsoft.com/office/drawing/2014/main" id="{F21CD3CB-9D6F-2576-726E-5B7772BE4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17" y="3423"/>
                <a:ext cx="76" cy="17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90" name="Rectangle 137">
                <a:extLst>
                  <a:ext uri="{FF2B5EF4-FFF2-40B4-BE49-F238E27FC236}">
                    <a16:creationId xmlns:a16="http://schemas.microsoft.com/office/drawing/2014/main" id="{661616F0-9FBC-E4C1-F0A7-9C03A6B5B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7" y="3159"/>
                <a:ext cx="12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1..1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91" name="Rectangle 138">
                <a:extLst>
                  <a:ext uri="{FF2B5EF4-FFF2-40B4-BE49-F238E27FC236}">
                    <a16:creationId xmlns:a16="http://schemas.microsoft.com/office/drawing/2014/main" id="{663766F5-8DAD-DECC-7022-4751C8D4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2" y="3328"/>
                <a:ext cx="127" cy="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0..n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92" name="Line 139">
                <a:extLst>
                  <a:ext uri="{FF2B5EF4-FFF2-40B4-BE49-F238E27FC236}">
                    <a16:creationId xmlns:a16="http://schemas.microsoft.com/office/drawing/2014/main" id="{5B6D6CAA-2221-EF9F-18CC-9ABA4384B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7" y="3148"/>
                <a:ext cx="629" cy="208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93" name="Line 140">
                <a:extLst>
                  <a:ext uri="{FF2B5EF4-FFF2-40B4-BE49-F238E27FC236}">
                    <a16:creationId xmlns:a16="http://schemas.microsoft.com/office/drawing/2014/main" id="{306FBA98-AEEA-DB48-BD61-13AE48BBD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63" y="3148"/>
                <a:ext cx="63" cy="50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94" name="Line 141">
                <a:extLst>
                  <a:ext uri="{FF2B5EF4-FFF2-40B4-BE49-F238E27FC236}">
                    <a16:creationId xmlns:a16="http://schemas.microsoft.com/office/drawing/2014/main" id="{A8F26E59-2DB1-7724-9E87-AEB7B879C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44" y="3148"/>
                <a:ext cx="82" cy="1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95" name="Rectangle 142">
                <a:extLst>
                  <a:ext uri="{FF2B5EF4-FFF2-40B4-BE49-F238E27FC236}">
                    <a16:creationId xmlns:a16="http://schemas.microsoft.com/office/drawing/2014/main" id="{8FA664D3-5522-F756-8640-AF1B97566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5" y="3232"/>
                <a:ext cx="127" cy="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1..1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23696" name="Rectangle 143">
                <a:extLst>
                  <a:ext uri="{FF2B5EF4-FFF2-40B4-BE49-F238E27FC236}">
                    <a16:creationId xmlns:a16="http://schemas.microsoft.com/office/drawing/2014/main" id="{93E6C33C-BCAF-A4FE-BA65-81A4B4F92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8" y="3063"/>
                <a:ext cx="12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9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0..n</a:t>
                </a:r>
                <a:endParaRPr lang="en-US" altLang="en-US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3560" name="Text Box 3">
            <a:extLst>
              <a:ext uri="{FF2B5EF4-FFF2-40B4-BE49-F238E27FC236}">
                <a16:creationId xmlns:a16="http://schemas.microsoft.com/office/drawing/2014/main" id="{11A8EE0B-E3C6-F51E-A1B8-77D28B68D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3461" y="4549927"/>
            <a:ext cx="22447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 b="1" dirty="0">
                <a:solidFill>
                  <a:schemeClr val="accent2"/>
                </a:solidFill>
                <a:latin typeface="Tahoma" panose="020B0604030504040204" pitchFamily="34" charset="0"/>
              </a:rPr>
              <a:t>Logical Design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b="1" dirty="0">
                <a:latin typeface="Times New Roman" panose="02020603050405020304" pitchFamily="18" charset="0"/>
              </a:rPr>
              <a:t>It is a way to understand the overall data requirements.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104AFE4-9002-09A6-1E01-87DB63CE0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858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pic>
        <p:nvPicPr>
          <p:cNvPr id="25603" name="Picture 27">
            <a:extLst>
              <a:ext uri="{FF2B5EF4-FFF2-40B4-BE49-F238E27FC236}">
                <a16:creationId xmlns:a16="http://schemas.microsoft.com/office/drawing/2014/main" id="{945F6AA6-2AFC-DE37-A0D5-FACF3222C6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889" y="2286000"/>
            <a:ext cx="4708525" cy="3581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4" name="Footer Placeholder 1">
            <a:extLst>
              <a:ext uri="{FF2B5EF4-FFF2-40B4-BE49-F238E27FC236}">
                <a16:creationId xmlns:a16="http://schemas.microsoft.com/office/drawing/2014/main" id="{75CD64BA-1D07-FFDA-3653-7F036038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25605" name="Slide Number Placeholder 2">
            <a:extLst>
              <a:ext uri="{FF2B5EF4-FFF2-40B4-BE49-F238E27FC236}">
                <a16:creationId xmlns:a16="http://schemas.microsoft.com/office/drawing/2014/main" id="{123374FB-27AF-93C1-56DF-8478BAF0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AE89B50-8867-45D0-9752-3854FC9117CD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5606" name="Text Box 3">
            <a:extLst>
              <a:ext uri="{FF2B5EF4-FFF2-40B4-BE49-F238E27FC236}">
                <a16:creationId xmlns:a16="http://schemas.microsoft.com/office/drawing/2014/main" id="{CC1C45B5-89F3-BABE-1236-2619A5CE4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532" y="1759323"/>
            <a:ext cx="7696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3.	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Denormalization of Logical Design (if needed)</a:t>
            </a:r>
            <a:endParaRPr lang="en-US" altLang="en-US" sz="2400" b="1" u="sng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1594A40-91CC-A147-4C72-EFEF9279E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096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27651" name="Footer Placeholder 1">
            <a:extLst>
              <a:ext uri="{FF2B5EF4-FFF2-40B4-BE49-F238E27FC236}">
                <a16:creationId xmlns:a16="http://schemas.microsoft.com/office/drawing/2014/main" id="{7C80B94D-67D8-D608-8199-A5D7FDFF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27652" name="Slide Number Placeholder 2">
            <a:extLst>
              <a:ext uri="{FF2B5EF4-FFF2-40B4-BE49-F238E27FC236}">
                <a16:creationId xmlns:a16="http://schemas.microsoft.com/office/drawing/2014/main" id="{A897F6F6-58C5-DBB9-D0C5-98B9B030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571BC97-581F-4F8C-84B7-F2F1EF9F79B9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653" name="Text Box 3">
            <a:extLst>
              <a:ext uri="{FF2B5EF4-FFF2-40B4-BE49-F238E27FC236}">
                <a16:creationId xmlns:a16="http://schemas.microsoft.com/office/drawing/2014/main" id="{A4FC6E48-C07B-9E9B-A40C-719974515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743992"/>
            <a:ext cx="7772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4.	 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Determine the Data Partitioning Scheme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In dimensional world, most dimension tables are small.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But some DIMENSION TABLES (like Product table)  and the 	FACT TABLES ARE VERY LARGE.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Large tables are not easy to manage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In the load process, the entire table needs to be closed to the 	users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Backup and recovery are problems for such large tables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Think about “partitioning” the tables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77E8267-3985-3B4F-3E14-5889F46D1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5334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29699" name="Footer Placeholder 1">
            <a:extLst>
              <a:ext uri="{FF2B5EF4-FFF2-40B4-BE49-F238E27FC236}">
                <a16:creationId xmlns:a16="http://schemas.microsoft.com/office/drawing/2014/main" id="{8D77A1BA-CB65-EA5B-D3CE-859D8615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29700" name="Slide Number Placeholder 2">
            <a:extLst>
              <a:ext uri="{FF2B5EF4-FFF2-40B4-BE49-F238E27FC236}">
                <a16:creationId xmlns:a16="http://schemas.microsoft.com/office/drawing/2014/main" id="{EF0D86F1-6631-2904-0E4A-A0906ED9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5632714-820E-4B5F-9EF2-E2F7A13E3A22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9701" name="Text Box 3">
            <a:extLst>
              <a:ext uri="{FF2B5EF4-FFF2-40B4-BE49-F238E27FC236}">
                <a16:creationId xmlns:a16="http://schemas.microsoft.com/office/drawing/2014/main" id="{FB474566-0870-7CFF-8C92-1A5677360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8094" y="1931895"/>
            <a:ext cx="678180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4.	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Determine the Data Partitioning Scheme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The partitioning scheme must include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Horizontal or vertical?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Number of partitions for each table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The criteria for dividing each table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Description how to make queries aware of partitions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E0B34A7-17E2-AF3E-A33F-775B1D734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096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1747" name="Footer Placeholder 1">
            <a:extLst>
              <a:ext uri="{FF2B5EF4-FFF2-40B4-BE49-F238E27FC236}">
                <a16:creationId xmlns:a16="http://schemas.microsoft.com/office/drawing/2014/main" id="{EE9C935A-D5B3-40FC-803A-1D6E2EF9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31748" name="Slide Number Placeholder 2">
            <a:extLst>
              <a:ext uri="{FF2B5EF4-FFF2-40B4-BE49-F238E27FC236}">
                <a16:creationId xmlns:a16="http://schemas.microsoft.com/office/drawing/2014/main" id="{CEEDA3A5-9EB0-C279-1D32-BC79F7BE6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86D4633-CB72-4D48-BC16-A10E08401C3A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49" name="Text Box 3">
            <a:extLst>
              <a:ext uri="{FF2B5EF4-FFF2-40B4-BE49-F238E27FC236}">
                <a16:creationId xmlns:a16="http://schemas.microsoft.com/office/drawing/2014/main" id="{B8AA3451-2A52-00EB-01B8-974A57512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1811585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4.	 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Determine the Data Partitioning Scheme</a:t>
            </a:r>
          </a:p>
        </p:txBody>
      </p:sp>
      <p:graphicFrame>
        <p:nvGraphicFramePr>
          <p:cNvPr id="290328" name="Group 536">
            <a:extLst>
              <a:ext uri="{FF2B5EF4-FFF2-40B4-BE49-F238E27FC236}">
                <a16:creationId xmlns:a16="http://schemas.microsoft.com/office/drawing/2014/main" id="{0891183D-2885-4D30-57E5-72668BA3CB0E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3048000"/>
          <a:ext cx="7543800" cy="2743200"/>
        </p:xfrm>
        <a:graphic>
          <a:graphicData uri="http://schemas.openxmlformats.org/drawingml/2006/table">
            <a:tbl>
              <a:tblPr/>
              <a:tblGrid>
                <a:gridCol w="712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2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Code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Desc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Price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Cat 1 code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Cat 1 desc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Cat 2 code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Cat 2 desc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Cat 3 code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Cat 3 desc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Banana split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Several bananas, etc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$4.95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Frozen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Indulgent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Brownie sundae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Large pieces of brownie, etc.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$3.95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Cake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Frozen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Indulgent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Yogurt parfait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Low fat yogurt, etc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$2.95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Healthy choice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frozen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1807" name="Group 539">
            <a:extLst>
              <a:ext uri="{FF2B5EF4-FFF2-40B4-BE49-F238E27FC236}">
                <a16:creationId xmlns:a16="http://schemas.microsoft.com/office/drawing/2014/main" id="{9F185903-2CAF-331A-C1E3-B50D9D203737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5943600"/>
            <a:ext cx="1600200" cy="609600"/>
            <a:chOff x="480" y="3504"/>
            <a:chExt cx="1008" cy="384"/>
          </a:xfrm>
        </p:grpSpPr>
        <p:sp>
          <p:nvSpPr>
            <p:cNvPr id="31810" name="AutoShape 537">
              <a:extLst>
                <a:ext uri="{FF2B5EF4-FFF2-40B4-BE49-F238E27FC236}">
                  <a16:creationId xmlns:a16="http://schemas.microsoft.com/office/drawing/2014/main" id="{A0854691-237E-EECB-9D67-CAFC570C1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504"/>
              <a:ext cx="1008" cy="384"/>
            </a:xfrm>
            <a:prstGeom prst="wedgeRoundRectCallout">
              <a:avLst>
                <a:gd name="adj1" fmla="val 109819"/>
                <a:gd name="adj2" fmla="val -229690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algn="ctr" eaLnBrk="1" hangingPunct="1"/>
              <a:endParaRPr lang="en-US" altLang="en-US">
                <a:latin typeface="Arial" panose="020B0604020202020204" pitchFamily="34" charset="0"/>
              </a:endParaRPr>
            </a:p>
          </p:txBody>
        </p:sp>
        <p:sp>
          <p:nvSpPr>
            <p:cNvPr id="31811" name="Text Box 538">
              <a:extLst>
                <a:ext uri="{FF2B5EF4-FFF2-40B4-BE49-F238E27FC236}">
                  <a16:creationId xmlns:a16="http://schemas.microsoft.com/office/drawing/2014/main" id="{8F6B2A9C-91B4-869B-822E-B42EA267F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552"/>
              <a:ext cx="9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000">
                  <a:latin typeface="Arial" panose="020B0604020202020204" pitchFamily="34" charset="0"/>
                </a:rPr>
                <a:t>Horizontal partitioning if too many rows</a:t>
              </a:r>
            </a:p>
          </p:txBody>
        </p:sp>
      </p:grpSp>
      <p:sp>
        <p:nvSpPr>
          <p:cNvPr id="31808" name="AutoShape 541">
            <a:extLst>
              <a:ext uri="{FF2B5EF4-FFF2-40B4-BE49-F238E27FC236}">
                <a16:creationId xmlns:a16="http://schemas.microsoft.com/office/drawing/2014/main" id="{38640E27-B9AF-57D5-B052-834D2228C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057400"/>
            <a:ext cx="2514600" cy="914400"/>
          </a:xfrm>
          <a:prstGeom prst="wedgeRoundRectCallout">
            <a:avLst>
              <a:gd name="adj1" fmla="val -171764"/>
              <a:gd name="adj2" fmla="val 14034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809" name="Text Box 542">
            <a:extLst>
              <a:ext uri="{FF2B5EF4-FFF2-40B4-BE49-F238E27FC236}">
                <a16:creationId xmlns:a16="http://schemas.microsoft.com/office/drawing/2014/main" id="{B1E35E29-0FC8-4ACF-0BBA-A9C4AA4D5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2133601"/>
            <a:ext cx="2057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000">
                <a:latin typeface="Arial" panose="020B0604020202020204" pitchFamily="34" charset="0"/>
              </a:rPr>
              <a:t>Vertical partitioning: to store Dessert price amount in its own table as it might change much more frequently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EF2856E-375C-D463-CF55-C244ACA88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096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3795" name="Footer Placeholder 1">
            <a:extLst>
              <a:ext uri="{FF2B5EF4-FFF2-40B4-BE49-F238E27FC236}">
                <a16:creationId xmlns:a16="http://schemas.microsoft.com/office/drawing/2014/main" id="{5C93D7DD-5828-0C91-7C72-7BE93885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33796" name="Slide Number Placeholder 2">
            <a:extLst>
              <a:ext uri="{FF2B5EF4-FFF2-40B4-BE49-F238E27FC236}">
                <a16:creationId xmlns:a16="http://schemas.microsoft.com/office/drawing/2014/main" id="{128732B0-4636-6D9A-EA63-3FD87CAB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44947BF-2D94-460F-87EA-F182090FE09B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3797" name="Text Box 3">
            <a:extLst>
              <a:ext uri="{FF2B5EF4-FFF2-40B4-BE49-F238E27FC236}">
                <a16:creationId xmlns:a16="http://schemas.microsoft.com/office/drawing/2014/main" id="{806AD02A-E906-1788-BC90-83CF16807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48435"/>
            <a:ext cx="7391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5.	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Prepare an Indexing Strategy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 Unlike OLTP system, data warehouse is query-centric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Create Indexing plan to support query performance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 Indexing is very specific to the DBMS (so please check it)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DEB8C00-FF01-073C-BEA0-2FB5F5F15A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35843" name="Footer Placeholder 1">
            <a:extLst>
              <a:ext uri="{FF2B5EF4-FFF2-40B4-BE49-F238E27FC236}">
                <a16:creationId xmlns:a16="http://schemas.microsoft.com/office/drawing/2014/main" id="{3310DDE1-888D-C0D1-25B6-561C1836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35844" name="Slide Number Placeholder 2">
            <a:extLst>
              <a:ext uri="{FF2B5EF4-FFF2-40B4-BE49-F238E27FC236}">
                <a16:creationId xmlns:a16="http://schemas.microsoft.com/office/drawing/2014/main" id="{35D841C2-EFAD-9590-40C0-A6837808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812EE66-7E6C-4A0A-8B16-2B1435D42184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5845" name="Text Box 3">
            <a:extLst>
              <a:ext uri="{FF2B5EF4-FFF2-40B4-BE49-F238E27FC236}">
                <a16:creationId xmlns:a16="http://schemas.microsoft.com/office/drawing/2014/main" id="{545E694F-D533-5513-DC49-C8B94F78A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541" y="2061883"/>
            <a:ext cx="72390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</a:t>
            </a:r>
            <a:r>
              <a:rPr lang="en-US" altLang="en-US" sz="2400" b="1" dirty="0" err="1">
                <a:latin typeface="Tahoma" panose="020B0604030504040204" pitchFamily="34" charset="0"/>
              </a:rPr>
              <a:t>i</a:t>
            </a:r>
            <a:r>
              <a:rPr lang="en-US" altLang="en-US" sz="2400" b="1" dirty="0">
                <a:latin typeface="Tahoma" panose="020B0604030504040204" pitchFamily="34" charset="0"/>
              </a:rPr>
              <a:t>).  Why indexing is important in DW?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Indexing is important in any DB application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Indexing is very important in Data Warehouse as it is very “query-centric”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Types of indexes supported:</a:t>
            </a:r>
          </a:p>
          <a:p>
            <a:pPr lvl="2">
              <a:spcBef>
                <a:spcPts val="1200"/>
              </a:spcBef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  Index sequential </a:t>
            </a:r>
          </a:p>
          <a:p>
            <a:pPr lvl="2">
              <a:spcBef>
                <a:spcPts val="1200"/>
              </a:spcBef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  B-Tree indexing</a:t>
            </a:r>
          </a:p>
          <a:p>
            <a:pPr lvl="2">
              <a:spcBef>
                <a:spcPts val="1200"/>
              </a:spcBef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  Bit-mapped indexing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F5CF338-BFBB-842A-A2F4-664DFDE04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37891" name="Footer Placeholder 1">
            <a:extLst>
              <a:ext uri="{FF2B5EF4-FFF2-40B4-BE49-F238E27FC236}">
                <a16:creationId xmlns:a16="http://schemas.microsoft.com/office/drawing/2014/main" id="{679D233C-0816-A722-FE1A-401803C5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37892" name="Slide Number Placeholder 2">
            <a:extLst>
              <a:ext uri="{FF2B5EF4-FFF2-40B4-BE49-F238E27FC236}">
                <a16:creationId xmlns:a16="http://schemas.microsoft.com/office/drawing/2014/main" id="{62409CA1-AAB5-51BE-EBA3-BA559253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0F74CC4-09AB-4866-B239-827F829951DE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893" name="Text Box 3">
            <a:extLst>
              <a:ext uri="{FF2B5EF4-FFF2-40B4-BE49-F238E27FC236}">
                <a16:creationId xmlns:a16="http://schemas.microsoft.com/office/drawing/2014/main" id="{5576ED41-806A-4D3D-E942-1DF829CB0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694" y="1985683"/>
            <a:ext cx="8229600" cy="357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(ii).  Indexing Issues in Data Warehouse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Indexes and Loading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ahoma" panose="020B0604030504040204" pitchFamily="34" charset="0"/>
              </a:rPr>
              <a:t>  </a:t>
            </a:r>
            <a:r>
              <a:rPr lang="en-US" altLang="en-US" sz="2000" dirty="0">
                <a:latin typeface="Times New Roman" panose="02020603050405020304" pitchFamily="18" charset="0"/>
              </a:rPr>
              <a:t>When you have many indexes, loading of data in the warehouse slows down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The problem is more acute at the time of initial load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one solution -  kill the indexes before the load and after the load 	is complete recreate the indexes</a:t>
            </a:r>
          </a:p>
          <a:p>
            <a:pPr lvl="2" eaLnBrk="1" hangingPunct="1">
              <a:spcBef>
                <a:spcPct val="50000"/>
              </a:spcBef>
            </a:pP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BF8550C-381A-D9D7-D968-94FF9952FD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39939" name="Footer Placeholder 1">
            <a:extLst>
              <a:ext uri="{FF2B5EF4-FFF2-40B4-BE49-F238E27FC236}">
                <a16:creationId xmlns:a16="http://schemas.microsoft.com/office/drawing/2014/main" id="{43D7C0CB-524E-9A3F-7587-EF9F37CBA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39940" name="Slide Number Placeholder 2">
            <a:extLst>
              <a:ext uri="{FF2B5EF4-FFF2-40B4-BE49-F238E27FC236}">
                <a16:creationId xmlns:a16="http://schemas.microsoft.com/office/drawing/2014/main" id="{AE6808C9-CF76-1590-371C-6C8C399C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A6871F-5E23-4D17-A860-89B8226B227A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9941" name="Text Box 3">
            <a:extLst>
              <a:ext uri="{FF2B5EF4-FFF2-40B4-BE49-F238E27FC236}">
                <a16:creationId xmlns:a16="http://schemas.microsoft.com/office/drawing/2014/main" id="{C8B62476-1EFA-018D-3661-95899882C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7023" y="1931894"/>
            <a:ext cx="7239000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(ii).  Indexing Issues in Data Warehouse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Index-Only Records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 Remember that any DBMS will read index record first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 Add columns in the index record to provide for other 	information so that unnecessary records are not 	read.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Selecting Columns for Indexing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Examine the queries and see which columns are being 	used frequently</a:t>
            </a:r>
          </a:p>
          <a:p>
            <a:pPr lvl="2" eaLnBrk="1" hangingPunct="1">
              <a:spcBef>
                <a:spcPct val="50000"/>
              </a:spcBef>
            </a:pP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A0AABFBA-A854-6A64-69A8-D66125731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41987" name="Footer Placeholder 1">
            <a:extLst>
              <a:ext uri="{FF2B5EF4-FFF2-40B4-BE49-F238E27FC236}">
                <a16:creationId xmlns:a16="http://schemas.microsoft.com/office/drawing/2014/main" id="{DA35A1BE-C2B9-4160-FBC3-5FA9E621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41988" name="Slide Number Placeholder 2">
            <a:extLst>
              <a:ext uri="{FF2B5EF4-FFF2-40B4-BE49-F238E27FC236}">
                <a16:creationId xmlns:a16="http://schemas.microsoft.com/office/drawing/2014/main" id="{A0AE9B6D-B2F8-0E87-D549-3AB45C7B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0179E73-61D3-460F-9152-3020008ABAC1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989" name="Text Box 3">
            <a:extLst>
              <a:ext uri="{FF2B5EF4-FFF2-40B4-BE49-F238E27FC236}">
                <a16:creationId xmlns:a16="http://schemas.microsoft.com/office/drawing/2014/main" id="{321F48CF-92B7-DA23-283C-4738B3D9D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094" y="2104431"/>
            <a:ext cx="7239000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(ii).  Indexing Issues in Data Warehouse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Indexing for Large Tables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When the table is too large, many indexes for this table 	can create problems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In such cases, consider splitting the table and then create 	indexes</a:t>
            </a:r>
          </a:p>
          <a:p>
            <a:pPr lvl="2" eaLnBrk="1" hangingPunct="1">
              <a:spcBef>
                <a:spcPct val="50000"/>
              </a:spcBef>
            </a:pP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8CF710E-0BD7-B9E8-8F2B-3568CEA72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44035" name="Footer Placeholder 1">
            <a:extLst>
              <a:ext uri="{FF2B5EF4-FFF2-40B4-BE49-F238E27FC236}">
                <a16:creationId xmlns:a16="http://schemas.microsoft.com/office/drawing/2014/main" id="{E02CFBF4-0AFF-3793-DB7F-97A55328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44036" name="Slide Number Placeholder 2">
            <a:extLst>
              <a:ext uri="{FF2B5EF4-FFF2-40B4-BE49-F238E27FC236}">
                <a16:creationId xmlns:a16="http://schemas.microsoft.com/office/drawing/2014/main" id="{3998366D-BF7C-3B95-8231-77D3A7754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D6A833-D70F-4352-AA4B-DADEAD13A794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4037" name="Text Box 3">
            <a:extLst>
              <a:ext uri="{FF2B5EF4-FFF2-40B4-BE49-F238E27FC236}">
                <a16:creationId xmlns:a16="http://schemas.microsoft.com/office/drawing/2014/main" id="{D49A26E7-177B-E72E-8189-8C22F253A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483" y="1976718"/>
            <a:ext cx="7239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(iii).  Indexing Types -- B-Tree Index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B-Tree is a hierarchical levels of “index records”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The lowest level index records point the rows in the data tables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If a column has many unique vales, then the selectivity of the column is said to high.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In a “sales territory” dimension table, the “city” column has high selectivity and should be used for Indexing.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For some columns, the selectivity may not be there.  You can make the selectivity of columns higher by concatenating the columns --- but this increases the size of the “index” file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2C76C90-E7BF-1F49-764D-BDC7E818C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46083" name="Footer Placeholder 1">
            <a:extLst>
              <a:ext uri="{FF2B5EF4-FFF2-40B4-BE49-F238E27FC236}">
                <a16:creationId xmlns:a16="http://schemas.microsoft.com/office/drawing/2014/main" id="{433B03B3-6731-7CF2-E861-4FCEB6A5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46084" name="Slide Number Placeholder 2">
            <a:extLst>
              <a:ext uri="{FF2B5EF4-FFF2-40B4-BE49-F238E27FC236}">
                <a16:creationId xmlns:a16="http://schemas.microsoft.com/office/drawing/2014/main" id="{57F73CA5-B74E-CF97-B5A9-0600FDA5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E5E21D-4FA9-4D59-810B-EC592AEE92D6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6085" name="Text Box 3">
            <a:extLst>
              <a:ext uri="{FF2B5EF4-FFF2-40B4-BE49-F238E27FC236}">
                <a16:creationId xmlns:a16="http://schemas.microsoft.com/office/drawing/2014/main" id="{808CD395-5F59-9B89-BF21-C92EF64F0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88879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(iii).  Indexing Types -- B-Tree Index</a:t>
            </a:r>
          </a:p>
        </p:txBody>
      </p:sp>
      <p:sp>
        <p:nvSpPr>
          <p:cNvPr id="46086" name="Text Box 4">
            <a:extLst>
              <a:ext uri="{FF2B5EF4-FFF2-40B4-BE49-F238E27FC236}">
                <a16:creationId xmlns:a16="http://schemas.microsoft.com/office/drawing/2014/main" id="{D284A869-F942-F22D-526D-741BEFFE4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514600"/>
            <a:ext cx="685800" cy="5159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A- K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L - Z</a:t>
            </a:r>
          </a:p>
        </p:txBody>
      </p:sp>
      <p:sp>
        <p:nvSpPr>
          <p:cNvPr id="46087" name="Text Box 5">
            <a:extLst>
              <a:ext uri="{FF2B5EF4-FFF2-40B4-BE49-F238E27FC236}">
                <a16:creationId xmlns:a16="http://schemas.microsoft.com/office/drawing/2014/main" id="{AE7F24E6-137F-23B5-6591-C52BF613D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29001"/>
            <a:ext cx="762000" cy="784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A – D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E – G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H -K</a:t>
            </a:r>
          </a:p>
        </p:txBody>
      </p:sp>
      <p:sp>
        <p:nvSpPr>
          <p:cNvPr id="46088" name="Text Box 6">
            <a:extLst>
              <a:ext uri="{FF2B5EF4-FFF2-40B4-BE49-F238E27FC236}">
                <a16:creationId xmlns:a16="http://schemas.microsoft.com/office/drawing/2014/main" id="{96A194B0-C1CA-9D78-47D3-3E9752A5D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505201"/>
            <a:ext cx="762000" cy="784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L - O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P - R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S - Z</a:t>
            </a:r>
          </a:p>
        </p:txBody>
      </p:sp>
      <p:sp>
        <p:nvSpPr>
          <p:cNvPr id="46089" name="Text Box 7">
            <a:extLst>
              <a:ext uri="{FF2B5EF4-FFF2-40B4-BE49-F238E27FC236}">
                <a16:creationId xmlns:a16="http://schemas.microsoft.com/office/drawing/2014/main" id="{240466B1-5193-44DF-F21F-142879E5E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953001"/>
            <a:ext cx="1219200" cy="784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ALLEN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BUSH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CLYNE</a:t>
            </a:r>
          </a:p>
        </p:txBody>
      </p:sp>
      <p:sp>
        <p:nvSpPr>
          <p:cNvPr id="46090" name="Text Box 8">
            <a:extLst>
              <a:ext uri="{FF2B5EF4-FFF2-40B4-BE49-F238E27FC236}">
                <a16:creationId xmlns:a16="http://schemas.microsoft.com/office/drawing/2014/main" id="{8F045EF9-D069-06F8-126C-05D9C4F0F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953001"/>
            <a:ext cx="1066800" cy="784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ENGEL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FARIS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GORE</a:t>
            </a:r>
          </a:p>
        </p:txBody>
      </p:sp>
      <p:sp>
        <p:nvSpPr>
          <p:cNvPr id="46091" name="Text Box 9">
            <a:extLst>
              <a:ext uri="{FF2B5EF4-FFF2-40B4-BE49-F238E27FC236}">
                <a16:creationId xmlns:a16="http://schemas.microsoft.com/office/drawing/2014/main" id="{B165427E-2386-CC77-0841-CC40728E2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876801"/>
            <a:ext cx="990600" cy="957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LOEWE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MAHER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NIXON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OTIO</a:t>
            </a:r>
          </a:p>
        </p:txBody>
      </p:sp>
      <p:sp>
        <p:nvSpPr>
          <p:cNvPr id="46092" name="Text Box 10">
            <a:extLst>
              <a:ext uri="{FF2B5EF4-FFF2-40B4-BE49-F238E27FC236}">
                <a16:creationId xmlns:a16="http://schemas.microsoft.com/office/drawing/2014/main" id="{8ED828FA-8632-9D99-2D8D-3B77DBA8F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953001"/>
            <a:ext cx="914400" cy="1052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HAIG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IGNAR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JONES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KUMAR</a:t>
            </a:r>
          </a:p>
        </p:txBody>
      </p:sp>
      <p:sp>
        <p:nvSpPr>
          <p:cNvPr id="46093" name="Text Box 11">
            <a:extLst>
              <a:ext uri="{FF2B5EF4-FFF2-40B4-BE49-F238E27FC236}">
                <a16:creationId xmlns:a16="http://schemas.microsoft.com/office/drawing/2014/main" id="{55E17614-53AB-C57F-C9DE-170DBB829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876800"/>
            <a:ext cx="914400" cy="7127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PAINED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QUINN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RAJ</a:t>
            </a:r>
          </a:p>
        </p:txBody>
      </p:sp>
      <p:sp>
        <p:nvSpPr>
          <p:cNvPr id="46094" name="Line 14">
            <a:extLst>
              <a:ext uri="{FF2B5EF4-FFF2-40B4-BE49-F238E27FC236}">
                <a16:creationId xmlns:a16="http://schemas.microsoft.com/office/drawing/2014/main" id="{C4F193F8-CA79-B01C-DB6C-C524274E84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5052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5" name="Line 15">
            <a:extLst>
              <a:ext uri="{FF2B5EF4-FFF2-40B4-BE49-F238E27FC236}">
                <a16:creationId xmlns:a16="http://schemas.microsoft.com/office/drawing/2014/main" id="{98A379C1-E8D8-1A58-77EB-40108BB0B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810000"/>
            <a:ext cx="533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6" name="Line 16">
            <a:extLst>
              <a:ext uri="{FF2B5EF4-FFF2-40B4-BE49-F238E27FC236}">
                <a16:creationId xmlns:a16="http://schemas.microsoft.com/office/drawing/2014/main" id="{F1B6EFC0-59E8-D6DD-7137-5409A1F6E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038600"/>
            <a:ext cx="1219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7" name="Line 18">
            <a:extLst>
              <a:ext uri="{FF2B5EF4-FFF2-40B4-BE49-F238E27FC236}">
                <a16:creationId xmlns:a16="http://schemas.microsoft.com/office/drawing/2014/main" id="{E8A5255B-A4D1-1CDA-1C81-7BD31E5EEC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505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8" name="Line 19">
            <a:extLst>
              <a:ext uri="{FF2B5EF4-FFF2-40B4-BE49-F238E27FC236}">
                <a16:creationId xmlns:a16="http://schemas.microsoft.com/office/drawing/2014/main" id="{6A64E186-0E36-C628-3C3D-CB018605FE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9" name="Line 22">
            <a:extLst>
              <a:ext uri="{FF2B5EF4-FFF2-40B4-BE49-F238E27FC236}">
                <a16:creationId xmlns:a16="http://schemas.microsoft.com/office/drawing/2014/main" id="{1743C0F7-074F-0CC4-23AD-5F9EED70D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819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0" name="Line 23">
            <a:extLst>
              <a:ext uri="{FF2B5EF4-FFF2-40B4-BE49-F238E27FC236}">
                <a16:creationId xmlns:a16="http://schemas.microsoft.com/office/drawing/2014/main" id="{CA0BAD32-CEEF-8F87-55EF-8BA760D9E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819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1" name="Line 24">
            <a:extLst>
              <a:ext uri="{FF2B5EF4-FFF2-40B4-BE49-F238E27FC236}">
                <a16:creationId xmlns:a16="http://schemas.microsoft.com/office/drawing/2014/main" id="{00D1C780-D51F-94EE-D701-40FBF7D9DA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2590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2" name="Line 25">
            <a:extLst>
              <a:ext uri="{FF2B5EF4-FFF2-40B4-BE49-F238E27FC236}">
                <a16:creationId xmlns:a16="http://schemas.microsoft.com/office/drawing/2014/main" id="{E9D15295-8328-8484-8176-D4E3E1AAF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590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3" name="Line 26">
            <a:extLst>
              <a:ext uri="{FF2B5EF4-FFF2-40B4-BE49-F238E27FC236}">
                <a16:creationId xmlns:a16="http://schemas.microsoft.com/office/drawing/2014/main" id="{E597D3CD-A883-FC73-6689-4E44CFAC0A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3581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4" name="Line 27">
            <a:extLst>
              <a:ext uri="{FF2B5EF4-FFF2-40B4-BE49-F238E27FC236}">
                <a16:creationId xmlns:a16="http://schemas.microsoft.com/office/drawing/2014/main" id="{FDF30500-FD2D-FA5B-3DC7-A28E18EC7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581400"/>
            <a:ext cx="381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5" name="Line 28">
            <a:extLst>
              <a:ext uri="{FF2B5EF4-FFF2-40B4-BE49-F238E27FC236}">
                <a16:creationId xmlns:a16="http://schemas.microsoft.com/office/drawing/2014/main" id="{7C52FC7F-DDEA-EE71-4321-949B0FA11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3886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6" name="Line 29">
            <a:extLst>
              <a:ext uri="{FF2B5EF4-FFF2-40B4-BE49-F238E27FC236}">
                <a16:creationId xmlns:a16="http://schemas.microsoft.com/office/drawing/2014/main" id="{24B3056F-E0EC-974E-16CE-EE81FBF81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3886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7" name="Line 30">
            <a:extLst>
              <a:ext uri="{FF2B5EF4-FFF2-40B4-BE49-F238E27FC236}">
                <a16:creationId xmlns:a16="http://schemas.microsoft.com/office/drawing/2014/main" id="{C64A9EE4-048F-3E6C-13C4-9A41E9530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562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8" name="Line 31">
            <a:extLst>
              <a:ext uri="{FF2B5EF4-FFF2-40B4-BE49-F238E27FC236}">
                <a16:creationId xmlns:a16="http://schemas.microsoft.com/office/drawing/2014/main" id="{48A4F4F7-B197-B260-5F75-ED504B70B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56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9" name="Line 32">
            <a:extLst>
              <a:ext uri="{FF2B5EF4-FFF2-40B4-BE49-F238E27FC236}">
                <a16:creationId xmlns:a16="http://schemas.microsoft.com/office/drawing/2014/main" id="{8F70E22A-8C5D-C35A-11FE-6C92F849D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486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0" name="Line 33">
            <a:extLst>
              <a:ext uri="{FF2B5EF4-FFF2-40B4-BE49-F238E27FC236}">
                <a16:creationId xmlns:a16="http://schemas.microsoft.com/office/drawing/2014/main" id="{5CE47960-5658-E384-7743-F3A957E71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5410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1" name="Line 34">
            <a:extLst>
              <a:ext uri="{FF2B5EF4-FFF2-40B4-BE49-F238E27FC236}">
                <a16:creationId xmlns:a16="http://schemas.microsoft.com/office/drawing/2014/main" id="{E9F60310-98A6-CD00-862B-4983C7D859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105400"/>
            <a:ext cx="304800" cy="1066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12" name="Text Box 36">
            <a:extLst>
              <a:ext uri="{FF2B5EF4-FFF2-40B4-BE49-F238E27FC236}">
                <a16:creationId xmlns:a16="http://schemas.microsoft.com/office/drawing/2014/main" id="{5AAFCE2F-6C7D-7048-A4D0-BBBBE47C1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6172200"/>
            <a:ext cx="213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>
                <a:latin typeface="Tahoma" panose="020B0604030504040204" pitchFamily="34" charset="0"/>
              </a:rPr>
              <a:t>Pointers to data rows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>
            <a:extLst>
              <a:ext uri="{FF2B5EF4-FFF2-40B4-BE49-F238E27FC236}">
                <a16:creationId xmlns:a16="http://schemas.microsoft.com/office/drawing/2014/main" id="{B05FCBC9-B218-3182-B919-B2EE5A127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48131" name="Footer Placeholder 1">
            <a:extLst>
              <a:ext uri="{FF2B5EF4-FFF2-40B4-BE49-F238E27FC236}">
                <a16:creationId xmlns:a16="http://schemas.microsoft.com/office/drawing/2014/main" id="{F96A7762-603C-8DE4-798C-AF5511E4A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48132" name="Slide Number Placeholder 2">
            <a:extLst>
              <a:ext uri="{FF2B5EF4-FFF2-40B4-BE49-F238E27FC236}">
                <a16:creationId xmlns:a16="http://schemas.microsoft.com/office/drawing/2014/main" id="{2B9E7C03-8E8A-8E15-D0B7-82EAFBD2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1CEBAD8-2D8D-4271-8E4E-332D601223EE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8133" name="Text Box 1027">
            <a:extLst>
              <a:ext uri="{FF2B5EF4-FFF2-40B4-BE49-F238E27FC236}">
                <a16:creationId xmlns:a16="http://schemas.microsoft.com/office/drawing/2014/main" id="{ECB44924-9B96-BEC9-F201-574F8934F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940" y="1793648"/>
            <a:ext cx="8906435" cy="442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(iii).  Indexing Type – Bitmapped Index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Bitmapped is ideally suited for </a:t>
            </a:r>
            <a:r>
              <a:rPr lang="en-US" altLang="en-US" sz="2000" b="1" dirty="0">
                <a:latin typeface="Times New Roman" panose="02020603050405020304" pitchFamily="18" charset="0"/>
              </a:rPr>
              <a:t>low-selectivity</a:t>
            </a:r>
            <a:r>
              <a:rPr lang="en-US" altLang="en-US" sz="2000" dirty="0">
                <a:latin typeface="Times New Roman" panose="02020603050405020304" pitchFamily="18" charset="0"/>
              </a:rPr>
              <a:t> data.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A bitmap is an ordered series of bits, one for each distinct value of the indexed column.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Example: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</a:rPr>
              <a:t>Product Color – 	white      100</a:t>
            </a:r>
          </a:p>
          <a:p>
            <a:pPr lvl="2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dirty="0">
                <a:latin typeface="Times New Roman" panose="02020603050405020304" pitchFamily="18" charset="0"/>
              </a:rPr>
              <a:t>  		almond    010</a:t>
            </a:r>
          </a:p>
          <a:p>
            <a:pPr lvl="1"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altLang="en-US" sz="1400" b="1" dirty="0">
                <a:latin typeface="Tahoma" panose="020B0604030504040204" pitchFamily="34" charset="0"/>
              </a:rPr>
              <a:t> 			</a:t>
            </a:r>
            <a:r>
              <a:rPr lang="en-US" altLang="en-US" sz="1400" dirty="0">
                <a:latin typeface="Times New Roman" panose="02020603050405020304" pitchFamily="18" charset="0"/>
              </a:rPr>
              <a:t>black       001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</a:rPr>
              <a:t>  Product             – 	dishwasher   001</a:t>
            </a:r>
          </a:p>
          <a:p>
            <a:pPr lvl="2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 dirty="0">
                <a:latin typeface="Times New Roman" panose="02020603050405020304" pitchFamily="18" charset="0"/>
              </a:rPr>
              <a:t>  		washer    100</a:t>
            </a:r>
          </a:p>
          <a:p>
            <a:pPr lvl="1"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altLang="en-US" sz="1400" b="1" dirty="0">
                <a:latin typeface="Tahoma" panose="020B0604030504040204" pitchFamily="34" charset="0"/>
              </a:rPr>
              <a:t> 			</a:t>
            </a:r>
            <a:r>
              <a:rPr lang="en-US" altLang="en-US" sz="1400" dirty="0">
                <a:latin typeface="Times New Roman" panose="02020603050405020304" pitchFamily="18" charset="0"/>
              </a:rPr>
              <a:t>dryer       010</a:t>
            </a:r>
          </a:p>
          <a:p>
            <a:pPr lvl="1" eaLnBrk="1" hangingPunct="1">
              <a:lnSpc>
                <a:spcPct val="30000"/>
              </a:lnSpc>
              <a:spcBef>
                <a:spcPct val="50000"/>
              </a:spcBef>
            </a:pPr>
            <a:endParaRPr lang="en-US" altLang="en-US" sz="14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3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1400" dirty="0">
                <a:latin typeface="Times New Roman" panose="02020603050405020304" pitchFamily="18" charset="0"/>
              </a:rPr>
              <a:t> Region	  --	east   1000,     west  0100</a:t>
            </a:r>
          </a:p>
          <a:p>
            <a:pPr lvl="2"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altLang="en-US" sz="1400" dirty="0">
                <a:latin typeface="Times New Roman" panose="02020603050405020304" pitchFamily="18" charset="0"/>
              </a:rPr>
              <a:t>		north 0010,     south 0001</a:t>
            </a:r>
          </a:p>
          <a:p>
            <a:pPr lvl="1" eaLnBrk="1" hangingPunct="1">
              <a:lnSpc>
                <a:spcPct val="30000"/>
              </a:lnSpc>
              <a:spcBef>
                <a:spcPct val="50000"/>
              </a:spcBef>
            </a:pPr>
            <a:endParaRPr lang="en-US" altLang="en-US" sz="1400" b="1" dirty="0">
              <a:latin typeface="Tahoma" panose="020B0604030504040204" pitchFamily="34" charset="0"/>
            </a:endParaRPr>
          </a:p>
        </p:txBody>
      </p:sp>
      <p:sp>
        <p:nvSpPr>
          <p:cNvPr id="48134" name="AutoShape 1028">
            <a:extLst>
              <a:ext uri="{FF2B5EF4-FFF2-40B4-BE49-F238E27FC236}">
                <a16:creationId xmlns:a16="http://schemas.microsoft.com/office/drawing/2014/main" id="{A8F3D973-118A-91A6-21D8-4A9ACA044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505200"/>
            <a:ext cx="20574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n-US" altLang="en-US" sz="1600">
                <a:latin typeface="Tahoma" panose="020B0604030504040204" pitchFamily="34" charset="0"/>
              </a:rPr>
              <a:t>bit mapped indexes</a:t>
            </a:r>
          </a:p>
        </p:txBody>
      </p:sp>
      <p:sp>
        <p:nvSpPr>
          <p:cNvPr id="48135" name="Text Box 1030">
            <a:extLst>
              <a:ext uri="{FF2B5EF4-FFF2-40B4-BE49-F238E27FC236}">
                <a16:creationId xmlns:a16="http://schemas.microsoft.com/office/drawing/2014/main" id="{6DDC35AE-7A5D-081B-7833-B477BCDB7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251325"/>
            <a:ext cx="2895600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1000">
                <a:solidFill>
                  <a:schemeClr val="accent2"/>
                </a:solidFill>
                <a:latin typeface="Arial" panose="020B0604020202020204" pitchFamily="34" charset="0"/>
              </a:rPr>
              <a:t>When a column is said to be </a:t>
            </a:r>
            <a:r>
              <a:rPr lang="en-US" altLang="en-US" sz="1000" b="1">
                <a:solidFill>
                  <a:schemeClr val="accent2"/>
                </a:solidFill>
                <a:latin typeface="Arial" panose="020B0604020202020204" pitchFamily="34" charset="0"/>
              </a:rPr>
              <a:t>highly selective</a:t>
            </a:r>
            <a:r>
              <a:rPr lang="en-US" altLang="en-US" sz="1000">
                <a:solidFill>
                  <a:schemeClr val="accent2"/>
                </a:solidFill>
                <a:latin typeface="Arial" panose="020B0604020202020204" pitchFamily="34" charset="0"/>
              </a:rPr>
              <a:t>, this means that a very low percentage of the total rows possible is returned which is another way of saying that the column contains a lot of unique values. Columns with high selectivity are often the best candidates for indexes. 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1000">
                <a:solidFill>
                  <a:schemeClr val="accent2"/>
                </a:solidFill>
                <a:latin typeface="Arial" panose="020B0604020202020204" pitchFamily="34" charset="0"/>
              </a:rPr>
              <a:t>Columns with </a:t>
            </a:r>
            <a:r>
              <a:rPr lang="en-US" altLang="en-US" sz="1000" b="1">
                <a:solidFill>
                  <a:schemeClr val="accent2"/>
                </a:solidFill>
                <a:latin typeface="Arial" panose="020B0604020202020204" pitchFamily="34" charset="0"/>
              </a:rPr>
              <a:t>low selectivity</a:t>
            </a:r>
            <a:r>
              <a:rPr lang="en-US" altLang="en-US" sz="1000">
                <a:solidFill>
                  <a:schemeClr val="accent2"/>
                </a:solidFill>
                <a:latin typeface="Arial" panose="020B0604020202020204" pitchFamily="34" charset="0"/>
              </a:rPr>
              <a:t>, very few unique values, are often not good candidates for indexes as often the index will be ignored in favor of a table scan or clustered index scan as the index does not offer any benefits to the optimizer.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4E4EB5B-2B5E-D3E3-E343-4DEAFC39F1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50179" name="Footer Placeholder 1">
            <a:extLst>
              <a:ext uri="{FF2B5EF4-FFF2-40B4-BE49-F238E27FC236}">
                <a16:creationId xmlns:a16="http://schemas.microsoft.com/office/drawing/2014/main" id="{1BD698F5-C6A7-5299-6162-2ADB0B5E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50180" name="Slide Number Placeholder 2">
            <a:extLst>
              <a:ext uri="{FF2B5EF4-FFF2-40B4-BE49-F238E27FC236}">
                <a16:creationId xmlns:a16="http://schemas.microsoft.com/office/drawing/2014/main" id="{BEF6E06A-9B19-617B-B176-9B15D95B4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0A5AA0F-1C2B-48DD-B85F-642B4F11B597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0181" name="Text Box 3">
            <a:extLst>
              <a:ext uri="{FF2B5EF4-FFF2-40B4-BE49-F238E27FC236}">
                <a16:creationId xmlns:a16="http://schemas.microsoft.com/office/drawing/2014/main" id="{FA7F8926-BC71-366B-F5A0-201BAA486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676400"/>
            <a:ext cx="7239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(iii).  Indexing Type – Bitmapped Index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endParaRPr lang="en-US" altLang="en-US" sz="1400" b="1" dirty="0">
              <a:latin typeface="Tahoma" panose="020B0604030504040204" pitchFamily="34" charset="0"/>
            </a:endParaRPr>
          </a:p>
        </p:txBody>
      </p:sp>
      <p:graphicFrame>
        <p:nvGraphicFramePr>
          <p:cNvPr id="50182" name="Object 5">
            <a:extLst>
              <a:ext uri="{FF2B5EF4-FFF2-40B4-BE49-F238E27FC236}">
                <a16:creationId xmlns:a16="http://schemas.microsoft.com/office/drawing/2014/main" id="{44D7CF2B-5AAA-F2FE-DF09-7AE8575DAF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376489"/>
          <a:ext cx="5410200" cy="186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248607" imgH="1467307" progId="Excel.Sheet.8">
                  <p:embed/>
                </p:oleObj>
              </mc:Choice>
              <mc:Fallback>
                <p:oleObj name="Worksheet" r:id="rId3" imgW="4248607" imgH="1467307" progId="Excel.Sheet.8">
                  <p:embed/>
                  <p:pic>
                    <p:nvPicPr>
                      <p:cNvPr id="50182" name="Object 5">
                        <a:extLst>
                          <a:ext uri="{FF2B5EF4-FFF2-40B4-BE49-F238E27FC236}">
                            <a16:creationId xmlns:a16="http://schemas.microsoft.com/office/drawing/2014/main" id="{44D7CF2B-5AAA-F2FE-DF09-7AE8575DAF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376489"/>
                        <a:ext cx="5410200" cy="186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11">
            <a:extLst>
              <a:ext uri="{FF2B5EF4-FFF2-40B4-BE49-F238E27FC236}">
                <a16:creationId xmlns:a16="http://schemas.microsoft.com/office/drawing/2014/main" id="{D9EE1089-0FE8-0A1D-AA88-AC5AE2067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1" y="4419601"/>
          <a:ext cx="183832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838554" imgH="657454" progId="Excel.Sheet.8">
                  <p:embed/>
                </p:oleObj>
              </mc:Choice>
              <mc:Fallback>
                <p:oleObj name="Worksheet" r:id="rId5" imgW="1838554" imgH="657454" progId="Excel.Sheet.8">
                  <p:embed/>
                  <p:pic>
                    <p:nvPicPr>
                      <p:cNvPr id="50183" name="Object 11">
                        <a:extLst>
                          <a:ext uri="{FF2B5EF4-FFF2-40B4-BE49-F238E27FC236}">
                            <a16:creationId xmlns:a16="http://schemas.microsoft.com/office/drawing/2014/main" id="{D9EE1089-0FE8-0A1D-AA88-AC5AE2067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4419601"/>
                        <a:ext cx="183832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14">
            <a:extLst>
              <a:ext uri="{FF2B5EF4-FFF2-40B4-BE49-F238E27FC236}">
                <a16:creationId xmlns:a16="http://schemas.microsoft.com/office/drawing/2014/main" id="{3F255DCA-8868-922C-6FFF-B4149F07EE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1" y="4495800"/>
          <a:ext cx="14652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343254" imgH="1467307" progId="Excel.Sheet.8">
                  <p:embed/>
                </p:oleObj>
              </mc:Choice>
              <mc:Fallback>
                <p:oleObj name="Worksheet" r:id="rId7" imgW="1343254" imgH="1467307" progId="Excel.Sheet.8">
                  <p:embed/>
                  <p:pic>
                    <p:nvPicPr>
                      <p:cNvPr id="50184" name="Object 14">
                        <a:extLst>
                          <a:ext uri="{FF2B5EF4-FFF2-40B4-BE49-F238E27FC236}">
                            <a16:creationId xmlns:a16="http://schemas.microsoft.com/office/drawing/2014/main" id="{3F255DCA-8868-922C-6FFF-B4149F07EE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4495800"/>
                        <a:ext cx="146526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15">
            <a:extLst>
              <a:ext uri="{FF2B5EF4-FFF2-40B4-BE49-F238E27FC236}">
                <a16:creationId xmlns:a16="http://schemas.microsoft.com/office/drawing/2014/main" id="{561502A7-9E51-14FC-ADA1-55995B4E7A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4495800"/>
          <a:ext cx="13398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1228954" imgH="1467307" progId="Excel.Sheet.8">
                  <p:embed/>
                </p:oleObj>
              </mc:Choice>
              <mc:Fallback>
                <p:oleObj name="Worksheet" r:id="rId9" imgW="1228954" imgH="1467307" progId="Excel.Sheet.8">
                  <p:embed/>
                  <p:pic>
                    <p:nvPicPr>
                      <p:cNvPr id="50185" name="Object 15">
                        <a:extLst>
                          <a:ext uri="{FF2B5EF4-FFF2-40B4-BE49-F238E27FC236}">
                            <a16:creationId xmlns:a16="http://schemas.microsoft.com/office/drawing/2014/main" id="{561502A7-9E51-14FC-ADA1-55995B4E7A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95800"/>
                        <a:ext cx="133985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6">
            <a:extLst>
              <a:ext uri="{FF2B5EF4-FFF2-40B4-BE49-F238E27FC236}">
                <a16:creationId xmlns:a16="http://schemas.microsoft.com/office/drawing/2014/main" id="{B7C93422-496E-3C25-7FB5-B4F34984E7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1" y="4495800"/>
          <a:ext cx="1533525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343025" imgH="1466850" progId="Excel.Sheet.8">
                  <p:embed/>
                </p:oleObj>
              </mc:Choice>
              <mc:Fallback>
                <p:oleObj name="Worksheet" r:id="rId11" imgW="1343025" imgH="1466850" progId="Excel.Sheet.8">
                  <p:embed/>
                  <p:pic>
                    <p:nvPicPr>
                      <p:cNvPr id="50186" name="Object 16">
                        <a:extLst>
                          <a:ext uri="{FF2B5EF4-FFF2-40B4-BE49-F238E27FC236}">
                            <a16:creationId xmlns:a16="http://schemas.microsoft.com/office/drawing/2014/main" id="{B7C93422-496E-3C25-7FB5-B4F34984E7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4495800"/>
                        <a:ext cx="1533525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7" name="Text Box 17">
            <a:extLst>
              <a:ext uri="{FF2B5EF4-FFF2-40B4-BE49-F238E27FC236}">
                <a16:creationId xmlns:a16="http://schemas.microsoft.com/office/drawing/2014/main" id="{48EC2813-8E08-80EE-CD9F-647796A09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486401"/>
            <a:ext cx="1752600" cy="1125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>
                <a:solidFill>
                  <a:schemeClr val="accent2"/>
                </a:solidFill>
                <a:latin typeface="Tahoma" panose="020B0604030504040204" pitchFamily="34" charset="0"/>
              </a:rPr>
              <a:t>Product –100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400">
                <a:solidFill>
                  <a:schemeClr val="accent2"/>
                </a:solidFill>
                <a:latin typeface="Tahoma" panose="020B0604030504040204" pitchFamily="34" charset="0"/>
              </a:rPr>
              <a:t>Color  -- 010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400">
                <a:solidFill>
                  <a:schemeClr val="accent2"/>
                </a:solidFill>
                <a:latin typeface="Tahoma" panose="020B0604030504040204" pitchFamily="34" charset="0"/>
              </a:rPr>
              <a:t>Region – 1000 or 	0001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50188" name="Line 134">
            <a:extLst>
              <a:ext uri="{FF2B5EF4-FFF2-40B4-BE49-F238E27FC236}">
                <a16:creationId xmlns:a16="http://schemas.microsoft.com/office/drawing/2014/main" id="{C7F8337A-C3A5-2754-C5D9-BDCD019A7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5105400"/>
            <a:ext cx="1524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Text Box 135">
            <a:extLst>
              <a:ext uri="{FF2B5EF4-FFF2-40B4-BE49-F238E27FC236}">
                <a16:creationId xmlns:a16="http://schemas.microsoft.com/office/drawing/2014/main" id="{A8DEAE81-7CFB-E9DD-1D32-B583C1076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2362200"/>
            <a:ext cx="1143000" cy="1557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 dirty="0">
                <a:solidFill>
                  <a:schemeClr val="accent2"/>
                </a:solidFill>
                <a:latin typeface="Arial" charset="0"/>
              </a:rPr>
              <a:t>Pick columns that have low selectivity for indexing</a:t>
            </a:r>
          </a:p>
          <a:p>
            <a:pPr marL="228600" indent="-228600">
              <a:spcBef>
                <a:spcPct val="50000"/>
              </a:spcBef>
              <a:buFontTx/>
              <a:buAutoNum type="alphaLcParenBoth"/>
              <a:defRPr/>
            </a:pPr>
            <a:r>
              <a:rPr lang="en-US" sz="1050" dirty="0">
                <a:solidFill>
                  <a:schemeClr val="accent2"/>
                </a:solidFill>
                <a:latin typeface="Arial" charset="0"/>
              </a:rPr>
              <a:t>Product</a:t>
            </a:r>
          </a:p>
          <a:p>
            <a:pPr marL="228600" indent="-228600">
              <a:spcBef>
                <a:spcPct val="50000"/>
              </a:spcBef>
              <a:buFontTx/>
              <a:buAutoNum type="alphaLcParenBoth"/>
              <a:defRPr/>
            </a:pPr>
            <a:r>
              <a:rPr lang="en-US" sz="1050" dirty="0">
                <a:solidFill>
                  <a:schemeClr val="accent2"/>
                </a:solidFill>
                <a:latin typeface="Arial" charset="0"/>
              </a:rPr>
              <a:t>Color</a:t>
            </a:r>
          </a:p>
          <a:p>
            <a:pPr marL="228600" indent="-228600">
              <a:spcBef>
                <a:spcPct val="50000"/>
              </a:spcBef>
              <a:buFontTx/>
              <a:buAutoNum type="alphaLcParenBoth"/>
              <a:defRPr/>
            </a:pPr>
            <a:r>
              <a:rPr lang="en-US" sz="1050" dirty="0">
                <a:solidFill>
                  <a:schemeClr val="accent2"/>
                </a:solidFill>
                <a:latin typeface="Arial" charset="0"/>
              </a:rPr>
              <a:t>Region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2E6D124-F1A0-FD3F-1A0A-C4531D5F7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52227" name="Footer Placeholder 1">
            <a:extLst>
              <a:ext uri="{FF2B5EF4-FFF2-40B4-BE49-F238E27FC236}">
                <a16:creationId xmlns:a16="http://schemas.microsoft.com/office/drawing/2014/main" id="{912C342F-7029-F730-3321-1E725BF77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52228" name="Slide Number Placeholder 2">
            <a:extLst>
              <a:ext uri="{FF2B5EF4-FFF2-40B4-BE49-F238E27FC236}">
                <a16:creationId xmlns:a16="http://schemas.microsoft.com/office/drawing/2014/main" id="{D1781AC4-6A13-CE7E-7F93-9934C3D4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45C3F60-0FD7-465C-B5D7-64901BBDCF48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2229" name="Text Box 3">
            <a:extLst>
              <a:ext uri="{FF2B5EF4-FFF2-40B4-BE49-F238E27FC236}">
                <a16:creationId xmlns:a16="http://schemas.microsoft.com/office/drawing/2014/main" id="{06ABB489-A4C8-EA75-FAD4-B88351B1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6980" y="2036323"/>
            <a:ext cx="7239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(iv). Indexing Type – Clustered Index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Does not use a separate data record and segment record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All index data and real data are in one place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Improve performance as the disk look up is reduced – one read gets data and index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endParaRPr lang="en-US" altLang="en-US" sz="1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E25420C0-FED5-C3FF-366A-AE5B1301E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54275" name="Footer Placeholder 1">
            <a:extLst>
              <a:ext uri="{FF2B5EF4-FFF2-40B4-BE49-F238E27FC236}">
                <a16:creationId xmlns:a16="http://schemas.microsoft.com/office/drawing/2014/main" id="{DCAA41EE-2674-EE99-482A-AC87D5FE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54276" name="Slide Number Placeholder 2">
            <a:extLst>
              <a:ext uri="{FF2B5EF4-FFF2-40B4-BE49-F238E27FC236}">
                <a16:creationId xmlns:a16="http://schemas.microsoft.com/office/drawing/2014/main" id="{81657113-B809-4D93-735E-7F1F189C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3F67C40-018D-4484-8824-AC43CFF353E1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4277" name="Text Box 1027">
            <a:extLst>
              <a:ext uri="{FF2B5EF4-FFF2-40B4-BE49-F238E27FC236}">
                <a16:creationId xmlns:a16="http://schemas.microsoft.com/office/drawing/2014/main" id="{7490ADE6-3279-DAC6-C523-35572B2C4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2205317"/>
            <a:ext cx="7841876" cy="338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(v).  Indexing Fact Table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the primary key of the fact table is the primary keys of all dimension tables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Create a B-Tree Index on the “full” primary key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Carefully design the order of the full concatenated key for indexing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 Bitmapped indexes do not apply to fact table as there is no low-selectivity column in the fact table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etc.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96BF6B5-8BE7-40B0-258E-86E567C29E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Indexing the Data Warehouse</a:t>
            </a:r>
          </a:p>
        </p:txBody>
      </p:sp>
      <p:sp>
        <p:nvSpPr>
          <p:cNvPr id="56323" name="Footer Placeholder 1">
            <a:extLst>
              <a:ext uri="{FF2B5EF4-FFF2-40B4-BE49-F238E27FC236}">
                <a16:creationId xmlns:a16="http://schemas.microsoft.com/office/drawing/2014/main" id="{43B395D7-E9D2-906A-96B7-0ABE2E8B5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56324" name="Slide Number Placeholder 2">
            <a:extLst>
              <a:ext uri="{FF2B5EF4-FFF2-40B4-BE49-F238E27FC236}">
                <a16:creationId xmlns:a16="http://schemas.microsoft.com/office/drawing/2014/main" id="{18D5AE6E-99B8-3566-6081-90EA98F0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C7B74F-39EE-4470-BEF7-4617575FB7F6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6325" name="Text Box 3">
            <a:extLst>
              <a:ext uri="{FF2B5EF4-FFF2-40B4-BE49-F238E27FC236}">
                <a16:creationId xmlns:a16="http://schemas.microsoft.com/office/drawing/2014/main" id="{B62D0ED2-3418-1755-84A0-497851B7C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271" y="2048436"/>
            <a:ext cx="8341658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(vi). Indexing the Dimension Table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latin typeface="Times New Roman" panose="02020603050405020304" pitchFamily="18" charset="0"/>
              </a:rPr>
              <a:t>Columns of the dimensional table are used for the predicates of queries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Create a unique B-Tree index on single-column primary key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Examine the columns that are commonly used to constrain queries.  These are actually ready for bitmapped indexing.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Look for columns that are frequently accessed together in large dimension tables – think about multicolumn indexes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C9CEC72-361E-CD4D-EBF7-B66B41E21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858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58371" name="Footer Placeholder 1">
            <a:extLst>
              <a:ext uri="{FF2B5EF4-FFF2-40B4-BE49-F238E27FC236}">
                <a16:creationId xmlns:a16="http://schemas.microsoft.com/office/drawing/2014/main" id="{1B66AB67-293D-4B32-AFA1-C090AE749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58372" name="Slide Number Placeholder 2">
            <a:extLst>
              <a:ext uri="{FF2B5EF4-FFF2-40B4-BE49-F238E27FC236}">
                <a16:creationId xmlns:a16="http://schemas.microsoft.com/office/drawing/2014/main" id="{ECBC1D2F-030A-B990-5108-F41F4B98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23429F5-027A-48A1-8945-770B12F1D6D3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8373" name="Text Box 3">
            <a:extLst>
              <a:ext uri="{FF2B5EF4-FFF2-40B4-BE49-F238E27FC236}">
                <a16:creationId xmlns:a16="http://schemas.microsoft.com/office/drawing/2014/main" id="{8AF78BA6-F1E2-C35B-EC29-F8171B48F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05000"/>
            <a:ext cx="76200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6.	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Assign Storage Structures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Storage plan must include “temporary data extract files”, the 	staging area, and any storage needed for front-end 	applications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Need to be concerned with the physical files also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75CFC61-2292-3D92-2354-A238324AF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Physical Storage 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60419" name="Footer Placeholder 1">
            <a:extLst>
              <a:ext uri="{FF2B5EF4-FFF2-40B4-BE49-F238E27FC236}">
                <a16:creationId xmlns:a16="http://schemas.microsoft.com/office/drawing/2014/main" id="{95AF147A-501F-F385-1247-CEC70F105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60420" name="Slide Number Placeholder 2">
            <a:extLst>
              <a:ext uri="{FF2B5EF4-FFF2-40B4-BE49-F238E27FC236}">
                <a16:creationId xmlns:a16="http://schemas.microsoft.com/office/drawing/2014/main" id="{2BF03F5D-A0EF-5CA8-A05A-29E29198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A26A60-DCE5-49F9-953A-F0DC3F62BE25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0421" name="Text Box 3">
            <a:extLst>
              <a:ext uri="{FF2B5EF4-FFF2-40B4-BE49-F238E27FC236}">
                <a16:creationId xmlns:a16="http://schemas.microsoft.com/office/drawing/2014/main" id="{D038840A-65EF-E4C4-7E6E-C5ABDBE6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857" y="1920628"/>
            <a:ext cx="91606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A.  Storage Area Data Structures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Data Staging Area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Data Extract Files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RDBMS files (with transformed data)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RDBS Index files</a:t>
            </a:r>
          </a:p>
          <a:p>
            <a:pPr lvl="1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Data Warehouse Tables (DB files and Index Files)</a:t>
            </a:r>
          </a:p>
          <a:p>
            <a:pPr lvl="1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  OLAP System files (proprietary matrix format for storing multidimensional cubes)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60422" name="TextBox 1">
            <a:extLst>
              <a:ext uri="{FF2B5EF4-FFF2-40B4-BE49-F238E27FC236}">
                <a16:creationId xmlns:a16="http://schemas.microsoft.com/office/drawing/2014/main" id="{25F3EB22-C20E-8F05-D785-6A08CCAD7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867400"/>
            <a:ext cx="6705600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Physical Storage is important for project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>
            <a:extLst>
              <a:ext uri="{FF2B5EF4-FFF2-40B4-BE49-F238E27FC236}">
                <a16:creationId xmlns:a16="http://schemas.microsoft.com/office/drawing/2014/main" id="{128D65BF-6156-8D48-02B8-0899750A1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2900" b="1">
                <a:solidFill>
                  <a:schemeClr val="accent2"/>
                </a:solidFill>
                <a:latin typeface="Tahoma" panose="020B0604030504040204" pitchFamily="34" charset="0"/>
              </a:rPr>
              <a:t>Physical Storage </a:t>
            </a:r>
            <a:endParaRPr lang="en-US" altLang="en-US" sz="2900" b="1">
              <a:latin typeface="Tahoma" panose="020B0604030504040204" pitchFamily="34" charset="0"/>
            </a:endParaRPr>
          </a:p>
        </p:txBody>
      </p:sp>
      <p:sp>
        <p:nvSpPr>
          <p:cNvPr id="62467" name="Footer Placeholder 1">
            <a:extLst>
              <a:ext uri="{FF2B5EF4-FFF2-40B4-BE49-F238E27FC236}">
                <a16:creationId xmlns:a16="http://schemas.microsoft.com/office/drawing/2014/main" id="{7505D9AA-1848-8E6C-611D-BC535EFB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62468" name="Slide Number Placeholder 2">
            <a:extLst>
              <a:ext uri="{FF2B5EF4-FFF2-40B4-BE49-F238E27FC236}">
                <a16:creationId xmlns:a16="http://schemas.microsoft.com/office/drawing/2014/main" id="{8BEF76CD-038E-1037-C032-4706434DA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E496557-CB14-4A18-B946-8F3232C8183A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469" name="Text Box 1027">
            <a:extLst>
              <a:ext uri="{FF2B5EF4-FFF2-40B4-BE49-F238E27FC236}">
                <a16:creationId xmlns:a16="http://schemas.microsoft.com/office/drawing/2014/main" id="{5484FE60-2A20-F5F6-2F75-CEC5DF502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1871" y="1737360"/>
            <a:ext cx="678180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B.  Estimate the Storage Sizes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For each database table, determine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initial estimate of number of rows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average length of rows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anticipated monthly increase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For all tables, determine 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the total number of indexes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space needed for indexes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Estimate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temporary file sizes in the data staging area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 temporary workspace for sorting and merging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4427402-BB62-E409-190B-F70A2DC2F9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096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64515" name="Footer Placeholder 1">
            <a:extLst>
              <a:ext uri="{FF2B5EF4-FFF2-40B4-BE49-F238E27FC236}">
                <a16:creationId xmlns:a16="http://schemas.microsoft.com/office/drawing/2014/main" id="{F7FC7AFE-54C6-BD74-F5F6-9ACC9C9C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64516" name="Slide Number Placeholder 2">
            <a:extLst>
              <a:ext uri="{FF2B5EF4-FFF2-40B4-BE49-F238E27FC236}">
                <a16:creationId xmlns:a16="http://schemas.microsoft.com/office/drawing/2014/main" id="{968409EE-3875-D3BA-FE76-6087F07B5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9F06B36-0BAB-4106-A991-689493D7BD8C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4517" name="Text Box 3">
            <a:extLst>
              <a:ext uri="{FF2B5EF4-FFF2-40B4-BE49-F238E27FC236}">
                <a16:creationId xmlns:a16="http://schemas.microsoft.com/office/drawing/2014/main" id="{36A6A3D0-783C-8BC8-25F3-540A1D572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0" y="1931894"/>
            <a:ext cx="8001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AutoNum type="arabicPeriod" startAt="7"/>
            </a:pP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Create “smart” views</a:t>
            </a:r>
          </a:p>
          <a:p>
            <a:pPr lvl="2" eaLnBrk="1" hangingPunct="1"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</a:rPr>
              <a:t>Views 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can offer the same benefits as denormalization </a:t>
            </a:r>
            <a:r>
              <a:rPr lang="en-US" altLang="en-US" sz="2000" dirty="0">
                <a:latin typeface="Times New Roman" panose="02020603050405020304" pitchFamily="18" charset="0"/>
              </a:rPr>
              <a:t>without the drawbacks associated with data redundancy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2FE0293-281D-DF79-0DD9-C2546C805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1"/>
            <a:ext cx="7200900" cy="658813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66563" name="Footer Placeholder 1">
            <a:extLst>
              <a:ext uri="{FF2B5EF4-FFF2-40B4-BE49-F238E27FC236}">
                <a16:creationId xmlns:a16="http://schemas.microsoft.com/office/drawing/2014/main" id="{D1F63D27-9276-8A08-7014-C1E2AA0D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66564" name="Slide Number Placeholder 2">
            <a:extLst>
              <a:ext uri="{FF2B5EF4-FFF2-40B4-BE49-F238E27FC236}">
                <a16:creationId xmlns:a16="http://schemas.microsoft.com/office/drawing/2014/main" id="{B0A644F8-6ECE-1FBE-ED66-DF52B24F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6C6DB6-9699-4341-8F6B-453FE5FC62EF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6565" name="Text Box 3">
            <a:extLst>
              <a:ext uri="{FF2B5EF4-FFF2-40B4-BE49-F238E27FC236}">
                <a16:creationId xmlns:a16="http://schemas.microsoft.com/office/drawing/2014/main" id="{ECE15001-9907-B803-27EC-7D5BEC350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247" y="1857375"/>
            <a:ext cx="7543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  <a:buFontTx/>
              <a:buAutoNum type="arabicPeriod" startAt="7"/>
            </a:pP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Create “smart” views</a:t>
            </a:r>
          </a:p>
        </p:txBody>
      </p:sp>
      <p:pic>
        <p:nvPicPr>
          <p:cNvPr id="66566" name="Picture 4">
            <a:extLst>
              <a:ext uri="{FF2B5EF4-FFF2-40B4-BE49-F238E27FC236}">
                <a16:creationId xmlns:a16="http://schemas.microsoft.com/office/drawing/2014/main" id="{8138A29C-64F8-4B17-2BB1-4F0377CDC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2314575"/>
            <a:ext cx="8539163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A3C7497-2658-8035-A4AB-5D0BBF479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0"/>
            <a:ext cx="7200900" cy="685800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68611" name="Footer Placeholder 1">
            <a:extLst>
              <a:ext uri="{FF2B5EF4-FFF2-40B4-BE49-F238E27FC236}">
                <a16:creationId xmlns:a16="http://schemas.microsoft.com/office/drawing/2014/main" id="{F952731A-2ED3-8218-50E6-9EC5B56D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srgbClr val="FFFFFF"/>
                </a:solidFill>
                <a:latin typeface="Arial" panose="020B0604020202020204" pitchFamily="34" charset="0"/>
              </a:rPr>
              <a:t>Copyrighted to Arun Sen</a:t>
            </a:r>
          </a:p>
        </p:txBody>
      </p:sp>
      <p:sp>
        <p:nvSpPr>
          <p:cNvPr id="68612" name="Slide Number Placeholder 2">
            <a:extLst>
              <a:ext uri="{FF2B5EF4-FFF2-40B4-BE49-F238E27FC236}">
                <a16:creationId xmlns:a16="http://schemas.microsoft.com/office/drawing/2014/main" id="{3741B593-3C6D-981E-F283-A9B11FEF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8E32BA-0DCC-4325-9898-120BF768BAAC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8613" name="Text Box 3">
            <a:extLst>
              <a:ext uri="{FF2B5EF4-FFF2-40B4-BE49-F238E27FC236}">
                <a16:creationId xmlns:a16="http://schemas.microsoft.com/office/drawing/2014/main" id="{3398F108-610C-ECDF-916B-D7B2F0491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353" y="1819835"/>
            <a:ext cx="6781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8.	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Convert Snowflake into Star Schema </a:t>
            </a:r>
          </a:p>
        </p:txBody>
      </p:sp>
      <p:pic>
        <p:nvPicPr>
          <p:cNvPr id="68614" name="Picture 4">
            <a:extLst>
              <a:ext uri="{FF2B5EF4-FFF2-40B4-BE49-F238E27FC236}">
                <a16:creationId xmlns:a16="http://schemas.microsoft.com/office/drawing/2014/main" id="{1FC2D0DC-8B42-79D0-8CBB-C645A841F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514600"/>
            <a:ext cx="7391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5" name="Text Box 5">
            <a:extLst>
              <a:ext uri="{FF2B5EF4-FFF2-40B4-BE49-F238E27FC236}">
                <a16:creationId xmlns:a16="http://schemas.microsoft.com/office/drawing/2014/main" id="{8A586572-FD1E-1D40-7EC4-DC6001C6C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806700"/>
            <a:ext cx="2590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chemeClr val="accent2"/>
                </a:solidFill>
                <a:latin typeface="Arial" panose="020B0604020202020204" pitchFamily="34" charset="0"/>
              </a:rPr>
              <a:t>Initial dimension model -  a snowflake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2EEF9BEE-FCFA-CE27-542C-8151AF6EA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2700" y="685801"/>
            <a:ext cx="7200900" cy="569913"/>
          </a:xfrm>
        </p:spPr>
        <p:txBody>
          <a:bodyPr/>
          <a:lstStyle/>
          <a:p>
            <a:pPr algn="ctr"/>
            <a:r>
              <a:rPr lang="en-US" altLang="en-US" sz="2900" b="1">
                <a:solidFill>
                  <a:srgbClr val="C00000"/>
                </a:solidFill>
                <a:latin typeface="Tahoma" panose="020B0604030504040204" pitchFamily="34" charset="0"/>
              </a:rPr>
              <a:t>Physical Design Fundamentals </a:t>
            </a:r>
            <a:endParaRPr lang="en-US" altLang="en-US" sz="2900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70659" name="Slide Number Placeholder 2">
            <a:extLst>
              <a:ext uri="{FF2B5EF4-FFF2-40B4-BE49-F238E27FC236}">
                <a16:creationId xmlns:a16="http://schemas.microsoft.com/office/drawing/2014/main" id="{0345D7F5-ED99-E7C2-CC3B-C7A60B56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09C761D-54A7-4690-AECD-5D1FF698FC17}" type="slidenum">
              <a:rPr lang="en-US" altLang="en-US" sz="1400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en-US" sz="1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0660" name="Text Box 3">
            <a:extLst>
              <a:ext uri="{FF2B5EF4-FFF2-40B4-BE49-F238E27FC236}">
                <a16:creationId xmlns:a16="http://schemas.microsoft.com/office/drawing/2014/main" id="{AE2928B9-AAE5-A602-116A-A6C39BDC9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388" y="1828801"/>
            <a:ext cx="6781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 dirty="0">
                <a:latin typeface="Tahoma" panose="020B0604030504040204" pitchFamily="34" charset="0"/>
              </a:rPr>
              <a:t>C.  Steps to create a Physical Design</a:t>
            </a:r>
            <a:endParaRPr lang="en-US" altLang="en-US" sz="2400" dirty="0">
              <a:latin typeface="Tahoma" panose="020B060403050404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8.	</a:t>
            </a:r>
            <a:r>
              <a:rPr lang="en-US" altLang="en-US" sz="2000" u="sng" dirty="0">
                <a:solidFill>
                  <a:srgbClr val="C00000"/>
                </a:solidFill>
                <a:latin typeface="Times New Roman" panose="02020603050405020304" pitchFamily="18" charset="0"/>
              </a:rPr>
              <a:t>Use of Star Schema </a:t>
            </a:r>
          </a:p>
        </p:txBody>
      </p:sp>
      <p:pic>
        <p:nvPicPr>
          <p:cNvPr id="70661" name="Picture 5">
            <a:extLst>
              <a:ext uri="{FF2B5EF4-FFF2-40B4-BE49-F238E27FC236}">
                <a16:creationId xmlns:a16="http://schemas.microsoft.com/office/drawing/2014/main" id="{4A225E11-08F6-8BEA-55E6-E390A11F8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2590801"/>
            <a:ext cx="6378575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2" name="Text Box 6">
            <a:extLst>
              <a:ext uri="{FF2B5EF4-FFF2-40B4-BE49-F238E27FC236}">
                <a16:creationId xmlns:a16="http://schemas.microsoft.com/office/drawing/2014/main" id="{F3375944-A485-ED12-7DD7-3D64C1BEE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2743201"/>
            <a:ext cx="2590800" cy="213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>
                <a:solidFill>
                  <a:schemeClr val="accent2"/>
                </a:solidFill>
                <a:latin typeface="Arial" panose="020B0604020202020204" pitchFamily="34" charset="0"/>
              </a:rPr>
              <a:t>Star Schema folds each set of tables that make up a dimension into a single table.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400" b="1">
                <a:solidFill>
                  <a:schemeClr val="accent2"/>
                </a:solidFill>
                <a:latin typeface="Arial" panose="020B0604020202020204" pitchFamily="34" charset="0"/>
              </a:rPr>
              <a:t>Snowflake schema, on the other hand, when the initial dimension model is implemented without “folding.”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18440</TotalTime>
  <Words>2229</Words>
  <Application>Microsoft Office PowerPoint</Application>
  <PresentationFormat>Widescreen</PresentationFormat>
  <Paragraphs>403</Paragraphs>
  <Slides>32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Tahoma</vt:lpstr>
      <vt:lpstr>Times New Roman</vt:lpstr>
      <vt:lpstr>Wingdings</vt:lpstr>
      <vt:lpstr>Retrospect</vt:lpstr>
      <vt:lpstr>Worksheet</vt:lpstr>
      <vt:lpstr>Task 3b. Physical Design of Data Warehouse</vt:lpstr>
      <vt:lpstr>Different Design Fundamentals</vt:lpstr>
      <vt:lpstr>LOGICAL DESIGN FUNDAMENTALS</vt:lpstr>
      <vt:lpstr>Physical Design Fundamentals</vt:lpstr>
      <vt:lpstr>Physical Design Fundamentals </vt:lpstr>
      <vt:lpstr>Physical Design Fundamentals </vt:lpstr>
      <vt:lpstr>Physical Design Fundamentals </vt:lpstr>
      <vt:lpstr>Physical Design Fundamentals </vt:lpstr>
      <vt:lpstr>Physical Design Fundamentals</vt:lpstr>
      <vt:lpstr>Physical Design Fundamentals </vt:lpstr>
      <vt:lpstr>Physical Design Fundamentals </vt:lpstr>
      <vt:lpstr>Physical Design Fundamentals </vt:lpstr>
      <vt:lpstr>Physical Design Fundamentals </vt:lpstr>
      <vt:lpstr>Physical Design Fundamentals </vt:lpstr>
      <vt:lpstr>Indexing the Data Warehouse</vt:lpstr>
      <vt:lpstr>Indexing the Data Warehouse</vt:lpstr>
      <vt:lpstr>Indexing the Data Warehouse</vt:lpstr>
      <vt:lpstr>Indexing the Data Warehouse</vt:lpstr>
      <vt:lpstr>Indexing the Data Warehouse</vt:lpstr>
      <vt:lpstr>Indexing the Data Warehouse</vt:lpstr>
      <vt:lpstr>Indexing the Data Warehouse</vt:lpstr>
      <vt:lpstr>Indexing the Data Warehouse</vt:lpstr>
      <vt:lpstr>Indexing the Data Warehouse</vt:lpstr>
      <vt:lpstr>Indexing the Data Warehouse</vt:lpstr>
      <vt:lpstr>Indexing the Data Warehouse</vt:lpstr>
      <vt:lpstr>Physical Design Fundamentals </vt:lpstr>
      <vt:lpstr>Physical Storage </vt:lpstr>
      <vt:lpstr>Physical Storage </vt:lpstr>
      <vt:lpstr>Physical Design Fundamentals </vt:lpstr>
      <vt:lpstr>Physical Design Fundamentals </vt:lpstr>
      <vt:lpstr>Physical Design Fundamentals </vt:lpstr>
      <vt:lpstr>Physical Design Fundamentals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Tasks in Data Warehousing Process</dc:title>
  <dc:creator>Sen, Arun</dc:creator>
  <cp:lastModifiedBy>Arun Sen</cp:lastModifiedBy>
  <cp:revision>185</cp:revision>
  <dcterms:created xsi:type="dcterms:W3CDTF">2021-06-01T20:42:09Z</dcterms:created>
  <dcterms:modified xsi:type="dcterms:W3CDTF">2025-10-01T00:34:32Z</dcterms:modified>
</cp:coreProperties>
</file>